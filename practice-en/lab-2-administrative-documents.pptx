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(3 minutes)</a:t>
            </a:r>
          </a:p>
          <a:p>
            <a:r>
              <a:t>• Hand back Lab 1 and name the three faults the class made most often (no names of students).</a:t>
            </a:r>
          </a:p>
          <a:p>
            <a:r>
              <a:t>• Press: today keeps every format requirement from Lab 1 and adds the STRUCTURE of each document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(2 minutes) — four of them; press it: everyone drafts two documents, drawn by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CONTENTS (1 minute) — five document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PROCEDURE (2 minutes) — press the step of analysing the specimen before drafting.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DECISION (10 minutes)</a:t>
            </a:r>
          </a:p>
          <a:p>
            <a:r>
              <a:t>• Put the specimen up and have the class POINT OUT the recitals and the articles.</a:t>
            </a:r>
          </a:p>
          <a:p>
            <a:r>
              <a:t>• Type the recitals yourself on the projector, saying each line aloud.</a:t>
            </a:r>
          </a:p>
          <a:p>
            <a:r>
              <a:t>• Press the punctuation: each recital ends in a SEMICOLON, the last in a FULL STOP.</a:t>
            </a:r>
          </a:p>
          <a:p>
            <a:r>
              <a:t>• Read out the list of common faults at the foot of the slide — tell students to mark them in their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SUBMISSION (8 minutes)</a:t>
            </a:r>
          </a:p>
          <a:p>
            <a:r>
              <a:t>• Analyse the specimen in its three parts.</a:t>
            </a:r>
          </a:p>
          <a:p>
            <a:r>
              <a:t>• Have the class write two opening sentences of a submission for the computer-purchase case, then call on two to read them out.</a:t>
            </a:r>
          </a:p>
          <a:p>
            <a:r>
              <a:t>• Press: it must come with figures and a cost estimate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OFFICIAL LETTER (10 minutes)</a:t>
            </a:r>
          </a:p>
          <a:p>
            <a:r>
              <a:t>• Put a CORRECT and an INCORRECT official letter side by side (the wrong one has "OFFICIAL LETTER" typed in the middle) — have the class find the fault.</a:t>
            </a:r>
          </a:p>
          <a:p>
            <a:r>
              <a:t>• Demonstrate the opening sentence of a letter of reply.</a:t>
            </a:r>
          </a:p>
          <a:p>
            <a:r>
              <a:t>• Press: ONE subject per letter; it closes with "Yours faithfully./."''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MINUTES AND REPORTS (10 minutes)</a:t>
            </a:r>
          </a:p>
          <a:p>
            <a:r>
              <a:t>• Minutes: press WRITTEN ON THE SPOT and SIGNED by both parties.</a:t>
            </a:r>
          </a:p>
          <a:p>
            <a:r>
              <a:t>• Try it live: read out a short passage of meeting dialogue, students write the minutes in 3 minutes, then compare a few.</a:t>
            </a:r>
          </a:p>
          <a:p>
            <a:r>
              <a:t>• Reports: press that the shortcomings must appear too; the figures must agree between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MARKING CRITERIA (2 minutes) — restate the three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(1 minute) — next session is in pairs; tell students to pair up beforehand.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• SESSION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administrative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documents used daily in every organisation — get them right first time.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 •  Room A0105 – Economics Simulation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THIS LAB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and a submission in correct layout, issued by the right authority.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kinds of official letter used in an organisation.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 and a work report in the correct structure.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revise your own document against the format checklist from Session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practise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Decision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Submission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the kinds of official letter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Minutes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Report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LAB RUNS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this session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 SPECIMEN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GUIDES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PRACTISE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MARKING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specimen and name the layout that marks out each type.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lecturer drafts a passage, flagging the usual mistakes.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drafts for the case they are given.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within the group and comment against the checklist.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on the comments and submit at the end of the session.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 Decision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Submission 2 covers steps 1 – 3 of the chain; steps 4 – 7 are the content of Lab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 Submission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legal grounds and the situation behind the proposal: “Pursuant to… In implementation of… At present, [the unit] faces…”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out the plan: what is proposed, quantities, estimated cost, timing, and an analysis of benefit and feasibility.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“Respectfully submitted to [the competent level] for consideration and approval.” Attach the file list and the cost estimate.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proposal with no figures • no benefit analysis • submitted to the wrong level • the cost estimate forgotten.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an official letter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request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the grounds and the reason → Body: exactly what is requested and by when → Close: “We look forward to your kind attention and cooperation. Yours faithfully./.”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reply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“In reply to Official Letter No.… dated… from… regarding…” → Body: answer each point raised → Close: courteous, leaving the door open.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reminder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 the requirement already issued, report on progress, set a new deadline; firm in tone but never insulting.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centred type heading “CÔNG VĂN” (wrong) • a subject line not starting with “V/v” • several subjects in one letter • the closing “./.” left off.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 and Report</a:t>
            </a:r>
            <a:endParaRPr lang="en-US" sz="2700" dirty="0"/>
          </a:p>
        </p:txBody>
      </p:sp>
      <p:pic>
        <p:nvPicPr>
          <p:cNvPr id="9" name="Picture 8" descr="th2-ket-cau-bie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88" y="1689156"/>
            <a:ext cx="10529518" cy="4293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5581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Minutes are written on the spot and carry legal weight only when fully signed; a report follows four parts.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submit from this lab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2 (individual, case drawn by lot)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Accounting Department of An Phat Co., Ltd needs ten more computers. From this case each student draws and drafts two of five documents: a submission proposing the purchase • a decision approving it • an official letter asking suppliers to quote • minutes of the supplier-selection meeting • a report on the equipment delivered.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both documents drawn, in correct Decree 30/2020 format and in the layout proper to each type.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against the Session 1 list and the common-mistakes table for each type.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Word file at the end of the session; revise on the lecturer's feedback and resubmit within a week.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CRITERIA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work is marked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format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components per Decree 30/2020; A4, correct margins, Times New Roman 13 – 14 pt, page numbers in the right place.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content and layout for the type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fits the case; layout matches the type; administrative register, no spelling errors.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revised on feedback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the deadline; the lecturer's comments taken up and a final version resubmitted.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