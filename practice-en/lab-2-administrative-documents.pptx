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 (3 minutes)</a:t>
            </a:r>
          </a:p>
          <a:p>
            <a:r>
              <a:t>• Hand back Lab 1 and name the three faults the class made most often (no names of students).</a:t>
            </a:r>
          </a:p>
          <a:p>
            <a:r>
              <a:t>• Press: today keeps every format requirement from Lab 1 and adds the STRUCTURE of each document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OBJECTIVES (2 minutes) — four of them; press it: everyone drafts two documents, drawn by 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CONTENTS (1 minute) — five document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PROCEDURE (2 minutes) — press the step of analysing the specimen before drafting.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DECISION (10 minutes)</a:t>
            </a:r>
          </a:p>
          <a:p>
            <a:r>
              <a:t>• Put the specimen up and have the class POINT OUT the recitals and the articles.</a:t>
            </a:r>
          </a:p>
          <a:p>
            <a:r>
              <a:t>• Type the recitals yourself on the projector, saying each line aloud.</a:t>
            </a:r>
          </a:p>
          <a:p>
            <a:r>
              <a:t>• Press the punctuation: each recital ends in a SEMICOLON, the last in a FULL STOP.</a:t>
            </a:r>
          </a:p>
          <a:p>
            <a:r>
              <a:t>• Read out the list of common faults at the foot of the slide — tell students to mark them in their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SUBMISSION (8 minutes)</a:t>
            </a:r>
          </a:p>
          <a:p>
            <a:r>
              <a:t>• Analyse the specimen in its three parts.</a:t>
            </a:r>
          </a:p>
          <a:p>
            <a:r>
              <a:t>• Have the class write two opening sentences of a submission for the computer-purchase case, then call on two to read them out.</a:t>
            </a:r>
          </a:p>
          <a:p>
            <a:r>
              <a:t>• Press: it must come with figures and a cost estimate attached.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OFFICIAL LETTER (10 minutes)</a:t>
            </a:r>
          </a:p>
          <a:p>
            <a:r>
              <a:t>• Put a CORRECT and an INCORRECT official letter side by side (the wrong one has "OFFICIAL LETTER" typed in the middle) — have the class find the fault.</a:t>
            </a:r>
          </a:p>
          <a:p>
            <a:r>
              <a:t>• Demonstrate the opening sentence of a letter of reply.</a:t>
            </a:r>
          </a:p>
          <a:p>
            <a:r>
              <a:t>• Press: ONE subject per letter; it closes with "Yours faithfully./."''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MINUTES AND REPORTS (10 minutes)</a:t>
            </a:r>
          </a:p>
          <a:p>
            <a:r>
              <a:t>• Minutes: press WRITTEN ON THE SPOT and SIGNED by both parties.</a:t>
            </a:r>
          </a:p>
          <a:p>
            <a:r>
              <a:t>• Try it live: read out a short passage of meeting dialogue, students write the minutes in 3 minutes, then compare a few.</a:t>
            </a:r>
          </a:p>
          <a:p>
            <a:r>
              <a:t>• Reports: press that the shortcomings must appear too; the figures must agree between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EXERCISE (30 minutes)</a:t>
            </a:r>
          </a:p>
          <a:p>
            <a:r>
              <a:t>• The draw: have the slips ready, two document types on each.</a:t>
            </a:r>
          </a:p>
          <a:p>
            <a:r>
              <a:t>• Remind them to reuse the eight-point checklist from Lab 1.</a:t>
            </a:r>
          </a:p>
          <a:p>
            <a:r>
              <a:t>• Walk the room; help first whoever drew the decision and the minutes (the hardest two).</a:t>
            </a:r>
          </a:p>
          <a:p>
            <a:r>
              <a:t>• End of session: collect the work, remind them the revised version is due in a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MARKING CRITERIA (2 minutes) — restate the three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(1 minute) — next session is in pairs; tell students to pair up beforehand.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pic>
        <p:nvPicPr>
          <p:cNvPr id="3" name="Image 0" descr="/home/user/comdraft/assets/img/dau-huong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49640" y="1417320"/>
            <a:ext cx="3200400" cy="3200400"/>
          </a:xfrm>
          <a:prstGeom prst="rect">
            <a:avLst/>
          </a:prstGeom>
        </p:spPr>
      </p:pic>
      <p:pic>
        <p:nvPicPr>
          <p:cNvPr id="4" name="Image 1" descr="/home/user/comdraft/assets/img/lockup-hu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834640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• SESSION 2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822960" y="2487168"/>
            <a:ext cx="1371600" cy="41148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22960" y="269748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Drafting administrative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822960" y="44348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documents used daily in every organisation — get them right first time.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5349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Thuy Huong, Lecturer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 •  Room A0105 – Economics Simulation  •  Class 261b, Semester 1, 2026 – 2027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Do Thuy Huong, 2026 — Prepared for in-person teaching. Please credit the source.</a:t>
            </a:r>
            <a:endParaRPr lang="en-US" sz="900" dirty="0"/>
          </a:p>
        </p:txBody>
      </p:sp>
      <p:pic>
        <p:nvPicPr>
          <p:cNvPr id="11" name="Picture 10" descr="co-huong-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1051560"/>
            <a:ext cx="32796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THIS LAB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 — 0/15/30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and a submission in correct layout, issued by the right authority.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kinds of official letter used in an organisation.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minutes and a work report in the correct structure.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4988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42569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revise your own document against the format checklist from Session 1.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practise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a Decision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23744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450592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a Submission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429000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355848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the kinds of official letter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334256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261104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Minutes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239512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0292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5166360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a Report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LAB RUNS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will work this session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4592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 SPECIMEN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765146" y="1645920"/>
            <a:ext cx="2152498" cy="868680"/>
          </a:xfrm>
          <a:prstGeom prst="chevron">
            <a:avLst/>
          </a:prstGeom>
          <a:solidFill>
            <a:srgbClr val="DC756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856586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GUIDES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7371" y="164592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118811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PRACTISE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89597" y="1645920"/>
            <a:ext cx="2152498" cy="868680"/>
          </a:xfrm>
          <a:prstGeom prst="chevron">
            <a:avLst/>
          </a:prstGeom>
          <a:solidFill>
            <a:srgbClr val="DC756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381037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MARKING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551822" y="164592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643262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specimen and name the layout that marks out each type.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765146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lecturer drafts a passage, flagging the usual mistakes.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7371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drafts for the case they are given.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289597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within the group and comment against the checklist.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551822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on the comments and submit at the end of the session.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Drafting a Decision</a:t>
            </a:r>
            <a:endParaRPr lang="en-US" sz="2700" dirty="0"/>
          </a:p>
        </p:txBody>
      </p:sp>
      <p:pic>
        <p:nvPicPr>
          <p:cNvPr id="9" name="Picture 8" descr="c5-chuoi-van-ban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171" y="2365438"/>
            <a:ext cx="10229353" cy="29409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79529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Submission 2 covers steps 1 – 3 of the chain; steps 4 – 7 are the content of Lab 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Drafting a Submission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legal grounds and the situation behind the proposal: “Pursuant to… In implementation of… At present, [the unit] faces…”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658618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2713482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out the plan: what is proposed, quantities, estimated cost, timing, and an analysis of benefit and feasibility.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899916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54780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“Respectfully submitted to [the competent level] for consideration and approval.” Attach the file list and the cost estimate.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2920" y="5141214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22376" y="5196078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vague proposal with no figures • no benefit analysis • submitted to the wrong level • the cost estimate forgotten.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Drafting an official letter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of request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the grounds and the reason → Body: exactly what is requested and by when → Close: “We look forward to your kind attention and cooperation. Yours faithfully./.”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658618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2713482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of reply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“In reply to Official Letter No.… dated… from… regarding…” → Body: answer each point raised → Close: courteous, leaving the door open.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899916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54780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of reminder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 the requirement already issued, report on progress, set a new deadline; firm in tone but never insulting.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2920" y="5141214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22376" y="5196078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centred type heading “CÔNG VĂN” (wrong) • a subject line not starting with “V/v” • several subjects in one letter • the closing “./.” left off.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– 2.5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 and Report</a:t>
            </a:r>
            <a:endParaRPr lang="en-US" sz="2700" dirty="0"/>
          </a:p>
        </p:txBody>
      </p:sp>
      <p:pic>
        <p:nvPicPr>
          <p:cNvPr id="9" name="Picture 8" descr="th2-ket-cau-bien-ban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88" y="1689156"/>
            <a:ext cx="10529518" cy="42935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055811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Minutes are written on the spot and carry legal weight only when fully signed; a report follows four parts.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submit from this lab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2103120"/>
          </a:xfrm>
          <a:prstGeom prst="roundRect">
            <a:avLst>
              <a:gd name="adj" fmla="val 4348"/>
            </a:avLst>
          </a:prstGeom>
          <a:solidFill>
            <a:srgbClr val="FBEDE0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15087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2 (individual, case drawn by lot)</a:t>
            </a:r>
            <a:endParaRPr lang="en-US" sz="1500" dirty="0"/>
          </a:p>
          <a:p>
            <a:pPr indent="0" marL="0">
              <a:buNone/>
            </a:pPr>
            <a:r>
              <a:rPr lang="en-US" sz="1350" i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Accounting Department of An Phat Co., Ltd needs ten more computers. From this case each student draws and drafts two of five documents: a submission proposing the purchase • a decision approving it • an official letter asking suppliers to quote • minutes of the supplier-selection meeting • a report on the equipment delivered.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374904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GROUP'S TASK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1788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41056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both documents drawn, in correct Decree 30/2020 format and in the layout proper to each type.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4864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47914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against the Session 1 list and the common-mistakes table for each type.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55504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54772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Word file at the end of the session; revise on the lecturer's feedback and resubmit within a week.</a:t>
            </a:r>
            <a:endParaRPr lang="en-US" sz="1400" dirty="0"/>
          </a:p>
        </p:txBody>
      </p:sp>
      <p:pic>
        <p:nvPicPr>
          <p:cNvPr id="21" name="Picture 20" descr="co-huong-t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84048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CRITERIA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your work is marked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475232"/>
          </a:xfrm>
          <a:prstGeom prst="roundRect">
            <a:avLst>
              <a:gd name="adj" fmla="val 557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format (40%)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components per Decree 30/2020; A4, correct margins, Times New Roman 13 – 14 pt, page numbers in the right place.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102864"/>
            <a:ext cx="11201400" cy="1475232"/>
          </a:xfrm>
          <a:prstGeom prst="roundRect">
            <a:avLst>
              <a:gd name="adj" fmla="val 557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57728"/>
            <a:ext cx="1076248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content and layout for the type (40%)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fits the case; layout matches the type; administrative register, no spelling errors.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42688"/>
            <a:ext cx="11201400" cy="1475232"/>
          </a:xfrm>
          <a:prstGeom prst="roundRect">
            <a:avLst>
              <a:gd name="adj" fmla="val 557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97552"/>
            <a:ext cx="1076248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time, and revised on feedback (20%)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the deadline; the lecturer's comments taken up and a final version resubmitted.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materials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Nam Khanh Giao (2023), Business Communication, Finance Publishing House.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950464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005328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legal text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Decree 30/2020/ND-CP of 5 March 2020 on records management — the rules on format and layout of administrative documents.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437888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92752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Lecturer's own materials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document templates, cases and exercises written by Do Thuy Huong; provided after each session.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Je m’appelle Huong — Lecturer and Researcher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Đỗ Thùy Hương</dc:creator>
  <cp:lastModifiedBy>Đỗ Thùy Hương</cp:lastModifiedBy>
  <cp:revision>1</cp:revision>
  <dcterms:created xsi:type="dcterms:W3CDTF">2026-08-23T10:31:57Z</dcterms:created>
  <dcterms:modified xsi:type="dcterms:W3CDTF">2026-08-23T10:31:57Z</dcterms:modified>
</cp:coreProperties>
</file>