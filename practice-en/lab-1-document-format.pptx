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THỰC HÀNH (3 phút)</a:t>
            </a:r>
          </a:p>
          <a:p>
            <a:r>
              <a:t>• Kiểm tra: bao nhiêu bạn mang laptop, bao nhiêu bạn đã cài Word.</a:t>
            </a:r>
          </a:p>
          <a:p>
            <a:r>
              <a:t>• Ghép bạn không có máy ngồi cùng bạn có máy.</a:t>
            </a:r>
          </a:p>
          <a:p>
            <a:r>
              <a:t>• Nói rõ sản phẩm cuối buổi: 1 file Word nộp trước khi ra về.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đọc 3 mục tiêu; nhấn: buổi này CHẤM KỸ THỂ THỨC, nội dung chỉ cần vài dòng.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2 phần: nhận diện thành phần, rồi thực hành trình bày.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5 BƯỚC (2 phút)</a:t>
            </a:r>
          </a:p>
          <a:p>
            <a:r>
              <a:t>• Giải thích cách buổi học vận hành; nhấn bước CHẤM CHÉO — bạn ngồi cạnh soát bài cho nhau.</a:t>
            </a:r>
          </a:p>
          <a:p>
            <a:r>
              <a:t>• Nói trước: cô đi từng bàn, ai vướng giơ tay.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BƯỚC 1 — LÀM MẪU TRÊN MÁY CHIẾU (8 phút)</a:t>
            </a:r>
          </a:p>
          <a:p>
            <a:r>
              <a:t>• Cô mở Word và thao tác THẬT, chậm rãi, sinh viên làm theo trên máy mình.</a:t>
            </a:r>
          </a:p>
          <a:p>
            <a:r>
              <a:t>• Layout → Size → A4. Nhấn: KHÔNG dùng Letter (mặc định của nhiều máy).</a:t>
            </a:r>
          </a:p>
          <a:p>
            <a:r>
              <a:t>• Layout → Margins → Custom. Gõ từng con số, nói to trong lúc gõ.</a:t>
            </a:r>
          </a:p>
          <a:p>
            <a:r>
              <a:t>• Chọn phông Times New Roman cỡ 13, kiểm tra gõ tiếng Việt có dấu.</a:t>
            </a:r>
          </a:p>
          <a:p>
            <a:r>
              <a:t>• Insert → Page Number → Top of Page → Center, rồi tích Different First Page.</a:t>
            </a:r>
          </a:p>
          <a:p>
            <a:r>
              <a:t>• Dừng lại hỏi: "Bạn nào chưa làm được, giơ tay."''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BƯỚC 2 — PHẦN ĐẦU (10 phút)</a:t>
            </a:r>
          </a:p>
          <a:p>
            <a:r>
              <a:t>• Làm mẫu Quốc hiệu – Tiêu ngữ, chỉ rõ cách canh phải và kẻ đường ngang bên dưới.</a:t>
            </a:r>
          </a:p>
          <a:p>
            <a:r>
              <a:t>• Lỗi thường gặp: gõ Tiêu ngữ không có gạch nối, hoặc dùng dấu gạch ngang sai.</a:t>
            </a:r>
          </a:p>
          <a:p>
            <a:r>
              <a:t>• Số ký hiệu: viết ví dụ cho 3 loại lên bảng — QĐ, TTr, và công văn (không có tên loại).</a:t>
            </a:r>
          </a:p>
          <a:p>
            <a:r>
              <a:t>• Ngày tháng: nhấn quy tắc THÊM SỐ 0 với ngày/tháng nhỏ hơn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BƯỚC 3 — PHẦN GIỮA VÀ CUỐI (8 phút)</a:t>
            </a:r>
          </a:p>
          <a:p>
            <a:r>
              <a:t>• Trích yếu: ngắn, phản ánh đúng nội dung. Cho lớp thử đặt trích yếu cho 1 tình huống.</a:t>
            </a:r>
          </a:p>
          <a:p>
            <a:r>
              <a:t>• Phần ký: nhấn CHỪA 3–4 DÒNG TRỐNG cho chữ ký — sinh viên hay quên, ký chèn lên chữ.</a:t>
            </a:r>
          </a:p>
          <a:p>
            <a:r>
              <a:t>• Nơi nhận: dòng cuối LUÔN là "- Lưu: VT, …".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BẢNG KIỂM (5 phút)</a:t>
            </a:r>
          </a:p>
          <a:p>
            <a:r>
              <a:t>• Cho sinh viên tự soát bài mình theo 8 điểm, tích vào vở.</a:t>
            </a:r>
          </a:p>
          <a:p>
            <a:r>
              <a:t>• Sau đó ĐỔI BÀI với bạn bên cạnh, soát cho nhau, ghi ra 2 lỗi tìm được.</a:t>
            </a:r>
          </a:p>
          <a:p>
            <a:r>
              <a:t>• Nói rõ: cô chấm theo đúng 8 điểm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đọc rõ 3 tiêu chí và tỷ trọng để sinh viên biết trọng tâm.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nhắc buổi sau: Bài 2, soạn 5 văn bản hành chính; xem trước video hướng dẫn.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• SESSION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format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and lay out each formal component correctly on an A4 page.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 •  Room A0105 – Economics Simulation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THIS LAB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1 — 0/6/12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required formal components, and the optional ones, on a specimen document.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size, margins, typeface and point size correctly in Microsoft Word.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formal part of an administrative document for the case you are given.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practise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elements a document must carry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Laying those elements out on the computer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LAB RUNS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this session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DEMONSTRATES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FOLLOW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YOUR OWN CASE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MARKING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&amp; REVISE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lecturer works through a specimen on the projector, component by component.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work at their machines; the lecturer goes desk to desk.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lays out a document for their own case.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pairs and check each other against the checklist.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Submit, take the feedback, revise.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the page in Word</a:t>
            </a:r>
            <a:endParaRPr lang="en-US" sz="2700" dirty="0"/>
          </a:p>
        </p:txBody>
      </p:sp>
      <p:pic>
        <p:nvPicPr>
          <p:cNvPr id="9" name="Picture 8" descr="th1-kho-giay-le-tra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Four margin figures, one for each side — the left is wider because the file is bound there.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Laying out the head of the document</a:t>
            </a:r>
            <a:endParaRPr lang="en-US" sz="2700" dirty="0"/>
          </a:p>
        </p:txBody>
      </p:sp>
      <p:pic>
        <p:nvPicPr>
          <p:cNvPr id="9" name="Picture 8" descr="c5-the-thuc-a4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595135"/>
            <a:ext cx="11247120" cy="44815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Laying out the middle and the foot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heading and subject 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Centred, capitals, bold. An official letter is the exception: no type heading; the subject line sits under the reference and begins “V/v…”.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Justified, line spacing 1.0 – 1.5; first-line indent 1 – 1.27 cm.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name, signature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right; the authority prefix (TM., KT., TL.) in capitals; leave 3 – 4 blank lines for the signature; full name in bold.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list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left; the line “Nơi nhận:” in bold italic; list each recipient, the last line being “- Lưu: VT, …”.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own work before submitting — eight points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paper, left margin wide enough for binding (30 – 35 mm)?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1556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1556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08254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New Roman, 13 – 14 pt, consistent throughout?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2738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2738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266547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heading and motto in the right place, correctly capitalised and hyphenated?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33215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33215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24840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and reference in the right structure for this document type?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3904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383133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zero on the date where needed; the place matching where it was issued?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02920" y="448741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02920" y="44874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51560" y="441426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line short, and true to the main content?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2920" y="50703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02920" y="5070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051560" y="499719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space to sign; the signer's authority and position correct?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02920" y="565327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02920" y="56532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51560" y="5580126"/>
            <a:ext cx="106527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list complete, and always carrying the “Lưu: VT” line?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submit from this lab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1 (individual, in class)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out the complete formal part of a Notice issued by An Phat Co., Ltd announcing the Lunar New Year holiday schedule to all staff (the body needs only 3 – 5 lines; the marking is on the format).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all nine formal components, correctly placed and capitalised per Decree 30/2020/ND-CP.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paper size, margins, typeface, point size and page numbers correctly.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against the eight-point list, swap with your neighbour for peer marking, then submit the Word file at the end of the session.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CRITERIA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work is marked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format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components per Decree 30/2020; A4, correct margins, Times New Roman 13 – 14 pt, page numbers in the right place.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content and layout for the type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fits the case; layout matches the type; administrative register, no spelling errors.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revised on feedback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the deadline; the lecturer's comments taken up and a final version resubmitted.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