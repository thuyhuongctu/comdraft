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OPENING (3 minutes)</a:t>
            </a:r>
          </a:p>
          <a:p>
            <a:r>
              <a:t>• Hand back Lab 2 and name the common faults.</a:t>
            </a:r>
          </a:p>
          <a:p>
            <a:r>
              <a:t>• Split into buyer–seller pairs at the start so the whole session runs in pairs.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OBJECTIVES (2 minutes) — three of them; press it: what they leave with is a COMPLETE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CONTENTS (1 minute) — the letter, the quotation, the contract and the two records.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PROCEDURE (2 minutes) — press the step where pairs SWAP FILES to hunt for terms that disadvantage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BUSINESS LETTERS (10 minutes)</a:t>
            </a:r>
          </a:p>
          <a:p>
            <a:r>
              <a:t>• Put a badly written and a well written letter up, and have the class compare them against the 5Cs.</a:t>
            </a:r>
          </a:p>
          <a:p>
            <a:r>
              <a:t>• Press the mistakes students make in email: a subject line reading "A letter", SHOUTING IN CAPITALS, emoji, forgetting the attachment.</a:t>
            </a:r>
          </a:p>
          <a:p>
            <a:r>
              <a:t>• Have each pair write the SUBJECT LINE and two opening sentences of a sales letter; read a few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QUOTATION (10 minutes)</a:t>
            </a:r>
          </a:p>
          <a:p>
            <a:r>
              <a:t>• Open the specimen Excel/Word file and point at each column of the goods table.</a:t>
            </a:r>
          </a:p>
          <a:p>
            <a:r>
              <a:t>• Press: the total goes in BOTH FIGURES AND WORDS, and the two must agree.</a:t>
            </a:r>
          </a:p>
          <a:p>
            <a:r>
              <a:t>• Press the VALIDITY PERIOD — ask the class what happens if it is left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CONTRACT (12 minutes)</a:t>
            </a:r>
          </a:p>
          <a:p>
            <a:r>
              <a:t>• Walk the seven clauses, one risk to watch for each.</a:t>
            </a:r>
          </a:p>
          <a:p>
            <a:r>
              <a:t>• The penalty clause: give the rate under the Commercial Law and why it has to be stated.</a:t>
            </a:r>
          </a:p>
          <a:p>
            <a:r>
              <a:t>• A quick discussion: which clauses favour the buyer, which favour the seller.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ACCEPTANCE AND LIQUIDATION (8 minutes)</a:t>
            </a:r>
          </a:p>
          <a:p>
            <a:r>
              <a:t>• Press: the acceptance record must STATE THE CONTRACT NUMBER.</a:t>
            </a:r>
          </a:p>
          <a:p>
            <a:r>
              <a:t>• Liquidation is signed only after the ACCOUNTS HAVE BEEN RECONCILED.</a:t>
            </a:r>
          </a:p>
          <a:p>
            <a:r>
              <a:t>• Ask the class: if two items are missing from the delivery, what goes in the acceptance record?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EXERCISE (30 minutes)</a:t>
            </a:r>
          </a:p>
          <a:p>
            <a:r>
              <a:t>• Each pair produces the full file; remind them to reuse their own group's case from Chapter 4.</a:t>
            </a:r>
          </a:p>
          <a:p>
            <a:r>
              <a:t>• 20 minutes drafting, 10 minutes swapping files with another pair to hunt for faults.</a:t>
            </a:r>
          </a:p>
          <a:p>
            <a:r>
              <a:t>• Require each pair to write down three disadvantageous terms they found — this is where you are marking their thinking.</a:t>
            </a:r>
          </a:p>
          <a:p>
            <a:r>
              <a:t>• Close the course: remind students of the examination date and what it covers.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MARKING CRITERIA (2 minutes) — restate them; say plainly that this piece counts towards the coursework mark.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END OF THE COURSE (2 minutes)</a:t>
            </a:r>
          </a:p>
          <a:p>
            <a:r>
              <a:t>• Thank the class; remind them of the examination date and the structure of the paper.</a:t>
            </a:r>
          </a:p>
          <a:p>
            <a:r>
              <a:t>• Remind them: the 200 multiple-choice questions and the 8 revision videos are already on the class group.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pic>
        <p:nvPicPr>
          <p:cNvPr id="3" name="Image 0" descr="/home/user/comdraft/assets/img/dau-huong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8549640" y="1417320"/>
            <a:ext cx="3200400" cy="3200400"/>
          </a:xfrm>
          <a:prstGeom prst="rect">
            <a:avLst/>
          </a:prstGeom>
        </p:spPr>
      </p:pic>
      <p:pic>
        <p:nvPicPr>
          <p:cNvPr id="4" name="Image 1" descr="/home/user/comdraft/assets/img/lockup-huo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11480"/>
            <a:ext cx="2834640" cy="118872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22960" y="2011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5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• SESSION 3</a:t>
            </a:r>
            <a:endParaRPr lang="en-US" sz="1800" dirty="0"/>
          </a:p>
        </p:txBody>
      </p:sp>
      <p:sp>
        <p:nvSpPr>
          <p:cNvPr id="6" name="Shape 2"/>
          <p:cNvSpPr/>
          <p:nvPr/>
        </p:nvSpPr>
        <p:spPr>
          <a:xfrm>
            <a:off x="822960" y="2487168"/>
            <a:ext cx="1371600" cy="41148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822960" y="2697480"/>
            <a:ext cx="7589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Drafting administrative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commercial documents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822960" y="443484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Letters, quotations and contracts — the file that carries a deal from offer to closure.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822960" y="534924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Thuy Huong, Lecturer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 •  Room A0105 – Economics Simulation  •  Class 261b, Semester 1, 2026 – 2027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Do Thuy Huong, 2026 — Prepared for in-person teaching. Please credit the source.</a:t>
            </a:r>
            <a:endParaRPr lang="en-US" sz="900" dirty="0"/>
          </a:p>
        </p:txBody>
      </p:sp>
      <p:pic>
        <p:nvPicPr>
          <p:cNvPr id="11" name="Picture 10" descr="co-huong-d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1080" y="1051560"/>
            <a:ext cx="327962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– Session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 OF THIS LAB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Session 3 — 0/9/18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letters meeting the 5C rule for the common trading situations.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78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50545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quotation carrying full trading terms and a validity period.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538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6557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sales contract with its acceptance record and closure record.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– Session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will practise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Drafting commercial letters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78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50545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Drafting a quotation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538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6557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Drafting the contract, the acceptance record and the closure record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– Session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LAB RUNS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will work this session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45920"/>
            <a:ext cx="2152498" cy="868680"/>
          </a:xfrm>
          <a:prstGeom prst="chevron">
            <a:avLst/>
          </a:prstGeom>
          <a:solidFill>
            <a:srgbClr val="AC4D33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94360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A SPECIMEN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2765146" y="1645920"/>
            <a:ext cx="2152498" cy="868680"/>
          </a:xfrm>
          <a:prstGeom prst="chevron">
            <a:avLst/>
          </a:prstGeom>
          <a:solidFill>
            <a:srgbClr val="DC756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2856586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LECTURER GUIDES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027371" y="1645920"/>
            <a:ext cx="2152498" cy="868680"/>
          </a:xfrm>
          <a:prstGeom prst="chevron">
            <a:avLst/>
          </a:prstGeom>
          <a:solidFill>
            <a:srgbClr val="AC4D33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5118811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IN PAIRS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289597" y="1645920"/>
            <a:ext cx="2152498" cy="868680"/>
          </a:xfrm>
          <a:prstGeom prst="chevron">
            <a:avLst/>
          </a:prstGeom>
          <a:solidFill>
            <a:srgbClr val="DC756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7381037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AND REVIEW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9551822" y="1645920"/>
            <a:ext cx="2152498" cy="868680"/>
          </a:xfrm>
          <a:prstGeom prst="chevron">
            <a:avLst/>
          </a:prstGeom>
          <a:solidFill>
            <a:srgbClr val="AC4D33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9643262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FINALISE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02920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and comment on specimen letters, quotations and contracts.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2765146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the risky clauses and how they are worded.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5027371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of you play buyer and seller and draft matching documents.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7289597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files and find what works against your own side.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9551822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Revise and submit the complete file.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– Session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Commercial letters — correct, and well judged</a:t>
            </a:r>
            <a:endParaRPr lang="en-US" sz="2700" dirty="0"/>
          </a:p>
        </p:txBody>
      </p:sp>
      <p:pic>
        <p:nvPicPr>
          <p:cNvPr id="9" name="Picture 8" descr="th3-thu-tin-thuong-mai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4921" y="1713396"/>
            <a:ext cx="10521852" cy="424502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031571"/>
            <a:ext cx="11109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8A7A76"/>
                </a:solidFill>
                <a:latin typeface="Calibri"/>
              </a:rPr>
              <a:t>This is exactly the layout students must type into Word for Submission 3.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– Session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Quotation — what it must contain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head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details (name, address, tax code, contact); addressed to the customer; quotation number and date.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506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goods table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No. • item and model • unit • quantity • unit price • amount • VAT • total (in figures and in words).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Trading terms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time • place of delivery • method and schedule of payment • warranty • discount if any.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9506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Validity and signature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the quotation stands (say 15 days from issue); the preparer and the authorised signatory, with the seal.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– Session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Contract — the clauses it must have</a:t>
            </a:r>
            <a:endParaRPr lang="en-US" sz="2700" dirty="0"/>
          </a:p>
        </p:txBody>
      </p:sp>
      <p:pic>
        <p:nvPicPr>
          <p:cNvPr id="9" name="Picture 8" descr="c5-chuoi-van-ban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287" y="2219134"/>
            <a:ext cx="11247120" cy="323354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– Session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Acceptance and closure of the contract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record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Pursuant to contract No.…; who attends from each side; what is being accepted (type, quantity, quality actually received against the contract); the pass/fail conclusion; both signatures.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07238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2724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Closure record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both sides have discharged their obligations; reconciles what has been paid and what remains; confirms the contract has ended; both undertake to raise no later claim.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2744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8231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mistakes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acceptance record without the contract number • no penalty clause • figures and words not matching • closing before the accounts are reconciled.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– Session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submit from this lab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2103120"/>
          </a:xfrm>
          <a:prstGeom prst="roundRect">
            <a:avLst>
              <a:gd name="adj" fmla="val 4348"/>
            </a:avLst>
          </a:prstGeom>
          <a:solidFill>
            <a:srgbClr val="FBEDE0"/>
          </a:solidFill>
          <a:ln w="15875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49808" y="1508760"/>
            <a:ext cx="10698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 3 (in pairs — buyer and seller)</a:t>
            </a:r>
            <a:endParaRPr lang="en-US" sz="1500" dirty="0"/>
          </a:p>
          <a:p>
            <a:pPr indent="0" marL="0">
              <a:buNone/>
            </a:pPr>
            <a:r>
              <a:rPr lang="en-US" sz="1350" i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very purchase of 20 computers negotiated in Chapter 4, each pair completes the full commercial file for their own deal.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02920" y="3749040"/>
            <a:ext cx="11201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GROUP'S TASK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41788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41056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seller drafts: an offer letter and a quotation with full trading terms and a validity period.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4864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4864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47914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draft the sales contract with all its basic clauses, plus the acceptance record and the closure record.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55504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5550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54772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files with another pair and name at least three disadvantages or gaps; revise and submit the complete file within a week.</a:t>
            </a:r>
            <a:endParaRPr lang="en-US" sz="1400" dirty="0"/>
          </a:p>
        </p:txBody>
      </p:sp>
      <p:pic>
        <p:nvPicPr>
          <p:cNvPr id="21" name="Picture 20" descr="co-huong-tr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78440" y="384048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– Session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MARKING CRITERIA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your work is marked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475232"/>
          </a:xfrm>
          <a:prstGeom prst="roundRect">
            <a:avLst>
              <a:gd name="adj" fmla="val 557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365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format (40%)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nine components per Decree 30/2020; A4, correct margins, Times New Roman 13 – 14 pt, page numbers in the right place.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102864"/>
            <a:ext cx="11201400" cy="1475232"/>
          </a:xfrm>
          <a:prstGeom prst="roundRect">
            <a:avLst>
              <a:gd name="adj" fmla="val 557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57728"/>
            <a:ext cx="10762488" cy="1365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content and layout for the type (40%)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fits the case; layout matches the type; administrative register, no spelling errors.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42688"/>
            <a:ext cx="11201400" cy="1475232"/>
          </a:xfrm>
          <a:prstGeom prst="roundRect">
            <a:avLst>
              <a:gd name="adj" fmla="val 557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97552"/>
            <a:ext cx="10762488" cy="1365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time, and revised on feedback (20%)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Submitted by the deadline; the lecturer's comments taken up and a final version resubmitted.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– Session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Course materials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textbook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 Nam Khanh Giao (2023), Business Communication, Finance Publishing House.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950464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005328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legal text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Decree 30/2020/ND-CP of 5 March 2020 on records management — the rules on format and layout of administrative documents.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437888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92752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Lecturer's own materials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Slides, document templates, cases and exercises written by Do Thuy Huong; provided after each session.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Je m’appelle Huong — Lecturer and Researcher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Đỗ Thùy Hương</dc:creator>
  <cp:lastModifiedBy>Đỗ Thùy Hương</cp:lastModifiedBy>
  <cp:revision>1</cp:revision>
  <dcterms:created xsi:type="dcterms:W3CDTF">2026-08-23T10:31:57Z</dcterms:created>
  <dcterms:modified xsi:type="dcterms:W3CDTF">2026-08-23T10:31:57Z</dcterms:modified>
</cp:coreProperties>
</file>