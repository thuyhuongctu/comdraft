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MỞ ĐẦU (3 phút)</a:t>
            </a:r>
          </a:p>
          <a:p>
            <a:r>
              <a:t>• Trả bài số 1, nêu 3 lỗi phổ biến nhất của cả lớp (không nêu tên ai).</a:t>
            </a:r>
          </a:p>
          <a:p>
            <a:r>
              <a:t>• Nhấn: buổi này giữ nguyên yêu cầu thể thức của Bài 1, cộng thêm BỐ CỤC từng loại văn bản.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MỤC TIÊU (2 phút) — 4 mục tiêu; nhấn: mỗi bạn sẽ soạn 2 văn bản bốc thăm.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NỘI DUNG (1 phút) — 5 loại văn bản.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QUY TRÌNH (2 phút) — nhấn bước phân tích văn bản mẫu trước khi soạn.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QUYẾT ĐỊNH (10 phút)</a:t>
            </a:r>
          </a:p>
          <a:p>
            <a:r>
              <a:t>• Chiếu văn bản mẫu, cho lớp CHỈ RA phần căn cứ và phần các Điều.</a:t>
            </a:r>
          </a:p>
          <a:p>
            <a:r>
              <a:t>• Cô gõ mẫu phần căn cứ trên máy chiếu, nói to từng dòng.</a:t>
            </a:r>
          </a:p>
          <a:p>
            <a:r>
              <a:t>• Nhấn dấu câu: căn cứ kết thúc bằng DẤU CHẤM PHẨY, dòng cuối DẤU CHẤM.</a:t>
            </a:r>
          </a:p>
          <a:p>
            <a:r>
              <a:t>• Đọc to danh sách lỗi thường gặp cuối slide — bảo sinh viên đánh dấu vào vở.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TỜ TRÌNH (8 phút)</a:t>
            </a:r>
          </a:p>
          <a:p>
            <a:r>
              <a:t>• Phân tích mẫu theo 3 phần.</a:t>
            </a:r>
          </a:p>
          <a:p>
            <a:r>
              <a:t>• Cho lớp thử viết 2 câu mở đầu tờ trình cho tình huống mua máy tính, gọi 2 bạn đọc lên.</a:t>
            </a:r>
          </a:p>
          <a:p>
            <a:r>
              <a:t>• Nhấn: phải có số liệu và dự toán kèm theo.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CÔNG VĂN (10 phút)</a:t>
            </a:r>
          </a:p>
          <a:p>
            <a:r>
              <a:t>• Chiếu song song một công văn ĐÚNG và một công văn SAI (có ghi thêm chữ "CÔNG VĂN" ở giữa) — cho lớp tìm lỗi.</a:t>
            </a:r>
          </a:p>
          <a:p>
            <a:r>
              <a:t>• Làm mẫu câu mở đầu công văn phúc đáp.</a:t>
            </a:r>
          </a:p>
          <a:p>
            <a:r>
              <a:t>• Nhấn: mỗi công văn MỘT chủ đề; kết thúc "Trân trọng./."''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BIÊN BẢN – BÁO CÁO (10 phút)</a:t>
            </a:r>
          </a:p>
          <a:p>
            <a:r>
              <a:t>• Biên bản: nhấn LẬP TẠI CHỖ và CHỮ KÝ hai bên.</a:t>
            </a:r>
          </a:p>
          <a:p>
            <a:r>
              <a:t>• Cho lớp thử: cô đọc một đoạn hội thoại họp ngắn, sinh viên ghi biên bản trong 3 phút, rồi so sánh vài bài.</a:t>
            </a:r>
          </a:p>
          <a:p>
            <a:r>
              <a:t>• Báo cáo: nhấn phải nêu cả hạn chế; số liệu phải nhất quán giữa các phần.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TIÊU CHÍ CHẤM (2 phút) — nhắc lại 3 tiêu chí.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KẾT BUỔI (1 phút) — buổi sau làm theo cặp, nhắc sinh viên tự ghép cặp trước.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Relationship Id="rId5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Relationship Id="rId4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Relationship Id="rId4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DC756A"/>
          </a:solidFill>
          <a:ln/>
        </p:spPr>
        <p:txBody>
          <a:bodyPr/>
          <a:p/>
        </p:txBody>
      </p:sp>
      <p:pic>
        <p:nvPicPr>
          <p:cNvPr id="3" name="Image 0" descr="/home/user/comdraft/assets/img/dau-huong.png">    </p:cNvPr>
          <p:cNvPicPr>
            <a:picLocks noChangeAspect="1"/>
          </p:cNvPicPr>
          <p:nvPr/>
        </p:nvPicPr>
        <p:blipFill>
          <a:blip r:embed="rId1">
            <a:alphaModFix amt="18000"/>
          </a:blip>
          <a:stretch>
            <a:fillRect/>
          </a:stretch>
        </p:blipFill>
        <p:spPr>
          <a:xfrm>
            <a:off x="8549640" y="1417320"/>
            <a:ext cx="3200400" cy="3200400"/>
          </a:xfrm>
          <a:prstGeom prst="rect">
            <a:avLst/>
          </a:prstGeom>
        </p:spPr>
      </p:pic>
      <p:pic>
        <p:nvPicPr>
          <p:cNvPr id="4" name="Image 1" descr="/home/user/comdraft/assets/img/lockup-huong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411480"/>
            <a:ext cx="2834640" cy="1188720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822960" y="201168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5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THỰC HÀNH • BÀI 2</a:t>
            </a:r>
            <a:endParaRPr lang="en-US" sz="1800" dirty="0"/>
          </a:p>
        </p:txBody>
      </p:sp>
      <p:sp>
        <p:nvSpPr>
          <p:cNvPr id="6" name="Shape 2"/>
          <p:cNvSpPr/>
          <p:nvPr/>
        </p:nvSpPr>
        <p:spPr>
          <a:xfrm>
            <a:off x="822960" y="2487168"/>
            <a:ext cx="1371600" cy="41148"/>
          </a:xfrm>
          <a:prstGeom prst="rect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7" name="Text 3"/>
          <p:cNvSpPr/>
          <p:nvPr/>
        </p:nvSpPr>
        <p:spPr>
          <a:xfrm>
            <a:off x="822960" y="2697480"/>
            <a:ext cx="75895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Soạn thảo văn bản</a:t>
            </a:r>
            <a:endParaRPr lang="en-US" sz="3800" dirty="0"/>
          </a:p>
          <a:p>
            <a:pPr indent="0" marL="0">
              <a:buNone/>
            </a:pPr>
            <a:r>
              <a:rPr lang="en-US" sz="38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hành chính</a:t>
            </a:r>
            <a:endParaRPr lang="en-US" sz="3800" dirty="0"/>
          </a:p>
        </p:txBody>
      </p:sp>
      <p:sp>
        <p:nvSpPr>
          <p:cNvPr id="8" name="Text 4"/>
          <p:cNvSpPr/>
          <p:nvPr/>
        </p:nvSpPr>
        <p:spPr>
          <a:xfrm>
            <a:off x="822960" y="4434840"/>
            <a:ext cx="7589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Năm loại văn bản dùng hằng ngày trong mọi tổ chức — soạn đúng ngay từ lần đầu.</a:t>
            </a:r>
            <a:endParaRPr lang="en-US" sz="1400" dirty="0"/>
          </a:p>
        </p:txBody>
      </p:sp>
      <p:sp>
        <p:nvSpPr>
          <p:cNvPr id="9" name="Text 5"/>
          <p:cNvSpPr/>
          <p:nvPr/>
        </p:nvSpPr>
        <p:spPr>
          <a:xfrm>
            <a:off x="822960" y="5349240"/>
            <a:ext cx="7863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GV. Đỗ Thùy Hương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Phần thực hành  •  Phòng A0105 – Mô phỏng Kinh tế  •  Lớp 261b, HK1 2026 – 2027</a:t>
            </a:r>
            <a:endParaRPr lang="en-US" sz="1500" dirty="0"/>
          </a:p>
        </p:txBody>
      </p:sp>
      <p:sp>
        <p:nvSpPr>
          <p:cNvPr id="10" name="Text 6"/>
          <p:cNvSpPr/>
          <p:nvPr/>
        </p:nvSpPr>
        <p:spPr>
          <a:xfrm>
            <a:off x="822960" y="635508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Đỗ Thùy Hương, 2026 — Bài giảng biên soạn cho lớp giảng dạy trực tiếp. Vui lòng ghi nguồn khi sử dụng.</a:t>
            </a:r>
            <a:endParaRPr lang="en-US" sz="900" dirty="0"/>
          </a:p>
        </p:txBody>
      </p:sp>
      <p:pic>
        <p:nvPicPr>
          <p:cNvPr id="11" name="Picture 10" descr="co-huong-do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41080" y="1051560"/>
            <a:ext cx="3279624" cy="512064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omdraft/assets/img/dau-huo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GV. Đỗ Thùy Hương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Thực hành – Bài 2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MỤC TIÊU BUỔI THỰC HÀNH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Bài 2 — 0/15/30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61848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502920" y="16184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1051560" y="1545336"/>
            <a:ext cx="10652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Soạn thảo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được quyết định và tờ trình đúng bố cục, đúng thẩm quyền ban hành.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502920" y="257860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3" name="Text 10"/>
          <p:cNvSpPr/>
          <p:nvPr/>
        </p:nvSpPr>
        <p:spPr>
          <a:xfrm>
            <a:off x="502920" y="25786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1051560" y="2505456"/>
            <a:ext cx="10652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Soạn thảo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được các loại công văn giao dịch phổ biến trong tổ chức.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502920" y="353872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502920" y="35387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1051560" y="3465576"/>
            <a:ext cx="10652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Lập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được biên bản cuộc họp và báo cáo công việc theo đúng kết cấu.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502920" y="449884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9" name="Text 16"/>
          <p:cNvSpPr/>
          <p:nvPr/>
        </p:nvSpPr>
        <p:spPr>
          <a:xfrm>
            <a:off x="502920" y="44988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1051560" y="4425696"/>
            <a:ext cx="10652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Tự kiểm tra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và chỉnh sửa văn bản của mình theo bảng kiểm thể thức đã học ở Bài 1.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omdraft/assets/img/dau-huo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GV. Đỗ Thùy Hương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Thực hành – Bài 2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NỘI DUNG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Chúng ta sẽ thực hành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61848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502920" y="16184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1051560" y="1545336"/>
            <a:ext cx="10652760" cy="9052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2.1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Soạn thảo Quyết định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502920" y="2523744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3" name="Text 10"/>
          <p:cNvSpPr/>
          <p:nvPr/>
        </p:nvSpPr>
        <p:spPr>
          <a:xfrm>
            <a:off x="502920" y="252374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1051560" y="2450592"/>
            <a:ext cx="10652760" cy="9052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2.2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Soạn thảo Tờ trình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502920" y="3429000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502920" y="3429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1051560" y="3355848"/>
            <a:ext cx="10652760" cy="9052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2.3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Soạn thảo các loại công văn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502920" y="4334256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9" name="Text 16"/>
          <p:cNvSpPr/>
          <p:nvPr/>
        </p:nvSpPr>
        <p:spPr>
          <a:xfrm>
            <a:off x="502920" y="43342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1051560" y="4261104"/>
            <a:ext cx="10652760" cy="9052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2.4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Soạn thảo Biên bản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502920" y="5239512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22" name="Text 19"/>
          <p:cNvSpPr/>
          <p:nvPr/>
        </p:nvSpPr>
        <p:spPr>
          <a:xfrm>
            <a:off x="502920" y="52395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23" name="Text 20"/>
          <p:cNvSpPr/>
          <p:nvPr/>
        </p:nvSpPr>
        <p:spPr>
          <a:xfrm>
            <a:off x="1051560" y="5166360"/>
            <a:ext cx="10652760" cy="9052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2.5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Soạn thảo Báo cáo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omdraft/assets/img/dau-huo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GV. Đỗ Thùy Hương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Thực hành – Bài 2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QUY TRÌNH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Cách làm việc trong buổi thực hành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645920"/>
            <a:ext cx="2152498" cy="868680"/>
          </a:xfrm>
          <a:prstGeom prst="chevron">
            <a:avLst/>
          </a:prstGeom>
          <a:solidFill>
            <a:srgbClr val="AC4D33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594360" y="1645920"/>
            <a:ext cx="201533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PHÂN TÍCH MẪU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2765146" y="1645920"/>
            <a:ext cx="2152498" cy="868680"/>
          </a:xfrm>
          <a:prstGeom prst="chevron">
            <a:avLst/>
          </a:prstGeom>
          <a:solidFill>
            <a:srgbClr val="DC756A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2856586" y="1645920"/>
            <a:ext cx="201533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GV HƯỚNG DẪN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5027371" y="1645920"/>
            <a:ext cx="2152498" cy="868680"/>
          </a:xfrm>
          <a:prstGeom prst="chevron">
            <a:avLst/>
          </a:prstGeom>
          <a:solidFill>
            <a:srgbClr val="AC4D33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5118811" y="1645920"/>
            <a:ext cx="201533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SV THỰC HÀNH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7289597" y="1645920"/>
            <a:ext cx="2152498" cy="868680"/>
          </a:xfrm>
          <a:prstGeom prst="chevron">
            <a:avLst/>
          </a:prstGeom>
          <a:solidFill>
            <a:srgbClr val="DC756A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7381037" y="1645920"/>
            <a:ext cx="201533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CHẤM CHÉO</a:t>
            </a:r>
            <a:endParaRPr lang="en-US" sz="1250" dirty="0"/>
          </a:p>
        </p:txBody>
      </p:sp>
      <p:sp>
        <p:nvSpPr>
          <p:cNvPr id="17" name="Shape 14"/>
          <p:cNvSpPr/>
          <p:nvPr/>
        </p:nvSpPr>
        <p:spPr>
          <a:xfrm>
            <a:off x="9551822" y="1645920"/>
            <a:ext cx="2152498" cy="868680"/>
          </a:xfrm>
          <a:prstGeom prst="chevron">
            <a:avLst/>
          </a:prstGeom>
          <a:solidFill>
            <a:srgbClr val="AC4D33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18" name="Text 15"/>
          <p:cNvSpPr/>
          <p:nvPr/>
        </p:nvSpPr>
        <p:spPr>
          <a:xfrm>
            <a:off x="9643262" y="1645920"/>
            <a:ext cx="201533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HOÀN THIỆN</a:t>
            </a:r>
            <a:endParaRPr lang="en-US" sz="1250" dirty="0"/>
          </a:p>
        </p:txBody>
      </p:sp>
      <p:sp>
        <p:nvSpPr>
          <p:cNvPr id="19" name="Text 16"/>
          <p:cNvSpPr/>
          <p:nvPr/>
        </p:nvSpPr>
        <p:spPr>
          <a:xfrm>
            <a:off x="502920" y="2651760"/>
            <a:ext cx="2152498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Đọc văn bản mẫu, chỉ ra bố cục đặc trưng của từng loại.</a:t>
            </a:r>
            <a:endParaRPr lang="en-US" sz="1150" dirty="0"/>
          </a:p>
        </p:txBody>
      </p:sp>
      <p:sp>
        <p:nvSpPr>
          <p:cNvPr id="20" name="Text 17"/>
          <p:cNvSpPr/>
          <p:nvPr/>
        </p:nvSpPr>
        <p:spPr>
          <a:xfrm>
            <a:off x="2765146" y="2651760"/>
            <a:ext cx="2152498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Giảng viên soạn mẫu một đoạn, lưu ý lỗi thường gặp.</a:t>
            </a:r>
            <a:endParaRPr lang="en-US" sz="1150" dirty="0"/>
          </a:p>
        </p:txBody>
      </p:sp>
      <p:sp>
        <p:nvSpPr>
          <p:cNvPr id="21" name="Text 18"/>
          <p:cNvSpPr/>
          <p:nvPr/>
        </p:nvSpPr>
        <p:spPr>
          <a:xfrm>
            <a:off x="5027371" y="2651760"/>
            <a:ext cx="2152498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Mỗi sinh viên soạn theo tình huống được giao.</a:t>
            </a:r>
            <a:endParaRPr lang="en-US" sz="1150" dirty="0"/>
          </a:p>
        </p:txBody>
      </p:sp>
      <p:sp>
        <p:nvSpPr>
          <p:cNvPr id="22" name="Text 19"/>
          <p:cNvSpPr/>
          <p:nvPr/>
        </p:nvSpPr>
        <p:spPr>
          <a:xfrm>
            <a:off x="7289597" y="2651760"/>
            <a:ext cx="2152498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Đổi bài theo nhóm, góp ý theo bảng kiểm.</a:t>
            </a:r>
            <a:endParaRPr lang="en-US" sz="1150" dirty="0"/>
          </a:p>
        </p:txBody>
      </p:sp>
      <p:sp>
        <p:nvSpPr>
          <p:cNvPr id="23" name="Text 20"/>
          <p:cNvSpPr/>
          <p:nvPr/>
        </p:nvSpPr>
        <p:spPr>
          <a:xfrm>
            <a:off x="9551822" y="2651760"/>
            <a:ext cx="2152498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Sửa theo góp ý và nộp bài cuối buổi.</a:t>
            </a:r>
            <a:endParaRPr lang="en-US" sz="11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omdraft/assets/img/dau-huo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GV. Đỗ Thùy Hương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Thực hành – Bài 2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2.1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Soạn thảo Quyết định</a:t>
            </a:r>
            <a:endParaRPr lang="en-US" sz="2700" dirty="0"/>
          </a:p>
        </p:txBody>
      </p:sp>
      <p:pic>
        <p:nvPicPr>
          <p:cNvPr id="9" name="Picture 8" descr="c5-chuoi-van-ban-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1171" y="2365438"/>
            <a:ext cx="10229353" cy="2940939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48640" y="5379529"/>
            <a:ext cx="111099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i="1">
                <a:solidFill>
                  <a:srgbClr val="8A7A76"/>
                </a:solidFill>
                <a:latin typeface="Calibri"/>
              </a:rPr>
              <a:t>Bài nộp số 2 nằm ở các bước 1 – 3 của chuỗi; bước 4 – 7 là nội dung Bài thực hành số 3.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omdraft/assets/img/dau-huo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GV. Đỗ Thùy Hương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Thực hành – Bài 2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2.2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Soạn thảo Tờ trình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417320"/>
            <a:ext cx="11201400" cy="1076706"/>
          </a:xfrm>
          <a:prstGeom prst="roundRect">
            <a:avLst>
              <a:gd name="adj" fmla="val 7643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722376" y="1472184"/>
            <a:ext cx="10762488" cy="966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Mở đầu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Nêu căn cứ pháp lý và thực trạng dẫn đến đề xuất: “Căn cứ… Thực hiện… Hiện nay, [đơn vị] đang gặp…”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502920" y="2658618"/>
            <a:ext cx="11201400" cy="1076706"/>
          </a:xfrm>
          <a:prstGeom prst="roundRect">
            <a:avLst>
              <a:gd name="adj" fmla="val 7643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722376" y="2713482"/>
            <a:ext cx="10762488" cy="966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Nội dung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Trình bày phương án cụ thể: nội dung đề xuất, số lượng, kinh phí dự kiến, thời gian thực hiện, phân tích lợi ích và tính khả thi.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02920" y="3899916"/>
            <a:ext cx="11201400" cy="1076706"/>
          </a:xfrm>
          <a:prstGeom prst="roundRect">
            <a:avLst>
              <a:gd name="adj" fmla="val 7643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722376" y="3954780"/>
            <a:ext cx="10762488" cy="966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Kết thúc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“Kính trình [cấp có thẩm quyền] xem xét, phê duyệt.” Kèm danh mục hồ sơ, dự toán đính kèm.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502920" y="5141214"/>
            <a:ext cx="11201400" cy="1076706"/>
          </a:xfrm>
          <a:prstGeom prst="roundRect">
            <a:avLst>
              <a:gd name="adj" fmla="val 7643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722376" y="5196078"/>
            <a:ext cx="10762488" cy="966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Lỗi thường gặp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Đề xuất chung chung không có số liệu • thiếu phân tích lợi ích • trình sai cấp có thẩm quyền • quên đính kèm dự toán.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omdraft/assets/img/dau-huo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GV. Đỗ Thùy Hương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Thực hành – Bài 2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2.3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Soạn thảo Công văn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417320"/>
            <a:ext cx="11201400" cy="1076706"/>
          </a:xfrm>
          <a:prstGeom prst="roundRect">
            <a:avLst>
              <a:gd name="adj" fmla="val 7643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722376" y="1472184"/>
            <a:ext cx="10762488" cy="966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Công văn đề nghị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Mở: nêu căn cứ, lý do → Thân: nội dung đề nghị cụ thể, thời hạn mong muốn → Kết: “Rất mong nhận được sự quan tâm, phối hợp của Quý cơ quan. Trân trọng./.”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502920" y="2658618"/>
            <a:ext cx="11201400" cy="1076706"/>
          </a:xfrm>
          <a:prstGeom prst="roundRect">
            <a:avLst>
              <a:gd name="adj" fmla="val 7643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722376" y="2713482"/>
            <a:ext cx="10762488" cy="966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Công văn phúc đáp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Mở: “Phúc đáp Công văn số… ngày… của… về việc…” → Thân: trả lời từng nội dung được hỏi → Kết: lịch sự, mở khả năng trao đổi thêm.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02920" y="3899916"/>
            <a:ext cx="11201400" cy="1076706"/>
          </a:xfrm>
          <a:prstGeom prst="roundRect">
            <a:avLst>
              <a:gd name="adj" fmla="val 7643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722376" y="3954780"/>
            <a:ext cx="10762488" cy="966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Công văn đôn đốc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Nhắc lại yêu cầu đã ban hành, nêu tình hình thực hiện, ấn định thời hạn mới; giọng văn nghiêm túc nhưng không xúc phạm.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502920" y="5141214"/>
            <a:ext cx="11201400" cy="1076706"/>
          </a:xfrm>
          <a:prstGeom prst="roundRect">
            <a:avLst>
              <a:gd name="adj" fmla="val 7643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722376" y="5196078"/>
            <a:ext cx="10762488" cy="966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Lỗi thường gặp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Ghi thêm tên loại “CÔNG VĂN” ở giữa (sai) • trích yếu không bắt đầu bằng “V/v” • gộp nhiều chủ đề trong một công văn • thiếu dấu “./.” kết thúc.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omdraft/assets/img/dau-huo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GV. Đỗ Thùy Hương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Thực hành – Bài 2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2.4 – 2.5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Biên bản và Báo cáo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417320"/>
            <a:ext cx="11201400" cy="1076706"/>
          </a:xfrm>
          <a:prstGeom prst="roundRect">
            <a:avLst>
              <a:gd name="adj" fmla="val 7643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722376" y="1472184"/>
            <a:ext cx="10762488" cy="966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Biên bản — mở đầu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Thời gian, địa điểm; thành phần tham dự (chủ trì, thư ký, đại biểu, số người có mặt/vắng); nội dung cuộc họp.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502920" y="2658618"/>
            <a:ext cx="11201400" cy="1076706"/>
          </a:xfrm>
          <a:prstGeom prst="roundRect">
            <a:avLst>
              <a:gd name="adj" fmla="val 7643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722376" y="2713482"/>
            <a:ext cx="10762488" cy="966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Biên bản — diễn biến và kết thúc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Ghi tuần tự ý kiến từng người (ngắn gọn, trung thực) → kết luận của chủ trì → “Biên bản kết thúc lúc … giờ, đã đọc lại cho mọi người cùng nghe và thống nhất” → chữ ký thư ký và chủ trì.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02920" y="3899916"/>
            <a:ext cx="11201400" cy="1076706"/>
          </a:xfrm>
          <a:prstGeom prst="roundRect">
            <a:avLst>
              <a:gd name="adj" fmla="val 7643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722376" y="3954780"/>
            <a:ext cx="10762488" cy="966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Báo cáo — bố cục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Đặc điểm tình hình → II. Kết quả đạt được (có số liệu, so sánh chỉ tiêu) → III. Hạn chế và nguyên nhân → IV. Phương hướng và kiến nghị.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502920" y="5141214"/>
            <a:ext cx="11201400" cy="1076706"/>
          </a:xfrm>
          <a:prstGeom prst="roundRect">
            <a:avLst>
              <a:gd name="adj" fmla="val 7643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722376" y="5196078"/>
            <a:ext cx="10762488" cy="966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Lỗi thường gặp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Biên bản ghi thêm nhận xét chủ quan • thiếu chữ ký thư ký • báo cáo chỉ nêu thành tích, né hạn chế • số liệu không nhất quán giữa các phần.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omdraft/assets/img/dau-huo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GV. Đỗ Thùy Hương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Thực hành – Bài 2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BÀI TẬP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Bài nộp của buổi thực hành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417320"/>
            <a:ext cx="11201400" cy="2103120"/>
          </a:xfrm>
          <a:prstGeom prst="roundRect">
            <a:avLst>
              <a:gd name="adj" fmla="val 4348"/>
            </a:avLst>
          </a:prstGeom>
          <a:solidFill>
            <a:srgbClr val="FBEDE0"/>
          </a:solidFill>
          <a:ln w="15875">
            <a:solidFill>
              <a:srgbClr val="C9A227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749808" y="1508760"/>
            <a:ext cx="106984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65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BÀI NỘP SỐ 2 (làm cá nhân, bốc thăm tình huống)</a:t>
            </a:r>
            <a:endParaRPr lang="en-US" sz="1500" dirty="0"/>
          </a:p>
          <a:p>
            <a:pPr indent="0" marL="0">
              <a:buNone/>
            </a:pPr>
            <a:r>
              <a:rPr lang="en-US" sz="1350" i="1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Phòng Kế toán Công ty TNHH An Phát cần trang bị thêm 10 máy tính. Từ tình huống này, mỗi sinh viên bốc thăm và soạn 2 trong 5 văn bản: Tờ trình đề xuất mua sắm • Quyết định phê duyệt mua sắm • Công văn gửi nhà cung cấp đề nghị báo giá • Biên bản họp xét chọn nhà cung cấp • Báo cáo kết quả trang bị thiết bị.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502920" y="3749040"/>
            <a:ext cx="11201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NHIỆM VỤ CỦA NHÓM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502920" y="417880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3" name="Text 10"/>
          <p:cNvSpPr/>
          <p:nvPr/>
        </p:nvSpPr>
        <p:spPr>
          <a:xfrm>
            <a:off x="502920" y="41788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1051560" y="4105656"/>
            <a:ext cx="10652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Soạn đủ 2 văn bản được bốc thăm, đúng thể thức NĐ 30/2020 và đúng bố cục đặc trưng của từng loại.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502920" y="486460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502920" y="48646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1051560" y="4791456"/>
            <a:ext cx="10652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Tự soát theo bảng kiểm Bài 1 và bảng lỗi thường gặp của từng loại văn bản.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502920" y="555040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9" name="Text 16"/>
          <p:cNvSpPr/>
          <p:nvPr/>
        </p:nvSpPr>
        <p:spPr>
          <a:xfrm>
            <a:off x="502920" y="55504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1051560" y="5477256"/>
            <a:ext cx="10652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Nộp file Word cuối buổi; chỉnh sửa theo phản hồi của giảng viên và nộp lại bản hoàn thiện trong 1 tuần.</a:t>
            </a:r>
            <a:endParaRPr lang="en-US" sz="1400" dirty="0"/>
          </a:p>
        </p:txBody>
      </p:sp>
      <p:pic>
        <p:nvPicPr>
          <p:cNvPr id="21" name="Picture 20" descr="co-huong-tr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378440" y="384048"/>
            <a:ext cx="960120" cy="96012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omdraft/assets/img/dau-huo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GV. Đỗ Thùy Hương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Thực hành – Bài 2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TIÊU CHÍ CHẤM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Bài của các bạn được chấm thế nào?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463040"/>
            <a:ext cx="11201400" cy="1475232"/>
          </a:xfrm>
          <a:prstGeom prst="roundRect">
            <a:avLst>
              <a:gd name="adj" fmla="val 5579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722376" y="1517904"/>
            <a:ext cx="10762488" cy="1365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Đúng thể thức (40%)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Đủ 9 thành phần theo NĐ 30/2020; khổ A4, lề đúng quy định, Times New Roman cỡ 13 – 14, số trang đúng vị trí.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502920" y="3102864"/>
            <a:ext cx="11201400" cy="1475232"/>
          </a:xfrm>
          <a:prstGeom prst="roundRect">
            <a:avLst>
              <a:gd name="adj" fmla="val 5579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722376" y="3157728"/>
            <a:ext cx="10762488" cy="1365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Đúng nội dung và bố cục loại văn bản (40%)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Nội dung phù hợp tình huống được giao; bố cục đúng đặc trưng của loại văn bản; văn phong hành chính, không lỗi chính tả.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02920" y="4742688"/>
            <a:ext cx="11201400" cy="1475232"/>
          </a:xfrm>
          <a:prstGeom prst="roundRect">
            <a:avLst>
              <a:gd name="adj" fmla="val 5579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722376" y="4797552"/>
            <a:ext cx="10762488" cy="1365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Nộp đúng hạn và chỉnh sửa theo phản hồi (20%)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Nộp đúng thời hạn quy định; tiếp thu góp ý của giảng viên và nộp lại bản hoàn thiện.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omdraft/assets/img/dau-huo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GV. Đỗ Thùy Hương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Thực hành – Bài 2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TÀI LIỆU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Tài liệu học tập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463040"/>
            <a:ext cx="11201400" cy="1322832"/>
          </a:xfrm>
          <a:prstGeom prst="roundRect">
            <a:avLst>
              <a:gd name="adj" fmla="val 6221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722376" y="1517904"/>
            <a:ext cx="10762488" cy="1213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Giáo trình chính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Hà Nam Khánh Giao (2023), Giáo trình Giao tiếp kinh doanh, NXB Tài chính.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502920" y="2950464"/>
            <a:ext cx="11201400" cy="1322832"/>
          </a:xfrm>
          <a:prstGeom prst="roundRect">
            <a:avLst>
              <a:gd name="adj" fmla="val 6221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722376" y="3005328"/>
            <a:ext cx="10762488" cy="1213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Văn bản pháp lý bắt buộc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Nghị định 30/2020/NĐ-CP ngày 05/3/2020 của Chính phủ về công tác văn thư — hướng dẫn thể thức và kỹ thuật trình bày văn bản hành chính.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02920" y="4437888"/>
            <a:ext cx="11201400" cy="1322832"/>
          </a:xfrm>
          <a:prstGeom prst="roundRect">
            <a:avLst>
              <a:gd name="adj" fmla="val 6221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722376" y="4492752"/>
            <a:ext cx="10762488" cy="1213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Học liệu của giảng viên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Slide, biểu mẫu văn bản, tình huống và bài tập do GV. Đỗ Thùy Hương biên soạn; cung cấp sau mỗi buổi học.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Je m’appelle Huong — Lecturer and Researcher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Đỗ Thùy Hương</dc:creator>
  <cp:lastModifiedBy>Đỗ Thùy Hương</cp:lastModifiedBy>
  <cp:revision>1</cp:revision>
  <dcterms:created xsi:type="dcterms:W3CDTF">2026-08-23T05:36:02Z</dcterms:created>
  <dcterms:modified xsi:type="dcterms:W3CDTF">2026-08-23T05:36:02Z</dcterms:modified>
</cp:coreProperties>
</file>