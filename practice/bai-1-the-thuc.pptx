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BUỔI THỰC HÀNH (3 phút)</a:t>
            </a:r>
          </a:p>
          <a:p>
            <a:r>
              <a:t>• Kiểm tra: bao nhiêu bạn mang laptop, bao nhiêu bạn đã cài Word.</a:t>
            </a:r>
          </a:p>
          <a:p>
            <a:r>
              <a:t>• Ghép bạn không có máy ngồi cùng bạn có máy.</a:t>
            </a:r>
          </a:p>
          <a:p>
            <a:r>
              <a:t>• Nói rõ sản phẩm cuối buổi: 1 file Word nộp trước khi ra về.</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(2 phút) — đọc 3 mục tiêu; nhấn: buổi này CHẤM KỸ THỂ THỨC, nội dung chỉ cần vài dòng.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NỘI DUNG (1 phút) — 2 phần: nhận diện thành phần, rồi thực hành trình bày.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 TRÌNH 5 BƯỚC (2 phút)</a:t>
            </a:r>
          </a:p>
          <a:p>
            <a:r>
              <a:t>• Giải thích cách buổi học vận hành; nhấn bước CHẤM CHÉO — bạn ngồi cạnh soát bài cho nhau.</a:t>
            </a:r>
          </a:p>
          <a:p>
            <a:r>
              <a:t>• Nói trước: cô đi từng bàn, ai vướng giơ tay.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BƯỚC 1 — LÀM MẪU TRÊN MÁY CHIẾU (8 phút)</a:t>
            </a:r>
          </a:p>
          <a:p>
            <a:r>
              <a:t>• Cô mở Word và thao tác THẬT, chậm rãi, sinh viên làm theo trên máy mình.</a:t>
            </a:r>
          </a:p>
          <a:p>
            <a:r>
              <a:t>• Layout → Size → A4. Nhấn: KHÔNG dùng Letter (mặc định của nhiều máy).</a:t>
            </a:r>
          </a:p>
          <a:p>
            <a:r>
              <a:t>• Layout → Margins → Custom. Gõ từng con số, nói to trong lúc gõ.</a:t>
            </a:r>
          </a:p>
          <a:p>
            <a:r>
              <a:t>• Chọn phông Times New Roman cỡ 13, kiểm tra gõ tiếng Việt có dấu.</a:t>
            </a:r>
          </a:p>
          <a:p>
            <a:r>
              <a:t>• Insert → Page Number → Top of Page → Center, rồi tích Different First Page.</a:t>
            </a:r>
          </a:p>
          <a:p>
            <a:r>
              <a:t>• Dừng lại hỏi: "Bạn nào chưa làm được, giơ tay."''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BƯỚC 2 — PHẦN ĐẦU (10 phút)</a:t>
            </a:r>
          </a:p>
          <a:p>
            <a:r>
              <a:t>• Làm mẫu Quốc hiệu – Tiêu ngữ, chỉ rõ cách canh phải và kẻ đường ngang bên dưới.</a:t>
            </a:r>
          </a:p>
          <a:p>
            <a:r>
              <a:t>• Lỗi thường gặp: gõ Tiêu ngữ không có gạch nối, hoặc dùng dấu gạch ngang sai.</a:t>
            </a:r>
          </a:p>
          <a:p>
            <a:r>
              <a:t>• Số ký hiệu: viết ví dụ cho 3 loại lên bảng — QĐ, TTr, và công văn (không có tên loại).</a:t>
            </a:r>
          </a:p>
          <a:p>
            <a:r>
              <a:t>• Ngày tháng: nhấn quy tắc THÊM SỐ 0 với ngày/tháng nhỏ hơn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BƯỚC 3 — PHẦN GIỮA VÀ CUỐI (8 phút)</a:t>
            </a:r>
          </a:p>
          <a:p>
            <a:r>
              <a:t>• Trích yếu: ngắn, phản ánh đúng nội dung. Cho lớp thử đặt trích yếu cho 1 tình huống.</a:t>
            </a:r>
          </a:p>
          <a:p>
            <a:r>
              <a:t>• Phần ký: nhấn CHỪA 3–4 DÒNG TRỐNG cho chữ ký — sinh viên hay quên, ký chèn lên chữ.</a:t>
            </a:r>
          </a:p>
          <a:p>
            <a:r>
              <a:t>• Nơi nhận: dòng cuối LUÔN là "- Lưu: VT,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BẢNG KIỂM (5 phút)</a:t>
            </a:r>
          </a:p>
          <a:p>
            <a:r>
              <a:t>• Cho sinh viên tự soát bài mình theo 8 điểm, tích vào vở.</a:t>
            </a:r>
          </a:p>
          <a:p>
            <a:r>
              <a:t>• Sau đó ĐỔI BÀI với bạn bên cạnh, soát cho nhau, ghi ra 2 lỗi tìm được.</a:t>
            </a:r>
          </a:p>
          <a:p>
            <a:r>
              <a:t>• Nói rõ: cô chấm theo đúng 8 điểm này.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TIÊU CHÍ CHẤM (2 phút) — đọc rõ 3 tiêu chí và tỷ trọng để sinh viên biết trọng tâm.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BUỔI (1 phút) — nhắc buổi sau: Bài 2, soạn 5 văn bản hành chính; xem trước video hướng dẫn.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THỰC HÀNH • BÀI 1</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Thể thức văn bản</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Nhận diện và trình bày đúng từng thành phần thể thức trên trang giấy A4.</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GV. Đỗ Thùy Hương</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Phần thực hành  •  Phòng A0105 – Mô phỏng Kinh tế  •  Lớp 261b, HK1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Đỗ Thùy Hương, 2026 — Bài giảng biên soạn cho lớp giảng dạy trực tiếp. Vui lòng ghi nguồn khi sử dụng.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MỤC TIÊU BUỔI THỰC HÀNH</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Bài 1 — 0/6/12</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Nhận diện  —  </a:t>
            </a:r>
            <a:pPr indent="0" marL="0">
              <a:buNone/>
            </a:pPr>
            <a:r>
              <a:rPr lang="en-US" sz="1350" dirty="0">
                <a:solidFill>
                  <a:srgbClr val="3A2B28"/>
                </a:solidFill>
                <a:latin typeface="Calibri" pitchFamily="34" charset="0"/>
                <a:ea typeface="Calibri" pitchFamily="34" charset="-122"/>
                <a:cs typeface="Calibri" pitchFamily="34" charset="-120"/>
              </a:rPr>
              <a:t>đầy đủ 9 thành phần thể thức bắt buộc và các thành phần bổ sung trên một văn bản mẫu.</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Thiết lập  —  </a:t>
            </a:r>
            <a:pPr indent="0" marL="0">
              <a:buNone/>
            </a:pPr>
            <a:r>
              <a:rPr lang="en-US" sz="1350" dirty="0">
                <a:solidFill>
                  <a:srgbClr val="3A2B28"/>
                </a:solidFill>
                <a:latin typeface="Calibri" pitchFamily="34" charset="0"/>
                <a:ea typeface="Calibri" pitchFamily="34" charset="-122"/>
                <a:cs typeface="Calibri" pitchFamily="34" charset="-120"/>
              </a:rPr>
              <a:t>khổ giấy, lề trang, phông chữ, cỡ chữ đúng quy định trên Microsoft Word.</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Trình bày  —  </a:t>
            </a:r>
            <a:pPr indent="0" marL="0">
              <a:buNone/>
            </a:pPr>
            <a:r>
              <a:rPr lang="en-US" sz="1350" dirty="0">
                <a:solidFill>
                  <a:srgbClr val="3A2B28"/>
                </a:solidFill>
                <a:latin typeface="Calibri" pitchFamily="34" charset="0"/>
                <a:ea typeface="Calibri" pitchFamily="34" charset="-122"/>
                <a:cs typeface="Calibri" pitchFamily="34" charset="-120"/>
              </a:rPr>
              <a:t>hoàn chỉnh phần thể thức của một văn bản hành chính theo tình huống được giao.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NỘI DUNG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Chúng ta sẽ thực hành</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1.1  —  </a:t>
            </a:r>
            <a:pPr indent="0" marL="0">
              <a:buNone/>
            </a:pPr>
            <a:r>
              <a:rPr lang="en-US" sz="1350" dirty="0">
                <a:solidFill>
                  <a:srgbClr val="3A2B28"/>
                </a:solidFill>
                <a:latin typeface="Calibri" pitchFamily="34" charset="0"/>
                <a:ea typeface="Calibri" pitchFamily="34" charset="-122"/>
                <a:cs typeface="Calibri" pitchFamily="34" charset="-120"/>
              </a:rPr>
              <a:t>Các yếu tố thể thức cần có trong văn bản</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1.2  —  </a:t>
            </a:r>
            <a:pPr indent="0" marL="0">
              <a:buNone/>
            </a:pPr>
            <a:r>
              <a:rPr lang="en-US" sz="1350" dirty="0">
                <a:solidFill>
                  <a:srgbClr val="3A2B28"/>
                </a:solidFill>
                <a:latin typeface="Calibri" pitchFamily="34" charset="0"/>
                <a:ea typeface="Calibri" pitchFamily="34" charset="-122"/>
                <a:cs typeface="Calibri" pitchFamily="34" charset="-120"/>
              </a:rPr>
              <a:t>Thực hành trình bày các yếu tố thể thức trên máy tính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QUY TRÌNH</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Cách làm việc trong buổi thực hành</a:t>
            </a:r>
            <a:endParaRPr lang="en-US" sz="2700" dirty="0"/>
          </a:p>
        </p:txBody>
      </p:sp>
      <p:sp>
        <p:nvSpPr>
          <p:cNvPr id="9" name="Shape 6"/>
          <p:cNvSpPr/>
          <p:nvPr/>
        </p:nvSpPr>
        <p:spPr>
          <a:xfrm>
            <a:off x="502920" y="1645920"/>
            <a:ext cx="2152498" cy="868680"/>
          </a:xfrm>
          <a:prstGeom prst="chevron">
            <a:avLst/>
          </a:prstGeom>
          <a:solidFill>
            <a:srgbClr val="AC4D33"/>
          </a:solidFill>
          <a:ln w="12700">
            <a:solidFill>
              <a:srgbClr val="FFFFFF"/>
            </a:solidFill>
            <a:prstDash val="solid"/>
          </a:ln>
        </p:spPr>
        <p:txBody>
          <a:bodyPr/>
          <a:p/>
        </p:txBody>
      </p:sp>
      <p:sp>
        <p:nvSpPr>
          <p:cNvPr id="10" name="Text 7"/>
          <p:cNvSpPr/>
          <p:nvPr/>
        </p:nvSpPr>
        <p:spPr>
          <a:xfrm>
            <a:off x="594360" y="164592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GV LÀM MẪU</a:t>
            </a:r>
            <a:endParaRPr lang="en-US" sz="1250" dirty="0"/>
          </a:p>
        </p:txBody>
      </p:sp>
      <p:sp>
        <p:nvSpPr>
          <p:cNvPr id="11" name="Shape 8"/>
          <p:cNvSpPr/>
          <p:nvPr/>
        </p:nvSpPr>
        <p:spPr>
          <a:xfrm>
            <a:off x="2765146" y="1645920"/>
            <a:ext cx="2152498" cy="868680"/>
          </a:xfrm>
          <a:prstGeom prst="chevron">
            <a:avLst/>
          </a:prstGeom>
          <a:solidFill>
            <a:srgbClr val="DC756A"/>
          </a:solidFill>
          <a:ln w="12700">
            <a:solidFill>
              <a:srgbClr val="FFFFFF"/>
            </a:solidFill>
            <a:prstDash val="solid"/>
          </a:ln>
        </p:spPr>
        <p:txBody>
          <a:bodyPr/>
          <a:p/>
        </p:txBody>
      </p:sp>
      <p:sp>
        <p:nvSpPr>
          <p:cNvPr id="12" name="Text 9"/>
          <p:cNvSpPr/>
          <p:nvPr/>
        </p:nvSpPr>
        <p:spPr>
          <a:xfrm>
            <a:off x="2856586" y="164592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SV LÀM THEO</a:t>
            </a:r>
            <a:endParaRPr lang="en-US" sz="1250" dirty="0"/>
          </a:p>
        </p:txBody>
      </p:sp>
      <p:sp>
        <p:nvSpPr>
          <p:cNvPr id="13" name="Shape 10"/>
          <p:cNvSpPr/>
          <p:nvPr/>
        </p:nvSpPr>
        <p:spPr>
          <a:xfrm>
            <a:off x="5027371" y="1645920"/>
            <a:ext cx="2152498" cy="868680"/>
          </a:xfrm>
          <a:prstGeom prst="chevron">
            <a:avLst/>
          </a:prstGeom>
          <a:solidFill>
            <a:srgbClr val="AC4D33"/>
          </a:solidFill>
          <a:ln w="12700">
            <a:solidFill>
              <a:srgbClr val="FFFFFF"/>
            </a:solidFill>
            <a:prstDash val="solid"/>
          </a:ln>
        </p:spPr>
        <p:txBody>
          <a:bodyPr/>
          <a:p/>
        </p:txBody>
      </p:sp>
      <p:sp>
        <p:nvSpPr>
          <p:cNvPr id="14" name="Text 11"/>
          <p:cNvSpPr/>
          <p:nvPr/>
        </p:nvSpPr>
        <p:spPr>
          <a:xfrm>
            <a:off x="5118811" y="164592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LÀM BÀI GIAO</a:t>
            </a:r>
            <a:endParaRPr lang="en-US" sz="1250" dirty="0"/>
          </a:p>
        </p:txBody>
      </p:sp>
      <p:sp>
        <p:nvSpPr>
          <p:cNvPr id="15" name="Shape 12"/>
          <p:cNvSpPr/>
          <p:nvPr/>
        </p:nvSpPr>
        <p:spPr>
          <a:xfrm>
            <a:off x="7289597" y="1645920"/>
            <a:ext cx="2152498" cy="868680"/>
          </a:xfrm>
          <a:prstGeom prst="chevron">
            <a:avLst/>
          </a:prstGeom>
          <a:solidFill>
            <a:srgbClr val="DC756A"/>
          </a:solidFill>
          <a:ln w="12700">
            <a:solidFill>
              <a:srgbClr val="FFFFFF"/>
            </a:solidFill>
            <a:prstDash val="solid"/>
          </a:ln>
        </p:spPr>
        <p:txBody>
          <a:bodyPr/>
          <a:p/>
        </p:txBody>
      </p:sp>
      <p:sp>
        <p:nvSpPr>
          <p:cNvPr id="16" name="Text 13"/>
          <p:cNvSpPr/>
          <p:nvPr/>
        </p:nvSpPr>
        <p:spPr>
          <a:xfrm>
            <a:off x="7381037" y="164592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CHẤM CHÉO</a:t>
            </a:r>
            <a:endParaRPr lang="en-US" sz="1250" dirty="0"/>
          </a:p>
        </p:txBody>
      </p:sp>
      <p:sp>
        <p:nvSpPr>
          <p:cNvPr id="17" name="Shape 14"/>
          <p:cNvSpPr/>
          <p:nvPr/>
        </p:nvSpPr>
        <p:spPr>
          <a:xfrm>
            <a:off x="9551822" y="1645920"/>
            <a:ext cx="2152498" cy="868680"/>
          </a:xfrm>
          <a:prstGeom prst="chevron">
            <a:avLst/>
          </a:prstGeom>
          <a:solidFill>
            <a:srgbClr val="AC4D33"/>
          </a:solidFill>
          <a:ln w="12700">
            <a:solidFill>
              <a:srgbClr val="FFFFFF"/>
            </a:solidFill>
            <a:prstDash val="solid"/>
          </a:ln>
        </p:spPr>
        <p:txBody>
          <a:bodyPr/>
          <a:p/>
        </p:txBody>
      </p:sp>
      <p:sp>
        <p:nvSpPr>
          <p:cNvPr id="18" name="Text 15"/>
          <p:cNvSpPr/>
          <p:nvPr/>
        </p:nvSpPr>
        <p:spPr>
          <a:xfrm>
            <a:off x="9643262" y="164592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NỘP &amp; SỬA</a:t>
            </a:r>
            <a:endParaRPr lang="en-US" sz="1250" dirty="0"/>
          </a:p>
        </p:txBody>
      </p:sp>
      <p:sp>
        <p:nvSpPr>
          <p:cNvPr id="19" name="Text 16"/>
          <p:cNvSpPr/>
          <p:nvPr/>
        </p:nvSpPr>
        <p:spPr>
          <a:xfrm>
            <a:off x="502920" y="2651760"/>
            <a:ext cx="2152498" cy="310896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Giảng viên trình bày mẫu trên máy chiếu, phân tích từng thành phần.</a:t>
            </a:r>
            <a:endParaRPr lang="en-US" sz="1150" dirty="0"/>
          </a:p>
        </p:txBody>
      </p:sp>
      <p:sp>
        <p:nvSpPr>
          <p:cNvPr id="20" name="Text 17"/>
          <p:cNvSpPr/>
          <p:nvPr/>
        </p:nvSpPr>
        <p:spPr>
          <a:xfrm>
            <a:off x="2765146" y="2651760"/>
            <a:ext cx="2152498" cy="310896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Sinh viên thao tác trên máy, giảng viên đi từng bàn hỗ trợ.</a:t>
            </a:r>
            <a:endParaRPr lang="en-US" sz="1150" dirty="0"/>
          </a:p>
        </p:txBody>
      </p:sp>
      <p:sp>
        <p:nvSpPr>
          <p:cNvPr id="21" name="Text 18"/>
          <p:cNvSpPr/>
          <p:nvPr/>
        </p:nvSpPr>
        <p:spPr>
          <a:xfrm>
            <a:off x="5027371" y="2651760"/>
            <a:ext cx="2152498" cy="310896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Sinh viên tự trình bày văn bản theo tình huống riêng.</a:t>
            </a:r>
            <a:endParaRPr lang="en-US" sz="1150" dirty="0"/>
          </a:p>
        </p:txBody>
      </p:sp>
      <p:sp>
        <p:nvSpPr>
          <p:cNvPr id="22" name="Text 19"/>
          <p:cNvSpPr/>
          <p:nvPr/>
        </p:nvSpPr>
        <p:spPr>
          <a:xfrm>
            <a:off x="7289597" y="2651760"/>
            <a:ext cx="2152498" cy="310896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Đổi bài theo cặp, dùng bảng kiểm để soát lỗi cho nhau.</a:t>
            </a:r>
            <a:endParaRPr lang="en-US" sz="1150" dirty="0"/>
          </a:p>
        </p:txBody>
      </p:sp>
      <p:sp>
        <p:nvSpPr>
          <p:cNvPr id="23" name="Text 20"/>
          <p:cNvSpPr/>
          <p:nvPr/>
        </p:nvSpPr>
        <p:spPr>
          <a:xfrm>
            <a:off x="9551822" y="2651760"/>
            <a:ext cx="2152498" cy="310896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Nộp bài, nhận phản hồi và chỉnh sửa lại.</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BƯỚC 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Thiết lập trang giấy trên Word</a:t>
            </a:r>
            <a:endParaRPr lang="en-US" sz="2700" dirty="0"/>
          </a:p>
        </p:txBody>
      </p:sp>
      <p:pic>
        <p:nvPicPr>
          <p:cNvPr id="9" name="Picture 8" descr="th1-kho-giay-le-trang-nt.png"/>
          <p:cNvPicPr>
            <a:picLocks noChangeAspect="1"/>
          </p:cNvPicPr>
          <p:nvPr/>
        </p:nvPicPr>
        <p:blipFill>
          <a:blip r:embed="rId4"/>
          <a:stretch>
            <a:fillRect/>
          </a:stretch>
        </p:blipFill>
        <p:spPr>
          <a:xfrm>
            <a:off x="834921" y="1713396"/>
            <a:ext cx="10521852" cy="4245023"/>
          </a:xfrm>
          <a:prstGeom prst="rect">
            <a:avLst/>
          </a:prstGeom>
        </p:spPr>
      </p:pic>
      <p:sp>
        <p:nvSpPr>
          <p:cNvPr id="10" name="TextBox 9"/>
          <p:cNvSpPr txBox="1"/>
          <p:nvPr/>
        </p:nvSpPr>
        <p:spPr>
          <a:xfrm>
            <a:off x="548640" y="6031571"/>
            <a:ext cx="11109960" cy="310896"/>
          </a:xfrm>
          <a:prstGeom prst="rect">
            <a:avLst/>
          </a:prstGeom>
          <a:noFill/>
        </p:spPr>
        <p:txBody>
          <a:bodyPr wrap="square">
            <a:spAutoFit/>
          </a:bodyPr>
          <a:lstStyle/>
          <a:p>
            <a:pPr algn="ctr"/>
            <a:r>
              <a:rPr sz="1150" i="1">
                <a:solidFill>
                  <a:srgbClr val="8A7A76"/>
                </a:solidFill>
                <a:latin typeface="Calibri"/>
              </a:rPr>
              <a:t>Bốn con số lề phải đặt đúng bốn phía — lề trái rộng hơn vì còn phải đóng gáy.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BƯỚC 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Trình bày các thành phần ở đầu văn bản</a:t>
            </a:r>
            <a:endParaRPr lang="en-US" sz="2700" dirty="0"/>
          </a:p>
        </p:txBody>
      </p:sp>
      <p:pic>
        <p:nvPicPr>
          <p:cNvPr id="9" name="Picture 8" descr="c5-the-thuc-a4-nt.png"/>
          <p:cNvPicPr>
            <a:picLocks noChangeAspect="1"/>
          </p:cNvPicPr>
          <p:nvPr/>
        </p:nvPicPr>
        <p:blipFill>
          <a:blip r:embed="rId4"/>
          <a:stretch>
            <a:fillRect/>
          </a:stretch>
        </p:blipFill>
        <p:spPr>
          <a:xfrm>
            <a:off x="472287" y="1595135"/>
            <a:ext cx="11247120" cy="44815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BƯỚC 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Trình bày phần giữa và cuối văn bản</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Tên loại và trích yếu</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Canh giữa, viết hoa, in đậm. Riêng công văn: không có tên loại, trích yếu đặt dưới số ký hiệu, bắt đầu bằng “V/v…”.</a:t>
            </a:r>
            <a:endParaRPr lang="en-US" sz="150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Nội dung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Canh đều hai bên, giãn dòng 1,0 – 1,5; lùi đầu dòng 1 – 1,27 cm.</a:t>
            </a:r>
            <a:endParaRPr lang="en-US" sz="150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Chức vụ, họ tên, chữ ký</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Góc dưới bên phải; quyền hạn (TM., KT., TL.) viết hoa; chừa 3 – 4 dòng trống cho chữ ký; họ tên đầy đủ, in đậm.</a:t>
            </a:r>
            <a:endParaRPr lang="en-US" sz="150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Nơi nhận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Góc dưới bên trái; dòng “Nơi nhận:” in đậm nghiêng; liệt kê từng nơi, dòng cuối là “- Lưu: VT, …”.</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BẢNG KIỂM</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Tự soát lỗi trước khi nộp — 8 điểm phải kiểm</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Khổ giấy A4, lề trái đủ rộng để đóng gáy (30 – 35 mm)?</a:t>
            </a:r>
            <a:endParaRPr lang="en-US" sz="1400" dirty="0"/>
          </a:p>
        </p:txBody>
      </p:sp>
      <p:sp>
        <p:nvSpPr>
          <p:cNvPr id="12" name="Shape 9"/>
          <p:cNvSpPr/>
          <p:nvPr/>
        </p:nvSpPr>
        <p:spPr>
          <a:xfrm>
            <a:off x="502920" y="2155698"/>
            <a:ext cx="384048" cy="384048"/>
          </a:xfrm>
          <a:prstGeom prst="ellipse">
            <a:avLst/>
          </a:prstGeom>
          <a:solidFill>
            <a:srgbClr val="DC756A"/>
          </a:solidFill>
          <a:ln/>
        </p:spPr>
        <p:txBody>
          <a:bodyPr/>
          <a:p/>
        </p:txBody>
      </p:sp>
      <p:sp>
        <p:nvSpPr>
          <p:cNvPr id="13" name="Text 10"/>
          <p:cNvSpPr/>
          <p:nvPr/>
        </p:nvSpPr>
        <p:spPr>
          <a:xfrm>
            <a:off x="502920" y="215569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08254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Phông Times New Roman, cỡ 13 – 14, toàn văn bản đồng nhất?</a:t>
            </a:r>
            <a:endParaRPr lang="en-US" sz="1400" dirty="0"/>
          </a:p>
        </p:txBody>
      </p:sp>
      <p:sp>
        <p:nvSpPr>
          <p:cNvPr id="15" name="Shape 12"/>
          <p:cNvSpPr/>
          <p:nvPr/>
        </p:nvSpPr>
        <p:spPr>
          <a:xfrm>
            <a:off x="502920" y="2738628"/>
            <a:ext cx="384048" cy="384048"/>
          </a:xfrm>
          <a:prstGeom prst="ellipse">
            <a:avLst/>
          </a:prstGeom>
          <a:solidFill>
            <a:srgbClr val="DC756A"/>
          </a:solidFill>
          <a:ln/>
        </p:spPr>
        <p:txBody>
          <a:bodyPr/>
          <a:p/>
        </p:txBody>
      </p:sp>
      <p:sp>
        <p:nvSpPr>
          <p:cNvPr id="16" name="Text 13"/>
          <p:cNvSpPr/>
          <p:nvPr/>
        </p:nvSpPr>
        <p:spPr>
          <a:xfrm>
            <a:off x="502920" y="27386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266547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Quốc hiệu – Tiêu ngữ đúng vị trí, đúng cách viết hoa và gạch nối?</a:t>
            </a:r>
            <a:endParaRPr lang="en-US" sz="1400" dirty="0"/>
          </a:p>
        </p:txBody>
      </p:sp>
      <p:sp>
        <p:nvSpPr>
          <p:cNvPr id="18" name="Shape 15"/>
          <p:cNvSpPr/>
          <p:nvPr/>
        </p:nvSpPr>
        <p:spPr>
          <a:xfrm>
            <a:off x="502920" y="3321558"/>
            <a:ext cx="384048" cy="384048"/>
          </a:xfrm>
          <a:prstGeom prst="ellipse">
            <a:avLst/>
          </a:prstGeom>
          <a:solidFill>
            <a:srgbClr val="DC756A"/>
          </a:solidFill>
          <a:ln/>
        </p:spPr>
        <p:txBody>
          <a:bodyPr/>
          <a:p/>
        </p:txBody>
      </p:sp>
      <p:sp>
        <p:nvSpPr>
          <p:cNvPr id="19" name="Text 16"/>
          <p:cNvSpPr/>
          <p:nvPr/>
        </p:nvSpPr>
        <p:spPr>
          <a:xfrm>
            <a:off x="502920" y="332155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24840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Số, ký hiệu đúng cấu trúc cho loại văn bản đang soạn?</a:t>
            </a:r>
            <a:endParaRPr lang="en-US" sz="1400" dirty="0"/>
          </a:p>
        </p:txBody>
      </p:sp>
      <p:sp>
        <p:nvSpPr>
          <p:cNvPr id="21" name="Shape 18"/>
          <p:cNvSpPr/>
          <p:nvPr/>
        </p:nvSpPr>
        <p:spPr>
          <a:xfrm>
            <a:off x="502920" y="3904488"/>
            <a:ext cx="384048" cy="384048"/>
          </a:xfrm>
          <a:prstGeom prst="ellipse">
            <a:avLst/>
          </a:prstGeom>
          <a:solidFill>
            <a:srgbClr val="DC756A"/>
          </a:solidFill>
          <a:ln/>
        </p:spPr>
        <p:txBody>
          <a:bodyPr/>
          <a:p/>
        </p:txBody>
      </p:sp>
      <p:sp>
        <p:nvSpPr>
          <p:cNvPr id="22" name="Text 19"/>
          <p:cNvSpPr/>
          <p:nvPr/>
        </p:nvSpPr>
        <p:spPr>
          <a:xfrm>
            <a:off x="502920" y="3904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1051560" y="383133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Ngày tháng có thêm số 0 khi cần; địa danh đúng nơi ban hành?</a:t>
            </a:r>
            <a:endParaRPr lang="en-US" sz="1400" dirty="0"/>
          </a:p>
        </p:txBody>
      </p:sp>
      <p:sp>
        <p:nvSpPr>
          <p:cNvPr id="24" name="Shape 21"/>
          <p:cNvSpPr/>
          <p:nvPr/>
        </p:nvSpPr>
        <p:spPr>
          <a:xfrm>
            <a:off x="502920" y="4487418"/>
            <a:ext cx="384048" cy="384048"/>
          </a:xfrm>
          <a:prstGeom prst="ellipse">
            <a:avLst/>
          </a:prstGeom>
          <a:solidFill>
            <a:srgbClr val="DC756A"/>
          </a:solidFill>
          <a:ln/>
        </p:spPr>
        <p:txBody>
          <a:bodyPr/>
          <a:p/>
        </p:txBody>
      </p:sp>
      <p:sp>
        <p:nvSpPr>
          <p:cNvPr id="25" name="Text 22"/>
          <p:cNvSpPr/>
          <p:nvPr/>
        </p:nvSpPr>
        <p:spPr>
          <a:xfrm>
            <a:off x="502920" y="448741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3"/>
          <p:cNvSpPr/>
          <p:nvPr/>
        </p:nvSpPr>
        <p:spPr>
          <a:xfrm>
            <a:off x="1051560" y="441426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Trích yếu ngắn gọn, phản ánh đúng nội dung chính?</a:t>
            </a:r>
            <a:endParaRPr lang="en-US" sz="1400" dirty="0"/>
          </a:p>
        </p:txBody>
      </p:sp>
      <p:sp>
        <p:nvSpPr>
          <p:cNvPr id="27" name="Shape 24"/>
          <p:cNvSpPr/>
          <p:nvPr/>
        </p:nvSpPr>
        <p:spPr>
          <a:xfrm>
            <a:off x="502920" y="5070348"/>
            <a:ext cx="384048" cy="384048"/>
          </a:xfrm>
          <a:prstGeom prst="ellipse">
            <a:avLst/>
          </a:prstGeom>
          <a:solidFill>
            <a:srgbClr val="DC756A"/>
          </a:solidFill>
          <a:ln/>
        </p:spPr>
        <p:txBody>
          <a:bodyPr/>
          <a:p/>
        </p:txBody>
      </p:sp>
      <p:sp>
        <p:nvSpPr>
          <p:cNvPr id="28" name="Text 25"/>
          <p:cNvSpPr/>
          <p:nvPr/>
        </p:nvSpPr>
        <p:spPr>
          <a:xfrm>
            <a:off x="502920" y="50703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Text 26"/>
          <p:cNvSpPr/>
          <p:nvPr/>
        </p:nvSpPr>
        <p:spPr>
          <a:xfrm>
            <a:off x="1051560" y="499719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Chừa đủ chỗ ký; ghi đúng quyền hạn và chức vụ người ký?</a:t>
            </a:r>
            <a:endParaRPr lang="en-US" sz="1400" dirty="0"/>
          </a:p>
        </p:txBody>
      </p:sp>
      <p:sp>
        <p:nvSpPr>
          <p:cNvPr id="30" name="Shape 27"/>
          <p:cNvSpPr/>
          <p:nvPr/>
        </p:nvSpPr>
        <p:spPr>
          <a:xfrm>
            <a:off x="502920" y="5653278"/>
            <a:ext cx="384048" cy="384048"/>
          </a:xfrm>
          <a:prstGeom prst="ellipse">
            <a:avLst/>
          </a:prstGeom>
          <a:solidFill>
            <a:srgbClr val="DC756A"/>
          </a:solidFill>
          <a:ln/>
        </p:spPr>
        <p:txBody>
          <a:bodyPr/>
          <a:p/>
        </p:txBody>
      </p:sp>
      <p:sp>
        <p:nvSpPr>
          <p:cNvPr id="31" name="Text 28"/>
          <p:cNvSpPr/>
          <p:nvPr/>
        </p:nvSpPr>
        <p:spPr>
          <a:xfrm>
            <a:off x="502920" y="565327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2" name="Text 29"/>
          <p:cNvSpPr/>
          <p:nvPr/>
        </p:nvSpPr>
        <p:spPr>
          <a:xfrm>
            <a:off x="1051560" y="5580126"/>
            <a:ext cx="10652760" cy="58293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Nơi nhận đầy đủ và luôn có dòng “Lưu: VT”?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BÀI TẬP</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Bài nộp của buổi thực hành</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BÀI NỘP SỐ 1 (làm cá nhân tại lớp)</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Trình bày hoàn chỉnh phần thể thức của một Thông báo do Công ty TNHH An Phát ban hành, thông báo lịch nghỉ Tết Nguyên đán cho toàn thể nhân viên (nội dung phần thân chỉ cần 3 – 5 dòng, trọng tâm chấm là thể thức).</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NHIỆM VỤ CỦA NHÓM</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Trình bày đủ 9 thành phần thể thức, đúng vị trí và cách viết hoa theo NĐ 30/2020/NĐ-CP.</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Thiết lập đúng khổ giấy, lề trang, phông chữ, cỡ chữ và số trang.</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Tự soát bằng bảng kiểm 8 điểm, sau đó đổi bài chấm chéo với bạn cùng bàn rồi nộp file Word cuối buổi.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TIÊU CHÍ CHẤM</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Bài của các bạn được chấm thế nào?</a:t>
            </a:r>
            <a:endParaRPr lang="en-US" sz="2700" dirty="0"/>
          </a:p>
        </p:txBody>
      </p:sp>
      <p:sp>
        <p:nvSpPr>
          <p:cNvPr id="9" name="Shape 6"/>
          <p:cNvSpPr/>
          <p:nvPr/>
        </p:nvSpPr>
        <p:spPr>
          <a:xfrm>
            <a:off x="502920" y="1463040"/>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Đúng thể thức (40%)</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Đủ 9 thành phần theo NĐ 30/2020; khổ A4, lề đúng quy định, Times New Roman cỡ 13 – 14, số trang đúng vị trí.</a:t>
            </a:r>
            <a:endParaRPr lang="en-US" sz="1500" dirty="0"/>
          </a:p>
        </p:txBody>
      </p:sp>
      <p:sp>
        <p:nvSpPr>
          <p:cNvPr id="11" name="Shape 8"/>
          <p:cNvSpPr/>
          <p:nvPr/>
        </p:nvSpPr>
        <p:spPr>
          <a:xfrm>
            <a:off x="502920" y="3102864"/>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2" name="Text 9"/>
          <p:cNvSpPr/>
          <p:nvPr/>
        </p:nvSpPr>
        <p:spPr>
          <a:xfrm>
            <a:off x="722376" y="3157728"/>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Đúng nội dung và bố cục loại văn bản (40%)</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Nội dung phù hợp tình huống được giao; bố cục đúng đặc trưng của loại văn bản; văn phong hành chính, không lỗi chính tả.</a:t>
            </a:r>
            <a:endParaRPr lang="en-US" sz="1500" dirty="0"/>
          </a:p>
        </p:txBody>
      </p:sp>
      <p:sp>
        <p:nvSpPr>
          <p:cNvPr id="13" name="Shape 10"/>
          <p:cNvSpPr/>
          <p:nvPr/>
        </p:nvSpPr>
        <p:spPr>
          <a:xfrm>
            <a:off x="502920" y="4742688"/>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4" name="Text 11"/>
          <p:cNvSpPr/>
          <p:nvPr/>
        </p:nvSpPr>
        <p:spPr>
          <a:xfrm>
            <a:off x="722376" y="4797552"/>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Nộp đúng hạn và chỉnh sửa theo phản hồi (20%)</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Nộp đúng thời hạn quy định; tiếp thu góp ý của giảng viên và nộp lại bản hoàn thiện.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Thực hành – Bài 1</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TÀI LIỆU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Tài liệu học tập</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Giáo trình chính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Hà Nam Khánh Giao (2023), Giáo trình Giao tiếp kinh doanh, NXB Tài chính.</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Văn bản pháp lý bắt buộc</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Nghị định 30/2020/NĐ-CP ngày 05/3/2020 của Chính phủ về công tác văn thư — hướng dẫn thể thức và kỹ thuật trình bày văn bản hành chính.</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Học liệu của giảng viên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 biểu mẫu văn bản, tình huống và bài tập do GV. Đỗ Thùy Hương biên soạn; cung cấp sau mỗi buổi học.</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2026-09-26T22:42:44Z</dcterms:created>
  <dcterms:modified xsi:type="dcterms:W3CDTF">2026-09-26T22:42:44Z</dcterms:modified>
</cp:coreProperties>
</file>