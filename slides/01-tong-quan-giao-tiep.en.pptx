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  <a:p/>
          <a:p>
            <a:r>
              <a:t>NÓI ĐỦ Ý (phần đã rút khỏi slide)</a:t>
            </a:r>
          </a:p>
          <a:p>
            <a:r>
              <a:t>• Lý thuyết: 10 buổi sáng T7 &amp; CN, 05/12/2026 – 03/01/2027, phòng C0105 — Chương 1 Tổng quan giao tiếp; Chương 2 Kỹ năng chuyên nghiệp; Chương 3 Tình huống đặc thù; Chương 4 Đàm phán; Chương 5 Soạn thảo văn bản.</a:t>
            </a:r>
          </a:p>
          <a:p>
            <a:r>
              <a:t>• Thực hành: chiều T7/CN, 26/12 – 24/01, phòng A0105 Mô phỏng Kinh tế — Bài 1 Thể thức; Bài 2 Văn bản hành chính; Bài 3 Văn bản thương mại.</a:t>
            </a:r>
          </a:p>
          <a:p>
            <a:r>
              <a:t>• Đánh giá: chuyên cần (dự lớp ≥ 80%, bài tập đầy đủ); quá trình (trắc nghiệm + tự luận + thực hành); cuối kỳ thi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  <a:p/>
          <a:p>
            <a:r>
              <a:t>NÓI ĐỦ Ý (phần đã rút khỏi slide)</a:t>
            </a:r>
          </a:p>
          <a:p>
            <a:r>
              <a:t>• Giao tiếp: quá trình trao đổi thông tin, tư tưởng, tình cảm giữa người với người nhằm đạt một mục đích — bằng cả lời nói, chữ viết và hành vi không lời.</a:t>
            </a:r>
          </a:p>
          <a:p>
            <a:r>
              <a:t>• Giao tiếp kinh doanh: gắn với quá trình kinh doanh — doanh nghiệp với khách hàng, đối tác, cơ quan quản lý, và giữa các thành viên trong tổ chức — hướng tới mục tiêu kinh doanh cụ thể.</a:t>
            </a:r>
          </a:p>
          <a:p>
            <a:r>
              <a:t>• Vì sao học: khảo sát nhà tuyển dụng nhiều năm liền xếp kỹ năng giao tiếp vào nhóm được yêu cầu cao nhất — bán được ý tưởng trước khi bán được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  <a:p/>
          <a:p>
            <a:r>
              <a:t>NÓI ĐỦ Ý (phần đã rút khỏi slide)</a:t>
            </a:r>
          </a:p>
          <a:p>
            <a:r>
              <a:t>• Có mục đích: mỗi cuộc gặp, cuộc gọi, email đều phục vụ một mục tiêu công việc — bán hàng, hợp tác, giải quyết vấn đề.</a:t>
            </a:r>
          </a:p>
          <a:p>
            <a:r>
              <a:t>• Đa dạng chủ thể: cùng lúc giao tiếp với khách hàng, cấp trên, đồng nghiệp, cơ quan nhà nước — mỗi đối tượng một chuẩn mực riêng.</a:t>
            </a:r>
          </a:p>
          <a:p>
            <a:r>
              <a:t>• Ràng buộc: lời nói và văn bản trong kinh doanh có thể tạo ra nghĩa vụ, hợp đồng, trách nhiệm.</a:t>
            </a:r>
          </a:p>
          <a:p>
            <a:r>
              <a:t>• Khoa học và nghệ thuật: có nguyên tắc, quy trình để học; vận dụng linh hoạt theo con người và hoàn cảnh mới hiệu quả.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  <a:p/>
          <a:p>
            <a:r>
              <a:t>NÓI ĐỦ Ý (phần đã rút khỏi slide)</a:t>
            </a:r>
          </a:p>
          <a:p>
            <a:r>
              <a:t>• Người gửi: hình thành ý tưởng, xác định mục đích truyền đạt.</a:t>
            </a:r>
          </a:p>
          <a:p>
            <a:r>
              <a:t>• Mã hóa: chuyển ý tưởng thành lời nói, chữ viết, cử chỉ.</a:t>
            </a:r>
          </a:p>
          <a:p>
            <a:r>
              <a:t>• Thông điệp: nội dung truyền qua kênh — trực tiếp, điện thoại, email…</a:t>
            </a:r>
          </a:p>
          <a:p>
            <a:r>
              <a:t>• Giải mã: người nhận tiếp nhận và diễn giải.</a:t>
            </a:r>
          </a:p>
          <a:p>
            <a:r>
              <a:t>• Phản hồi: người nhận đáp lại — căn cứ để biết giao tiếp có hiệu quả.</a:t>
            </a:r>
          </a:p>
          <a:p>
            <a:r>
              <a:t>• NHIỄU: tiếng ồn, đường truyền kém, khác biệt ngôn ngữ – văn hóa, định kiến, cảm xúc tiêu cực… xuất hiện ở mọi khâu. Người giao tiếp giỏi chủ động giảm nhiễu ở từng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  <a:p/>
          <a:p>
            <a:r>
              <a:t>NÓI ĐỦ Ý (phần đã rút khỏi slide)</a:t>
            </a:r>
          </a:p>
          <a:p>
            <a:r>
              <a:t>• Nói: trực tiếp, nhanh, giàu cảm xúc, phản hồi tức thì — nhưng "lời nói gió bay", dễ sai khi thiếu chuẩn bị. Chú ý phát âm, tốc độ, âm lượng, ngữ điệu.</a:t>
            </a:r>
          </a:p>
          <a:p>
            <a:r>
              <a:t>• Viết: chính xác, cân nhắc được, lưu lại làm bằng chứng — nền tảng của Chương 5. Chú ý chính tả, thể thức, văn phong.</a:t>
            </a:r>
          </a:p>
          <a:p>
            <a:r>
              <a:t>• Dùng từ: rõ ràng, lịch sự, tích cực; tránh khẩu ngữ, tiếng lóng, từ đa nghĩa; ưu tiên câu chủ động, ngắn gọn.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  <a:p/>
          <a:p>
            <a:r>
              <a:t>NÓI ĐỦ Ý (phần đã rút khỏi slide)</a:t>
            </a:r>
          </a:p>
          <a:p>
            <a:r>
              <a:t>• Ánh mắt – nét mặt – nụ cười: kênh biểu cảm mạnh nhất; nhìn vào mắt thể hiện tự tin và tôn trọng.</a:t>
            </a:r>
          </a:p>
          <a:p>
            <a:r>
              <a:t>• Cử chỉ – tư thế – dáng đi: thẳng, cởi mở tạo thiện cảm; khoanh tay, nhìn đồng hồ phát tín hiệu khép kín, sốt ruột.</a:t>
            </a:r>
          </a:p>
          <a:p>
            <a:r>
              <a:t>• Khoảng cách: thân mật (&lt;0,5 m) – cá nhân – xã giao (1,2–3,5 m) – công cộng; chọn sai gây khó chịu.</a:t>
            </a:r>
          </a:p>
          <a:p>
            <a:r>
              <a:t>• Trang phục – giọng điệu – thời gian: ăn mặc phù hợp bối cảnh; giọng điệu quyết định cách thông điệp được đón nhận; đúng giờ cũng là thông điệp.</a:t>
            </a:r>
          </a:p>
          <a:p>
            <a:r>
              <a:t>• Ba con số trên slide là của Mehrabian, cho THÔNG ĐIỆP CẢM XÚC — đừng khái quát thành mọi loại giao tiếp. Chốt: đừng để cơ thể "nói" ngược với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  <a:p/>
          <a:p>
            <a:r>
              <a:t>NÓI ĐỦ Ý (phần đã rút khỏi slide)</a:t>
            </a:r>
          </a:p>
          <a:p>
            <a:r>
              <a:t>• Trực tiếp: giàu thông tin, phản hồi ngay. Gián tiếp (điện thoại, văn bản, email): vượt khoảng cách, có bằng chứng — nhưng dễ hiểu nhầm.</a:t>
            </a:r>
          </a:p>
          <a:p>
            <a:r>
              <a:t>• Chính thức: họp, văn bản, hội nghị theo quy định. Không chính thức: trò chuyện ngoài lề, tin đồn — người quản lý giỏi dùng cả hai.</a:t>
            </a:r>
          </a:p>
          <a:p>
            <a:r>
              <a:t>• Cá nhân 1–1: sâu, riêng tư. Nhóm: cần điều phối. Đám đông: cần kỹ năng thuyết trình, học ở Chương 2.</a:t>
            </a:r>
          </a:p>
          <a:p>
            <a:r>
              <a:t>• Giao tiếp số: email, họp trực tuyến, mạng xã hội, tin nhắn nhóm — chuẩn mực mới là trả lời đúng hạn, đúng kênh, giữ hình ảnh số chuyên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  <a:p/>
          <a:p>
            <a:r>
              <a:t>NÓI ĐỦ Ý (phần đã rút khỏi slide)</a:t>
            </a:r>
          </a:p>
          <a:p>
            <a:r>
              <a:t>• Tôn trọng nhân cách, thời gian, lợi ích và sự khác biệt của đối tượng.</a:t>
            </a:r>
          </a:p>
          <a:p>
            <a:r>
              <a:t>• Thiện chí và hợp tác: hướng tới hai bên cùng có lợi — thắng một cuộc cãi có thể thua một khách hàng.</a:t>
            </a:r>
          </a:p>
          <a:p>
            <a:r>
              <a:t>• Lắng nghe và thấu hiểu trước: hiểu đúng nhu cầu đối phương rồi mới trình bày quan điểm mình.</a:t>
            </a:r>
          </a:p>
          <a:p>
            <a:r>
              <a:t>• Phù hợp ngữ cảnh: đúng vai, đúng lúc, đúng nơi, đúng kênh, đúng mức độ trang trọng.</a:t>
            </a:r>
          </a:p>
          <a:p>
            <a:r>
              <a:t>• Chuẩn mực và giữ chữ tín: lời nói và văn bản nhất quán; đã hứa là làm — chữ tín là tài sản kinh doanh.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  <a:p/>
          <a:p>
            <a:r>
              <a:t>NÓI ĐỦ Ý (phần đã rút khỏi slide)</a:t>
            </a:r>
          </a:p>
          <a:p>
            <a:r>
              <a:t>• Giao tiếp kinh doanh không phải trò chuyện ngẫu nhiên: mỗi tương tác phục vụ mục tiêu, chịu chuẩn mực và ràng buộc lợi ích – pháp lý.</a:t>
            </a:r>
          </a:p>
          <a:p>
            <a:r>
              <a:t>• Muốn sửa một cuộc giao tiếp thất bại, dò lại từng khâu: ý tưởng – mã hóa – kênh – giải mã – phản hồi.</a:t>
            </a:r>
          </a:p>
          <a:p>
            <a:r>
              <a:t>• Trang phục, ánh mắt, giọng điệu, đúng giờ… "nói" trước và nói to hơn lời — hãy để chúng nói cùng một điều với bạn.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  <a:p/>
          <a:p>
            <a:r>
              <a:t>NÓI ĐỦ Ý (phần đã rút khỏi slide)</a:t>
            </a:r>
          </a:p>
          <a:p>
            <a:r>
              <a:t>• Chủ thể: trạng thái tâm lý, cảm xúc, sức khỏe, vốn hiểu biết, kỹ năng, uy tín.</a:t>
            </a:r>
          </a:p>
          <a:p>
            <a:r>
              <a:t>• Thông điệp: rõ hay mơ hồ, cấu trúc hợp lý hay lộn xộn, hợp người nghe hay không.</a:t>
            </a:r>
          </a:p>
          <a:p>
            <a:r>
              <a:t>• Kênh và nhiễu: chọn kênh sai (việc hệ trọng lại nhắn tin), đường truyền kém, môi trường ồn ào.</a:t>
            </a:r>
          </a:p>
          <a:p>
            <a:r>
              <a:t>• Bối cảnh văn hóa – xã hội: chuẩn mực, tôn giáo, vùng miền, thứ bậc — bình thường nơi này có thể thất lễ nơi khác.</a:t>
            </a:r>
          </a:p>
          <a:p>
            <a:r>
              <a:t>• Quan hệ và định kiến: ấn tượng cũ, tin đồn, khoảng cách quyền lực làm méo cách diễn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overview of communication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business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every professional skill: understand communication correctly before drilling techniques.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Business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Lecture prepared for the in-person class. Please credit the source when reused.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will we learn together?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— 10 sessions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&amp; Sun mornings  •  5 chapters  •  room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— 3 labs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/ Sun afternoons  •  room A0105 Economics Simulation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— 3 components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 •  Coursework  •  Final exam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this chapter, students will be able to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the concept and features of business communication and the communication process model.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 —  communication channels and forms; identify the pros and cons of each.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 —  the factors affecting communication effectiveness in real situations.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communication principles to handle a specific business communication situation.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Concept and features of business communication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Communication channels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Forms of communication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Factors affecting the communication process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Principles of communication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nature and channels of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Understand the nature first: what communication is, what stages it goes through, and by what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and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communication?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Exchanging information to achieve a purpose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business?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work goals, with constraints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study it?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rank it among the most in-demand skills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of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purposeful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serves a work objective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parties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party has its own norms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by interests and law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can create obligations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 science and an art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by principles, yet needs flexibility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communication process model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Communication is a two-way process — to fix a failed exchange, trace back through each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channels: verbal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expressive — but words fade away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kept on record — the foundation of Chapter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Word-choice principles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 •  polite  •  positive  •  concise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channels: non-verbal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and facial expression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expressive channel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Gestures and posture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Upright and open postures build rapport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Intimate · personal · social · public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Dress, voice and punctuality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on time is a message too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OF VOICE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for emotional messages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How is an emotional message actually conveyed?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WORDS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words themselves — the smallest share, even though we usually invest the most effort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TONE OF VOICE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Volume, pace, intonation, pauses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BODY LANGUAGE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Eyes, facial expression, gestures, posture, 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Albert Mehrabian's study — applies only to EMOTIONAL messages, not to every communication situation.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of communication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These four pairs are not mutually exclusive — a single exchange sits somewhere on all four axes at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Influencing factors and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What derails a conversation, and five principles that help us avoid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affecting the communication process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Whichever factor breaks down, fix that exact factor — don't blame it all on "poor phrasing".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of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 —  for character, time, interests and differences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Goodwill and cooperation  —  win an argument, lose a customer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first  —  understand correctly before speaking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context  —  the right role, moment and channel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word  —  a promise made is a promise kept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ACTIVITY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Case: a failed first meeting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(groups of 4–5 students, 15 minutes)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Salesperson A meets a client for the first time: arrives 10 minutes late because of traffic, without notice; wears a T-shirt because "it's the weekend"; sits down and pitches the product non-stop for 20 minutes; the phone rings twice and A answers both times. The meeting ends with the client saying "let me think it over and get back to you" — and never replying again.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TASKS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of A's communication mistakes and map each one to a stage in the communication process model.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principle from section 1.5 does each mistake violate?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5-step "standard script" for a first client meeting and have a representative present it to the class (3 minutes).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 from this chapter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Purposeful, and governed by rules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random chit-chat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failure back to its exact stage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stages, plus noise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Non-verbal cues are stronger than we think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speaks first, and louder than words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components of the communication process model using one of your own real-life examples.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pros and cons of verbal and written communication in business.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business communication said to be "both a science and an art"?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illustrate the 5 principles of business communication.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NEXT SESSION:  Chapter 2 – Professional communication skills. Each group prepares a 3-minute presentation on a topic of their choice to practise in class.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Business Communication Textbook,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Communication and Negotiation Skills in Business, Labour – Social Affairs Publishing House.  •  Decree 30/2020/ND-CP on records and archival work (used for Chapter 5 and the practice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 scenarios and exercises prepared by Instructor Đỗ Thùy Hương; shared after each session in the class group.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2026-08-21T08:36:28Z</dcterms:created>
  <dcterms:modified xsi:type="dcterms:W3CDTF">2026-08-21T08:36:28Z</dcterms:modified>
</cp:coreProperties>
</file>