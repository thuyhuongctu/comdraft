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4" r:id="rId25"/>
    <p:sldId id="259" r:id="rId5"/>
    <p:sldId id="260" r:id="rId6"/>
    <p:sldId id="261" r:id="rId7"/>
    <p:sldId id="262" r:id="rId8"/>
    <p:sldId id="263" r:id="rId9"/>
    <p:sldId id="273" r:id="rId24"/>
    <p:sldId id="275" r:id="rId26"/>
    <p:sldId id="264" r:id="rId10"/>
    <p:sldId id="265" r:id="rId11"/>
    <p:sldId id="266" r:id="rId12"/>
    <p:sldId id="276" r:id="rId27"/>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2.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16.xml"/><Relationship Id="rId14" Type="http://schemas.openxmlformats.org/officeDocument/2006/relationships/slide" Target="slides/slide17.xml"/><Relationship Id="rId15" Type="http://schemas.openxmlformats.org/officeDocument/2006/relationships/slide" Target="slides/slide18.xml"/><Relationship Id="rId16" Type="http://schemas.openxmlformats.org/officeDocument/2006/relationships/slide" Target="slides/slide19.xml"/><Relationship Id="rId17" Type="http://schemas.openxmlformats.org/officeDocument/2006/relationships/slide" Target="slides/slide20.xml"/><Relationship Id="rId18" Type="http://schemas.openxmlformats.org/officeDocument/2006/relationships/slide" Target="slides/slide21.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0.xml"/><Relationship Id="rId25" Type="http://schemas.openxmlformats.org/officeDocument/2006/relationships/slide" Target="slides/slide4.xml"/><Relationship Id="rId26" Type="http://schemas.openxmlformats.org/officeDocument/2006/relationships/slide" Target="slides/slide11.xml"/><Relationship Id="rId27"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(1 phút) — nhấn: chương này gắn liền 3 buổi thực hành ở phòng máy.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LỘ TRÌNH (1 phút) — 4 mục: khái niệm, thể thức, hành chính, thương mại.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KHÁI NIỆM (3 phút)</a:t>
            </a:r>
          </a:p>
          <a:p>
            <a:r>
              <a:t>• Đọc chậm định nghĩa của NĐ 30/2020 — đây là câu SẼ RA THI.</a:t>
            </a:r>
          </a:p>
          <a:p>
            <a:r>
              <a:t>• Nhấn cụm "TRÌNH BÀY ĐÚNG THỂ THỨC, KỸ THUẬT THEO QUY ĐỊNH": nội dung hay mà sai thể thức thì vẫn bị trả lại.</a:t>
            </a:r>
          </a:p>
          <a:p>
            <a:r>
              <a:t>• Vai trò: nhấn "căn cứ pháp lý" — cho ví dụ tranh chấp hợp đồng ra tòa, cái tòa xem là VĂN BẢN.</a:t>
            </a:r>
          </a:p>
          <a:p/>
          <a:p>
            <a:r>
              <a:t>NÓI ĐỦ Ý (phần đã rút khỏi slide)</a:t>
            </a:r>
          </a:p>
          <a:p>
            <a:r>
              <a:t>• Định nghĩa pháp lý đầy đủ, Nghị định 30/2020/NĐ-CP: “Văn bản là thông tin thành văn được truyền đạt bằng ngôn ngữ hoặc ký hiệu, hình thành trong hoạt động của các cơ quan, tổ chức và được trình bày đúng thể thức, kỹ thuật theo quy định.”</a:t>
            </a:r>
          </a:p>
          <a:p>
            <a:r>
              <a:t>• Cách hiểu chung: hình thành trong hoạt động của cơ quan, tổ chức, DOANH NGHIỆP — không chỉ cơ quan nhà nước.</a:t>
            </a:r>
          </a:p>
          <a:p>
            <a:r>
              <a:t>• Bốn vai trò: phương tiện quản lý – điều hành; căn cứ pháp lý; lưu trữ thông tin; thể hiện hình ảnh chuyên nghiệp của tổ chức.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PHÂN LOẠI (3 phút)</a:t>
            </a:r>
          </a:p>
          <a:p>
            <a:r>
              <a:t>• 4 nhóm — vẽ sơ đồ cây lên bảng.</a:t>
            </a:r>
          </a:p>
          <a:p>
            <a:r>
              <a:t>• Nhấn: doanh nghiệp KHÔNG ban hành văn bản quy phạm pháp luật, nhưng phải tuân thủ.</a:t>
            </a:r>
          </a:p>
          <a:p>
            <a:r>
              <a:t>• Con số phải nhớ: 29 LOẠI văn bản hành chính theo NĐ 30/2020.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YÊU CẦU NỘI DUNG (3 phút)</a:t>
            </a:r>
          </a:p>
          <a:p>
            <a:r>
              <a:t>• Đi 4 yêu cầu, mỗi yêu cầu một ví dụ lỗi thực tế.</a:t>
            </a:r>
          </a:p>
          <a:p>
            <a:r>
              <a:t>• Nhấn yêu cầu 2: "Một con số sai trong văn bản có thể tạo hậu quả pháp lý rất lớn" — ví dụ ghi nhầm đơn giá trong hợp đồng.</a:t>
            </a:r>
          </a:p>
          <a:p>
            <a:r>
              <a:t>• Yêu cầu 4: đọc vài câu KHẨU NGỮ sai chuẩn cho lớp nhận diện ("mong anh chị thông cảm giúp em nha").</a:t>
            </a:r>
          </a:p>
          <a:p/>
          <a:p>
            <a:r>
              <a:t>NÓI ĐỦ Ý (phần đã rút khỏi slide)</a:t>
            </a:r>
          </a:p>
          <a:p>
            <a:r>
              <a:t>• Đúng mục đích: mỗi văn bản tập trung MỘT chủ đề; ban hành đúng chức năng, nhiệm vụ.</a:t>
            </a:r>
          </a:p>
          <a:p>
            <a:r>
              <a:t>• Chính xác: một con số sai có thể tạo hậu quả pháp lý lớn — nhấn mạnh chỗ này cho sinh viên.</a:t>
            </a:r>
          </a:p>
          <a:p>
            <a:r>
              <a:t>• Rõ ràng: người nhận đọc MỘT LẦN là hiểu đúng ý người soạn.</a:t>
            </a:r>
          </a:p>
          <a:p>
            <a:r>
              <a:t>• Ngôn ngữ hành chính: nghiêm túc, lịch sự, không khẩu ngữ.</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SƠ ĐỒ THỂ THỨC (5 phút) — SLIDE QUAN TRỌNG NHẤT HỌC PHẦN</a:t>
            </a:r>
          </a:p>
          <a:p>
            <a:r>
              <a:t>• Yêu cầu cả lớp CHỤP LẠI SLIDE NÀY.</a:t>
            </a:r>
          </a:p>
          <a:p>
            <a:r>
              <a:t>• Chỉ từng số trên sơ đồ theo thứ tự 1 → 9, mỗi thành phần nói vị trí + một lưu ý.</a:t>
            </a:r>
          </a:p>
          <a:p>
            <a:r>
              <a:t>• Nhấn thành phần 5: CÔNG VĂN KHÔNG CÓ TÊN LOẠI, trích yếu bắt đầu bằng "V/v".</a:t>
            </a:r>
          </a:p>
          <a:p>
            <a:r>
              <a:t>• Nhấn thành phần 9: nơi nhận LUÔN có dòng cuối "Lưu: VT".</a:t>
            </a:r>
          </a:p>
          <a:p>
            <a:r>
              <a:t>• Nói rõ: 3 buổi thực hành sắp tới đều chấm theo sơ đồ này.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CÁC CON SỐ (3 phút)</a:t>
            </a:r>
          </a:p>
          <a:p>
            <a:r>
              <a:t>• Đọc chậm từng con số, cho sinh viên ghi vào vở.</a:t>
            </a:r>
          </a:p>
          <a:p>
            <a:r>
              <a:t>• Mẹo nhớ LỀ TRÁI 30–35mm: rộng nhất vì để ĐÓNG GÁY LƯU TRỮ.</a:t>
            </a:r>
          </a:p>
          <a:p>
            <a:r>
              <a:t>• Nhấn: Times New Roman, Unicode, cỡ 13–14. Không dùng Arial, không dùng TCVN3.</a:t>
            </a:r>
          </a:p>
          <a:p>
            <a:r>
              <a:t>• Số trang: TỪ TRANG THỨ HAI, canh giữa LỀ TRÊN (nhiều bạn hay đặt ở dưới — sai).</a:t>
            </a:r>
          </a:p>
          <a:p/>
          <a:p>
            <a:r>
              <a:t>NÓI ĐỦ Ý (phần đã rút khỏi slide)</a:t>
            </a:r>
          </a:p>
          <a:p>
            <a:r>
              <a:t>• Lề trái 30–35 mm rộng hơn vì phải chừa chỗ ĐÓNG GÁY.</a:t>
            </a:r>
          </a:p>
          <a:p>
            <a:r>
              <a:t>• Phông Times New Roman, bộ mã Unicode, cỡ 13–14, màu đen.</a:t>
            </a:r>
          </a:p>
          <a:p>
            <a:r>
              <a:t>• Số trang: đánh từ trang THỨ HAI, chữ số Ả Rập, canh giữa theo lề trên.</a:t>
            </a:r>
          </a:p>
          <a:p>
            <a:r>
              <a:t>• Ngôn ngữ: viết hoa và viết tắt phải đúng quy định; số liệu dùng chữ số Ả Rập.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CHUỖI VĂN BẢN (3 phút)</a:t>
            </a:r>
          </a:p>
          <a:p>
            <a:r>
              <a:t>• Chỉ vào sơ đồ chuỗi: từ tờ trình → quyết định → công văn → hợp đồng → nghiệm thu → thanh lý.</a:t>
            </a:r>
          </a:p>
          <a:p>
            <a:r>
              <a:t>• Nói rõ: bài thực hành số 2 làm phần đầu chuỗi, bài số 3 làm phần sau.</a:t>
            </a:r>
          </a:p>
          <a:p>
            <a:r>
              <a:t>• Hỏi lớp: "Nếu bỏ qua biên bản nghiệm thu thì rủi ro gì?" (không có căn cứ thanh toán).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QUYẾT ĐỊNH – TỜ TRÌNH (4 phút)</a:t>
            </a:r>
          </a:p>
          <a:p>
            <a:r>
              <a:t>• Quyết định: phần CĂN CỨ + phần các ĐIỀU. Điều cuối GHI HIỆU LỰC.</a:t>
            </a:r>
          </a:p>
          <a:p>
            <a:r>
              <a:t>• Lỗi hay gặp: dùng từ "đề nghị" trong quyết định — sai, phải dùng NGÔN NGỮ MỆNH LỆNH.</a:t>
            </a:r>
          </a:p>
          <a:p>
            <a:r>
              <a:t>• Tờ trình 3 phần: lý do → phương án → kiến nghị.</a:t>
            </a:r>
          </a:p>
          <a:p>
            <a:r>
              <a:t>• Nhấn: tờ trình phải có SỐ LIỆU và DỰ TOÁN, nếu không cấp trên không có cơ sở duyệt.</a:t>
            </a:r>
          </a:p>
          <a:p/>
          <a:p>
            <a:r>
              <a:t>NÓI ĐỦ Ý (phần đã rút khỏi slide)</a:t>
            </a:r>
          </a:p>
          <a:p>
            <a:r>
              <a:t>• Quyết định: phần căn cứ gồm căn cứ PHÁP LÝ và căn cứ THỰC TIỄN, mỗi căn cứ kết thúc bằng dấu chấm phẩy, căn cứ cuối kết thúc bằng dấu chấm. Điều cuối ghi hiệu lực và đối tượng thi hành.</a:t>
            </a:r>
          </a:p>
          <a:p>
            <a:r>
              <a:t>• Tờ trình: mở đầu nêu lý do và sự cần thiết; nội dung trình bày phương án, lợi ích, tính khả thi; kết thúc kiến nghị phê duyệt. Nhớ đính kèm hồ sơ, dự toán.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CÔNG VĂN – BIÊN BẢN – BÁO CÁO (4 phút)</a:t>
            </a:r>
          </a:p>
          <a:p>
            <a:r>
              <a:t>• Công văn: nhắc lại KHÔNG CÓ TÊN LOẠI; mỗi công văn MỘT CHỦ ĐỀ; kết thúc "Trân trọng./."</a:t>
            </a:r>
          </a:p>
          <a:p>
            <a:r>
              <a:t>• Biên bản: LẬP NGAY TẠI CHỖ; chữ ký các bên tạo GIÁ TRỊ PHÁP LÝ; người ghi KHÔNG thêm nhận xét chủ quan.</a:t>
            </a:r>
          </a:p>
          <a:p>
            <a:r>
              <a:t>• Báo cáo: mạch 4 phần. Nhấn: phải nêu cả HẠN CHẾ, đừng chỉ kể thành tích.</a:t>
            </a:r>
          </a:p>
          <a:p/>
          <a:p>
            <a:r>
              <a:t>NÓI ĐỦ Ý (phần đã rút khỏi slide)</a:t>
            </a:r>
          </a:p>
          <a:p>
            <a:r>
              <a:t>• Công văn các loại: đề nghị, phúc đáp, đôn đốc, hướng dẫn, giải thích, mời họp. Kết thúc bằng “Trân trọng./.”</a:t>
            </a:r>
          </a:p>
          <a:p>
            <a:r>
              <a:t>• Biên bản: chữ ký các bên là yếu tố TẠO GIÁ TRỊ PHÁP LÝ — thiếu chữ ký thì biên bản chỉ là tờ giấy ghi chép.</a:t>
            </a:r>
          </a:p>
          <a:p>
            <a:r>
              <a:t>• Báo cáo có bốn dạng: định kỳ, đột xuất, chuyên đề, sơ kết – tổng kết.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THƯ TÍN – BÁO GIÁ (4 phút)</a:t>
            </a:r>
          </a:p>
          <a:p>
            <a:r>
              <a:t>• Nguyên tắc 5C: viết 5 chữ C lên bảng, giải nghĩa từng chữ bằng tiếng Việt.</a:t>
            </a:r>
          </a:p>
          <a:p>
            <a:r>
              <a:t>• Email: tiêu đề rõ, chữ ký đầy đủ, PHẢN HỒI TRONG 24 GIỜ.</a:t>
            </a:r>
          </a:p>
          <a:p>
            <a:r>
              <a:t>• Báo giá: nhấn mạnh THỜI HẠN HIỆU LỰC. Hỏi lớp vì sao cần — vì giá thị trường biến động, tránh bị ràng buộc giá cũ.</a:t>
            </a:r>
          </a:p>
          <a:p/>
          <a:p>
            <a:r>
              <a:t>NÓI ĐỦ Ý (phần đã rút khỏi slide)</a:t>
            </a:r>
          </a:p>
          <a:p>
            <a:r>
              <a:t>• Nguyên tắc 5C: Clear (rõ) • Concise (gọn) • Correct (đúng) • Complete (đủ) • Courteous (lịch sự).</a:t>
            </a:r>
          </a:p>
          <a:p>
            <a:r>
              <a:t>• Kết cấu thư: mở đầu – nội dung – kết thúc.</a:t>
            </a:r>
          </a:p>
          <a:p>
            <a:r>
              <a:t>• Báo giá phải có THỜI HẠN HIỆU LỰC — thiếu là tranh chấp khi giá thị trường biến động.</a:t>
            </a:r>
          </a:p>
          <a:p>
            <a:r>
              <a:t>• Email: phản hồi trong 24 giờ, kể cả khi chỉ để báo “đã nhận, đang xử lý”.</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BỘ BA VĂN BẢN (4 phút)</a:t>
            </a:r>
          </a:p>
          <a:p>
            <a:r>
              <a:t>• Căn cứ pháp lý: Bộ luật Dân sự 2015 và Luật Thương mại 2005.</a:t>
            </a:r>
          </a:p>
          <a:p>
            <a:r>
              <a:t>• Điểm qua 5 điều khoản chính, nhấn PHẠT VI PHẠM và GIẢI QUYẾT TRANH CHẤP — hai điều sinh viên hay quên.</a:t>
            </a:r>
          </a:p>
          <a:p>
            <a:r>
              <a:t>• Nghiệm thu = căn cứ THANH TOÁN. Thanh lý = CHẤM DỨT hiệu lực và quyết toán.</a:t>
            </a:r>
          </a:p>
          <a:p>
            <a:r>
              <a:t>• Câu chốt: "Đủ bộ ba này thì hồ sơ thương vụ mới trọn vẹn về pháp lý."''</a:t>
            </a:r>
          </a:p>
          <a:p/>
          <a:p>
            <a:r>
              <a:t>NÓI ĐỦ Ý (phần đã rút khỏi slide)</a:t>
            </a:r>
          </a:p>
          <a:p>
            <a:r>
              <a:t>• Hợp đồng thương mại căn cứ Bộ luật Dân sự 2015 và Luật Thương mại 2005.</a:t>
            </a:r>
          </a:p>
          <a:p>
            <a:r>
              <a:t>• Bộ ba khép kín một thương vụ: hợp đồng → biên bản nghiệm thu → biên bản thanh lý.</a:t>
            </a:r>
          </a:p>
          <a:p>
            <a:r>
              <a:t>• Nghiệm thu xác nhận khối lượng và chất lượng, là căn cứ để thanh toán.</a:t>
            </a:r>
          </a:p>
          <a:p>
            <a:r>
              <a:t>• Thanh lý xác nhận hoàn thành nghĩa vụ và quyết toán phần còn lại.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HOẠT ĐỘNG NHÓM (20 phút)</a:t>
            </a:r>
          </a:p>
          <a:p>
            <a:r>
              <a:t>• Nối tiếp thương vụ đã đàm phán ở Chương 4 — nhắc lại tình huống 1 câu.</a:t>
            </a:r>
          </a:p>
          <a:p>
            <a:r>
              <a:t>• Nhóm 4–5 bạn, 15 phút làm, 5 phút trình bày.</a:t>
            </a:r>
          </a:p>
          <a:p>
            <a:r>
              <a:t>• Yêu cầu nhóm VẼ chuỗi văn bản lên giấy A3 kèm người ký từng văn bản.</a:t>
            </a:r>
          </a:p>
          <a:p>
            <a:r>
              <a:t>• Cô chốt bằng cách so sánh với sơ đồ chuẩn trên slide.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TỔNG KẾT (2 phút)</a:t>
            </a:r>
          </a:p>
          <a:p>
            <a:r>
              <a:t>• Nhắc 3 điều, gọi sinh viên nhắc lại 9 thành phần thể thức.</a:t>
            </a:r>
          </a:p>
          <a:p>
            <a:r>
              <a:t>• Dặn kỹ chuẩn bị buổi thực hành: MANG LAPTOP, cài Word, tải NĐ 30/2020.</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ÔN TẬP (1 phút) — tự làm; nhấn câu về 9 thành phần thể thức sẽ có trong đề thi.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TÀI LIỆU (1 phút) — nhắc mở học liệu số để xem văn bản mẫu trước buổi thực hành.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CON SỐ (2 phút)</a:t>
            </a:r>
          </a:p>
          <a:p>
            <a:r>
              <a:t>• Đây là slide sinh viên phải THUỘC LÒNG — sẽ ra thi và dùng suốt 3 buổi thực hành.</a:t>
            </a:r>
          </a:p>
          <a:p>
            <a:r>
              <a:t>• Đọc chậm từng con số, yêu cầu cả lớp ghi vào vở.</a:t>
            </a:r>
          </a:p>
          <a:p>
            <a:r>
              <a:t>• Mẹo nhớ lề trái rộng nhất: để ĐÓNG GÁY.</a:t>
            </a:r>
          </a:p>
          <a:p>
            <a:r>
              <a:t>• Kiểm tra ngay: gọi 2 sinh viên nhắc lại không nhìn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CHUYỂN MỤC (30 giây).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CHUYỂN MỤC (30 giây) — nhắc: bài thực hành số 2 làm đúng năm loại này.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CHUYỂN MỤC (30 giây) — nhắc: bài thực hành số 3 làm đúng bộ hồ sơ này.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5.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12.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16.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BF8"/>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DC756A"/>
          </a:solidFill>
          <a:ln/>
        </p:spPr>
        <p:txBody>
          <a:bodyPr/>
          <a:p/>
        </p:txBody>
      </p:sp>
      <p:pic>
        <p:nvPicPr>
          <p:cNvPr id="3" name="Image 0" descr="/home/user/comdraft/assets/img/dau-huong.png">    </p:cNvPr>
          <p:cNvPicPr>
            <a:picLocks noChangeAspect="1"/>
          </p:cNvPicPr>
          <p:nvPr/>
        </p:nvPicPr>
        <p:blipFill>
          <a:blip r:embed="rId1">
            <a:alphaModFix amt="18000"/>
          </a:blip>
          <a:stretch>
            <a:fillRect/>
          </a:stretch>
        </p:blipFill>
        <p:spPr>
          <a:xfrm>
            <a:off x="8549640" y="1417320"/>
            <a:ext cx="3200400" cy="3200400"/>
          </a:xfrm>
          <a:prstGeom prst="rect">
            <a:avLst/>
          </a:prstGeom>
        </p:spPr>
      </p:pic>
      <p:pic>
        <p:nvPicPr>
          <p:cNvPr id="4" name="Image 1" descr="/home/user/comdraft/assets/img/lockup-huong.png">    </p:cNvPr>
          <p:cNvPicPr>
            <a:picLocks noChangeAspect="1"/>
          </p:cNvPicPr>
          <p:nvPr/>
        </p:nvPicPr>
        <p:blipFill>
          <a:blip r:embed="rId2"/>
          <a:stretch>
            <a:fillRect/>
          </a:stretch>
        </p:blipFill>
        <p:spPr>
          <a:xfrm>
            <a:off x="777240" y="411480"/>
            <a:ext cx="2834640" cy="1188720"/>
          </a:xfrm>
          <a:prstGeom prst="rect">
            <a:avLst/>
          </a:prstGeom>
        </p:spPr>
      </p:pic>
      <p:sp>
        <p:nvSpPr>
          <p:cNvPr id="5" name="Text 1"/>
          <p:cNvSpPr/>
          <p:nvPr/>
        </p:nvSpPr>
        <p:spPr>
          <a:xfrm>
            <a:off x="822960" y="2011680"/>
            <a:ext cx="10515600" cy="457200"/>
          </a:xfrm>
          <a:prstGeom prst="rect">
            <a:avLst/>
          </a:prstGeom>
          <a:noFill/>
          <a:ln/>
        </p:spPr>
        <p:txBody>
          <a:bodyPr wrap="square" lIns="0" tIns="0" rIns="0" bIns="0" rtlCol="0" anchor="ctr"/>
          <a:lstStyle/>
          <a:p>
            <a:pPr indent="0" marL="0">
              <a:buNone/>
            </a:pPr>
            <a:r>
              <a:rPr lang="en-US" sz="1800" b="1" spc="500" kern="0" dirty="0">
                <a:solidFill>
                  <a:srgbClr val="DC756A"/>
                </a:solidFill>
                <a:latin typeface="Calibri" pitchFamily="34" charset="0"/>
                <a:ea typeface="Calibri" pitchFamily="34" charset="-122"/>
                <a:cs typeface="Calibri" pitchFamily="34" charset="-120"/>
              </a:rPr>
              <a:t>CHAPTER 5</a:t>
            </a:r>
            <a:endParaRPr lang="en-US" sz="1800" dirty="0"/>
          </a:p>
        </p:txBody>
      </p:sp>
      <p:sp>
        <p:nvSpPr>
          <p:cNvPr id="6" name="Shape 2"/>
          <p:cNvSpPr/>
          <p:nvPr/>
        </p:nvSpPr>
        <p:spPr>
          <a:xfrm>
            <a:off x="822960" y="2487168"/>
            <a:ext cx="1371600" cy="41148"/>
          </a:xfrm>
          <a:prstGeom prst="rect">
            <a:avLst/>
          </a:prstGeom>
          <a:solidFill>
            <a:srgbClr val="DC756A"/>
          </a:solidFill>
          <a:ln/>
        </p:spPr>
        <p:txBody>
          <a:bodyPr/>
          <a:p/>
        </p:txBody>
      </p:sp>
      <p:sp>
        <p:nvSpPr>
          <p:cNvPr id="7" name="Text 3"/>
          <p:cNvSpPr/>
          <p:nvPr/>
        </p:nvSpPr>
        <p:spPr>
          <a:xfrm>
            <a:off x="822960" y="2697480"/>
            <a:ext cx="7589520" cy="1645920"/>
          </a:xfrm>
          <a:prstGeom prst="rect">
            <a:avLst/>
          </a:prstGeom>
          <a:noFill/>
          <a:ln/>
        </p:spPr>
        <p:txBody>
          <a:bodyPr wrap="square" lIns="0" tIns="0" rIns="0" bIns="0" rtlCol="0" anchor="ctr"/>
          <a:lstStyle/>
          <a:p>
            <a:pPr indent="0" marL="0">
              <a:buNone/>
            </a:pPr>
            <a:r>
              <a:rPr lang="en-US" sz="3800" b="1" dirty="0">
                <a:solidFill>
                  <a:srgbClr val="AC4D33"/>
                </a:solidFill>
                <a:latin typeface="Cambria" pitchFamily="34" charset="0"/>
                <a:ea typeface="Cambria" pitchFamily="34" charset="-122"/>
                <a:cs typeface="Cambria" pitchFamily="34" charset="-120"/>
              </a:rPr>
              <a:t>Drafting and</a:t>
            </a:r>
            <a:endParaRPr lang="en-US" sz="3800" dirty="0"/>
          </a:p>
          <a:p>
            <a:pPr indent="0" marL="0">
              <a:buNone/>
            </a:pPr>
            <a:r>
              <a:rPr lang="en-US" sz="3800" b="1" dirty="0">
                <a:solidFill>
                  <a:srgbClr val="AC4D33"/>
                </a:solidFill>
                <a:latin typeface="Cambria" pitchFamily="34" charset="0"/>
                <a:ea typeface="Cambria" pitchFamily="34" charset="-122"/>
                <a:cs typeface="Cambria" pitchFamily="34" charset="-120"/>
              </a:rPr>
              <a:t>presenting documents</a:t>
            </a:r>
            <a:endParaRPr lang="en-US" sz="3800" dirty="0"/>
          </a:p>
        </p:txBody>
      </p:sp>
      <p:sp>
        <p:nvSpPr>
          <p:cNvPr id="8" name="Text 4"/>
          <p:cNvSpPr/>
          <p:nvPr/>
        </p:nvSpPr>
        <p:spPr>
          <a:xfrm>
            <a:off x="822960" y="4434840"/>
            <a:ext cx="7589520" cy="685800"/>
          </a:xfrm>
          <a:prstGeom prst="rect">
            <a:avLst/>
          </a:prstGeom>
          <a:noFill/>
          <a:ln/>
        </p:spPr>
        <p:txBody>
          <a:bodyPr wrap="square" lIns="0" tIns="0" rIns="0" bIns="0" rtlCol="0" anchor="ctr"/>
          <a:lstStyle/>
          <a:p>
            <a:pPr indent="0" marL="0">
              <a:buNone/>
            </a:pPr>
            <a:r>
              <a:rPr lang="en-US" sz="1400" i="1" dirty="0">
                <a:solidFill>
                  <a:srgbClr val="8A7A76"/>
                </a:solidFill>
                <a:latin typeface="Calibri" pitchFamily="34" charset="0"/>
                <a:ea typeface="Calibri" pitchFamily="34" charset="-122"/>
                <a:cs typeface="Calibri" pitchFamily="34" charset="-120"/>
              </a:rPr>
              <a:t>From words to writing: turning every agreement into a properly formatted document with legal standing.</a:t>
            </a:r>
            <a:endParaRPr lang="en-US" sz="1400" dirty="0"/>
          </a:p>
        </p:txBody>
      </p:sp>
      <p:sp>
        <p:nvSpPr>
          <p:cNvPr id="9" name="Text 5"/>
          <p:cNvSpPr/>
          <p:nvPr/>
        </p:nvSpPr>
        <p:spPr>
          <a:xfrm>
            <a:off x="822960" y="5349240"/>
            <a:ext cx="7863840" cy="868680"/>
          </a:xfrm>
          <a:prstGeom prst="rect">
            <a:avLst/>
          </a:prstGeom>
          <a:noFill/>
          <a:ln/>
        </p:spPr>
        <p:txBody>
          <a:bodyPr wrap="square" lIns="0" tIns="0" rIns="0" bIns="0" rtlCol="0" anchor="ctr"/>
          <a:lstStyle/>
          <a:p>
            <a:pPr indent="0" marL="0">
              <a:buNone/>
            </a:pPr>
            <a:r>
              <a:rPr lang="en-US" sz="1500" b="1" dirty="0">
                <a:solidFill>
                  <a:srgbClr val="3A2B28"/>
                </a:solidFill>
                <a:latin typeface="Calibri" pitchFamily="34" charset="0"/>
                <a:ea typeface="Calibri" pitchFamily="34" charset="-122"/>
                <a:cs typeface="Calibri" pitchFamily="34" charset="-120"/>
              </a:rPr>
              <a:t>Instructor Đỗ Thùy Hương</a:t>
            </a:r>
            <a:endParaRPr lang="en-US" sz="1500" dirty="0"/>
          </a:p>
          <a:p>
            <a:pPr indent="0" marL="0">
              <a:buNone/>
            </a:pPr>
            <a:r>
              <a:rPr lang="en-US" sz="1200" dirty="0">
                <a:solidFill>
                  <a:srgbClr val="8A7A76"/>
                </a:solidFill>
                <a:latin typeface="Calibri" pitchFamily="34" charset="0"/>
                <a:ea typeface="Calibri" pitchFamily="34" charset="-122"/>
                <a:cs typeface="Calibri" pitchFamily="34" charset="-120"/>
              </a:rPr>
              <a:t>EC1103 – Business Communication and Document Drafting Skills (2:1)  •  Class 261b, Semester 1, 2026 – 2027</a:t>
            </a:r>
            <a:endParaRPr lang="en-US" sz="1500" dirty="0"/>
          </a:p>
        </p:txBody>
      </p:sp>
      <p:sp>
        <p:nvSpPr>
          <p:cNvPr id="10" name="Text 6"/>
          <p:cNvSpPr/>
          <p:nvPr/>
        </p:nvSpPr>
        <p:spPr>
          <a:xfrm>
            <a:off x="822960" y="6355080"/>
            <a:ext cx="10515600" cy="320040"/>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 Đỗ Thùy Hương, 2026 — Lecture prepared for the in-person class. Please credit the source when reused.</a:t>
            </a:r>
            <a:endParaRPr lang="en-US" sz="900" dirty="0"/>
          </a:p>
        </p:txBody>
      </p:sp>
      <p:pic>
        <p:nvPicPr>
          <p:cNvPr id="11" name="Picture 10" descr="co-huong-doc.png"/>
          <p:cNvPicPr>
            <a:picLocks noChangeAspect="1"/>
          </p:cNvPicPr>
          <p:nvPr/>
        </p:nvPicPr>
        <p:blipFill>
          <a:blip r:embed="rId5"/>
          <a:stretch>
            <a:fillRect/>
          </a:stretch>
        </p:blipFill>
        <p:spPr>
          <a:xfrm>
            <a:off x="8641080" y="1051560"/>
            <a:ext cx="3279624" cy="5120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Instructor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OBJECTIVES</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After this lesson, students will be able to</a:t>
            </a:r>
            <a:endParaRPr lang="en-US" sz="2700" dirty="0"/>
          </a:p>
        </p:txBody>
      </p:sp>
      <p:sp>
        <p:nvSpPr>
          <p:cNvPr id="9" name="Shape 6"/>
          <p:cNvSpPr/>
          <p:nvPr/>
        </p:nvSpPr>
        <p:spPr>
          <a:xfrm>
            <a:off x="502920" y="1618488"/>
            <a:ext cx="384048" cy="384048"/>
          </a:xfrm>
          <a:prstGeom prst="ellipse">
            <a:avLst/>
          </a:prstGeom>
          <a:solidFill>
            <a:srgbClr val="DC756A"/>
          </a:solidFill>
          <a:ln/>
        </p:spPr>
        <p:txBody>
          <a:bodyPr/>
          <a:p/>
        </p:txBody>
      </p:sp>
      <p:sp>
        <p:nvSpPr>
          <p:cNvPr id="10" name="Text 7"/>
          <p:cNvSpPr/>
          <p:nvPr/>
        </p:nvSpPr>
        <p:spPr>
          <a:xfrm>
            <a:off x="502920" y="16184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54533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Explain  —  the concept of a document and distinguish the groups of documents within an organisation.</a:t>
            </a:r>
            <a:pPr indent="0" marL="0">
              <a:buNone/>
            </a:pPr>
            <a:r>
              <a:rPr lang="en-US" sz="1350" dirty="0">
                <a:solidFill>
                  <a:srgbClr val="3A2B28"/>
                </a:solidFill>
                <a:latin typeface="Calibri" pitchFamily="34" charset="0"/>
                <a:ea typeface="Calibri" pitchFamily="34" charset="-122"/>
                <a:cs typeface="Calibri" pitchFamily="34" charset="-120"/>
              </a:rPr>
              <a:t/>
            </a:r>
            <a:endParaRPr lang="en-US" sz="1400" dirty="0"/>
          </a:p>
        </p:txBody>
      </p:sp>
      <p:sp>
        <p:nvSpPr>
          <p:cNvPr id="12" name="Shape 9"/>
          <p:cNvSpPr/>
          <p:nvPr/>
        </p:nvSpPr>
        <p:spPr>
          <a:xfrm>
            <a:off x="502920" y="2578608"/>
            <a:ext cx="384048" cy="384048"/>
          </a:xfrm>
          <a:prstGeom prst="ellipse">
            <a:avLst/>
          </a:prstGeom>
          <a:solidFill>
            <a:srgbClr val="DC756A"/>
          </a:solidFill>
          <a:ln/>
        </p:spPr>
        <p:txBody>
          <a:bodyPr/>
          <a:p/>
        </p:txBody>
      </p:sp>
      <p:sp>
        <p:nvSpPr>
          <p:cNvPr id="13" name="Text 10"/>
          <p:cNvSpPr/>
          <p:nvPr/>
        </p:nvSpPr>
        <p:spPr>
          <a:xfrm>
            <a:off x="502920" y="2578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50545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Apply  —  the content requirements and the 9 formality components under Decree 30/2020/ND-CP.</a:t>
            </a:r>
            <a:pPr indent="0" marL="0">
              <a:buNone/>
            </a:pPr>
            <a:r>
              <a:rPr lang="en-US" sz="1350" dirty="0">
                <a:solidFill>
                  <a:srgbClr val="3A2B28"/>
                </a:solidFill>
                <a:latin typeface="Calibri" pitchFamily="34" charset="0"/>
                <a:ea typeface="Calibri" pitchFamily="34" charset="-122"/>
                <a:cs typeface="Calibri" pitchFamily="34" charset="-120"/>
              </a:rPr>
              <a:t/>
            </a:r>
            <a:endParaRPr lang="en-US" sz="1400" dirty="0"/>
          </a:p>
        </p:txBody>
      </p:sp>
      <p:sp>
        <p:nvSpPr>
          <p:cNvPr id="15" name="Shape 12"/>
          <p:cNvSpPr/>
          <p:nvPr/>
        </p:nvSpPr>
        <p:spPr>
          <a:xfrm>
            <a:off x="502920" y="3538728"/>
            <a:ext cx="384048" cy="384048"/>
          </a:xfrm>
          <a:prstGeom prst="ellipse">
            <a:avLst/>
          </a:prstGeom>
          <a:solidFill>
            <a:srgbClr val="DC756A"/>
          </a:solidFill>
          <a:ln/>
        </p:spPr>
        <p:txBody>
          <a:bodyPr/>
          <a:p/>
        </p:txBody>
      </p:sp>
      <p:sp>
        <p:nvSpPr>
          <p:cNvPr id="16" name="Text 13"/>
          <p:cNvSpPr/>
          <p:nvPr/>
        </p:nvSpPr>
        <p:spPr>
          <a:xfrm>
            <a:off x="502920" y="3538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051560" y="346557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Draft  —  decisions, proposals, official letters, minutes and reports with the correct structure.</a:t>
            </a:r>
            <a:pPr indent="0" marL="0">
              <a:buNone/>
            </a:pPr>
            <a:r>
              <a:rPr lang="en-US" sz="1350" dirty="0">
                <a:solidFill>
                  <a:srgbClr val="3A2B28"/>
                </a:solidFill>
                <a:latin typeface="Calibri" pitchFamily="34" charset="0"/>
                <a:ea typeface="Calibri" pitchFamily="34" charset="-122"/>
                <a:cs typeface="Calibri" pitchFamily="34" charset="-120"/>
              </a:rPr>
              <a:t/>
            </a:r>
            <a:endParaRPr lang="en-US" sz="1400" dirty="0"/>
          </a:p>
        </p:txBody>
      </p:sp>
      <p:sp>
        <p:nvSpPr>
          <p:cNvPr id="18" name="Shape 15"/>
          <p:cNvSpPr/>
          <p:nvPr/>
        </p:nvSpPr>
        <p:spPr>
          <a:xfrm>
            <a:off x="502920" y="4498848"/>
            <a:ext cx="384048" cy="384048"/>
          </a:xfrm>
          <a:prstGeom prst="ellipse">
            <a:avLst/>
          </a:prstGeom>
          <a:solidFill>
            <a:srgbClr val="DC756A"/>
          </a:solidFill>
          <a:ln/>
        </p:spPr>
        <p:txBody>
          <a:bodyPr/>
          <a:p/>
        </p:txBody>
      </p:sp>
      <p:sp>
        <p:nvSpPr>
          <p:cNvPr id="19" name="Text 16"/>
          <p:cNvSpPr/>
          <p:nvPr/>
        </p:nvSpPr>
        <p:spPr>
          <a:xfrm>
            <a:off x="502920" y="44988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p:nvPr/>
        </p:nvSpPr>
        <p:spPr>
          <a:xfrm>
            <a:off x="1051560" y="442569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Draft  —  commercial correspondence, quotations and contracts for business transactions.</a:t>
            </a:r>
            <a:pPr indent="0" marL="0">
              <a:buNone/>
            </a:pPr>
            <a:r>
              <a:rPr lang="en-US" sz="1350" dirty="0">
                <a:solidFill>
                  <a:srgbClr val="3A2B28"/>
                </a:solidFill>
                <a:latin typeface="Calibri" pitchFamily="34" charset="0"/>
                <a:ea typeface="Calibri" pitchFamily="34" charset="-122"/>
                <a:cs typeface="Calibri" pitchFamily="34" charset="-120"/>
              </a:rPr>
              <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Instructor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AGENDA</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What we will cover</a:t>
            </a:r>
            <a:endParaRPr lang="en-US" sz="2700" dirty="0"/>
          </a:p>
        </p:txBody>
      </p:sp>
      <p:sp>
        <p:nvSpPr>
          <p:cNvPr id="9" name="Shape 6"/>
          <p:cNvSpPr/>
          <p:nvPr/>
        </p:nvSpPr>
        <p:spPr>
          <a:xfrm>
            <a:off x="502920" y="1618488"/>
            <a:ext cx="384048" cy="384048"/>
          </a:xfrm>
          <a:prstGeom prst="ellipse">
            <a:avLst/>
          </a:prstGeom>
          <a:solidFill>
            <a:srgbClr val="DC756A"/>
          </a:solidFill>
          <a:ln/>
        </p:spPr>
        <p:txBody>
          <a:bodyPr/>
          <a:p/>
        </p:txBody>
      </p:sp>
      <p:sp>
        <p:nvSpPr>
          <p:cNvPr id="10" name="Text 7"/>
          <p:cNvSpPr/>
          <p:nvPr/>
        </p:nvSpPr>
        <p:spPr>
          <a:xfrm>
            <a:off x="502920" y="16184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54533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5.1  —  The concept and classification of documents</a:t>
            </a:r>
            <a:pPr indent="0" marL="0">
              <a:buNone/>
            </a:pPr>
            <a:r>
              <a:rPr lang="en-US" sz="1350" dirty="0">
                <a:solidFill>
                  <a:srgbClr val="3A2B28"/>
                </a:solidFill>
                <a:latin typeface="Calibri" pitchFamily="34" charset="0"/>
                <a:ea typeface="Calibri" pitchFamily="34" charset="-122"/>
                <a:cs typeface="Calibri" pitchFamily="34" charset="-120"/>
              </a:rPr>
              <a:t/>
            </a:r>
            <a:endParaRPr lang="en-US" sz="1400" dirty="0"/>
          </a:p>
        </p:txBody>
      </p:sp>
      <p:sp>
        <p:nvSpPr>
          <p:cNvPr id="12" name="Shape 9"/>
          <p:cNvSpPr/>
          <p:nvPr/>
        </p:nvSpPr>
        <p:spPr>
          <a:xfrm>
            <a:off x="502920" y="2578608"/>
            <a:ext cx="384048" cy="384048"/>
          </a:xfrm>
          <a:prstGeom prst="ellipse">
            <a:avLst/>
          </a:prstGeom>
          <a:solidFill>
            <a:srgbClr val="DC756A"/>
          </a:solidFill>
          <a:ln/>
        </p:spPr>
        <p:txBody>
          <a:bodyPr/>
          <a:p/>
        </p:txBody>
      </p:sp>
      <p:sp>
        <p:nvSpPr>
          <p:cNvPr id="13" name="Text 10"/>
          <p:cNvSpPr/>
          <p:nvPr/>
        </p:nvSpPr>
        <p:spPr>
          <a:xfrm>
            <a:off x="502920" y="2578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50545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5.2  —  Content and formality requirements</a:t>
            </a:r>
            <a:pPr indent="0" marL="0">
              <a:buNone/>
            </a:pPr>
            <a:r>
              <a:rPr lang="en-US" sz="1350" dirty="0">
                <a:solidFill>
                  <a:srgbClr val="3A2B28"/>
                </a:solidFill>
                <a:latin typeface="Calibri" pitchFamily="34" charset="0"/>
                <a:ea typeface="Calibri" pitchFamily="34" charset="-122"/>
                <a:cs typeface="Calibri" pitchFamily="34" charset="-120"/>
              </a:rPr>
              <a:t/>
            </a:r>
            <a:endParaRPr lang="en-US" sz="1400" dirty="0"/>
          </a:p>
        </p:txBody>
      </p:sp>
      <p:sp>
        <p:nvSpPr>
          <p:cNvPr id="15" name="Shape 12"/>
          <p:cNvSpPr/>
          <p:nvPr/>
        </p:nvSpPr>
        <p:spPr>
          <a:xfrm>
            <a:off x="502920" y="3538728"/>
            <a:ext cx="384048" cy="384048"/>
          </a:xfrm>
          <a:prstGeom prst="ellipse">
            <a:avLst/>
          </a:prstGeom>
          <a:solidFill>
            <a:srgbClr val="DC756A"/>
          </a:solidFill>
          <a:ln/>
        </p:spPr>
        <p:txBody>
          <a:bodyPr/>
          <a:p/>
        </p:txBody>
      </p:sp>
      <p:sp>
        <p:nvSpPr>
          <p:cNvPr id="16" name="Text 13"/>
          <p:cNvSpPr/>
          <p:nvPr/>
        </p:nvSpPr>
        <p:spPr>
          <a:xfrm>
            <a:off x="502920" y="3538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051560" y="346557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5.3  —  Drafting common administrative documents</a:t>
            </a:r>
            <a:pPr indent="0" marL="0">
              <a:buNone/>
            </a:pPr>
            <a:r>
              <a:rPr lang="en-US" sz="1350" dirty="0">
                <a:solidFill>
                  <a:srgbClr val="3A2B28"/>
                </a:solidFill>
                <a:latin typeface="Calibri" pitchFamily="34" charset="0"/>
                <a:ea typeface="Calibri" pitchFamily="34" charset="-122"/>
                <a:cs typeface="Calibri" pitchFamily="34" charset="-120"/>
              </a:rPr>
              <a:t/>
            </a:r>
            <a:endParaRPr lang="en-US" sz="1400" dirty="0"/>
          </a:p>
        </p:txBody>
      </p:sp>
      <p:sp>
        <p:nvSpPr>
          <p:cNvPr id="18" name="Shape 15"/>
          <p:cNvSpPr/>
          <p:nvPr/>
        </p:nvSpPr>
        <p:spPr>
          <a:xfrm>
            <a:off x="502920" y="4498848"/>
            <a:ext cx="384048" cy="384048"/>
          </a:xfrm>
          <a:prstGeom prst="ellipse">
            <a:avLst/>
          </a:prstGeom>
          <a:solidFill>
            <a:srgbClr val="DC756A"/>
          </a:solidFill>
          <a:ln/>
        </p:spPr>
        <p:txBody>
          <a:bodyPr/>
          <a:p/>
        </p:txBody>
      </p:sp>
      <p:sp>
        <p:nvSpPr>
          <p:cNvPr id="19" name="Text 16"/>
          <p:cNvSpPr/>
          <p:nvPr/>
        </p:nvSpPr>
        <p:spPr>
          <a:xfrm>
            <a:off x="502920" y="44988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p:nvPr/>
        </p:nvSpPr>
        <p:spPr>
          <a:xfrm>
            <a:off x="1051560" y="442569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5.4  —  Drafting commercial documents</a:t>
            </a:r>
            <a:pPr indent="0" marL="0">
              <a:buNone/>
            </a:pPr>
            <a:r>
              <a:rPr lang="en-US" sz="1350" dirty="0">
                <a:solidFill>
                  <a:srgbClr val="3A2B28"/>
                </a:solidFill>
                <a:latin typeface="Calibri" pitchFamily="34" charset="0"/>
                <a:ea typeface="Calibri" pitchFamily="34" charset="-122"/>
                <a:cs typeface="Calibri" pitchFamily="34" charset="-120"/>
              </a:rPr>
              <a:t/>
            </a:r>
            <a:endParaRPr lang="en-US" sz="14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03120"/>
            <a:ext cx="12191695" cy="2743200"/>
          </a:xfrm>
          <a:prstGeom prst="rect">
            <a:avLst/>
          </a:prstGeom>
          <a:solidFill>
            <a:srgbClr val="FD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74320" cy="6858000"/>
          </a:xfrm>
          <a:prstGeom prst="rect">
            <a:avLst/>
          </a:prstGeom>
          <a:solidFill>
            <a:srgbClr val="DC7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377440"/>
            <a:ext cx="9692640" cy="411480"/>
          </a:xfrm>
          <a:prstGeom prst="rect">
            <a:avLst/>
          </a:prstGeom>
          <a:noFill/>
        </p:spPr>
        <p:txBody>
          <a:bodyPr wrap="none">
            <a:spAutoFit/>
          </a:bodyPr>
          <a:lstStyle/>
          <a:p>
            <a:r>
              <a:rPr sz="1500" b="1">
                <a:solidFill>
                  <a:srgbClr val="DC756A"/>
                </a:solidFill>
                <a:latin typeface="Calibri"/>
              </a:rPr>
              <a:t>SECTIONS 5.1 – 5.2</a:t>
            </a:r>
          </a:p>
        </p:txBody>
      </p:sp>
      <p:sp>
        <p:nvSpPr>
          <p:cNvPr id="6" name="TextBox 5"/>
          <p:cNvSpPr txBox="1"/>
          <p:nvPr/>
        </p:nvSpPr>
        <p:spPr>
          <a:xfrm>
            <a:off x="1280160" y="2788920"/>
            <a:ext cx="9601200" cy="1371600"/>
          </a:xfrm>
          <a:prstGeom prst="rect">
            <a:avLst/>
          </a:prstGeom>
          <a:noFill/>
        </p:spPr>
        <p:txBody>
          <a:bodyPr wrap="square">
            <a:spAutoFit/>
          </a:bodyPr>
          <a:lstStyle/>
          <a:p>
            <a:r>
              <a:rPr sz="3300" b="1">
                <a:solidFill>
                  <a:srgbClr val="AC4D33"/>
                </a:solidFill>
                <a:latin typeface="Cambria"/>
              </a:rPr>
              <a:t>The concept, classification and formality of documents</a:t>
            </a:r>
          </a:p>
        </p:txBody>
      </p:sp>
      <p:sp>
        <p:nvSpPr>
          <p:cNvPr id="7" name="TextBox 6"/>
          <p:cNvSpPr txBox="1"/>
          <p:nvPr/>
        </p:nvSpPr>
        <p:spPr>
          <a:xfrm>
            <a:off x="1280160" y="4224528"/>
            <a:ext cx="9418320" cy="640080"/>
          </a:xfrm>
          <a:prstGeom prst="rect">
            <a:avLst/>
          </a:prstGeom>
          <a:noFill/>
        </p:spPr>
        <p:txBody>
          <a:bodyPr wrap="square">
            <a:spAutoFit/>
          </a:bodyPr>
          <a:lstStyle/>
          <a:p>
            <a:r>
              <a:rPr sz="1450" i="1">
                <a:solidFill>
                  <a:srgbClr val="8A7A76"/>
                </a:solidFill>
                <a:latin typeface="Calibri"/>
              </a:rPr>
              <a:t>The legal and technical foundation: what a document is, and what a correctly formatted page looks like.</a:t>
            </a:r>
          </a:p>
        </p:txBody>
      </p:sp>
      <p:sp>
        <p:nvSpPr>
          <p:cNvPr id="8" name="TextBox 7"/>
          <p:cNvSpPr txBox="1"/>
          <p:nvPr/>
        </p:nvSpPr>
        <p:spPr>
          <a:xfrm>
            <a:off x="502920" y="6419088"/>
            <a:ext cx="7772400" cy="292608"/>
          </a:xfrm>
          <a:prstGeom prst="rect">
            <a:avLst/>
          </a:prstGeom>
          <a:noFill/>
        </p:spPr>
        <p:txBody>
          <a:bodyPr wrap="none">
            <a:spAutoFit/>
          </a:bodyPr>
          <a:lstStyle/>
          <a:p>
            <a:r>
              <a:rPr sz="900">
                <a:solidFill>
                  <a:srgbClr val="8A7A76"/>
                </a:solidFill>
                <a:latin typeface="Calibri"/>
              </a:rPr>
              <a:t>Je m'appelle Huong  •  Instructor Đỗ Thùy Hương  •  EC1103</a:t>
            </a:r>
          </a:p>
        </p:txBody>
      </p:sp>
      <p:sp>
        <p:nvSpPr>
          <p:cNvPr id="9" name="TextBox 8"/>
          <p:cNvSpPr txBox="1"/>
          <p:nvPr/>
        </p:nvSpPr>
        <p:spPr>
          <a:xfrm>
            <a:off x="9326880" y="6419088"/>
            <a:ext cx="1920240" cy="292608"/>
          </a:xfrm>
          <a:prstGeom prst="rect">
            <a:avLst/>
          </a:prstGeom>
          <a:noFill/>
        </p:spPr>
        <p:txBody>
          <a:bodyPr wrap="none">
            <a:spAutoFit/>
          </a:bodyPr>
          <a:lstStyle/>
          <a:p>
            <a:pPr algn="r"/>
            <a:r>
              <a:rPr sz="900">
                <a:solidFill>
                  <a:srgbClr val="8A7A76"/>
                </a:solidFill>
                <a:latin typeface="Calibri"/>
              </a:rPr>
              <a:t>Chapter 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Instructor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5.1</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What is a document?</a:t>
            </a:r>
            <a:endParaRPr lang="en-US" sz="2700" dirty="0"/>
          </a:p>
        </p:txBody>
      </p:sp>
      <p:sp>
        <p:nvSpPr>
          <p:cNvPr id="9" name="Shape 6"/>
          <p:cNvSpPr/>
          <p:nvPr/>
        </p:nvSpPr>
        <p:spPr>
          <a:xfrm>
            <a:off x="502920" y="1417320"/>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0" name="Text 7"/>
          <p:cNvSpPr/>
          <p:nvPr/>
        </p:nvSpPr>
        <p:spPr>
          <a:xfrm>
            <a:off x="722376" y="1472184"/>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General understanding</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A means of recording and conveying information in language or signs</a:t>
            </a:r>
            <a:endParaRPr lang="en-US" sz="1500" dirty="0"/>
          </a:p>
        </p:txBody>
      </p:sp>
      <p:sp>
        <p:nvSpPr>
          <p:cNvPr id="11" name="Shape 8"/>
          <p:cNvSpPr/>
          <p:nvPr/>
        </p:nvSpPr>
        <p:spPr>
          <a:xfrm>
            <a:off x="502920" y="3072384"/>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2" name="Text 9"/>
          <p:cNvSpPr/>
          <p:nvPr/>
        </p:nvSpPr>
        <p:spPr>
          <a:xfrm>
            <a:off x="722376" y="3127248"/>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Legal definition — Decree 30/2020/ND-CP</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“Information put into writing… laid out in the prescribed form and technique.”</a:t>
            </a:r>
            <a:endParaRPr lang="en-US" sz="1500" dirty="0"/>
          </a:p>
        </p:txBody>
      </p:sp>
      <p:sp>
        <p:nvSpPr>
          <p:cNvPr id="13" name="Shape 10"/>
          <p:cNvSpPr/>
          <p:nvPr/>
        </p:nvSpPr>
        <p:spPr>
          <a:xfrm>
            <a:off x="502920" y="4727448"/>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4" name="Text 11"/>
          <p:cNvSpPr/>
          <p:nvPr/>
        </p:nvSpPr>
        <p:spPr>
          <a:xfrm>
            <a:off x="722376" y="4782312"/>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Role</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Management • legal basis • record-keeping • the organisation's image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Instructor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5.1</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Classifying documents</a:t>
            </a:r>
            <a:endParaRPr lang="en-US" sz="2700" dirty="0"/>
          </a:p>
        </p:txBody>
      </p:sp>
      <p:pic>
        <p:nvPicPr>
          <p:cNvPr id="9" name="Picture 8" descr="c5-phan-loai-van-ban-nt.png"/>
          <p:cNvPicPr>
            <a:picLocks noChangeAspect="1"/>
          </p:cNvPicPr>
          <p:nvPr/>
        </p:nvPicPr>
        <p:blipFill>
          <a:blip r:embed="rId4"/>
          <a:stretch>
            <a:fillRect/>
          </a:stretch>
        </p:blipFill>
        <p:spPr>
          <a:xfrm>
            <a:off x="841173" y="1751850"/>
            <a:ext cx="10509347" cy="4168114"/>
          </a:xfrm>
          <a:prstGeom prst="rect">
            <a:avLst/>
          </a:prstGeom>
        </p:spPr>
      </p:pic>
      <p:sp>
        <p:nvSpPr>
          <p:cNvPr id="10" name="TextBox 9"/>
          <p:cNvSpPr txBox="1"/>
          <p:nvPr/>
        </p:nvSpPr>
        <p:spPr>
          <a:xfrm>
            <a:off x="548640" y="5993117"/>
            <a:ext cx="11109960" cy="310896"/>
          </a:xfrm>
          <a:prstGeom prst="rect">
            <a:avLst/>
          </a:prstGeom>
          <a:noFill/>
        </p:spPr>
        <p:txBody>
          <a:bodyPr wrap="square">
            <a:spAutoFit/>
          </a:bodyPr>
          <a:lstStyle/>
          <a:p>
            <a:pPr algn="ctr"/>
            <a:r>
              <a:rPr sz="1150" i="1">
                <a:solidFill>
                  <a:srgbClr val="8A7A76"/>
                </a:solidFill>
                <a:latin typeface="Calibri"/>
              </a:rPr>
              <a:t>Only once you know the group do you know which template to use and who may sign.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Instructor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5.2</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Four content requirements</a:t>
            </a:r>
            <a:endParaRPr lang="en-US" sz="2700" dirty="0"/>
          </a:p>
        </p:txBody>
      </p:sp>
      <p:sp>
        <p:nvSpPr>
          <p:cNvPr id="9" name="Shape 6"/>
          <p:cNvSpPr/>
          <p:nvPr/>
        </p:nvSpPr>
        <p:spPr>
          <a:xfrm>
            <a:off x="502920" y="1417320"/>
            <a:ext cx="11201400" cy="1076706"/>
          </a:xfrm>
          <a:prstGeom prst="roundRect">
            <a:avLst>
              <a:gd name="adj" fmla="val 7643"/>
            </a:avLst>
          </a:prstGeom>
          <a:solidFill>
            <a:srgbClr val="FDF1EF"/>
          </a:solidFill>
          <a:ln w="15875">
            <a:solidFill>
              <a:srgbClr val="FBCEC9"/>
            </a:solidFill>
            <a:prstDash val="solid"/>
          </a:ln>
        </p:spPr>
        <p:txBody>
          <a:bodyPr/>
          <a:p/>
        </p:txBody>
      </p:sp>
      <p:sp>
        <p:nvSpPr>
          <p:cNvPr id="10" name="Text 7"/>
          <p:cNvSpPr/>
          <p:nvPr/>
        </p:nvSpPr>
        <p:spPr>
          <a:xfrm>
            <a:off x="722376" y="1472184"/>
            <a:ext cx="10762488" cy="966978"/>
          </a:xfrm>
          <a:prstGeom prst="rect">
            <a:avLst/>
          </a:prstGeom>
          <a:noFill/>
          <a:ln/>
        </p:spPr>
        <p:txBody>
          <a:bodyPr wrap="square" lIns="0" tIns="0" rIns="0" bIns="0" rtlCol="0" anchor="ctr"/>
          <a:lstStyle/>
          <a:p>
            <a:pPr indent="0" marL="0">
              <a:buNone/>
            </a:pPr>
            <a:r>
              <a:rPr lang="en-US" sz="1450" b="1" dirty="0">
                <a:solidFill>
                  <a:srgbClr val="AC4D33"/>
                </a:solidFill>
                <a:latin typeface="Calibri" pitchFamily="34" charset="0"/>
                <a:ea typeface="Calibri" pitchFamily="34" charset="-122"/>
                <a:cs typeface="Calibri" pitchFamily="34" charset="-120"/>
              </a:rPr>
              <a:t>Correct purpose and authority</a:t>
            </a:r>
            <a:endParaRPr lang="en-US" sz="1450" dirty="0"/>
          </a:p>
          <a:p>
            <a:pPr indent="0" marL="0">
              <a:buNone/>
            </a:pPr>
            <a:r>
              <a:rPr lang="en-US" sz="1250" dirty="0">
                <a:solidFill>
                  <a:srgbClr val="3A2B28"/>
                </a:solidFill>
                <a:latin typeface="Calibri" pitchFamily="34" charset="0"/>
                <a:ea typeface="Calibri" pitchFamily="34" charset="-122"/>
                <a:cs typeface="Calibri" pitchFamily="34" charset="-120"/>
              </a:rPr>
              <a:t>One subject per document, issued within your function</a:t>
            </a:r>
            <a:endParaRPr lang="en-US" sz="1450" dirty="0"/>
          </a:p>
        </p:txBody>
      </p:sp>
      <p:sp>
        <p:nvSpPr>
          <p:cNvPr id="11" name="Shape 8"/>
          <p:cNvSpPr/>
          <p:nvPr/>
        </p:nvSpPr>
        <p:spPr>
          <a:xfrm>
            <a:off x="502920" y="2658618"/>
            <a:ext cx="11201400" cy="1076706"/>
          </a:xfrm>
          <a:prstGeom prst="roundRect">
            <a:avLst>
              <a:gd name="adj" fmla="val 7643"/>
            </a:avLst>
          </a:prstGeom>
          <a:solidFill>
            <a:srgbClr val="FDF1EF"/>
          </a:solidFill>
          <a:ln w="15875">
            <a:solidFill>
              <a:srgbClr val="FBCEC9"/>
            </a:solidFill>
            <a:prstDash val="solid"/>
          </a:ln>
        </p:spPr>
        <p:txBody>
          <a:bodyPr/>
          <a:p/>
        </p:txBody>
      </p:sp>
      <p:sp>
        <p:nvSpPr>
          <p:cNvPr id="12" name="Text 9"/>
          <p:cNvSpPr/>
          <p:nvPr/>
        </p:nvSpPr>
        <p:spPr>
          <a:xfrm>
            <a:off x="722376" y="2713482"/>
            <a:ext cx="10762488" cy="966978"/>
          </a:xfrm>
          <a:prstGeom prst="rect">
            <a:avLst/>
          </a:prstGeom>
          <a:noFill/>
          <a:ln/>
        </p:spPr>
        <p:txBody>
          <a:bodyPr wrap="square" lIns="0" tIns="0" rIns="0" bIns="0" rtlCol="0" anchor="ctr"/>
          <a:lstStyle/>
          <a:p>
            <a:pPr indent="0" marL="0">
              <a:buNone/>
            </a:pPr>
            <a:r>
              <a:rPr lang="en-US" sz="1450" b="1" dirty="0">
                <a:solidFill>
                  <a:srgbClr val="AC4D33"/>
                </a:solidFill>
                <a:latin typeface="Calibri" pitchFamily="34" charset="0"/>
                <a:ea typeface="Calibri" pitchFamily="34" charset="-122"/>
                <a:cs typeface="Calibri" pitchFamily="34" charset="-120"/>
              </a:rPr>
              <a:t>Accurate and objective</a:t>
            </a:r>
            <a:endParaRPr lang="en-US" sz="1450" dirty="0"/>
          </a:p>
          <a:p>
            <a:pPr indent="0" marL="0">
              <a:buNone/>
            </a:pPr>
            <a:r>
              <a:rPr lang="en-US" sz="1250" dirty="0">
                <a:solidFill>
                  <a:srgbClr val="3A2B28"/>
                </a:solidFill>
                <a:latin typeface="Calibri" pitchFamily="34" charset="0"/>
                <a:ea typeface="Calibri" pitchFamily="34" charset="-122"/>
                <a:cs typeface="Calibri" pitchFamily="34" charset="-120"/>
              </a:rPr>
              <a:t>Figures with grounds, verifiable — one wrong number carries legal consequences</a:t>
            </a:r>
            <a:endParaRPr lang="en-US" sz="1450" dirty="0"/>
          </a:p>
        </p:txBody>
      </p:sp>
      <p:sp>
        <p:nvSpPr>
          <p:cNvPr id="13" name="Shape 10"/>
          <p:cNvSpPr/>
          <p:nvPr/>
        </p:nvSpPr>
        <p:spPr>
          <a:xfrm>
            <a:off x="502920" y="3899916"/>
            <a:ext cx="11201400" cy="1076706"/>
          </a:xfrm>
          <a:prstGeom prst="roundRect">
            <a:avLst>
              <a:gd name="adj" fmla="val 7643"/>
            </a:avLst>
          </a:prstGeom>
          <a:solidFill>
            <a:srgbClr val="FDF1EF"/>
          </a:solidFill>
          <a:ln w="15875">
            <a:solidFill>
              <a:srgbClr val="FBCEC9"/>
            </a:solidFill>
            <a:prstDash val="solid"/>
          </a:ln>
        </p:spPr>
        <p:txBody>
          <a:bodyPr/>
          <a:p/>
        </p:txBody>
      </p:sp>
      <p:sp>
        <p:nvSpPr>
          <p:cNvPr id="14" name="Text 11"/>
          <p:cNvSpPr/>
          <p:nvPr/>
        </p:nvSpPr>
        <p:spPr>
          <a:xfrm>
            <a:off x="722376" y="3954780"/>
            <a:ext cx="10762488" cy="966978"/>
          </a:xfrm>
          <a:prstGeom prst="rect">
            <a:avLst/>
          </a:prstGeom>
          <a:noFill/>
          <a:ln/>
        </p:spPr>
        <p:txBody>
          <a:bodyPr wrap="square" lIns="0" tIns="0" rIns="0" bIns="0" rtlCol="0" anchor="ctr"/>
          <a:lstStyle/>
          <a:p>
            <a:pPr indent="0" marL="0">
              <a:buNone/>
            </a:pPr>
            <a:r>
              <a:rPr lang="en-US" sz="1450" b="1" dirty="0">
                <a:solidFill>
                  <a:srgbClr val="AC4D33"/>
                </a:solidFill>
                <a:latin typeface="Calibri" pitchFamily="34" charset="0"/>
                <a:ea typeface="Calibri" pitchFamily="34" charset="-122"/>
                <a:cs typeface="Calibri" pitchFamily="34" charset="-120"/>
              </a:rPr>
              <a:t>Clear, concise and easy to understand</a:t>
            </a:r>
            <a:endParaRPr lang="en-US" sz="1450" dirty="0"/>
          </a:p>
          <a:p>
            <a:pPr indent="0" marL="0">
              <a:buNone/>
            </a:pPr>
            <a:r>
              <a:rPr lang="en-US" sz="1250" dirty="0">
                <a:solidFill>
                  <a:srgbClr val="3A2B28"/>
                </a:solidFill>
                <a:latin typeface="Calibri" pitchFamily="34" charset="0"/>
                <a:ea typeface="Calibri" pitchFamily="34" charset="-122"/>
                <a:cs typeface="Calibri" pitchFamily="34" charset="-120"/>
              </a:rPr>
              <a:t>One reading is enough to get the drafter's meaning</a:t>
            </a:r>
            <a:endParaRPr lang="en-US" sz="1450" dirty="0"/>
          </a:p>
        </p:txBody>
      </p:sp>
      <p:sp>
        <p:nvSpPr>
          <p:cNvPr id="15" name="Shape 12"/>
          <p:cNvSpPr/>
          <p:nvPr/>
        </p:nvSpPr>
        <p:spPr>
          <a:xfrm>
            <a:off x="502920" y="5141214"/>
            <a:ext cx="11201400" cy="1076706"/>
          </a:xfrm>
          <a:prstGeom prst="roundRect">
            <a:avLst>
              <a:gd name="adj" fmla="val 7643"/>
            </a:avLst>
          </a:prstGeom>
          <a:solidFill>
            <a:srgbClr val="FDF1EF"/>
          </a:solidFill>
          <a:ln w="15875">
            <a:solidFill>
              <a:srgbClr val="FBCEC9"/>
            </a:solidFill>
            <a:prstDash val="solid"/>
          </a:ln>
        </p:spPr>
        <p:txBody>
          <a:bodyPr/>
          <a:p/>
        </p:txBody>
      </p:sp>
      <p:sp>
        <p:nvSpPr>
          <p:cNvPr id="16" name="Text 13"/>
          <p:cNvSpPr/>
          <p:nvPr/>
        </p:nvSpPr>
        <p:spPr>
          <a:xfrm>
            <a:off x="722376" y="5196078"/>
            <a:ext cx="10762488" cy="966978"/>
          </a:xfrm>
          <a:prstGeom prst="rect">
            <a:avLst/>
          </a:prstGeom>
          <a:noFill/>
          <a:ln/>
        </p:spPr>
        <p:txBody>
          <a:bodyPr wrap="square" lIns="0" tIns="0" rIns="0" bIns="0" rtlCol="0" anchor="ctr"/>
          <a:lstStyle/>
          <a:p>
            <a:pPr indent="0" marL="0">
              <a:buNone/>
            </a:pPr>
            <a:r>
              <a:rPr lang="en-US" sz="1450" b="1" dirty="0">
                <a:solidFill>
                  <a:srgbClr val="AC4D33"/>
                </a:solidFill>
                <a:latin typeface="Calibri" pitchFamily="34" charset="0"/>
                <a:ea typeface="Calibri" pitchFamily="34" charset="-122"/>
                <a:cs typeface="Calibri" pitchFamily="34" charset="-120"/>
              </a:rPr>
              <a:t>Legally correct and in proper administrative language</a:t>
            </a:r>
            <a:endParaRPr lang="en-US" sz="1450" dirty="0"/>
          </a:p>
          <a:p>
            <a:pPr indent="0" marL="0">
              <a:buNone/>
            </a:pPr>
            <a:r>
              <a:rPr lang="en-US" sz="1250" dirty="0">
                <a:solidFill>
                  <a:srgbClr val="3A2B28"/>
                </a:solidFill>
                <a:latin typeface="Calibri" pitchFamily="34" charset="0"/>
                <a:ea typeface="Calibri" pitchFamily="34" charset="-122"/>
                <a:cs typeface="Calibri" pitchFamily="34" charset="-120"/>
              </a:rPr>
              <a:t>In line with current rules; formal register, no colloquialisms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Instructor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5.2</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The nine formality components — Decree 30/2020/ND-CP</a:t>
            </a:r>
            <a:endParaRPr lang="en-US" sz="2700" dirty="0"/>
          </a:p>
        </p:txBody>
      </p:sp>
      <p:pic>
        <p:nvPicPr>
          <p:cNvPr id="9" name="Picture 8" descr="c5-the-thuc-a4-nt.png"/>
          <p:cNvPicPr>
            <a:picLocks noChangeAspect="1"/>
          </p:cNvPicPr>
          <p:nvPr/>
        </p:nvPicPr>
        <p:blipFill>
          <a:blip r:embed="rId4"/>
          <a:stretch>
            <a:fillRect/>
          </a:stretch>
        </p:blipFill>
        <p:spPr>
          <a:xfrm>
            <a:off x="472287" y="1595135"/>
            <a:ext cx="11247120" cy="448154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Instructor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5.2</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Presentation technique — the figures you must know by heart</a:t>
            </a:r>
            <a:endParaRPr lang="en-US" sz="2700" dirty="0"/>
          </a:p>
        </p:txBody>
      </p:sp>
      <p:sp>
        <p:nvSpPr>
          <p:cNvPr id="9" name="Shape 6"/>
          <p:cNvSpPr/>
          <p:nvPr/>
        </p:nvSpPr>
        <p:spPr>
          <a:xfrm>
            <a:off x="50292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0" name="Text 7"/>
          <p:cNvSpPr/>
          <p:nvPr/>
        </p:nvSpPr>
        <p:spPr>
          <a:xfrm>
            <a:off x="72237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Paper size and margins</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A4 • top and bottom 20–25 mm • left 30–35 mm • right 15–20 mm</a:t>
            </a:r>
            <a:endParaRPr lang="en-US" sz="1500" dirty="0"/>
          </a:p>
        </p:txBody>
      </p:sp>
      <p:sp>
        <p:nvSpPr>
          <p:cNvPr id="11" name="Shape 8"/>
          <p:cNvSpPr/>
          <p:nvPr/>
        </p:nvSpPr>
        <p:spPr>
          <a:xfrm>
            <a:off x="619506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2" name="Text 9"/>
          <p:cNvSpPr/>
          <p:nvPr/>
        </p:nvSpPr>
        <p:spPr>
          <a:xfrm>
            <a:off x="641451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Font</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Times New Roman, Unicode encoding, size 13 – 14, black.</a:t>
            </a:r>
            <a:endParaRPr lang="en-US" sz="1500" dirty="0"/>
          </a:p>
        </p:txBody>
      </p:sp>
      <p:sp>
        <p:nvSpPr>
          <p:cNvPr id="13" name="Shape 10"/>
          <p:cNvSpPr/>
          <p:nvPr/>
        </p:nvSpPr>
        <p:spPr>
          <a:xfrm>
            <a:off x="50292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4" name="Text 11"/>
          <p:cNvSpPr/>
          <p:nvPr/>
        </p:nvSpPr>
        <p:spPr>
          <a:xfrm>
            <a:off x="72237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Page numbers</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Numbered from page two, in Arabic numerals, centred within the top margin.</a:t>
            </a:r>
            <a:endParaRPr lang="en-US" sz="1500" dirty="0"/>
          </a:p>
        </p:txBody>
      </p:sp>
      <p:sp>
        <p:nvSpPr>
          <p:cNvPr id="15" name="Shape 12"/>
          <p:cNvSpPr/>
          <p:nvPr/>
        </p:nvSpPr>
        <p:spPr>
          <a:xfrm>
            <a:off x="619506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6" name="Text 13"/>
          <p:cNvSpPr/>
          <p:nvPr/>
        </p:nvSpPr>
        <p:spPr>
          <a:xfrm>
            <a:off x="641451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Language</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Standard Vietnamese; capitals and abbreviations per the rules</a:t>
            </a:r>
            <a:endParaRPr lang="en-US" sz="15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292608"/>
          </a:xfrm>
          <a:prstGeom prst="rect">
            <a:avLst/>
          </a:prstGeom>
          <a:noFill/>
        </p:spPr>
        <p:txBody>
          <a:bodyPr wrap="none">
            <a:spAutoFit/>
          </a:bodyPr>
          <a:lstStyle/>
          <a:p>
            <a:r>
              <a:rPr sz="1100" b="1">
                <a:solidFill>
                  <a:srgbClr val="DC756A"/>
                </a:solidFill>
                <a:latin typeface="Calibri"/>
              </a:rPr>
              <a:t>THE NUMBERS TO REMEMBER</a:t>
            </a:r>
          </a:p>
        </p:txBody>
      </p:sp>
      <p:sp>
        <p:nvSpPr>
          <p:cNvPr id="4" name="TextBox 3"/>
          <p:cNvSpPr txBox="1"/>
          <p:nvPr/>
        </p:nvSpPr>
        <p:spPr>
          <a:xfrm>
            <a:off x="502920" y="603504"/>
            <a:ext cx="11155680" cy="731520"/>
          </a:xfrm>
          <a:prstGeom prst="rect">
            <a:avLst/>
          </a:prstGeom>
          <a:noFill/>
        </p:spPr>
        <p:txBody>
          <a:bodyPr wrap="square">
            <a:spAutoFit/>
          </a:bodyPr>
          <a:lstStyle/>
          <a:p>
            <a:r>
              <a:rPr sz="2700" b="1">
                <a:solidFill>
                  <a:srgbClr val="3A2B28"/>
                </a:solidFill>
                <a:latin typeface="Cambria"/>
              </a:rPr>
              <a:t>Four numbers of a correctly formatted document page</a:t>
            </a:r>
          </a:p>
        </p:txBody>
      </p:sp>
      <p:sp>
        <p:nvSpPr>
          <p:cNvPr id="5" name="Rounded Rectangle 4"/>
          <p:cNvSpPr/>
          <p:nvPr/>
        </p:nvSpPr>
        <p:spPr>
          <a:xfrm>
            <a:off x="502920" y="1783080"/>
            <a:ext cx="2622042" cy="3429000"/>
          </a:xfrm>
          <a:prstGeom prst="roundRect">
            <a:avLst>
              <a:gd name="adj" fmla="val 7000"/>
            </a:avLst>
          </a:prstGeom>
          <a:solidFill>
            <a:srgbClr val="FFFFFF"/>
          </a:solidFill>
          <a:ln w="15875">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0" bIns="182880"/>
          <a:lstStyle/>
          <a:p>
            <a:pPr algn="ctr"/>
            <a:r>
              <a:rPr sz="5800" b="1">
                <a:solidFill>
                  <a:srgbClr val="DC756A"/>
                </a:solidFill>
                <a:latin typeface="Cambria"/>
              </a:rPr>
              <a:t>A4</a:t>
            </a:r>
          </a:p>
          <a:p>
            <a:pPr algn="ctr"/>
            <a:r>
              <a:rPr sz="1400" b="1">
                <a:solidFill>
                  <a:srgbClr val="AC4D33"/>
                </a:solidFill>
                <a:latin typeface="Calibri"/>
              </a:rPr>
              <a:t>PAPER SIZE</a:t>
            </a:r>
          </a:p>
          <a:p>
            <a:pPr algn="ctr">
              <a:spcBef>
                <a:spcPts val="1200"/>
              </a:spcBef>
            </a:pPr>
            <a:r>
              <a:rPr sz="1250">
                <a:solidFill>
                  <a:srgbClr val="3A2B28"/>
                </a:solidFill>
                <a:latin typeface="Calibri"/>
              </a:rPr>
              <a:t>210 × 297 mm — never use Letter size</a:t>
            </a:r>
          </a:p>
        </p:txBody>
      </p:sp>
      <p:sp>
        <p:nvSpPr>
          <p:cNvPr id="6" name="Rounded Rectangle 5"/>
          <p:cNvSpPr/>
          <p:nvPr/>
        </p:nvSpPr>
        <p:spPr>
          <a:xfrm>
            <a:off x="3362706" y="1783080"/>
            <a:ext cx="2622042" cy="3429000"/>
          </a:xfrm>
          <a:prstGeom prst="roundRect">
            <a:avLst>
              <a:gd name="adj" fmla="val 7000"/>
            </a:avLst>
          </a:prstGeom>
          <a:solidFill>
            <a:srgbClr val="FFFFFF"/>
          </a:solidFill>
          <a:ln w="15875">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0" bIns="182880"/>
          <a:lstStyle/>
          <a:p>
            <a:pPr algn="ctr"/>
            <a:r>
              <a:rPr sz="5800" b="1">
                <a:solidFill>
                  <a:srgbClr val="DC756A"/>
                </a:solidFill>
                <a:latin typeface="Cambria"/>
              </a:rPr>
              <a:t>30–35</a:t>
            </a:r>
          </a:p>
          <a:p>
            <a:pPr algn="ctr"/>
            <a:r>
              <a:rPr sz="1400" b="1">
                <a:solidFill>
                  <a:srgbClr val="AC4D33"/>
                </a:solidFill>
                <a:latin typeface="Calibri"/>
              </a:rPr>
              <a:t>MILLIMETRES</a:t>
            </a:r>
          </a:p>
          <a:p>
            <a:pPr algn="ctr">
              <a:spcBef>
                <a:spcPts val="1200"/>
              </a:spcBef>
            </a:pPr>
            <a:r>
              <a:rPr sz="1250">
                <a:solidFill>
                  <a:srgbClr val="3A2B28"/>
                </a:solidFill>
                <a:latin typeface="Calibri"/>
              </a:rPr>
              <a:t>The left margin, the widest one, for binding and filing</a:t>
            </a:r>
          </a:p>
        </p:txBody>
      </p:sp>
      <p:sp>
        <p:nvSpPr>
          <p:cNvPr id="7" name="Rounded Rectangle 6"/>
          <p:cNvSpPr/>
          <p:nvPr/>
        </p:nvSpPr>
        <p:spPr>
          <a:xfrm>
            <a:off x="6222492" y="1783080"/>
            <a:ext cx="2622042" cy="3429000"/>
          </a:xfrm>
          <a:prstGeom prst="roundRect">
            <a:avLst>
              <a:gd name="adj" fmla="val 7000"/>
            </a:avLst>
          </a:prstGeom>
          <a:solidFill>
            <a:srgbClr val="FFFFFF"/>
          </a:solidFill>
          <a:ln w="15875">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0" bIns="182880"/>
          <a:lstStyle/>
          <a:p>
            <a:pPr algn="ctr"/>
            <a:r>
              <a:rPr sz="5800" b="1">
                <a:solidFill>
                  <a:srgbClr val="DC756A"/>
                </a:solidFill>
                <a:latin typeface="Cambria"/>
              </a:rPr>
              <a:t>13–14</a:t>
            </a:r>
          </a:p>
          <a:p>
            <a:pPr algn="ctr"/>
            <a:r>
              <a:rPr sz="1400" b="1">
                <a:solidFill>
                  <a:srgbClr val="AC4D33"/>
                </a:solidFill>
                <a:latin typeface="Calibri"/>
              </a:rPr>
              <a:t>FONT SIZE</a:t>
            </a:r>
          </a:p>
          <a:p>
            <a:pPr algn="ctr">
              <a:spcBef>
                <a:spcPts val="1200"/>
              </a:spcBef>
            </a:pPr>
            <a:r>
              <a:rPr sz="1250">
                <a:solidFill>
                  <a:srgbClr val="3A2B28"/>
                </a:solidFill>
                <a:latin typeface="Calibri"/>
              </a:rPr>
              <a:t>Times New Roman, Unicode encoding, black</a:t>
            </a:r>
          </a:p>
        </p:txBody>
      </p:sp>
      <p:sp>
        <p:nvSpPr>
          <p:cNvPr id="8" name="Rounded Rectangle 7"/>
          <p:cNvSpPr/>
          <p:nvPr/>
        </p:nvSpPr>
        <p:spPr>
          <a:xfrm>
            <a:off x="9082278" y="1783080"/>
            <a:ext cx="2622042" cy="3429000"/>
          </a:xfrm>
          <a:prstGeom prst="roundRect">
            <a:avLst>
              <a:gd name="adj" fmla="val 7000"/>
            </a:avLst>
          </a:prstGeom>
          <a:solidFill>
            <a:srgbClr val="FFFFFF"/>
          </a:solidFill>
          <a:ln w="15875">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0" bIns="182880"/>
          <a:lstStyle/>
          <a:p>
            <a:pPr algn="ctr"/>
            <a:r>
              <a:rPr sz="5800" b="1">
                <a:solidFill>
                  <a:srgbClr val="DC756A"/>
                </a:solidFill>
                <a:latin typeface="Cambria"/>
              </a:rPr>
              <a:t>9</a:t>
            </a:r>
          </a:p>
          <a:p>
            <a:pPr algn="ctr"/>
            <a:r>
              <a:rPr sz="1400" b="1">
                <a:solidFill>
                  <a:srgbClr val="AC4D33"/>
                </a:solidFill>
                <a:latin typeface="Calibri"/>
              </a:rPr>
              <a:t>COMPONENTS</a:t>
            </a:r>
          </a:p>
          <a:p>
            <a:pPr algn="ctr">
              <a:spcBef>
                <a:spcPts val="1200"/>
              </a:spcBef>
            </a:pPr>
            <a:r>
              <a:rPr sz="1250">
                <a:solidFill>
                  <a:srgbClr val="3A2B28"/>
                </a:solidFill>
                <a:latin typeface="Calibri"/>
              </a:rPr>
              <a:t>The number of mandatory formality components under Decree 30/2020</a:t>
            </a:r>
          </a:p>
        </p:txBody>
      </p:sp>
      <p:sp>
        <p:nvSpPr>
          <p:cNvPr id="9" name="Rounded Rectangle 8"/>
          <p:cNvSpPr/>
          <p:nvPr/>
        </p:nvSpPr>
        <p:spPr>
          <a:xfrm>
            <a:off x="502920" y="5440680"/>
            <a:ext cx="11201400" cy="685800"/>
          </a:xfrm>
          <a:prstGeom prst="roundRect">
            <a:avLst>
              <a:gd name="adj" fmla="val 12000"/>
            </a:avLst>
          </a:prstGeom>
          <a:solidFill>
            <a:srgbClr val="FDF1EF"/>
          </a:solidFill>
          <a:ln w="12700">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ctr"/>
            <a:r>
              <a:rPr sz="1300">
                <a:solidFill>
                  <a:srgbClr val="3A2B28"/>
                </a:solidFill>
                <a:latin typeface="Calibri"/>
              </a:rPr>
              <a:t>Top and bottom margins 20 – 25 mm • right margin 15 – 20 mm • page numbers from page two, centred within the top margin.</a:t>
            </a:r>
          </a:p>
        </p:txBody>
      </p:sp>
      <p:sp>
        <p:nvSpPr>
          <p:cNvPr id="10" name="TextBox 9"/>
          <p:cNvSpPr txBox="1"/>
          <p:nvPr/>
        </p:nvSpPr>
        <p:spPr>
          <a:xfrm>
            <a:off x="502920" y="6419088"/>
            <a:ext cx="7772400" cy="292608"/>
          </a:xfrm>
          <a:prstGeom prst="rect">
            <a:avLst/>
          </a:prstGeom>
          <a:noFill/>
        </p:spPr>
        <p:txBody>
          <a:bodyPr wrap="none">
            <a:spAutoFit/>
          </a:bodyPr>
          <a:lstStyle/>
          <a:p>
            <a:r>
              <a:rPr sz="900">
                <a:solidFill>
                  <a:srgbClr val="8A7A76"/>
                </a:solidFill>
                <a:latin typeface="Calibri"/>
              </a:rPr>
              <a:t>Je m'appelle Huong  •  Instructor Đỗ Thùy Hương  •  EC1103</a:t>
            </a:r>
          </a:p>
        </p:txBody>
      </p:sp>
      <p:sp>
        <p:nvSpPr>
          <p:cNvPr id="11" name="TextBox 10"/>
          <p:cNvSpPr txBox="1"/>
          <p:nvPr/>
        </p:nvSpPr>
        <p:spPr>
          <a:xfrm>
            <a:off x="9326880" y="6419088"/>
            <a:ext cx="1920240" cy="292608"/>
          </a:xfrm>
          <a:prstGeom prst="rect">
            <a:avLst/>
          </a:prstGeom>
          <a:noFill/>
        </p:spPr>
        <p:txBody>
          <a:bodyPr wrap="none">
            <a:spAutoFit/>
          </a:bodyPr>
          <a:lstStyle/>
          <a:p>
            <a:pPr algn="r"/>
            <a:r>
              <a:rPr sz="900">
                <a:solidFill>
                  <a:srgbClr val="8A7A76"/>
                </a:solidFill>
                <a:latin typeface="Calibri"/>
              </a:rPr>
              <a:t>Chapter 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03120"/>
            <a:ext cx="12191695" cy="2743200"/>
          </a:xfrm>
          <a:prstGeom prst="rect">
            <a:avLst/>
          </a:prstGeom>
          <a:solidFill>
            <a:srgbClr val="FD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74320" cy="6858000"/>
          </a:xfrm>
          <a:prstGeom prst="rect">
            <a:avLst/>
          </a:prstGeom>
          <a:solidFill>
            <a:srgbClr val="DC7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377440"/>
            <a:ext cx="9692640" cy="411480"/>
          </a:xfrm>
          <a:prstGeom prst="rect">
            <a:avLst/>
          </a:prstGeom>
          <a:noFill/>
        </p:spPr>
        <p:txBody>
          <a:bodyPr wrap="none">
            <a:spAutoFit/>
          </a:bodyPr>
          <a:lstStyle/>
          <a:p>
            <a:r>
              <a:rPr sz="1500" b="1">
                <a:solidFill>
                  <a:srgbClr val="DC756A"/>
                </a:solidFill>
                <a:latin typeface="Calibri"/>
              </a:rPr>
              <a:t>SECTION 5.3</a:t>
            </a:r>
          </a:p>
        </p:txBody>
      </p:sp>
      <p:sp>
        <p:nvSpPr>
          <p:cNvPr id="6" name="TextBox 5"/>
          <p:cNvSpPr txBox="1"/>
          <p:nvPr/>
        </p:nvSpPr>
        <p:spPr>
          <a:xfrm>
            <a:off x="1280160" y="2788920"/>
            <a:ext cx="9601200" cy="1371600"/>
          </a:xfrm>
          <a:prstGeom prst="rect">
            <a:avLst/>
          </a:prstGeom>
          <a:noFill/>
        </p:spPr>
        <p:txBody>
          <a:bodyPr wrap="square">
            <a:spAutoFit/>
          </a:bodyPr>
          <a:lstStyle/>
          <a:p>
            <a:r>
              <a:rPr sz="3300" b="1">
                <a:solidFill>
                  <a:srgbClr val="AC4D33"/>
                </a:solidFill>
                <a:latin typeface="Cambria"/>
              </a:rPr>
              <a:t>Drafting common administrative documents</a:t>
            </a:r>
          </a:p>
        </p:txBody>
      </p:sp>
      <p:sp>
        <p:nvSpPr>
          <p:cNvPr id="7" name="TextBox 6"/>
          <p:cNvSpPr txBox="1"/>
          <p:nvPr/>
        </p:nvSpPr>
        <p:spPr>
          <a:xfrm>
            <a:off x="1280160" y="4224528"/>
            <a:ext cx="9418320" cy="640080"/>
          </a:xfrm>
          <a:prstGeom prst="rect">
            <a:avLst/>
          </a:prstGeom>
          <a:noFill/>
        </p:spPr>
        <p:txBody>
          <a:bodyPr wrap="square">
            <a:spAutoFit/>
          </a:bodyPr>
          <a:lstStyle/>
          <a:p>
            <a:r>
              <a:rPr sz="1450" i="1">
                <a:solidFill>
                  <a:srgbClr val="8A7A76"/>
                </a:solidFill>
                <a:latin typeface="Calibri"/>
              </a:rPr>
              <a:t>Five document types used every day in every agency and organisation.</a:t>
            </a:r>
          </a:p>
        </p:txBody>
      </p:sp>
      <p:sp>
        <p:nvSpPr>
          <p:cNvPr id="8" name="TextBox 7"/>
          <p:cNvSpPr txBox="1"/>
          <p:nvPr/>
        </p:nvSpPr>
        <p:spPr>
          <a:xfrm>
            <a:off x="502920" y="6419088"/>
            <a:ext cx="7772400" cy="292608"/>
          </a:xfrm>
          <a:prstGeom prst="rect">
            <a:avLst/>
          </a:prstGeom>
          <a:noFill/>
        </p:spPr>
        <p:txBody>
          <a:bodyPr wrap="none">
            <a:spAutoFit/>
          </a:bodyPr>
          <a:lstStyle/>
          <a:p>
            <a:r>
              <a:rPr sz="900">
                <a:solidFill>
                  <a:srgbClr val="8A7A76"/>
                </a:solidFill>
                <a:latin typeface="Calibri"/>
              </a:rPr>
              <a:t>Je m'appelle Huong  •  Instructor Đỗ Thùy Hương  •  EC1103</a:t>
            </a:r>
          </a:p>
        </p:txBody>
      </p:sp>
      <p:sp>
        <p:nvSpPr>
          <p:cNvPr id="9" name="TextBox 8"/>
          <p:cNvSpPr txBox="1"/>
          <p:nvPr/>
        </p:nvSpPr>
        <p:spPr>
          <a:xfrm>
            <a:off x="9326880" y="6419088"/>
            <a:ext cx="1920240" cy="292608"/>
          </a:xfrm>
          <a:prstGeom prst="rect">
            <a:avLst/>
          </a:prstGeom>
          <a:noFill/>
        </p:spPr>
        <p:txBody>
          <a:bodyPr wrap="none">
            <a:spAutoFit/>
          </a:bodyPr>
          <a:lstStyle/>
          <a:p>
            <a:pPr algn="r"/>
            <a:r>
              <a:rPr sz="900">
                <a:solidFill>
                  <a:srgbClr val="8A7A76"/>
                </a:solidFill>
                <a:latin typeface="Calibri"/>
              </a:rPr>
              <a:t>Chapter 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Instructor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5.3</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Five common administrative documents</a:t>
            </a:r>
            <a:endParaRPr lang="en-US" sz="2700" dirty="0"/>
          </a:p>
        </p:txBody>
      </p:sp>
      <p:pic>
        <p:nvPicPr>
          <p:cNvPr id="9" name="Picture 8" descr="c5-chuoi-van-ban-nt.png"/>
          <p:cNvPicPr>
            <a:picLocks noChangeAspect="1"/>
          </p:cNvPicPr>
          <p:nvPr/>
        </p:nvPicPr>
        <p:blipFill>
          <a:blip r:embed="rId4"/>
          <a:stretch>
            <a:fillRect/>
          </a:stretch>
        </p:blipFill>
        <p:spPr>
          <a:xfrm>
            <a:off x="981171" y="2365438"/>
            <a:ext cx="10229353" cy="2940939"/>
          </a:xfrm>
          <a:prstGeom prst="rect">
            <a:avLst/>
          </a:prstGeom>
        </p:spPr>
      </p:pic>
      <p:sp>
        <p:nvSpPr>
          <p:cNvPr id="10" name="TextBox 9"/>
          <p:cNvSpPr txBox="1"/>
          <p:nvPr/>
        </p:nvSpPr>
        <p:spPr>
          <a:xfrm>
            <a:off x="548640" y="5379529"/>
            <a:ext cx="11109960" cy="310896"/>
          </a:xfrm>
          <a:prstGeom prst="rect">
            <a:avLst/>
          </a:prstGeom>
          <a:noFill/>
        </p:spPr>
        <p:txBody>
          <a:bodyPr wrap="square">
            <a:spAutoFit/>
          </a:bodyPr>
          <a:lstStyle/>
          <a:p>
            <a:pPr algn="ctr"/>
            <a:r>
              <a:rPr sz="1150" i="1">
                <a:solidFill>
                  <a:srgbClr val="8A7A76"/>
                </a:solidFill>
                <a:latin typeface="Calibri"/>
              </a:rPr>
              <a:t>The document chain for a business deal — students will draft this very chain in the practice sessions.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Instructor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5.3</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Decisions and proposals</a:t>
            </a:r>
            <a:endParaRPr lang="en-US" sz="2700" dirty="0"/>
          </a:p>
        </p:txBody>
      </p:sp>
      <p:sp>
        <p:nvSpPr>
          <p:cNvPr id="9" name="Shape 6"/>
          <p:cNvSpPr/>
          <p:nvPr/>
        </p:nvSpPr>
        <p:spPr>
          <a:xfrm>
            <a:off x="50292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0" name="Text 7"/>
          <p:cNvSpPr/>
          <p:nvPr/>
        </p:nvSpPr>
        <p:spPr>
          <a:xfrm>
            <a:off x="72237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Decision — concept</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A document issued by a competent person to resolve a specific matter.</a:t>
            </a:r>
            <a:endParaRPr lang="en-US" sz="1500" dirty="0"/>
          </a:p>
        </p:txBody>
      </p:sp>
      <p:sp>
        <p:nvSpPr>
          <p:cNvPr id="11" name="Shape 8"/>
          <p:cNvSpPr/>
          <p:nvPr/>
        </p:nvSpPr>
        <p:spPr>
          <a:xfrm>
            <a:off x="619506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2" name="Text 9"/>
          <p:cNvSpPr/>
          <p:nvPr/>
        </p:nvSpPr>
        <p:spPr>
          <a:xfrm>
            <a:off x="641451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Decision — structure</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The grounds → the substance in Articles → the last Article states when it takes effect</a:t>
            </a:r>
            <a:endParaRPr lang="en-US" sz="1500" dirty="0"/>
          </a:p>
        </p:txBody>
      </p:sp>
      <p:sp>
        <p:nvSpPr>
          <p:cNvPr id="13" name="Shape 10"/>
          <p:cNvSpPr/>
          <p:nvPr/>
        </p:nvSpPr>
        <p:spPr>
          <a:xfrm>
            <a:off x="50292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4" name="Text 11"/>
          <p:cNvSpPr/>
          <p:nvPr/>
        </p:nvSpPr>
        <p:spPr>
          <a:xfrm>
            <a:off x="72237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Proposal — concept</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Asking the competent level to approve a policy or a plan</a:t>
            </a:r>
            <a:endParaRPr lang="en-US" sz="1500" dirty="0"/>
          </a:p>
        </p:txBody>
      </p:sp>
      <p:sp>
        <p:nvSpPr>
          <p:cNvPr id="15" name="Shape 12"/>
          <p:cNvSpPr/>
          <p:nvPr/>
        </p:nvSpPr>
        <p:spPr>
          <a:xfrm>
            <a:off x="619506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6" name="Text 13"/>
          <p:cNvSpPr/>
          <p:nvPr/>
        </p:nvSpPr>
        <p:spPr>
          <a:xfrm>
            <a:off x="641451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Proposal — 3-part structure</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The reason → the plan and its benefits → the request for approval</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Instructor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5.3</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Official letters, minutes and reports</a:t>
            </a:r>
            <a:endParaRPr lang="en-US" sz="2700" dirty="0"/>
          </a:p>
        </p:txBody>
      </p:sp>
      <p:sp>
        <p:nvSpPr>
          <p:cNvPr id="9" name="Shape 6"/>
          <p:cNvSpPr/>
          <p:nvPr/>
        </p:nvSpPr>
        <p:spPr>
          <a:xfrm>
            <a:off x="502920" y="1417320"/>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0" name="Text 7"/>
          <p:cNvSpPr/>
          <p:nvPr/>
        </p:nvSpPr>
        <p:spPr>
          <a:xfrm>
            <a:off x="722376" y="1472184"/>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Official letters</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No document-type heading — only number, reference and subject line. One subject each</a:t>
            </a:r>
            <a:endParaRPr lang="en-US" sz="1500" dirty="0"/>
          </a:p>
        </p:txBody>
      </p:sp>
      <p:sp>
        <p:nvSpPr>
          <p:cNvPr id="11" name="Shape 8"/>
          <p:cNvSpPr/>
          <p:nvPr/>
        </p:nvSpPr>
        <p:spPr>
          <a:xfrm>
            <a:off x="502920" y="3072384"/>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2" name="Text 9"/>
          <p:cNvSpPr/>
          <p:nvPr/>
        </p:nvSpPr>
        <p:spPr>
          <a:xfrm>
            <a:off x="722376" y="3127248"/>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Minutes</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Written on the spot. Time – those present – proceedings – conclusion – signatures</a:t>
            </a:r>
            <a:endParaRPr lang="en-US" sz="1500" dirty="0"/>
          </a:p>
        </p:txBody>
      </p:sp>
      <p:sp>
        <p:nvSpPr>
          <p:cNvPr id="13" name="Shape 10"/>
          <p:cNvSpPr/>
          <p:nvPr/>
        </p:nvSpPr>
        <p:spPr>
          <a:xfrm>
            <a:off x="502920" y="4727448"/>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4" name="Text 11"/>
          <p:cNvSpPr/>
          <p:nvPr/>
        </p:nvSpPr>
        <p:spPr>
          <a:xfrm>
            <a:off x="722376" y="4782312"/>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Reports</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The situation → results → shortcomings and causes → the way forward</a:t>
            </a:r>
            <a:endParaRPr lang="en-US" sz="15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03120"/>
            <a:ext cx="12191695" cy="2743200"/>
          </a:xfrm>
          <a:prstGeom prst="rect">
            <a:avLst/>
          </a:prstGeom>
          <a:solidFill>
            <a:srgbClr val="FD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74320" cy="6858000"/>
          </a:xfrm>
          <a:prstGeom prst="rect">
            <a:avLst/>
          </a:prstGeom>
          <a:solidFill>
            <a:srgbClr val="DC7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377440"/>
            <a:ext cx="9692640" cy="411480"/>
          </a:xfrm>
          <a:prstGeom prst="rect">
            <a:avLst/>
          </a:prstGeom>
          <a:noFill/>
        </p:spPr>
        <p:txBody>
          <a:bodyPr wrap="none">
            <a:spAutoFit/>
          </a:bodyPr>
          <a:lstStyle/>
          <a:p>
            <a:r>
              <a:rPr sz="1500" b="1">
                <a:solidFill>
                  <a:srgbClr val="DC756A"/>
                </a:solidFill>
                <a:latin typeface="Calibri"/>
              </a:rPr>
              <a:t>SECTION 5.4</a:t>
            </a:r>
          </a:p>
        </p:txBody>
      </p:sp>
      <p:sp>
        <p:nvSpPr>
          <p:cNvPr id="6" name="TextBox 5"/>
          <p:cNvSpPr txBox="1"/>
          <p:nvPr/>
        </p:nvSpPr>
        <p:spPr>
          <a:xfrm>
            <a:off x="1280160" y="2788920"/>
            <a:ext cx="9601200" cy="1371600"/>
          </a:xfrm>
          <a:prstGeom prst="rect">
            <a:avLst/>
          </a:prstGeom>
          <a:noFill/>
        </p:spPr>
        <p:txBody>
          <a:bodyPr wrap="square">
            <a:spAutoFit/>
          </a:bodyPr>
          <a:lstStyle/>
          <a:p>
            <a:r>
              <a:rPr sz="3800" b="1">
                <a:solidFill>
                  <a:srgbClr val="AC4D33"/>
                </a:solidFill>
                <a:latin typeface="Cambria"/>
              </a:rPr>
              <a:t>Drafting commercial documents</a:t>
            </a:r>
          </a:p>
        </p:txBody>
      </p:sp>
      <p:sp>
        <p:nvSpPr>
          <p:cNvPr id="7" name="TextBox 6"/>
          <p:cNvSpPr txBox="1"/>
          <p:nvPr/>
        </p:nvSpPr>
        <p:spPr>
          <a:xfrm>
            <a:off x="1280160" y="4224528"/>
            <a:ext cx="9418320" cy="640080"/>
          </a:xfrm>
          <a:prstGeom prst="rect">
            <a:avLst/>
          </a:prstGeom>
          <a:noFill/>
        </p:spPr>
        <p:txBody>
          <a:bodyPr wrap="square">
            <a:spAutoFit/>
          </a:bodyPr>
          <a:lstStyle/>
          <a:p>
            <a:r>
              <a:rPr sz="1450" i="1">
                <a:solidFill>
                  <a:srgbClr val="8A7A76"/>
                </a:solidFill>
                <a:latin typeface="Calibri"/>
              </a:rPr>
              <a:t>Correspondence, quotations and contracts — the set of documents that carries a deal to completion.</a:t>
            </a:r>
          </a:p>
        </p:txBody>
      </p:sp>
      <p:sp>
        <p:nvSpPr>
          <p:cNvPr id="8" name="TextBox 7"/>
          <p:cNvSpPr txBox="1"/>
          <p:nvPr/>
        </p:nvSpPr>
        <p:spPr>
          <a:xfrm>
            <a:off x="502920" y="6419088"/>
            <a:ext cx="7772400" cy="292608"/>
          </a:xfrm>
          <a:prstGeom prst="rect">
            <a:avLst/>
          </a:prstGeom>
          <a:noFill/>
        </p:spPr>
        <p:txBody>
          <a:bodyPr wrap="none">
            <a:spAutoFit/>
          </a:bodyPr>
          <a:lstStyle/>
          <a:p>
            <a:r>
              <a:rPr sz="900">
                <a:solidFill>
                  <a:srgbClr val="8A7A76"/>
                </a:solidFill>
                <a:latin typeface="Calibri"/>
              </a:rPr>
              <a:t>Je m'appelle Huong  •  Instructor Đỗ Thùy Hương  •  EC1103</a:t>
            </a:r>
          </a:p>
        </p:txBody>
      </p:sp>
      <p:sp>
        <p:nvSpPr>
          <p:cNvPr id="9" name="TextBox 8"/>
          <p:cNvSpPr txBox="1"/>
          <p:nvPr/>
        </p:nvSpPr>
        <p:spPr>
          <a:xfrm>
            <a:off x="9326880" y="6419088"/>
            <a:ext cx="1920240" cy="292608"/>
          </a:xfrm>
          <a:prstGeom prst="rect">
            <a:avLst/>
          </a:prstGeom>
          <a:noFill/>
        </p:spPr>
        <p:txBody>
          <a:bodyPr wrap="none">
            <a:spAutoFit/>
          </a:bodyPr>
          <a:lstStyle/>
          <a:p>
            <a:pPr algn="r"/>
            <a:r>
              <a:rPr sz="900">
                <a:solidFill>
                  <a:srgbClr val="8A7A76"/>
                </a:solidFill>
                <a:latin typeface="Calibri"/>
              </a:rPr>
              <a:t>Chapter 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Instructor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5.4</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Commercial correspondence and quotations</a:t>
            </a:r>
            <a:endParaRPr lang="en-US" sz="2700" dirty="0"/>
          </a:p>
        </p:txBody>
      </p:sp>
      <p:sp>
        <p:nvSpPr>
          <p:cNvPr id="9" name="Shape 6"/>
          <p:cNvSpPr/>
          <p:nvPr/>
        </p:nvSpPr>
        <p:spPr>
          <a:xfrm>
            <a:off x="50292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0" name="Text 7"/>
          <p:cNvSpPr/>
          <p:nvPr/>
        </p:nvSpPr>
        <p:spPr>
          <a:xfrm>
            <a:off x="72237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Commercial correspondence</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Enquiry • offer • order • confirmation • complaint • thanks</a:t>
            </a:r>
            <a:endParaRPr lang="en-US" sz="1500" dirty="0"/>
          </a:p>
        </p:txBody>
      </p:sp>
      <p:sp>
        <p:nvSpPr>
          <p:cNvPr id="11" name="Shape 8"/>
          <p:cNvSpPr/>
          <p:nvPr/>
        </p:nvSpPr>
        <p:spPr>
          <a:xfrm>
            <a:off x="619506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2" name="Text 9"/>
          <p:cNvSpPr/>
          <p:nvPr/>
        </p:nvSpPr>
        <p:spPr>
          <a:xfrm>
            <a:off x="641451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The 5C principle</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Clear • Concise • Correct • Complete • Courteous.</a:t>
            </a:r>
            <a:endParaRPr lang="en-US" sz="1500" dirty="0"/>
          </a:p>
        </p:txBody>
      </p:sp>
      <p:sp>
        <p:nvSpPr>
          <p:cNvPr id="13" name="Shape 10"/>
          <p:cNvSpPr/>
          <p:nvPr/>
        </p:nvSpPr>
        <p:spPr>
          <a:xfrm>
            <a:off x="50292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4" name="Text 11"/>
          <p:cNvSpPr/>
          <p:nvPr/>
        </p:nvSpPr>
        <p:spPr>
          <a:xfrm>
            <a:off x="72237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Commercial email</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A subject line that matches • a full signature block • reply within 24 hours</a:t>
            </a:r>
            <a:endParaRPr lang="en-US" sz="1500" dirty="0"/>
          </a:p>
        </p:txBody>
      </p:sp>
      <p:sp>
        <p:nvSpPr>
          <p:cNvPr id="15" name="Shape 12"/>
          <p:cNvSpPr/>
          <p:nvPr/>
        </p:nvSpPr>
        <p:spPr>
          <a:xfrm>
            <a:off x="619506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6" name="Text 13"/>
          <p:cNvSpPr/>
          <p:nvPr/>
        </p:nvSpPr>
        <p:spPr>
          <a:xfrm>
            <a:off x="641451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Quotations</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The goods • quantity, unit price, tax • delivery, payment • validity period</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Instructor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5.4</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Contract, acceptance and liquidation</a:t>
            </a:r>
            <a:endParaRPr lang="en-US" sz="2700" dirty="0"/>
          </a:p>
        </p:txBody>
      </p:sp>
      <p:sp>
        <p:nvSpPr>
          <p:cNvPr id="9" name="Shape 6"/>
          <p:cNvSpPr/>
          <p:nvPr/>
        </p:nvSpPr>
        <p:spPr>
          <a:xfrm>
            <a:off x="502920" y="1417320"/>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0" name="Text 7"/>
          <p:cNvSpPr/>
          <p:nvPr/>
        </p:nvSpPr>
        <p:spPr>
          <a:xfrm>
            <a:off x="722376" y="1472184"/>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Commercial contracts</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Subject matter • price and payment • rights and obligations • penalties • disputes</a:t>
            </a:r>
            <a:endParaRPr lang="en-US" sz="1500" dirty="0"/>
          </a:p>
        </p:txBody>
      </p:sp>
      <p:sp>
        <p:nvSpPr>
          <p:cNvPr id="11" name="Shape 8"/>
          <p:cNvSpPr/>
          <p:nvPr/>
        </p:nvSpPr>
        <p:spPr>
          <a:xfrm>
            <a:off x="502920" y="3072384"/>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2" name="Text 9"/>
          <p:cNvSpPr/>
          <p:nvPr/>
        </p:nvSpPr>
        <p:spPr>
          <a:xfrm>
            <a:off x="722376" y="3127248"/>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Acceptance record</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Confirms quantity and quality — the basis for payment</a:t>
            </a:r>
            <a:endParaRPr lang="en-US" sz="1500" dirty="0"/>
          </a:p>
        </p:txBody>
      </p:sp>
      <p:sp>
        <p:nvSpPr>
          <p:cNvPr id="13" name="Shape 10"/>
          <p:cNvSpPr/>
          <p:nvPr/>
        </p:nvSpPr>
        <p:spPr>
          <a:xfrm>
            <a:off x="502920" y="4727448"/>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4" name="Text 11"/>
          <p:cNvSpPr/>
          <p:nvPr/>
        </p:nvSpPr>
        <p:spPr>
          <a:xfrm>
            <a:off x="722376" y="4782312"/>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Contract liquidation record</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Obligations discharged, the contract ended, the remainder settled</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Instructor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14</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GROUP ACTIVITY</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From negotiation to contract</a:t>
            </a:r>
            <a:endParaRPr lang="en-US" sz="2700" dirty="0"/>
          </a:p>
        </p:txBody>
      </p:sp>
      <p:sp>
        <p:nvSpPr>
          <p:cNvPr id="9" name="Shape 6"/>
          <p:cNvSpPr/>
          <p:nvPr/>
        </p:nvSpPr>
        <p:spPr>
          <a:xfrm>
            <a:off x="502920" y="1417320"/>
            <a:ext cx="11201400" cy="2103120"/>
          </a:xfrm>
          <a:prstGeom prst="roundRect">
            <a:avLst>
              <a:gd name="adj" fmla="val 4348"/>
            </a:avLst>
          </a:prstGeom>
          <a:solidFill>
            <a:srgbClr val="FBEDE0"/>
          </a:solidFill>
          <a:ln w="15875">
            <a:solidFill>
              <a:srgbClr val="C9A227"/>
            </a:solidFill>
            <a:prstDash val="solid"/>
          </a:ln>
        </p:spPr>
        <p:txBody>
          <a:bodyPr/>
          <a:p/>
        </p:txBody>
      </p:sp>
      <p:sp>
        <p:nvSpPr>
          <p:cNvPr id="10" name="Text 7"/>
          <p:cNvSpPr/>
          <p:nvPr/>
        </p:nvSpPr>
        <p:spPr>
          <a:xfrm>
            <a:off x="749808" y="1508760"/>
            <a:ext cx="10698480" cy="1920240"/>
          </a:xfrm>
          <a:prstGeom prst="rect">
            <a:avLst/>
          </a:prstGeom>
          <a:noFill/>
          <a:ln/>
        </p:spPr>
        <p:txBody>
          <a:bodyPr wrap="square" lIns="0" tIns="0" rIns="0" bIns="0" rtlCol="0" anchor="ctr"/>
          <a:lstStyle/>
          <a:p>
            <a:pPr indent="0" marL="0">
              <a:buNone/>
            </a:pPr>
            <a:r>
              <a:rPr lang="en-US" sz="1500" b="1" dirty="0">
                <a:solidFill>
                  <a:srgbClr val="8A6510"/>
                </a:solidFill>
                <a:latin typeface="Calibri" pitchFamily="34" charset="0"/>
                <a:ea typeface="Calibri" pitchFamily="34" charset="-122"/>
                <a:cs typeface="Calibri" pitchFamily="34" charset="-120"/>
              </a:rPr>
              <a:t>SCENARIO (groups of 4–5 students, 20 minutes)</a:t>
            </a:r>
            <a:endParaRPr lang="en-US" sz="1500" dirty="0"/>
          </a:p>
          <a:p>
            <a:pPr indent="0" marL="0">
              <a:buNone/>
            </a:pPr>
            <a:r>
              <a:rPr lang="en-US" sz="1350" i="1" dirty="0">
                <a:solidFill>
                  <a:srgbClr val="3A2B28"/>
                </a:solidFill>
                <a:latin typeface="Calibri" pitchFamily="34" charset="0"/>
                <a:ea typeface="Calibri" pitchFamily="34" charset="-122"/>
                <a:cs typeface="Calibri" pitchFamily="34" charset="-120"/>
              </a:rPr>
              <a:t>Continuing the 20-computer purchase negotiated in Chapter 4: Company X's Admin Office must complete the entire paper trail for the deal, from the initial purchase proposal through to final payment.</a:t>
            </a:r>
            <a:endParaRPr lang="en-US" sz="1500" dirty="0"/>
          </a:p>
        </p:txBody>
      </p:sp>
      <p:sp>
        <p:nvSpPr>
          <p:cNvPr id="11" name="Text 8"/>
          <p:cNvSpPr/>
          <p:nvPr/>
        </p:nvSpPr>
        <p:spPr>
          <a:xfrm>
            <a:off x="502920" y="3749040"/>
            <a:ext cx="11201400" cy="320040"/>
          </a:xfrm>
          <a:prstGeom prst="rect">
            <a:avLst/>
          </a:prstGeom>
          <a:noFill/>
          <a:ln/>
        </p:spPr>
        <p:txBody>
          <a:bodyPr wrap="square" lIns="0" tIns="0" rIns="0" bIns="0" rtlCol="0" anchor="ctr"/>
          <a:lstStyle/>
          <a:p>
            <a:pPr indent="0" marL="0">
              <a:buNone/>
            </a:pPr>
            <a:r>
              <a:rPr lang="en-US" sz="1300" b="1" spc="100" kern="0" dirty="0">
                <a:solidFill>
                  <a:srgbClr val="AC4D33"/>
                </a:solidFill>
                <a:latin typeface="Calibri" pitchFamily="34" charset="0"/>
                <a:ea typeface="Calibri" pitchFamily="34" charset="-122"/>
                <a:cs typeface="Calibri" pitchFamily="34" charset="-120"/>
              </a:rPr>
              <a:t>GROUP TASKS</a:t>
            </a:r>
            <a:endParaRPr lang="en-US" sz="1300" dirty="0"/>
          </a:p>
        </p:txBody>
      </p:sp>
      <p:sp>
        <p:nvSpPr>
          <p:cNvPr id="12" name="Shape 9"/>
          <p:cNvSpPr/>
          <p:nvPr/>
        </p:nvSpPr>
        <p:spPr>
          <a:xfrm>
            <a:off x="502920" y="4178808"/>
            <a:ext cx="384048" cy="384048"/>
          </a:xfrm>
          <a:prstGeom prst="ellipse">
            <a:avLst/>
          </a:prstGeom>
          <a:solidFill>
            <a:srgbClr val="DC756A"/>
          </a:solidFill>
          <a:ln/>
        </p:spPr>
        <p:txBody>
          <a:bodyPr/>
          <a:p/>
        </p:txBody>
      </p:sp>
      <p:sp>
        <p:nvSpPr>
          <p:cNvPr id="13" name="Text 10"/>
          <p:cNvSpPr/>
          <p:nvPr/>
        </p:nvSpPr>
        <p:spPr>
          <a:xfrm>
            <a:off x="502920" y="41788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1"/>
          <p:cNvSpPr/>
          <p:nvPr/>
        </p:nvSpPr>
        <p:spPr>
          <a:xfrm>
            <a:off x="1051560" y="4105656"/>
            <a:ext cx="10652760" cy="68580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List the full chain of documents to draft, in chronological order, and state who signs each one.</a:t>
            </a:r>
            <a:endParaRPr lang="en-US" sz="1400" dirty="0"/>
          </a:p>
        </p:txBody>
      </p:sp>
      <p:sp>
        <p:nvSpPr>
          <p:cNvPr id="15" name="Shape 12"/>
          <p:cNvSpPr/>
          <p:nvPr/>
        </p:nvSpPr>
        <p:spPr>
          <a:xfrm>
            <a:off x="502920" y="4864608"/>
            <a:ext cx="384048" cy="384048"/>
          </a:xfrm>
          <a:prstGeom prst="ellipse">
            <a:avLst/>
          </a:prstGeom>
          <a:solidFill>
            <a:srgbClr val="DC756A"/>
          </a:solidFill>
          <a:ln/>
        </p:spPr>
        <p:txBody>
          <a:bodyPr/>
          <a:p/>
        </p:txBody>
      </p:sp>
      <p:sp>
        <p:nvSpPr>
          <p:cNvPr id="16" name="Text 13"/>
          <p:cNvSpPr/>
          <p:nvPr/>
        </p:nvSpPr>
        <p:spPr>
          <a:xfrm>
            <a:off x="502920" y="4864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4"/>
          <p:cNvSpPr/>
          <p:nvPr/>
        </p:nvSpPr>
        <p:spPr>
          <a:xfrm>
            <a:off x="1051560" y="4791456"/>
            <a:ext cx="10652760" cy="68580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Pick one document from the chain and sketch its full layout with all 9 formality components on A4 paper.</a:t>
            </a:r>
            <a:endParaRPr lang="en-US" sz="1400" dirty="0"/>
          </a:p>
        </p:txBody>
      </p:sp>
      <p:sp>
        <p:nvSpPr>
          <p:cNvPr id="18" name="Shape 15"/>
          <p:cNvSpPr/>
          <p:nvPr/>
        </p:nvSpPr>
        <p:spPr>
          <a:xfrm>
            <a:off x="502920" y="5550408"/>
            <a:ext cx="384048" cy="384048"/>
          </a:xfrm>
          <a:prstGeom prst="ellipse">
            <a:avLst/>
          </a:prstGeom>
          <a:solidFill>
            <a:srgbClr val="DC756A"/>
          </a:solidFill>
          <a:ln/>
        </p:spPr>
        <p:txBody>
          <a:bodyPr/>
          <a:p/>
        </p:txBody>
      </p:sp>
      <p:sp>
        <p:nvSpPr>
          <p:cNvPr id="19" name="Text 16"/>
          <p:cNvSpPr/>
          <p:nvPr/>
        </p:nvSpPr>
        <p:spPr>
          <a:xfrm>
            <a:off x="502920" y="55504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p:nvPr/>
        </p:nvSpPr>
        <p:spPr>
          <a:xfrm>
            <a:off x="1051560" y="5477256"/>
            <a:ext cx="10652760" cy="68580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Identify the 3 most common formatting mistakes your group expects students to make when drafting this document.</a:t>
            </a:r>
            <a:endParaRPr lang="en-US" sz="1400" dirty="0"/>
          </a:p>
        </p:txBody>
      </p:sp>
      <p:pic>
        <p:nvPicPr>
          <p:cNvPr id="21" name="Picture 20" descr="co-huong-tron.png"/>
          <p:cNvPicPr>
            <a:picLocks noChangeAspect="1"/>
          </p:cNvPicPr>
          <p:nvPr/>
        </p:nvPicPr>
        <p:blipFill>
          <a:blip r:embed="rId4"/>
          <a:stretch>
            <a:fillRect/>
          </a:stretch>
        </p:blipFill>
        <p:spPr>
          <a:xfrm>
            <a:off x="10378440" y="384048"/>
            <a:ext cx="960120" cy="9601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Instructor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15</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SUMMARY</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Things to remember</a:t>
            </a:r>
            <a:endParaRPr lang="en-US" sz="2700" dirty="0"/>
          </a:p>
        </p:txBody>
      </p:sp>
      <p:sp>
        <p:nvSpPr>
          <p:cNvPr id="9" name="Shape 6"/>
          <p:cNvSpPr/>
          <p:nvPr/>
        </p:nvSpPr>
        <p:spPr>
          <a:xfrm>
            <a:off x="502920" y="1463040"/>
            <a:ext cx="11201400" cy="1475232"/>
          </a:xfrm>
          <a:prstGeom prst="roundRect">
            <a:avLst>
              <a:gd name="adj" fmla="val 5579"/>
            </a:avLst>
          </a:prstGeom>
          <a:solidFill>
            <a:srgbClr val="FDF1EF"/>
          </a:solidFill>
          <a:ln w="15875">
            <a:solidFill>
              <a:srgbClr val="FBCEC9"/>
            </a:solidFill>
            <a:prstDash val="solid"/>
          </a:ln>
        </p:spPr>
        <p:txBody>
          <a:bodyPr/>
          <a:p/>
        </p:txBody>
      </p:sp>
      <p:sp>
        <p:nvSpPr>
          <p:cNvPr id="10" name="Text 7"/>
          <p:cNvSpPr/>
          <p:nvPr/>
        </p:nvSpPr>
        <p:spPr>
          <a:xfrm>
            <a:off x="722376" y="1517904"/>
            <a:ext cx="10762488" cy="13655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Formality is a document's "passport"</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However good the content, a document with the wrong format still gets sent back — know the 9 components and the presentation figures.</a:t>
            </a:r>
            <a:endParaRPr lang="en-US" sz="1500" dirty="0"/>
          </a:p>
        </p:txBody>
      </p:sp>
      <p:sp>
        <p:nvSpPr>
          <p:cNvPr id="11" name="Shape 8"/>
          <p:cNvSpPr/>
          <p:nvPr/>
        </p:nvSpPr>
        <p:spPr>
          <a:xfrm>
            <a:off x="502920" y="3102864"/>
            <a:ext cx="11201400" cy="1475232"/>
          </a:xfrm>
          <a:prstGeom prst="roundRect">
            <a:avLst>
              <a:gd name="adj" fmla="val 5579"/>
            </a:avLst>
          </a:prstGeom>
          <a:solidFill>
            <a:srgbClr val="FDF1EF"/>
          </a:solidFill>
          <a:ln w="15875">
            <a:solidFill>
              <a:srgbClr val="FBCEC9"/>
            </a:solidFill>
            <a:prstDash val="solid"/>
          </a:ln>
        </p:spPr>
        <p:txBody>
          <a:bodyPr/>
          <a:p/>
        </p:txBody>
      </p:sp>
      <p:sp>
        <p:nvSpPr>
          <p:cNvPr id="12" name="Text 9"/>
          <p:cNvSpPr/>
          <p:nvPr/>
        </p:nvSpPr>
        <p:spPr>
          <a:xfrm>
            <a:off x="722376" y="3157728"/>
            <a:ext cx="10762488" cy="13655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Each document type has its own structure</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Decisions follow Articles; proposals have 3 parts; official letters have no type name; minutes are recorded on the spot; reports follow a 4-part flow.</a:t>
            </a:r>
            <a:endParaRPr lang="en-US" sz="1500" dirty="0"/>
          </a:p>
        </p:txBody>
      </p:sp>
      <p:sp>
        <p:nvSpPr>
          <p:cNvPr id="13" name="Shape 10"/>
          <p:cNvSpPr/>
          <p:nvPr/>
        </p:nvSpPr>
        <p:spPr>
          <a:xfrm>
            <a:off x="502920" y="4742688"/>
            <a:ext cx="11201400" cy="1475232"/>
          </a:xfrm>
          <a:prstGeom prst="roundRect">
            <a:avLst>
              <a:gd name="adj" fmla="val 5579"/>
            </a:avLst>
          </a:prstGeom>
          <a:solidFill>
            <a:srgbClr val="FDF1EF"/>
          </a:solidFill>
          <a:ln w="15875">
            <a:solidFill>
              <a:srgbClr val="FBCEC9"/>
            </a:solidFill>
            <a:prstDash val="solid"/>
          </a:ln>
        </p:spPr>
        <p:txBody>
          <a:bodyPr/>
          <a:p/>
        </p:txBody>
      </p:sp>
      <p:sp>
        <p:nvSpPr>
          <p:cNvPr id="14" name="Text 11"/>
          <p:cNvSpPr/>
          <p:nvPr/>
        </p:nvSpPr>
        <p:spPr>
          <a:xfrm>
            <a:off x="722376" y="4797552"/>
            <a:ext cx="10762488" cy="13655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Commercial documents protect a business's reputation</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Correspondence following the 5Cs, a quotation with a clear validity period, a contract with full clauses — the contract/acceptance/liquidation trio closes out the deal.</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Instructor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16</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REVIEW &amp; PREPARATION</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Review questions</a:t>
            </a:r>
            <a:endParaRPr lang="en-US" sz="2700" dirty="0"/>
          </a:p>
        </p:txBody>
      </p:sp>
      <p:sp>
        <p:nvSpPr>
          <p:cNvPr id="9" name="Shape 6"/>
          <p:cNvSpPr/>
          <p:nvPr/>
        </p:nvSpPr>
        <p:spPr>
          <a:xfrm>
            <a:off x="502920" y="1572768"/>
            <a:ext cx="384048" cy="384048"/>
          </a:xfrm>
          <a:prstGeom prst="ellipse">
            <a:avLst/>
          </a:prstGeom>
          <a:solidFill>
            <a:srgbClr val="DC756A"/>
          </a:solidFill>
          <a:ln/>
        </p:spPr>
        <p:txBody>
          <a:bodyPr/>
          <a:p/>
        </p:txBody>
      </p:sp>
      <p:sp>
        <p:nvSpPr>
          <p:cNvPr id="10" name="Text 7"/>
          <p:cNvSpPr/>
          <p:nvPr/>
        </p:nvSpPr>
        <p:spPr>
          <a:xfrm>
            <a:off x="502920" y="1572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499616"/>
            <a:ext cx="10652760" cy="82296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Explain the concept of a document and the groups of documents within an organisation.</a:t>
            </a:r>
            <a:endParaRPr lang="en-US" sz="1400" dirty="0"/>
          </a:p>
        </p:txBody>
      </p:sp>
      <p:sp>
        <p:nvSpPr>
          <p:cNvPr id="12" name="Shape 9"/>
          <p:cNvSpPr/>
          <p:nvPr/>
        </p:nvSpPr>
        <p:spPr>
          <a:xfrm>
            <a:off x="502920" y="2395728"/>
            <a:ext cx="384048" cy="384048"/>
          </a:xfrm>
          <a:prstGeom prst="ellipse">
            <a:avLst/>
          </a:prstGeom>
          <a:solidFill>
            <a:srgbClr val="DC756A"/>
          </a:solidFill>
          <a:ln/>
        </p:spPr>
        <p:txBody>
          <a:bodyPr/>
          <a:p/>
        </p:txBody>
      </p:sp>
      <p:sp>
        <p:nvSpPr>
          <p:cNvPr id="13" name="Text 10"/>
          <p:cNvSpPr/>
          <p:nvPr/>
        </p:nvSpPr>
        <p:spPr>
          <a:xfrm>
            <a:off x="502920" y="2395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322576"/>
            <a:ext cx="10652760" cy="82296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State the 9 formality components of an administrative document and the rules on margins and fonts.</a:t>
            </a:r>
            <a:endParaRPr lang="en-US" sz="1400" dirty="0"/>
          </a:p>
        </p:txBody>
      </p:sp>
      <p:sp>
        <p:nvSpPr>
          <p:cNvPr id="15" name="Shape 12"/>
          <p:cNvSpPr/>
          <p:nvPr/>
        </p:nvSpPr>
        <p:spPr>
          <a:xfrm>
            <a:off x="502920" y="3218688"/>
            <a:ext cx="384048" cy="384048"/>
          </a:xfrm>
          <a:prstGeom prst="ellipse">
            <a:avLst/>
          </a:prstGeom>
          <a:solidFill>
            <a:srgbClr val="DC756A"/>
          </a:solidFill>
          <a:ln/>
        </p:spPr>
        <p:txBody>
          <a:bodyPr/>
          <a:p/>
        </p:txBody>
      </p:sp>
      <p:sp>
        <p:nvSpPr>
          <p:cNvPr id="16" name="Text 13"/>
          <p:cNvSpPr/>
          <p:nvPr/>
        </p:nvSpPr>
        <p:spPr>
          <a:xfrm>
            <a:off x="502920" y="32186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051560" y="3145536"/>
            <a:ext cx="10652760" cy="82296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Compare the structure of a decision, a proposal and an official letter.</a:t>
            </a:r>
            <a:endParaRPr lang="en-US" sz="1400" dirty="0"/>
          </a:p>
        </p:txBody>
      </p:sp>
      <p:sp>
        <p:nvSpPr>
          <p:cNvPr id="18" name="Shape 15"/>
          <p:cNvSpPr/>
          <p:nvPr/>
        </p:nvSpPr>
        <p:spPr>
          <a:xfrm>
            <a:off x="502920" y="4041648"/>
            <a:ext cx="384048" cy="384048"/>
          </a:xfrm>
          <a:prstGeom prst="ellipse">
            <a:avLst/>
          </a:prstGeom>
          <a:solidFill>
            <a:srgbClr val="DC756A"/>
          </a:solidFill>
          <a:ln/>
        </p:spPr>
        <p:txBody>
          <a:bodyPr/>
          <a:p/>
        </p:txBody>
      </p:sp>
      <p:sp>
        <p:nvSpPr>
          <p:cNvPr id="19" name="Text 16"/>
          <p:cNvSpPr/>
          <p:nvPr/>
        </p:nvSpPr>
        <p:spPr>
          <a:xfrm>
            <a:off x="502920" y="4041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p:nvPr/>
        </p:nvSpPr>
        <p:spPr>
          <a:xfrm>
            <a:off x="1051560" y="3968496"/>
            <a:ext cx="10652760" cy="82296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State the 5C principle and the basic clauses of a commercial contract.</a:t>
            </a:r>
            <a:endParaRPr lang="en-US" sz="1400" dirty="0"/>
          </a:p>
        </p:txBody>
      </p:sp>
      <p:sp>
        <p:nvSpPr>
          <p:cNvPr id="21" name="Shape 18"/>
          <p:cNvSpPr/>
          <p:nvPr/>
        </p:nvSpPr>
        <p:spPr>
          <a:xfrm>
            <a:off x="502920" y="5074920"/>
            <a:ext cx="11201400" cy="1097280"/>
          </a:xfrm>
          <a:prstGeom prst="roundRect">
            <a:avLst>
              <a:gd name="adj" fmla="val 7500"/>
            </a:avLst>
          </a:prstGeom>
          <a:solidFill>
            <a:srgbClr val="FBEDE0"/>
          </a:solidFill>
          <a:ln w="12700">
            <a:solidFill>
              <a:srgbClr val="C9A227"/>
            </a:solidFill>
            <a:prstDash val="solid"/>
          </a:ln>
        </p:spPr>
        <p:txBody>
          <a:bodyPr/>
          <a:p/>
        </p:txBody>
      </p:sp>
      <p:sp>
        <p:nvSpPr>
          <p:cNvPr id="22" name="Text 19"/>
          <p:cNvSpPr/>
          <p:nvPr/>
        </p:nvSpPr>
        <p:spPr>
          <a:xfrm>
            <a:off x="777240" y="5120640"/>
            <a:ext cx="10698480" cy="1005840"/>
          </a:xfrm>
          <a:prstGeom prst="rect">
            <a:avLst/>
          </a:prstGeom>
          <a:noFill/>
          <a:ln/>
        </p:spPr>
        <p:txBody>
          <a:bodyPr wrap="square" lIns="0" tIns="0" rIns="0" bIns="0" rtlCol="0" anchor="ctr"/>
          <a:lstStyle/>
          <a:p>
            <a:pPr indent="0" marL="0">
              <a:buNone/>
            </a:pPr>
            <a:r>
              <a:rPr lang="en-US" sz="1300" b="1" dirty="0">
                <a:solidFill>
                  <a:srgbClr val="8A6510"/>
                </a:solidFill>
                <a:latin typeface="Calibri" pitchFamily="34" charset="0"/>
                <a:ea typeface="Calibri" pitchFamily="34" charset="-122"/>
                <a:cs typeface="Calibri" pitchFamily="34" charset="-120"/>
              </a:rPr>
              <a:t>PREPARE FOR NEXT SESSION:  Practice session in room A0105 — Lab 1: Document formality. Bring a laptop with Microsoft Word installed, and download Decree 30/2020/ND-CP in advance.</a:t>
            </a:r>
            <a:pPr indent="0" marL="0">
              <a:buNone/>
            </a:pPr>
            <a:r>
              <a:rPr lang="en-US" sz="1300" dirty="0">
                <a:solidFill>
                  <a:srgbClr val="3A2B28"/>
                </a:solidFill>
                <a:latin typeface="Calibri" pitchFamily="34" charset="0"/>
                <a:ea typeface="Calibri" pitchFamily="34" charset="-122"/>
                <a:cs typeface="Calibri" pitchFamily="34" charset="-120"/>
              </a:rPr>
              <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Instructor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17</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REFERENCES</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Course materials</a:t>
            </a:r>
            <a:endParaRPr lang="en-US" sz="2700" dirty="0"/>
          </a:p>
        </p:txBody>
      </p:sp>
      <p:sp>
        <p:nvSpPr>
          <p:cNvPr id="9" name="Shape 6"/>
          <p:cNvSpPr/>
          <p:nvPr/>
        </p:nvSpPr>
        <p:spPr>
          <a:xfrm>
            <a:off x="502920" y="1463040"/>
            <a:ext cx="11201400" cy="1322832"/>
          </a:xfrm>
          <a:prstGeom prst="roundRect">
            <a:avLst>
              <a:gd name="adj" fmla="val 6221"/>
            </a:avLst>
          </a:prstGeom>
          <a:solidFill>
            <a:srgbClr val="FDF1EF"/>
          </a:solidFill>
          <a:ln w="15875">
            <a:solidFill>
              <a:srgbClr val="FBCEC9"/>
            </a:solidFill>
            <a:prstDash val="solid"/>
          </a:ln>
        </p:spPr>
        <p:txBody>
          <a:bodyPr/>
          <a:p/>
        </p:txBody>
      </p:sp>
      <p:sp>
        <p:nvSpPr>
          <p:cNvPr id="10" name="Text 7"/>
          <p:cNvSpPr/>
          <p:nvPr/>
        </p:nvSpPr>
        <p:spPr>
          <a:xfrm>
            <a:off x="722376" y="1517904"/>
            <a:ext cx="10762488" cy="12131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Main textbook</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Hà Nam Khánh Giao (2023), Business Communication Textbook, Finance Publishing House.</a:t>
            </a:r>
            <a:endParaRPr lang="en-US" sz="1500" dirty="0"/>
          </a:p>
        </p:txBody>
      </p:sp>
      <p:sp>
        <p:nvSpPr>
          <p:cNvPr id="11" name="Shape 8"/>
          <p:cNvSpPr/>
          <p:nvPr/>
        </p:nvSpPr>
        <p:spPr>
          <a:xfrm>
            <a:off x="502920" y="2950464"/>
            <a:ext cx="11201400" cy="1322832"/>
          </a:xfrm>
          <a:prstGeom prst="roundRect">
            <a:avLst>
              <a:gd name="adj" fmla="val 6221"/>
            </a:avLst>
          </a:prstGeom>
          <a:solidFill>
            <a:srgbClr val="FDF1EF"/>
          </a:solidFill>
          <a:ln w="15875">
            <a:solidFill>
              <a:srgbClr val="FBCEC9"/>
            </a:solidFill>
            <a:prstDash val="solid"/>
          </a:ln>
        </p:spPr>
        <p:txBody>
          <a:bodyPr/>
          <a:p/>
        </p:txBody>
      </p:sp>
      <p:sp>
        <p:nvSpPr>
          <p:cNvPr id="12" name="Text 9"/>
          <p:cNvSpPr/>
          <p:nvPr/>
        </p:nvSpPr>
        <p:spPr>
          <a:xfrm>
            <a:off x="722376" y="3005328"/>
            <a:ext cx="10762488" cy="12131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Required legal document</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Government Decree 30/2020/ND-CP dated 5 March 2020 on records and archival work — guiding the format and presentation technique for administrative documents.</a:t>
            </a:r>
            <a:endParaRPr lang="en-US" sz="1500" dirty="0"/>
          </a:p>
        </p:txBody>
      </p:sp>
      <p:sp>
        <p:nvSpPr>
          <p:cNvPr id="13" name="Shape 10"/>
          <p:cNvSpPr/>
          <p:nvPr/>
        </p:nvSpPr>
        <p:spPr>
          <a:xfrm>
            <a:off x="502920" y="4437888"/>
            <a:ext cx="11201400" cy="1322832"/>
          </a:xfrm>
          <a:prstGeom prst="roundRect">
            <a:avLst>
              <a:gd name="adj" fmla="val 6221"/>
            </a:avLst>
          </a:prstGeom>
          <a:solidFill>
            <a:srgbClr val="FDF1EF"/>
          </a:solidFill>
          <a:ln w="15875">
            <a:solidFill>
              <a:srgbClr val="FBCEC9"/>
            </a:solidFill>
            <a:prstDash val="solid"/>
          </a:ln>
        </p:spPr>
        <p:txBody>
          <a:bodyPr/>
          <a:p/>
        </p:txBody>
      </p:sp>
      <p:sp>
        <p:nvSpPr>
          <p:cNvPr id="14" name="Text 11"/>
          <p:cNvSpPr/>
          <p:nvPr/>
        </p:nvSpPr>
        <p:spPr>
          <a:xfrm>
            <a:off x="722376" y="4492752"/>
            <a:ext cx="10762488" cy="12131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Instructor's own materials</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Slides, document templates, case scenarios and exercises prepared by Instructor Đỗ Thùy Hương; shared after each session.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Je m’appelle Huong — Lecturer and Researcher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Đỗ Thùy Hương</dc:creator>
  <cp:lastModifiedBy>Đỗ Thùy Hương</cp:lastModifiedBy>
  <cp:revision>1</cp:revision>
  <dcterms:created xsi:type="dcterms:W3CDTF">2026-08-23T05:42:54Z</dcterms:created>
  <dcterms:modified xsi:type="dcterms:W3CDTF">2026-08-23T05:42:54Z</dcterms:modified>
</cp:coreProperties>
</file>