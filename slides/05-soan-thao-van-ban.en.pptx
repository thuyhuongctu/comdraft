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4" r:id="rId25"/>
    <p:sldId id="259" r:id="rId5"/>
    <p:sldId id="260" r:id="rId6"/>
    <p:sldId id="261" r:id="rId7"/>
    <p:sldId id="262" r:id="rId8"/>
    <p:sldId id="263" r:id="rId9"/>
    <p:sldId id="273" r:id="rId24"/>
    <p:sldId id="275" r:id="rId26"/>
    <p:sldId id="264" r:id="rId10"/>
    <p:sldId id="265" r:id="rId11"/>
    <p:sldId id="266" r:id="rId12"/>
    <p:sldId id="276" r:id="rId27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0.xml"/><Relationship Id="rId25" Type="http://schemas.openxmlformats.org/officeDocument/2006/relationships/slide" Target="slides/slide4.xml"/><Relationship Id="rId26" Type="http://schemas.openxmlformats.org/officeDocument/2006/relationships/slide" Target="slides/slide11.xml"/><Relationship Id="rId27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chương này gắn liền 3 buổi thực hành ở phòng máy.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4 mục: khái niệm, thể thức, hành chính, thương mại.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Đọc chậm định nghĩa của NĐ 30/2020 — đây là câu SẼ RA THI.</a:t>
            </a:r>
          </a:p>
          <a:p>
            <a:r>
              <a:t>• Nhấn cụm "TRÌNH BÀY ĐÚNG THỂ THỨC, KỸ THUẬT THEO QUY ĐỊNH": nội dung hay mà sai thể thức thì vẫn bị trả lại.</a:t>
            </a:r>
          </a:p>
          <a:p>
            <a:r>
              <a:t>• Vai trò: nhấn "căn cứ pháp lý" — cho ví dụ tranh chấp hợp đồng ra tòa, cái tòa xem là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PHÂN LOẠI (3 phút)</a:t>
            </a:r>
          </a:p>
          <a:p>
            <a:r>
              <a:t>• 4 nhóm — vẽ sơ đồ cây lên bảng.</a:t>
            </a:r>
          </a:p>
          <a:p>
            <a:r>
              <a:t>• Nhấn: doanh nghiệp KHÔNG ban hành văn bản quy phạm pháp luật, nhưng phải tuân thủ.</a:t>
            </a:r>
          </a:p>
          <a:p>
            <a:r>
              <a:t>• Con số phải nhớ: 29 LOẠI văn bản hành chính theo NĐ 30/2020.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YÊU CẦU NỘI DUNG (3 phút)</a:t>
            </a:r>
          </a:p>
          <a:p>
            <a:r>
              <a:t>• Đi 4 yêu cầu, mỗi yêu cầu một ví dụ lỗi thực tế.</a:t>
            </a:r>
          </a:p>
          <a:p>
            <a:r>
              <a:t>• Nhấn yêu cầu 2: "Một con số sai trong văn bản có thể tạo hậu quả pháp lý rất lớn" — ví dụ ghi nhầm đơn giá trong hợp đồng.</a:t>
            </a:r>
          </a:p>
          <a:p>
            <a:r>
              <a:t>• Yêu cầu 4: đọc vài câu KHẨU NGỮ sai chuẩn cho lớp nhận diện ("mong anh chị thông cảm giúp em nha").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THỂ THỨC (5 phút) — SLIDE QUAN TRỌNG NHẤT HỌC PHẦN</a:t>
            </a:r>
          </a:p>
          <a:p>
            <a:r>
              <a:t>• Yêu cầu cả lớp CHỤP LẠI SLIDE NÀY.</a:t>
            </a:r>
          </a:p>
          <a:p>
            <a:r>
              <a:t>• Chỉ từng số trên sơ đồ theo thứ tự 1 → 9, mỗi thành phần nói vị trí + một lưu ý.</a:t>
            </a:r>
          </a:p>
          <a:p>
            <a:r>
              <a:t>• Nhấn thành phần 5: CÔNG VĂN KHÔNG CÓ TÊN LOẠI, trích yếu bắt đầu bằng "V/v".</a:t>
            </a:r>
          </a:p>
          <a:p>
            <a:r>
              <a:t>• Nhấn thành phần 9: nơi nhận LUÔN có dòng cuối "Lưu: VT".</a:t>
            </a:r>
          </a:p>
          <a:p>
            <a:r>
              <a:t>• Nói rõ: 3 buổi thực hành sắp tới đều chấm theo sơ đồ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CON SỐ (3 phút)</a:t>
            </a:r>
          </a:p>
          <a:p>
            <a:r>
              <a:t>• Đọc chậm từng con số, cho sinh viên ghi vào vở.</a:t>
            </a:r>
          </a:p>
          <a:p>
            <a:r>
              <a:t>• Mẹo nhớ LỀ TRÁI 30–35mm: rộng nhất vì để ĐÓNG GÁY LƯU TRỮ.</a:t>
            </a:r>
          </a:p>
          <a:p>
            <a:r>
              <a:t>• Nhấn: Times New Roman, Unicode, cỡ 13–14. Không dùng Arial, không dùng TCVN3.</a:t>
            </a:r>
          </a:p>
          <a:p>
            <a:r>
              <a:t>• Số trang: TỪ TRANG THỨ HAI, canh giữa LỀ TRÊN (nhiều bạn hay đặt ở dưới — sai).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CHUỖI VĂN BẢN (3 phút)</a:t>
            </a:r>
          </a:p>
          <a:p>
            <a:r>
              <a:t>• Chỉ vào sơ đồ chuỗi: từ tờ trình → quyết định → công văn → hợp đồng → nghiệm thu → thanh lý.</a:t>
            </a:r>
          </a:p>
          <a:p>
            <a:r>
              <a:t>• Nói rõ: bài thực hành số 2 làm phần đầu chuỗi, bài số 3 làm phần sau.</a:t>
            </a:r>
          </a:p>
          <a:p>
            <a:r>
              <a:t>• Hỏi lớp: "Nếu bỏ qua biên bản nghiệm thu thì rủi ro gì?" (không có căn cứ thanh toán).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QUYẾT ĐỊNH – TỜ TRÌNH (4 phút)</a:t>
            </a:r>
          </a:p>
          <a:p>
            <a:r>
              <a:t>• Quyết định: phần CĂN CỨ + phần các ĐIỀU. Điều cuối GHI HIỆU LỰC.</a:t>
            </a:r>
          </a:p>
          <a:p>
            <a:r>
              <a:t>• Lỗi hay gặp: dùng từ "đề nghị" trong quyết định — sai, phải dùng NGÔN NGỮ MỆNH LỆNH.</a:t>
            </a:r>
          </a:p>
          <a:p>
            <a:r>
              <a:t>• Tờ trình 3 phần: lý do → phương án → kiến nghị.</a:t>
            </a:r>
          </a:p>
          <a:p>
            <a:r>
              <a:t>• Nhấn: tờ trình phải có SỐ LIỆU và DỰ TOÁN, nếu không cấp trên không có cơ sở duyệt.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CÔNG VĂN – BIÊN BẢN – BÁO CÁO (4 phút)</a:t>
            </a:r>
          </a:p>
          <a:p>
            <a:r>
              <a:t>• Công văn: nhắc lại KHÔNG CÓ TÊN LOẠI; mỗi công văn MỘT CHỦ ĐỀ; kết thúc "Trân trọng./."</a:t>
            </a:r>
          </a:p>
          <a:p>
            <a:r>
              <a:t>• Biên bản: LẬP NGAY TẠI CHỖ; chữ ký các bên tạo GIÁ TRỊ PHÁP LÝ; người ghi KHÔNG thêm nhận xét chủ quan.</a:t>
            </a:r>
          </a:p>
          <a:p>
            <a:r>
              <a:t>• Báo cáo: mạch 4 phần. Nhấn: phải nêu cả HẠN CHẾ, đừng chỉ kể thành tích.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 TÍN – BÁO GIÁ (4 phút)</a:t>
            </a:r>
          </a:p>
          <a:p>
            <a:r>
              <a:t>• Nguyên tắc 5C: viết 5 chữ C lên bảng, giải nghĩa từng chữ bằng tiếng Việt.</a:t>
            </a:r>
          </a:p>
          <a:p>
            <a:r>
              <a:t>• Email: tiêu đề rõ, chữ ký đầy đủ, PHẢN HỒI TRONG 24 GIỜ.</a:t>
            </a:r>
          </a:p>
          <a:p>
            <a:r>
              <a:t>• Báo giá: nhấn mạnh THỜI HẠN HIỆU LỰC. Hỏi lớp vì sao cần — vì giá thị trường biến động, tránh bị ràng buộc giá cũ.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BỘ BA VĂN BẢN (4 phút)</a:t>
            </a:r>
          </a:p>
          <a:p>
            <a:r>
              <a:t>• Căn cứ pháp lý: Bộ luật Dân sự 2015 và Luật Thương mại 2005.</a:t>
            </a:r>
          </a:p>
          <a:p>
            <a:r>
              <a:t>• Điểm qua 5 điều khoản chính, nhấn PHẠT VI PHẠM và GIẢI QUYẾT TRANH CHẤP — hai điều sinh viên hay quên.</a:t>
            </a:r>
          </a:p>
          <a:p>
            <a:r>
              <a:t>• Nghiệm thu = căn cứ THANH TOÁN. Thanh lý = CHẤM DỨT hiệu lực và quyết toán.</a:t>
            </a:r>
          </a:p>
          <a:p>
            <a:r>
              <a:t>• Câu chốt: "Đủ bộ ba này thì hồ sơ thương vụ mới trọn vẹn về pháp lý."''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(20 phút)</a:t>
            </a:r>
          </a:p>
          <a:p>
            <a:r>
              <a:t>• Nối tiếp thương vụ đã đàm phán ở Chương 4 — nhắc lại tình huống 1 câu.</a:t>
            </a:r>
          </a:p>
          <a:p>
            <a:r>
              <a:t>• Nhóm 4–5 bạn, 15 phút làm, 5 phút trình bày.</a:t>
            </a:r>
          </a:p>
          <a:p>
            <a:r>
              <a:t>• Yêu cầu nhóm VẼ chuỗi văn bản lên giấy A3 kèm người ký từng văn bản.</a:t>
            </a:r>
          </a:p>
          <a:p>
            <a:r>
              <a:t>• Cô chốt bằng cách so sánh với sơ đồ chuẩn trên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Nhắc 3 điều, gọi sinh viên nhắc lại 9 thành phần thể thức.</a:t>
            </a:r>
          </a:p>
          <a:p>
            <a:r>
              <a:t>• Dặn kỹ chuẩn bị buổi thực hành: MANG LAPTOP, cài Word, tải NĐ 30/2020.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làm; nhấn câu về 9 thành phần thể thức sẽ có trong đề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nhắc mở học liệu số để xem văn bản mẫu trước buổi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CON SỐ (2 phút)</a:t>
            </a:r>
          </a:p>
          <a:p>
            <a:r>
              <a:t>• Đây là slide sinh viên phải THUỘC LÒNG — sẽ ra thi và dùng suốt 3 buổi thực hành.</a:t>
            </a:r>
          </a:p>
          <a:p>
            <a:r>
              <a:t>• Đọc chậm từng con số, yêu cầu cả lớp ghi vào vở.</a:t>
            </a:r>
          </a:p>
          <a:p>
            <a:r>
              <a:t>• Mẹo nhớ lề trái rộng nhất: để ĐÓNG GÁY.</a:t>
            </a:r>
          </a:p>
          <a:p>
            <a:r>
              <a:t>• Kiểm tra ngay: gọi 2 sinh viên nhắc lại không nhìn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nhắc: bài thực hành số 2 làm đúng năm loại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nhắc: bài thực hành số 3 làm đúng bộ hồ sơ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and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presenting documents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words to writing: turning every agreement into a properly formatted document with legal standing.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EC6000TX – Business Communication and Negotiation Skills (Distance Learning)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Lecture prepared for the distance-learning class. Please credit the source when reused.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this lesson, students will be able to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the concept of a document and distinguish the groups of documents within an organisation.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 —  the content requirements and the 9 formality components under Decree 30/2020/ND-CP.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decisions, proposals, official letters, minutes and reports with the correct structure.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commercial correspondence, quotations and contracts for business transactions.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cover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 —  The concept and classification of documents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 —  Content and formality requirements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 —  Drafting common administrative documents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  —  Drafting commercial documents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5.1 – 5.2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The concept, classification and formality of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The legal and technical foundation: what a document is, and what a correctly formatted page looks like.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EC6000TX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document?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understanding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is a means of recording and conveying information through language or symbols, formed in the activities of agencies, organisations and businesses.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definition — Decree 30/2020/ND-CP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document is written information conveyed in language or symbols, formed in the activities of agencies and organisations, and presented in the format and technique prescribed."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for management and administration • a legal basis for activities • a record of information • a reflection of the organisation's professional image.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Classifying documents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normative documents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 general rules of conduct, issued by a competent state agency: laws, decrees, circulars. Businesses don't issue these but must comply with them.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 documents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type — 29 types under Decree 30/2020: individual decisions, official letters, notices, reports, proposals, minutes…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documents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Formed within specific professional practice: accounting vouchers, technical dossiers, bidding dossiers.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documents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business transactions: commercial correspondence, quotations, purchase orders, contracts — covered in detail in section 5.4.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content requirements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purpose and authority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document focuses on one topic; it is issued within the agency's or organisation's proper function and mandate.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and objective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figures must be truthful, evidence-based and verified. A single wrong figure can create serious legal consequences.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concise and easy to understand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Sentences should be coherent and unambiguous; the reader should understand the drafter's intent on a single read.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Legally correct and in proper administrative language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with current regulations; a formal, polite style with no colloquial language.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nine formality components — Decree 30/2020/ND-CP</a:t>
            </a:r>
            <a:endParaRPr lang="en-US" sz="2700" dirty="0"/>
          </a:p>
        </p:txBody>
      </p:sp>
      <p:pic>
        <p:nvPicPr>
          <p:cNvPr id="9" name="Picture 8" descr="c5-the-thuc-a4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44815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technique — the figures you must know by heart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size and margins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size (210 × 297 mm). Top and bottom margins: 20 – 25 mm • left margin: 30 – 35 mm (for binding) • right margin: 15 – 20 mm.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New Roman, Unicode encoding, size 13 – 14, black.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numbers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from page two, in Arabic numerals, centred within the top margin.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Vietnamese; correct capitalisation and abbreviations; figures use Arabic numerals.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NUMBERS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Four numbers of a correctly formatted document page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A4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PAPER SIZE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210 × 297 mm — never use Letter size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30–35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MILLIMETRES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left margin, the widest one, for binding and filing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2492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13–14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FONT SIZE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Times New Roman, Unicode encoding, black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2278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9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COMPONENTS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number of mandatory formality components under Decree 30/2020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Top and bottom margins 20 – 25 mm • right margin 15 – 20 mm • page numbers from page two, centred within the top margin.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EC6000TX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5.3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Drafting common administrative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Five document types used every day in every agency and organisation.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EC6000TX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common administrative documents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148132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49541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The document chain for a business deal — students will draft this very chain in the practice sessions.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and proposals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concept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issued by a competent person to resolve a specific matter.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structure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grounds section (legal + practical, ending with a full stop) → the content, organised into Articles. The final Article states the effective date and who must comply.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— concept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proposing that a competent authority approve a policy, plan, project or course of action.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— 3-part structure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Opening: reason and necessity → Content: the plan, its benefits and feasibility → Closing: a request for approval. Dossiers and cost estimates are attached.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letters, minutes and reports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letters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no type name — only a number, symbol and summary. Types include: request, response, follow-up, guidance, explanation, meeting invitation. Each letter covers one topic; it closes with "Respectfully./."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on the spot, truthfully and objectively. Structure: time and place → attendees → proceedings and views → conclusion → the parties' signatures (what gives it legal validity).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• ad-hoc • thematic • review/summary. A 4-part flow: the situation → results achieved → limitations and causes → direction and recommendations.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5.4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Drafting commercial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Correspondence, quotations and contracts — the set of documents that carries a deal to completion.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EC6000TX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correspondence and quotations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correspondence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Inquiry, sales, order, confirmation, complaint and thank-you letters. Structure: opening – body – closing.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5C principle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• Concise • Correct • Complete • Courteous.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email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subject line matching the content; an appropriate salutation; a signature with full details; reply within 24 hours.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details • description of goods • quantity, unit price, tax • delivery and payment terms • a validity period (to avoid disputes when market prices move).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Contract, acceptance and liquidation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contracts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the 2015 Civil Code and the 2005 Commercial Law. Main clauses: subject matter; price and payment method; parties' rights and obligations; penalties; dispute resolution.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record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volume and quality of goods or services delivered — the basis for payment.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liquidation record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obligations are fulfilled, terminates the contract, and settles the remaining rights and obligations.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ACTIVITY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negotiation to contract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(groups of 4–5 students, 20 minutes)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the 20-computer purchase negotiated in Chapter 4: Company X's Admin Office must complete the entire paper trail for the deal, from the initial purchase proposal through to final payment.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TASKS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full chain of documents to draft, in chronological order, and state who signs each one.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document from the chain and sketch its full layout with all 9 formality components on A4 paper.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3 most common formatting mistakes your group expects students to make when drafting this document.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Formality is a document's "passport"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good the content, a document with the wrong format still gets sent back — know the 9 components and the presentation figures.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document type has its own structure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follow Articles; proposals have 3 parts; official letters have no type name; minutes are recorded on the spot; reports follow a 4-part flow.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documents protect a business's reputation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Correspondence following the 5Cs, a quotation with a clear validity period, a contract with full clauses — the contract/acceptance/liquidation trio closes out the deal.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concept of a document and the groups of documents within an organisation.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9 formality components of an administrative document and the rules on margins and fonts.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structure of a decision, a proposal and an official letter.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5C principle and the basic clauses of a commercial contract.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097280"/>
          </a:xfrm>
          <a:prstGeom prst="roundRect">
            <a:avLst>
              <a:gd name="adj" fmla="val 7500"/>
            </a:avLst>
          </a:prstGeom>
          <a:solidFill>
            <a:srgbClr val="FBEDE0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FOR NEXT SESSION:  Practice session in room A0105 — Lab 1: Document formality. Bring a laptop with Microsoft Word installed, and download Decree 30/2020/ND-CP in advance.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Business Communication Textbook,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legal document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Decree 30/2020/ND-CP dated 5 March 2020 on records and archival work — guiding the format and presentation technique for administrative documents.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document templates, case scenarios and exercises prepared by Instructor Đỗ Thùy Hương; shared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