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3" r:id="rId24"/>
    <p:sldId id="259" r:id="rId5"/>
    <p:sldId id="260" r:id="rId6"/>
    <p:sldId id="261" r:id="rId7"/>
    <p:sldId id="274" r:id="rId25"/>
    <p:sldId id="262" r:id="rId8"/>
    <p:sldId id="263" r:id="rId9"/>
    <p:sldId id="272" r:id="rId23"/>
    <p:sldId id="264" r:id="rId10"/>
    <p:sldId id="265" r:id="rId11"/>
    <p:sldId id="275" r:id="rId26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9.xml"/><Relationship Id="rId9" Type="http://schemas.openxmlformats.org/officeDocument/2006/relationships/slide" Target="slides/slide10.xml"/><Relationship Id="rId10" Type="http://schemas.openxmlformats.org/officeDocument/2006/relationships/slide" Target="slides/slide12.xml"/><Relationship Id="rId11" Type="http://schemas.openxmlformats.org/officeDocument/2006/relationships/slide" Target="slides/slide13.xml"/><Relationship Id="rId12" Type="http://schemas.openxmlformats.org/officeDocument/2006/relationships/slide" Target="slides/slide15.xml"/><Relationship Id="rId13" Type="http://schemas.openxmlformats.org/officeDocument/2006/relationships/slide" Target="slides/slide16.xml"/><Relationship Id="rId14" Type="http://schemas.openxmlformats.org/officeDocument/2006/relationships/slide" Target="slides/slide17.xml"/><Relationship Id="rId15" Type="http://schemas.openxmlformats.org/officeDocument/2006/relationships/slide" Target="slides/slide18.xml"/><Relationship Id="rId16" Type="http://schemas.openxmlformats.org/officeDocument/2006/relationships/slide" Target="slides/slide19.xml"/><Relationship Id="rId17" Type="http://schemas.openxmlformats.org/officeDocument/2006/relationships/slide" Target="slides/slide20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1.xml"/><Relationship Id="rId24" Type="http://schemas.openxmlformats.org/officeDocument/2006/relationships/slide" Target="slides/slide4.xml"/><Relationship Id="rId25" Type="http://schemas.openxmlformats.org/officeDocument/2006/relationships/slide" Target="slides/slide8.xml"/><Relationship Id="rId26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MỤC TIÊU (1 phút) — nhấn: cuối chương có role-play chấm điểm.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LỘ TRÌNH (1 phút) — khái niệm, tiến trình 5 giai đoạn, kỹ năng.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KHÁI NIỆM (3 phút)</a:t>
            </a:r>
          </a:p>
          <a:p>
            <a:r>
              <a:t>• Nhấn BẢN CHẤT KÉP: vừa hợp tác (để chiếc bánh tồn tại) vừa cạnh tranh (khi chia bánh).</a:t>
            </a:r>
          </a:p>
          <a:p>
            <a:r>
              <a:t>• Ba nguồn sức mạnh: THÔNG TIN – THỜI GIAN – THẾ LỰC (số lựa chọn thay thế).</a:t>
            </a:r>
          </a:p>
          <a:p>
            <a:r>
              <a:t>• Ví dụ: người đang cần bán gấp luôn ở thế yếu — vì sao? (sức mạnh thời gian).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ĐẶC ĐIỂM (2 phút)</a:t>
            </a:r>
          </a:p>
          <a:p>
            <a:r>
              <a:t>• 5 đặc điểm, đi nhanh.</a:t>
            </a:r>
          </a:p>
          <a:p>
            <a:r>
              <a:t>• Nhấn đặc điểm THỎA THUẬN PHẢI ĐƯỢC VĂN BẢN HÓA — nối thẳng sang Chương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CÁC KIỂU ĐÀM PHÁN (4 phút)</a:t>
            </a:r>
          </a:p>
          <a:p>
            <a:r>
              <a:t>• Kiểu MỀM – CỨNG – NGUYÊN TẮC. Vẽ bảng so sánh 3 cột lên bảng.</a:t>
            </a:r>
          </a:p>
          <a:p>
            <a:r>
              <a:t>• Hỏi lớp: "Người Việt mình hay đàm phán theo kiểu nào?" (thường là mềm — ngại mất lòng).</a:t>
            </a:r>
          </a:p>
          <a:p>
            <a:r>
              <a:t>• Nhấn kiểu NGUYÊN TẮC (Harvard): TÁCH CON NGƯỜI KHỎI VẤN ĐỀ; tập trung LỢI ÍCH chứ không cố thủ LẬP TRƯỜNG.</a:t>
            </a:r>
          </a:p>
          <a:p>
            <a:r>
              <a:t>• Ví dụ kinh điển: hai chị em tranh quả cam — một người cần vỏ làm bánh, một người cần ruột vắt nước. Cắt đôi là giải pháp tồi. Hỏi lợi ích mới ra giải pháp tốt.</a:t>
            </a:r>
          </a:p>
          <a:p>
            <a:r>
              <a:t>• Phân bổ ↔ tích hợp: làm chiếc bánh LỚN HƠN nhờ khác biệt về ưu tiên.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CHUẨN BỊ: BATNA – ZOPA (5 phút) — PHẦN KHÓ NHẤT CHƯƠNG</a:t>
            </a:r>
          </a:p>
          <a:p>
            <a:r>
              <a:t>• Mục tiêu 3 mức: LÝ TƯỞNG – KỲ VỌNG – TỐI THIỂU. Bắt sinh viên VIẾT RA GIẤY trước khi vào bàn.</a:t>
            </a:r>
          </a:p>
          <a:p>
            <a:r>
              <a:t>• BATNA: giải thích chậm bằng ví dụ xin việc — bạn có sẵn một lời mời khác thì bạn tự tin hơn hẳn.</a:t>
            </a:r>
          </a:p>
          <a:p>
            <a:r>
              <a:t>• Nhấn: BATNA MẠNH thì thế đàm phán vững; BATNA YẾU thì ĐỪNG ĐỂ LỘ.</a:t>
            </a:r>
          </a:p>
          <a:p>
            <a:r>
              <a:t>• ZOPA: chỉ vào sơ đồ trên slide, đi theo trục tiền từ trái sang phải.</a:t>
            </a:r>
          </a:p>
          <a:p>
            <a:r>
              <a:t>• Câu hỏi cho lớp: "Nếu không có ZOPA thì làm gì?" — đáp: mở rộng chiếc bánh (đổi số lượng, tiến độ, dịch vụ kèm), đừng ép giá.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THƯƠNG LƯỢNG (4 phút)</a:t>
            </a:r>
          </a:p>
          <a:p>
            <a:r>
              <a:t>• Neo tâm lý: đề nghị đầu tiên CÓ CĂN CỨ sẽ định hình cả cuộc đàm phán.</a:t>
            </a:r>
          </a:p>
          <a:p>
            <a:r>
              <a:t>• Khi bị neo: phản hồi bằng câu hỏi "Dựa trên cơ sở nào ạ?" — cho lớp tập nói câu này.</a:t>
            </a:r>
          </a:p>
          <a:p>
            <a:r>
              <a:t>• NHƯỢNG BỘ CÓ ĐIỀU KIỆN: "Nếu anh tăng số lượng lên 500, chúng tôi giảm 3%." Không bao giờ cho không.</a:t>
            </a:r>
          </a:p>
          <a:p>
            <a:r>
              <a:t>• Nhượng bộ NHỎ DẦN để phát tín hiệu đã chạm giới hạn.</a:t>
            </a:r>
          </a:p>
          <a:p>
            <a:r>
              <a:t>• Bế tắc: tạm nghỉ – đổi người/vấn đề/cách tiếp cận – quay về lợi ích gốc – đưa tiêu chí khách quan.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KẾT THÚC (3 phút)</a:t>
            </a:r>
          </a:p>
          <a:p>
            <a:r>
              <a:t>• Tín hiệu chốt: đối phương hỏi chi tiết TRIỂN KHAI, thanh toán, thời gian giao hàng.</a:t>
            </a:r>
          </a:p>
          <a:p>
            <a:r>
              <a:t>• Nhấn: TÓM TẮT VÀ VĂN BẢN HÓA NGAY — biên bản ghi nhớ hoặc hợp đồng.</a:t>
            </a:r>
          </a:p>
          <a:p>
            <a:r>
              <a:t>• Sau đàm phán: thực hiện đúng cam kết, giữ quan hệ, rút kinh nghiệm.</a:t>
            </a:r>
          </a:p>
          <a:p>
            <a:r>
              <a:t>• Câu chốt: "Đàm phán xong mà không có giấy tờ thì coi như chưa xong."''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KỸ NĂNG (3 phút)</a:t>
            </a:r>
          </a:p>
          <a:p>
            <a:r>
              <a:t>• Nghe nhiều hơn nói; IM LẶNG ĐÚNG LÚC là vũ khí.</a:t>
            </a:r>
          </a:p>
          <a:p>
            <a:r>
              <a:t>• Thuyết phục bằng NGÔN NGỮ LỢI ÍCH CỦA ĐỐI PHƯƠNG, kèm số liệu và tiền lệ.</a:t>
            </a:r>
          </a:p>
          <a:p>
            <a:r>
              <a:t>• Kiểm soát cảm xúc: "tức giận là nhượng quyền kiểm soát cho đối phương".</a:t>
            </a:r>
          </a:p>
          <a:p>
            <a:r>
              <a:t>• Êkíp: phân vai trưởng đoàn – chuyên môn – ghi chép; TUYỆT ĐỐI không mâu thuẫn nội bộ trước mặt đối tác.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CHIÊU TRÒ (4 phút) — SINH VIÊN RẤT HỨNG THÚ</a:t>
            </a:r>
          </a:p>
          <a:p>
            <a:r>
              <a:t>• Điểm qua 5 chiêu: neo giá sốc, người tốt – kẻ xấu, thời hạn chót giả, CẮT LÁT SALAMI, đòi hỏi phút chót.</a:t>
            </a:r>
          </a:p>
          <a:p>
            <a:r>
              <a:t>• Salami: giải thích kỹ vì hay gặp nhất — đòi thêm từng chút sau khi đã thỏa thuận. Ứng phó: GÓI TOÀN BỘ điều khoản lại.</a:t>
            </a:r>
          </a:p>
          <a:p>
            <a:r>
              <a:t>• Đòi hỏi phút chót: ĐỊNH GIÁ yêu cầu đó và đòi đối ứng tương xứng, đừng chiều để cho xong.</a:t>
            </a:r>
          </a:p>
          <a:p>
            <a:r>
              <a:t>• Hỏi lớp: ai từng bị "chốt gấp trong hôm nay" khi mua hàng online?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ROLE-PLAY (20 phút) — HOẠT ĐỘNG CHÍNH CỦA BUỔI</a:t>
            </a:r>
          </a:p>
          <a:p>
            <a:r>
              <a:t>• Chia cặp mua – bán, phát phiếu thông tin riêng cho mỗi bên (có ngân sách và giá sàn khác nhau).</a:t>
            </a:r>
          </a:p>
          <a:p>
            <a:r>
              <a:t>• 5 phút chuẩn bị: bắt buộc viết ra mục tiêu 3 mức và BATNA.</a:t>
            </a:r>
          </a:p>
          <a:p>
            <a:r>
              <a:t>• 10 phút đàm phán, 5 phút chốt và rút kinh nghiệm.</a:t>
            </a:r>
          </a:p>
          <a:p>
            <a:r>
              <a:t>• Cô đi quanh lớp quan sát, ghi lại 2–3 tình huống hay để phân tích chung.</a:t>
            </a:r>
          </a:p>
          <a:p>
            <a:r>
              <a:t>• Chốt: hỏi các cặp đạt thỏa thuận xem họ đã mở rộng chiếc bánh bằng cách nào.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TỔNG KẾT (2 phút)</a:t>
            </a:r>
          </a:p>
          <a:p>
            <a:r>
              <a:t>• Nhấn lại: thắng từ trước khi ngồi vào bàn; đàm phán về LỢI ÍCH; văn bản hóa kết quả.</a:t>
            </a:r>
          </a:p>
          <a:p>
            <a:r>
              <a:t>• Giao việc: 40 câu trắc nghiệm Chương 4; đọc trước Chương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ÔN TẬP (1 phút) — tự làm ở nhà.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TÀI LIỆU (1 phút) — nhắc tải Nghị định 30/2020 cho buổi sau.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 SỐ CHUẨN BỊ (2 phút)</a:t>
            </a:r>
          </a:p>
          <a:p>
            <a:r>
              <a:t>• Nhấn 70% — đây là con số sinh viên hay bất ngờ.</a:t>
            </a:r>
          </a:p>
          <a:p>
            <a:r>
              <a:t>• Liên hệ: bài role-play cuối buổi sẽ chấm phần chuẩn bị (mục tiêu 3 mức + BATNA viết ra giấy).</a:t>
            </a:r>
          </a:p>
          <a:p>
            <a:r>
              <a:t>• Câu chốt đọc chậm: "Không chuẩn bị chính là chuẩn bị để nhượng bộ."''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CHUYỂN MỤC (30 giây).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TIẾN TRÌNH 5 GIAI ĐOẠN (2 phút)</a:t>
            </a:r>
          </a:p>
          <a:p>
            <a:r>
              <a:t>• Đi lướt 5 giai đoạn, dừng lại ở giai đoạn 1.</a:t>
            </a:r>
          </a:p>
          <a:p>
            <a:r>
              <a:t>• Nói con số: CHUẨN BỊ QUYẾT ĐỊNH 70% KẾT QUẢ.</a:t>
            </a:r>
          </a:p>
          <a:p>
            <a:r>
              <a:t>• Câu chốt: "Không chuẩn bị chính là chuẩn bị để nhượng bộ."''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CHUYỂN MỤC (30 giây).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Relationship Id="rId5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C756A"/>
          </a:solidFill>
          <a:ln/>
        </p:spPr>
        <p:txBody>
          <a:bodyPr/>
          <a:p/>
        </p:txBody>
      </p:sp>
      <p:pic>
        <p:nvPicPr>
          <p:cNvPr id="3" name="Image 0" descr="assets/logo_tron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8549640" y="1417320"/>
            <a:ext cx="3200400" cy="3200400"/>
          </a:xfrm>
          <a:prstGeom prst="rect">
            <a:avLst/>
          </a:prstGeom>
        </p:spPr>
      </p:pic>
      <p:pic>
        <p:nvPicPr>
          <p:cNvPr id="4" name="Image 1" descr="assets/logo_nga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11480"/>
            <a:ext cx="2834640" cy="11887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5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1800" dirty="0"/>
          </a:p>
        </p:txBody>
      </p:sp>
      <p:sp>
        <p:nvSpPr>
          <p:cNvPr id="6" name="Shape 2"/>
          <p:cNvSpPr/>
          <p:nvPr/>
        </p:nvSpPr>
        <p:spPr>
          <a:xfrm>
            <a:off x="822960" y="2487168"/>
            <a:ext cx="1371600" cy="41148"/>
          </a:xfrm>
          <a:prstGeom prst="rect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822960" y="2697480"/>
            <a:ext cx="7589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Negotiation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business</a:t>
            </a:r>
            <a:endParaRPr lang="en-US" sz="3800" dirty="0"/>
          </a:p>
        </p:txBody>
      </p:sp>
      <p:sp>
        <p:nvSpPr>
          <p:cNvPr id="8" name="Text 4"/>
          <p:cNvSpPr/>
          <p:nvPr/>
        </p:nvSpPr>
        <p:spPr>
          <a:xfrm>
            <a:off x="822960" y="443484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 of reaching a deal without losing the relationship — the most directly profitable skill for anyone in business.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22960" y="534924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Đỗ Thùy Hương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EC1103 – Business Communication and Document Drafting Skills (2:1)  •  Class 261b, Semester 1, 2026 – 2027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Đỗ Thùy Hương, 2026 — Lecture prepared for the in-person class. Please credit the source when reused.</a:t>
            </a:r>
            <a:endParaRPr lang="en-US" sz="900" dirty="0"/>
          </a:p>
        </p:txBody>
      </p:sp>
      <p:pic>
        <p:nvPicPr>
          <p:cNvPr id="11" name="Picture 10" descr="co-huong-do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0" y="1051560"/>
            <a:ext cx="3279624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tr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Instructor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this chapter, students will be able to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61848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0292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154533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 —  the concept, features and styles of business negotiation.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2920" y="257860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2920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250545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 —  the 5-stage negotiation process and the key task of each stage.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353872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0292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346557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 —  basic negotiation skills: preparing a BATNA, questioning, and conditional concessions.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449884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02920" y="4498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442569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 —  common negotiation tactics and how to respond professionally.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tr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Instructor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cover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61848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0292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1545336"/>
            <a:ext cx="10652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 —  Concept, features and styles of business negotiation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2920" y="289864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2920" y="2898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2825496"/>
            <a:ext cx="10652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 —  The five-stage negotiation process, from preparation to follow-up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417880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0292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4105656"/>
            <a:ext cx="10652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 —  Negotiation skills and recognising common tactics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03120"/>
            <a:ext cx="12191695" cy="2743200"/>
          </a:xfrm>
          <a:prstGeom prst="rect">
            <a:avLst/>
          </a:prstGeom>
          <a:solidFill>
            <a:srgbClr val="FD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C7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377440"/>
            <a:ext cx="9692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C756A"/>
                </a:solidFill>
                <a:latin typeface="Calibri"/>
              </a:rPr>
              <a:t>SECTION 4.1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78892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AC4D33"/>
                </a:solidFill>
                <a:latin typeface="Cambria"/>
              </a:rPr>
              <a:t>The concept and styles of negotiation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224528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i="1">
                <a:solidFill>
                  <a:srgbClr val="8A7A76"/>
                </a:solidFill>
                <a:latin typeface="Calibri"/>
              </a:rPr>
              <a:t>Understand negotiation's dual nature: both cooperative and competitive.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772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7A76"/>
                </a:solidFill>
                <a:latin typeface="Calibri"/>
              </a:rPr>
              <a:t>Je m'appelle Huong  •  Instructor Đỗ Thùy Hương  •  EC1103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19088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A7A76"/>
                </a:solidFill>
                <a:latin typeface="Calibri"/>
              </a:rPr>
              <a:t>Chapter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tr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Instructor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negotiation?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472184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 is a process where parties with both shared and conflicting interests exchange and persuade to reach an agreement acceptable to all.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" y="3072384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22376" y="3127248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nature: cooperation + competition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Cooperate so the "pie" exists and grows; compete when dividing it up — forgetting either half means failure.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4727448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4782312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sources of power at the table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(who understands the other side better) • Time (who is under less pressure to finish) • Leverage (who has more alternatives).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tr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Instructor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of business negotiation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57276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0292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1499616"/>
            <a:ext cx="106527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Centred on economic interest  —  every final term boils down to each side's value, cost and risk.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2920" y="2514600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292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2441448"/>
            <a:ext cx="106527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Parties are both dependent and independent  —  they need each other to reach a deal, yet each always has its own alternative.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3456432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02920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3383280"/>
            <a:ext cx="106527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Agreements must be documented  —  a negotiated outcome is only safe once it becomes a properly formatted contract — the bridge to Chapter 5.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4398264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02920" y="4398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4325112"/>
            <a:ext cx="106527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by limits  —  time, authority, budget; a good negotiator knows their own limits and estimates the other side's.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02920" y="5340096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502920" y="5340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51560" y="5266944"/>
            <a:ext cx="106527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Shaped by culture and relationships  —  negotiating styles differ between Asia and the West; a one-off deal differs from a long-term partnership.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tr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Instructor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Negotiation styles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49047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negotiation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the other side as a friend, concedes easily to preserve the relationship — reaches agreement fast but loses out against a hard negotiator.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195060" y="141732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414516" y="149047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negotiation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the other side as an adversary, pressures them, holds its position to the end — may win once but wrecks the relationship and often deadlocks.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390906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398221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Principled negotiation (Harvard)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the people from the problem; focus on interests, not positions; invent options for mutual gain; insist on objective criteria.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195060" y="390906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414516" y="398221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Distributive  ↔  Integrative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Distributive: dividing a fixed pie (win – lose). Integrative: growing the pie by exploiting differing priorities — aiming for a win-win.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03120"/>
            <a:ext cx="12191695" cy="2743200"/>
          </a:xfrm>
          <a:prstGeom prst="rect">
            <a:avLst/>
          </a:prstGeom>
          <a:solidFill>
            <a:srgbClr val="FD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C7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377440"/>
            <a:ext cx="9692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C756A"/>
                </a:solidFill>
                <a:latin typeface="Calibri"/>
              </a:rPr>
              <a:t>SECTION 4.2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78892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AC4D33"/>
                </a:solidFill>
                <a:latin typeface="Cambria"/>
              </a:rPr>
              <a:t>The five-stage negotiation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224528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i="1">
                <a:solidFill>
                  <a:srgbClr val="8A7A76"/>
                </a:solidFill>
                <a:latin typeface="Calibri"/>
              </a:rPr>
              <a:t>Seventy percent of the outcome is decided before both sides sit down at the table.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772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7A76"/>
                </a:solidFill>
                <a:latin typeface="Calibri"/>
              </a:rPr>
              <a:t>Je m'appelle Huong  •  Instructor Đỗ Thùy Hương  •  EC1103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19088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A7A76"/>
                </a:solidFill>
                <a:latin typeface="Calibri"/>
              </a:rPr>
              <a:t>Chapter 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tr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Instructor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negotiation process: 5 stages</a:t>
            </a:r>
            <a:endParaRPr lang="en-US" sz="2700" dirty="0"/>
          </a:p>
        </p:txBody>
      </p:sp>
      <p:pic>
        <p:nvPicPr>
          <p:cNvPr id="9" name="Picture 8" descr="c4-tien-trinh-dam-phan-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287" y="1481328"/>
            <a:ext cx="11247120" cy="410882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tr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Instructor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preparation stage — your most important weapon</a:t>
            </a:r>
            <a:endParaRPr lang="en-US" sz="2700" dirty="0"/>
          </a:p>
        </p:txBody>
      </p:sp>
      <p:pic>
        <p:nvPicPr>
          <p:cNvPr id="9" name="Picture 8" descr="c4-batna-zopa-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649" y="1481328"/>
            <a:ext cx="10440397" cy="378685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341335"/>
            <a:ext cx="11109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i="1">
                <a:solidFill>
                  <a:srgbClr val="8A7A76"/>
                </a:solidFill>
                <a:latin typeface="Calibri"/>
              </a:rPr>
              <a:t>Whether the ZOPA is narrow or wide depends on both sides' real limits — prepare well to know where you stand on that range.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DC756A"/>
                </a:solidFill>
                <a:latin typeface="Calibri"/>
              </a:rPr>
              <a:t>THE NUMBER TO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3A2B28"/>
                </a:solidFill>
                <a:latin typeface="Cambria"/>
              </a:rPr>
              <a:t>Why does preparation matter so much?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83080"/>
            <a:ext cx="3575304" cy="3429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FBCE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 bIns="182880"/>
          <a:lstStyle/>
          <a:p>
            <a:pPr algn="ctr"/>
            <a:r>
              <a:rPr sz="5800" b="1">
                <a:solidFill>
                  <a:srgbClr val="DC756A"/>
                </a:solidFill>
                <a:latin typeface="Cambria"/>
              </a:rPr>
              <a:t>70%</a:t>
            </a:r>
          </a:p>
          <a:p>
            <a:pPr algn="ctr"/>
            <a:r>
              <a:rPr sz="1400" b="1">
                <a:solidFill>
                  <a:srgbClr val="AC4D33"/>
                </a:solidFill>
                <a:latin typeface="Calibri"/>
              </a:rPr>
              <a:t>OF THE OUTCOME</a:t>
            </a:r>
          </a:p>
          <a:p>
            <a:pPr algn="ctr">
              <a:spcBef>
                <a:spcPts val="1200"/>
              </a:spcBef>
            </a:pPr>
            <a:r>
              <a:rPr sz="1250">
                <a:solidFill>
                  <a:srgbClr val="3A2B28"/>
                </a:solidFill>
                <a:latin typeface="Calibri"/>
              </a:rPr>
              <a:t>is decided during preparation, before both sides even sit down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5968" y="1783080"/>
            <a:ext cx="3575304" cy="3429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FBCE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 bIns="182880"/>
          <a:lstStyle/>
          <a:p>
            <a:pPr algn="ctr"/>
            <a:r>
              <a:rPr sz="5800" b="1">
                <a:solidFill>
                  <a:srgbClr val="DC756A"/>
                </a:solidFill>
                <a:latin typeface="Cambria"/>
              </a:rPr>
              <a:t>3</a:t>
            </a:r>
          </a:p>
          <a:p>
            <a:pPr algn="ctr"/>
            <a:r>
              <a:rPr sz="1400" b="1">
                <a:solidFill>
                  <a:srgbClr val="AC4D33"/>
                </a:solidFill>
                <a:latin typeface="Calibri"/>
              </a:rPr>
              <a:t>TARGET LEVELS</a:t>
            </a:r>
          </a:p>
          <a:p>
            <a:pPr algn="ctr">
              <a:spcBef>
                <a:spcPts val="1200"/>
              </a:spcBef>
            </a:pPr>
            <a:r>
              <a:rPr sz="1250">
                <a:solidFill>
                  <a:srgbClr val="3A2B28"/>
                </a:solidFill>
                <a:latin typeface="Calibri"/>
              </a:rPr>
              <a:t>Ideal – Expected – Minimum: must be written down before negotiating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29016" y="1783080"/>
            <a:ext cx="3575304" cy="3429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FBCE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 bIns="182880"/>
          <a:lstStyle/>
          <a:p>
            <a:pPr algn="ctr"/>
            <a:r>
              <a:rPr sz="5800" b="1">
                <a:solidFill>
                  <a:srgbClr val="DC756A"/>
                </a:solidFill>
                <a:latin typeface="Cambria"/>
              </a:rPr>
              <a:t>1</a:t>
            </a:r>
          </a:p>
          <a:p>
            <a:pPr algn="ctr"/>
            <a:r>
              <a:rPr sz="1400" b="1">
                <a:solidFill>
                  <a:srgbClr val="AC4D33"/>
                </a:solidFill>
                <a:latin typeface="Calibri"/>
              </a:rPr>
              <a:t>BATNA</a:t>
            </a:r>
          </a:p>
          <a:p>
            <a:pPr algn="ctr">
              <a:spcBef>
                <a:spcPts val="1200"/>
              </a:spcBef>
            </a:pPr>
            <a:r>
              <a:rPr sz="1250">
                <a:solidFill>
                  <a:srgbClr val="3A2B28"/>
                </a:solidFill>
                <a:latin typeface="Calibri"/>
              </a:rPr>
              <a:t>Best alternative to a negotiated agreement — the real source of power at the 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440680"/>
            <a:ext cx="11201400" cy="685800"/>
          </a:xfrm>
          <a:prstGeom prst="roundRect">
            <a:avLst>
              <a:gd name="adj" fmla="val 12000"/>
            </a:avLst>
          </a:prstGeom>
          <a:solidFill>
            <a:srgbClr val="FDF1EF"/>
          </a:solidFill>
          <a:ln w="12700">
            <a:solidFill>
              <a:srgbClr val="FBCE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ctr"/>
            <a:r>
              <a:rPr sz="1300">
                <a:solidFill>
                  <a:srgbClr val="3A2B28"/>
                </a:solidFill>
                <a:latin typeface="Calibri"/>
              </a:rPr>
              <a:t>The chapter's defining line: "Failing to prepare is preparing to concede."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772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7A76"/>
                </a:solidFill>
                <a:latin typeface="Calibri"/>
              </a:rPr>
              <a:t>Je m'appelle Huong  •  Instructor Đỗ Thùy Hương  •  EC1103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19088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A7A76"/>
                </a:solidFill>
                <a:latin typeface="Calibri"/>
              </a:rPr>
              <a:t>Chapter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tr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Instructor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Opening and bargaining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11201400" cy="1076706"/>
          </a:xfrm>
          <a:prstGeom prst="roundRect">
            <a:avLst>
              <a:gd name="adj" fmla="val 7643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472184"/>
            <a:ext cx="10762488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the mood and probing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minutes of proper small talk; observe their attitude; ask open questions so the other side reveals their needs and limits before you name a price.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" y="2658618"/>
            <a:ext cx="11201400" cy="1076706"/>
          </a:xfrm>
          <a:prstGeom prst="roundRect">
            <a:avLst>
              <a:gd name="adj" fmla="val 7643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22376" y="2713482"/>
            <a:ext cx="10762488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offers and bargaining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well-grounded first offer (a psychological anchor); respond to their offer with "on what basis?" instead of accepting or rejecting immediately.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3899916"/>
            <a:ext cx="11201400" cy="1076706"/>
          </a:xfrm>
          <a:prstGeom prst="roundRect">
            <a:avLst>
              <a:gd name="adj" fmla="val 7643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3954780"/>
            <a:ext cx="10762488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concessions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give anything for free: "If you raise the quantity to 500, we'll cut 3%." Make concessions progressively smaller to signal you're nearing your limit.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02920" y="5141214"/>
            <a:ext cx="11201400" cy="1076706"/>
          </a:xfrm>
          <a:prstGeom prst="roundRect">
            <a:avLst>
              <a:gd name="adj" fmla="val 7643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722376" y="5196078"/>
            <a:ext cx="10762488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deadlock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break; change the person, the issue, or the approach; return to the underlying interests; bring in objective criteria (market price, regulations) as an arbiter.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tr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Instructor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Closing and after the negotiation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472184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Recognising when to close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side asks about implementation details, payment terms, delivery time — a readiness signal; summarise the deal and ask them to confirm.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" y="3072384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22376" y="3127248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it immediately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verbal agreement isn't the end: draw up a memorandum, draft a contract with all the basic terms — the drafting technique covered in Chapter 5 and the practice sessions.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4727448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4782312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negotiation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on commitments — it builds credibility for next time; stay in touch with the partner; hold a team debrief: what worked, what to do differently.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03120"/>
            <a:ext cx="12191695" cy="2743200"/>
          </a:xfrm>
          <a:prstGeom prst="rect">
            <a:avLst/>
          </a:prstGeom>
          <a:solidFill>
            <a:srgbClr val="FD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C7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377440"/>
            <a:ext cx="9692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C756A"/>
                </a:solidFill>
                <a:latin typeface="Calibri"/>
              </a:rPr>
              <a:t>SECTION 4.3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78892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AC4D33"/>
                </a:solidFill>
                <a:latin typeface="Cambria"/>
              </a:rPr>
              <a:t>Skills and tactics at the negotiating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224528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i="1">
                <a:solidFill>
                  <a:srgbClr val="8A7A76"/>
                </a:solidFill>
                <a:latin typeface="Calibri"/>
              </a:rPr>
              <a:t>What to train, and what to recognise so you don't get played.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772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7A76"/>
                </a:solidFill>
                <a:latin typeface="Calibri"/>
              </a:rPr>
              <a:t>Je m'appelle Huong  •  Instructor Đỗ Thùy Hương  •  EC1103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19088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A7A76"/>
                </a:solidFill>
                <a:latin typeface="Calibri"/>
              </a:rPr>
              <a:t>Chapter 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tr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Instructor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Foundational negotiation skills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49047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and questioning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more than you talk; ask open questions to find real interests; use silence at the right moment — many concessions happen simply because the other side can't bear the silence.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195060" y="141732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414516" y="149047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Persuading with interests and evidence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in terms of the other side's interests; back it up with data, precedent and objective rules instead of emotional arguing.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390906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398221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Controlling emotions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calm under provocation; separate the person from the problem; getting angry hands control over to the other side.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195060" y="390906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414516" y="398221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as a team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roles — lead, expert, note-taker; agree on internal signals; never disagree with each other in front of the other side.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tr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Instructor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Recognising common tactics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57276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0292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1499616"/>
            <a:ext cx="106527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anchoring  —  opening with an unusually high/low offer to shift our expectations — counter: stick to objective criteria, don't rush to adjust your target.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2920" y="2514600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292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2441448"/>
            <a:ext cx="106527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cop, bad cop  —  one person is harsh, another "nice" one steps in to save the day — recognise it and negotiate on substance only.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3456432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02920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3383280"/>
            <a:ext cx="106527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deadline  —  "only today" to force a hasty decision — verify if it's real, and be ready to walk away if you have a BATNA.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4398264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02920" y="4398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4325112"/>
            <a:ext cx="106527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Salami slicing  —  asking for small extras one at a time after the deal is set — bundle every term back together: "reopen this and the whole package reopens".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02920" y="5340096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502920" y="5340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51560" y="5266944"/>
            <a:ext cx="106527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Last-minute demand  —  adding a request right before signing — calmly price that request and demand something equivalent in return.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tr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Instructor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ACTIVITY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Role-play: negotiating an equipment purchase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11201400" cy="2103120"/>
          </a:xfrm>
          <a:prstGeom prst="roundRect">
            <a:avLst>
              <a:gd name="adj" fmla="val 4348"/>
            </a:avLst>
          </a:prstGeom>
          <a:solidFill>
            <a:srgbClr val="FBEDE0"/>
          </a:solidFill>
          <a:ln w="15875">
            <a:solidFill>
              <a:srgbClr val="C9A22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49808" y="1508760"/>
            <a:ext cx="10698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(2 groups/pairs, 25 minutes; each side gets its own "confidential brief" from the instructor)</a:t>
            </a:r>
            <a:endParaRPr lang="en-US" sz="1500" dirty="0"/>
          </a:p>
          <a:p>
            <a:pPr indent="0" marL="0">
              <a:buNone/>
            </a:pPr>
            <a:r>
              <a:rPr lang="en-US" sz="1350" i="1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X needs to buy 20 computers for a new office, with a maximum budget of 240 million VND and a 3-week deadline. Supplier Y wants a good price but is holding old-model stock and wants a long-term maintenance contract. Neither side knows the other's limits yet.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02920" y="3749040"/>
            <a:ext cx="11201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TASKS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02920" y="417880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292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4105656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side gets 10 minutes to prepare: set 3-level targets, a BATNA and a concession strategy based on the brief provided.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486460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02920" y="4864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4791456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 for 10 minutes in front of the class; observing groups note down: the anchor offer, the concessions, any tactics used.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555040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02920" y="5550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5477256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 analyses: where does the deal fall within the ZOPA? Which side prepared better, and why?</a:t>
            </a:r>
            <a:endParaRPr lang="en-US" sz="1400" dirty="0"/>
          </a:p>
        </p:txBody>
      </p:sp>
      <p:pic>
        <p:nvPicPr>
          <p:cNvPr id="21" name="Picture 20" descr="co-huong-tr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8440" y="384048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tr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Instructor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 to remember from this chapter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517904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Negotiations are won before you sit down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3-level targets + a BATNA + understanding the other side = 70% of the outcome; failing to prepare is preparing to concede.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" y="3118104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22376" y="3172968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 interests, don't dig in on positions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"why" to find the real interest; every concession comes with a condition; aim for a deal both sides can actually deliver.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4773168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4828032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agreement is only safe once it's in writing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closed, it must be documented as a properly formatted contract — that's the subject of Chapter 5: Drafting and presenting documents.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tr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Instructor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PREPARATION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questions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57276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0292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1499616"/>
            <a:ext cx="10652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soft, hard and principled negotiation; when should each be used?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2920" y="239572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2920" y="2395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2322576"/>
            <a:ext cx="10652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BATNA and ZOPA? Build a BATNA for a student's room-rental scenario.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321868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0292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3145536"/>
            <a:ext cx="10652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5 stages of the negotiation process and the main task of each stage.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404164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02920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3968496"/>
            <a:ext cx="10652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3 common negotiation tactics and how to counter them.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02920" y="5074920"/>
            <a:ext cx="11201400" cy="1143000"/>
          </a:xfrm>
          <a:prstGeom prst="roundRect">
            <a:avLst>
              <a:gd name="adj" fmla="val 7200"/>
            </a:avLst>
          </a:prstGeom>
          <a:solidFill>
            <a:srgbClr val="FBF3E2"/>
          </a:solidFill>
          <a:ln w="12700">
            <a:solidFill>
              <a:srgbClr val="C9A227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777240" y="512064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FOR NEXT SESSION:  Chapter 5 – Drafting and presenting documents: read Decree 30/2020/ND-CP in advance (the section on document formality); the practice session will draft a contract for the very deal negotiated today.</a:t>
            </a:r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tr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Instructor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materials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1201400" cy="1322832"/>
          </a:xfrm>
          <a:prstGeom prst="roundRect">
            <a:avLst>
              <a:gd name="adj" fmla="val 62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517904"/>
            <a:ext cx="10762488" cy="1213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textbook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 Nam Khánh Giao (2023), Business Communication Textbook, Finance Publishing House.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" y="2950464"/>
            <a:ext cx="11201400" cy="1322832"/>
          </a:xfrm>
          <a:prstGeom prst="roundRect">
            <a:avLst>
              <a:gd name="adj" fmla="val 62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22376" y="3005328"/>
            <a:ext cx="10762488" cy="1213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reading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Thái Trí Dũng (2012), Communication and Negotiation Skills in Business, Labour – Social Affairs Publishing House.  •  Decree 30/2020/ND-CP on records and archival work (used for Chapter 5 and the practice sessions).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4437888"/>
            <a:ext cx="11201400" cy="1322832"/>
          </a:xfrm>
          <a:prstGeom prst="roundRect">
            <a:avLst>
              <a:gd name="adj" fmla="val 62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4492752"/>
            <a:ext cx="10762488" cy="1213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Instructor's own materials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Slides, case scenarios and exercises prepared by Instructor Đỗ Thùy Hương; shared after each session in the class group.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 panose="020F0302020204030204"/>
        <a:ea typeface="Cambria"/>
        <a:cs typeface="Cambria"/>
      </a:majorFont>
      <a:minorFont>
        <a:latin typeface="Calibri" panose="020F0502020204030204"/>
        <a:ea typeface="Calibri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Je m’appelle Huong — Lecturer and Researcher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Đỗ Thùy Hương</dc:creator>
  <cp:lastModifiedBy>Đỗ Thùy Hương</cp:lastModifiedBy>
  <cp:revision>1</cp:revision>
  <dcterms:created xsi:type="dcterms:W3CDTF">2026-08-18T23:47:09Z</dcterms:created>
  <dcterms:modified xsi:type="dcterms:W3CDTF">2026-08-18T23:47:09Z</dcterms:modified>
</cp:coreProperties>
</file>