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3" r:id="rId24"/>
    <p:sldId id="259" r:id="rId5"/>
    <p:sldId id="272" r:id="rId23"/>
    <p:sldId id="260" r:id="rId6"/>
    <p:sldId id="274" r:id="rId25"/>
    <p:sldId id="261" r:id="rId7"/>
    <p:sldId id="262" r:id="rId8"/>
    <p:sldId id="263" r:id="rId9"/>
    <p:sldId id="275" r:id="rId26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slide" Target="slides/slide17.xml"/><Relationship Id="rId15" Type="http://schemas.openxmlformats.org/officeDocument/2006/relationships/slide" Target="slides/slide18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6.xml"/><Relationship Id="rId24" Type="http://schemas.openxmlformats.org/officeDocument/2006/relationships/slide" Target="slides/slide4.xml"/><Relationship Id="rId25" Type="http://schemas.openxmlformats.org/officeDocument/2006/relationships/slide" Target="slides/slide8.xml"/><Relationship Id="rId26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MỤC TIÊU (1 phút)</a:t>
            </a:r>
          </a:p>
          <a:p>
            <a:r>
              <a:t>• Đọc lướt. Nhấn: chương này THỰC HÀNH nhiều hơn lý thuyết.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LỘ TRÌNH (1 phút)</a:t>
            </a:r>
          </a:p>
          <a:p>
            <a:r>
              <a:t>• 4 kỹ năng, mỗi kỹ năng khoảng 15 phút gồm cả thực hành.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NGHI THỨC (4 phút) — THỰC HÀNH NGAY</a:t>
            </a:r>
          </a:p>
          <a:p>
            <a:r>
              <a:t>• Cho cả lớp đứng dậy, quay sang bạn bên cạnh THỰC HÀNH BẮT TAY: đứng dậy, nhìn mắt, siết vừa, 2–3 giây.</a:t>
            </a:r>
          </a:p>
          <a:p>
            <a:r>
              <a:t>• Sửa lỗi tại chỗ: bắt tay hờ, bắt tay quá chặt, nhìn chỗ khác.</a:t>
            </a:r>
          </a:p>
          <a:p>
            <a:r>
              <a:t>• Danh thiếp: làm mẫu trao và nhận bằng hai tay, ĐỌC QUA rồi mới cất — nhấn: cất ngay là bất lịch sự.</a:t>
            </a:r>
          </a:p>
          <a:p>
            <a:r>
              <a:t>• Mẹo nhớ thứ tự giới thiệu: giới thiệu người ÍT quan trọng VỚI người quan trọng hơn.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CHUẨN BỊ THUYẾT TRÌNH (3 phút)</a:t>
            </a:r>
          </a:p>
          <a:p>
            <a:r>
              <a:t>• Nhấn bước 1: PHÂN TÍCH NGƯỜI NGHE — đa số sinh viên bỏ qua bước này.</a:t>
            </a:r>
          </a:p>
          <a:p>
            <a:r>
              <a:t>• Quy tắc slide: ÍT CHỮ NHIỀU HÌNH. Chỉ vào chính slide đang chiếu làm ví dụ.</a:t>
            </a:r>
          </a:p>
          <a:p>
            <a:r>
              <a:t>• Nhắc: bài thuyết trình nhóm cuối kỳ sẽ chấm theo đúng 5 bước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CẤU TRÚC (3 phút)</a:t>
            </a:r>
          </a:p>
          <a:p>
            <a:r>
              <a:t>• Tỷ lệ 10–15 / 70–80 / 10–15%.</a:t>
            </a:r>
          </a:p>
          <a:p>
            <a:r>
              <a:t>• Nhấn: TỐI ĐA 3 Ý CHÍNH. Nhiều hơn thì người nghe không nhớ nổi.</a:t>
            </a:r>
          </a:p>
          <a:p>
            <a:r>
              <a:t>• Mở đầu bằng câu hỏi / con số / câu chuyện — cho lớp thử nghĩ 1 câu mở đầu cho đề tài tự chọn.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TRÌNH BÀY (3 phút)</a:t>
            </a:r>
          </a:p>
          <a:p>
            <a:r>
              <a:t>• Ba việc cụ thể: đứng vững hai chân, mở vai, giao tiếp mắt luân phiên khắp phòng.</a:t>
            </a:r>
          </a:p>
          <a:p>
            <a:r>
              <a:t>• Kỹ thuật dừng: DỪNG 1–2 GIÂY trước ý quan trọng — làm mẫu ngay tại chỗ cho lớp cảm nhận.</a:t>
            </a:r>
          </a:p>
          <a:p>
            <a:r>
              <a:t>• Run sợ: nói thật rằng ai cũng run; cách xử lý là chuẩn bị kỹ, đến sớm, hít thở sâu, và tập trung vào THÔNG ĐIỆP chứ không vào bản thân.</a:t>
            </a:r>
          </a:p>
          <a:p>
            <a:r>
              <a:t>• Câu hỏi khó: nghe hết → cảm ơn → trả lời ngắn; chưa chắc thì HẸN TRẢ LỜI SAU, không bịa.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 MỨC ĐỘ NGHE (3 phút)</a:t>
            </a:r>
          </a:p>
          <a:p>
            <a:r>
              <a:t>• Đi từ thấp lên cao trên bậc thang.</a:t>
            </a:r>
          </a:p>
          <a:p>
            <a:r>
              <a:t>• HỎI THẲNG LỚP: "Trong 30 phút vừa rồi, các bạn đang ở mức mấy?" — cả lớp thường cười, tạo không khí.</a:t>
            </a:r>
          </a:p>
          <a:p>
            <a:r>
              <a:t>• Nhấn mức 5 NGHE THẤU CẢM: nghe được cả cảm xúc và nhu cầu đằng sau lời nói.</a:t>
            </a:r>
          </a:p>
          <a:p>
            <a:r>
              <a:t>• Kỹ thuật diễn đạt lại: "Nếu em hiểu đúng thì ý anh/chị là…" — cho lớp tập nói câu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ĐẶT CÂU HỎI (3 phút)</a:t>
            </a:r>
          </a:p>
          <a:p>
            <a:r>
              <a:t>• Phân biệt câu hỏi ĐÓNG (chốt thông tin) và MỞ (khám phá nhu cầu).</a:t>
            </a:r>
          </a:p>
          <a:p>
            <a:r>
              <a:t>• Nhấn: bán hàng giỏi là HỎI giỏi, không phải NÓI giỏi.</a:t>
            </a:r>
          </a:p>
          <a:p>
            <a:r>
              <a:t>• Lỗi phải tránh: hỏi dồn nhiều câu một lúc; hỏi mớm cung; hỏi xong không chờ mà nói tiếp.</a:t>
            </a:r>
          </a:p>
          <a:p>
            <a:r>
              <a:t>• LUẬT VÀNG: hỏi xong thì IM LẶNG chờ câu trả lời.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ĐIỆN THOẠI — GỌI ĐI (3 phút)</a:t>
            </a:r>
          </a:p>
          <a:p>
            <a:r>
              <a:t>• 4 bước, nhấn bước 1 CHUẨN BỊ TRƯỚC: mục đích, nội dung, giấy bút, chọn thời điểm.</a:t>
            </a:r>
          </a:p>
          <a:p>
            <a:r>
              <a:t>• Làm mẫu câu mở đầu chuẩn: "Dạ em chào anh, em là… gọi từ công ty… Không biết bây giờ anh có tiện nghe máy khoảng 5 phút không ạ?"</a:t>
            </a:r>
          </a:p>
          <a:p>
            <a:r>
              <a:t>• Kết thúc: TÓM TẮT LẠI thời gian, địa điểm, việc cần làm trước khi cúp máy.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ĐIỆN THOẠI — NGHE MÁY (3 phút)</a:t>
            </a:r>
          </a:p>
          <a:p>
            <a:r>
              <a:t>• Nhấc trong 3 hồi chuông; chào và XƯNG DANH ĐƠN VỊ.</a:t>
            </a:r>
          </a:p>
          <a:p>
            <a:r>
              <a:t>• Mẹo: MỈM CƯỜI khi nói — người nghe cảm nhận được qua giọng.</a:t>
            </a:r>
          </a:p>
          <a:p>
            <a:r>
              <a:t>• Ghi lời nhắn đủ 4 thông tin: ai gọi – việc gì – số liên lạc – hẹn phản hồi khi nào.</a:t>
            </a:r>
          </a:p>
          <a:p>
            <a:r>
              <a:t>• Văn hóa công sở: không nghe điện riêng khi đang tiếp khách hoặc đang họp.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HOẠT ĐỘNG THỰC HÀNH (15 phút)</a:t>
            </a:r>
          </a:p>
          <a:p>
            <a:r>
              <a:t>• Chia cặp, mỗi cặp bốc một tình huống.</a:t>
            </a:r>
          </a:p>
          <a:p>
            <a:r>
              <a:t>• 5 phút chuẩn bị, mỗi cặp diễn 2 phút trước lớp, cả lớp nhận xét theo tiêu chí đã học.</a:t>
            </a:r>
          </a:p>
          <a:p>
            <a:r>
              <a:t>• Cô quan sát và ghi lại 2–3 lỗi phổ biến để chốt cuối buổi.</a:t>
            </a:r>
          </a:p>
          <a:p>
            <a:r>
              <a:t>• Khen công khai bạn làm tốt; góp ý chung cho cả lớp, không nêu tên bạn làm chưa tốt.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TỔNG KẾT (2 phút)</a:t>
            </a:r>
          </a:p>
          <a:p>
            <a:r>
              <a:t>• Nhắc lại quy tắc 4×20 và 5 mức lắng nghe — gọi sinh viên nhắc.</a:t>
            </a:r>
          </a:p>
          <a:p>
            <a:r>
              <a:t>• Giao việc: 40 câu trắc nghiệm Chương 2; chuẩn bị đề tài thuyết trình nhóm.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ÔN TẬP (1 phút) — sinh viên tự làm ở nhà.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TÀI LIỆU (1 phút) — nhắc đọc trước phần giao tiếp nội bộ cho buổi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QUY TẮC 4×20 (2 phút)</a:t>
            </a:r>
          </a:p>
          <a:p>
            <a:r>
              <a:t>• Slide này để sinh viên CHỤP LẠI.</a:t>
            </a:r>
          </a:p>
          <a:p>
            <a:r>
              <a:t>• Đọc từng con số, mỗi con số cho một ví dụ 1 câu.</a:t>
            </a:r>
          </a:p>
          <a:p>
            <a:r>
              <a:t>• Hỏi: "Trong 4 cửa ải này, bạn tự tin nhất và yếu nhất ở đâu?"''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QUY TẮC 4×20 (4 phút)</a:t>
            </a:r>
          </a:p>
          <a:p>
            <a:r>
              <a:t>• Hỏi trước khi giảng: "Theo bạn, người ta mất bao lâu để hình thành ấn tượng về mình?"</a:t>
            </a:r>
          </a:p>
          <a:p>
            <a:r>
              <a:t>• Đi qua 4 con số 20, mỗi con số cho một ví dụ ngắn.</a:t>
            </a:r>
          </a:p>
          <a:p>
            <a:r>
              <a:t>• DIỄN THỬ: cô bước vào lớp hai lần — lần cúi mặt bước nhanh, lần ngẩng cao vai mở mỉm cười. Hỏi lớp thấy khác gì.</a:t>
            </a:r>
          </a:p>
          <a:p>
            <a:r>
              <a:t>• CHỐT: ấn tượng ban đầu ĐƯỢC CHUẨN BỊ, không phải may mắn.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 (30 giây) — nhắc bài thuyết trình nhóm cuối kỳ chấm theo phần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 (30 giây).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pic>
        <p:nvPicPr>
          <p:cNvPr id="3" name="Image 0" descr="assets/logo_tron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49640" y="1417320"/>
            <a:ext cx="3200400" cy="3200400"/>
          </a:xfrm>
          <a:prstGeom prst="rect">
            <a:avLst/>
          </a:prstGeom>
        </p:spPr>
      </p:pic>
      <p:pic>
        <p:nvPicPr>
          <p:cNvPr id="4" name="Image 1" descr="assets/logo_nga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834640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822960" y="2487168"/>
            <a:ext cx="1371600" cy="41148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22960" y="269748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communication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822960" y="44348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skills used every day of your career: making an impression, presenting, listening, and phone calls.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5349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Đỗ Thùy Hương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EC1103 – Business Communication and Document Drafting Skills (2:1)  •  Class 261b, Semester 1, 2026 – 2027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Đỗ Thùy Hương, 2026 — Lecture prepared for the in-person class. Please credit the source when reused.</a:t>
            </a:r>
            <a:endParaRPr lang="en-US" sz="900" dirty="0"/>
          </a:p>
        </p:txBody>
      </p:sp>
      <p:pic>
        <p:nvPicPr>
          <p:cNvPr id="11" name="Picture 10" descr="co-huong-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1051560"/>
            <a:ext cx="32796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this chapter, students will be able to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 —  a professional first impression and follow proper workplace etiquette.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deliver  —  a well-structured presentation, confidently in front of an audience.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 —  active listening and effective questioning in workplace conversations.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4988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42569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by phone  —  to a professional standard both making and receiving calls.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—  Making a first impression and etiquette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—  Presentation skills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—  Listening and questioning skills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4988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42569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—  Telephone communication skills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 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AC4D33"/>
                </a:solidFill>
                <a:latin typeface="Cambria"/>
              </a:rPr>
              <a:t>First impressions and etiquette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The first twenty seconds decide most of how others perceive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Instructor Đỗ Thùy Hương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first impression — you only get one</a:t>
            </a:r>
            <a:endParaRPr lang="en-US" sz="2700" dirty="0"/>
          </a:p>
        </p:txBody>
      </p:sp>
      <p:pic>
        <p:nvPicPr>
          <p:cNvPr id="9" name="Picture 8" descr="c2-quy-tac-4x20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" y="1481328"/>
            <a:ext cx="11247120" cy="36028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DC756A"/>
                </a:solidFill>
                <a:latin typeface="Calibri"/>
              </a:rPr>
              <a:t>THE NUMBER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A2B28"/>
                </a:solidFill>
                <a:latin typeface="Cambria"/>
              </a:rPr>
              <a:t>The 4 × 20 rule — four gates of a first impression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2622042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20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SECONDS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The other person forms an overall judgement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2706" y="1783080"/>
            <a:ext cx="2622042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20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STEPS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Gait and posture are read from a distance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2492" y="1783080"/>
            <a:ext cx="2622042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20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CENTIMETRES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The eyes and the smile on your 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82278" y="1783080"/>
            <a:ext cx="2622042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20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WORDS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The first greeting and 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4068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12700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300">
                <a:solidFill>
                  <a:srgbClr val="3A2B28"/>
                </a:solidFill>
                <a:latin typeface="Calibri"/>
              </a:rPr>
              <a:t>A first impression forms almost instantly and is very hard to reverse — it must be PREPARED, not left to chance.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Instructor Đỗ Thùy Hương  •  EC1103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social etiquette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and introductions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younger greets the elder, staff greet superiors first; introduce the less senior person to the more senior one; state name, title and unit clearly.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up, make eye contact, hold for a moderate 2–3 seconds; the higher-status person or a woman offers their hand first; don't grip too loosely, too firmly, or too long.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and receiving business cards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with both hands, text facing the recipient; receive with both hands, read it before putting it away — don't stuff it straight into a pocket.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in shared spaces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Elevators, meeting rooms, open-plan desks: keep order, give way, knock before entering, don't talk loudly about personal matters.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Presentation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From preparation to delivery: how to make the audience remember what you want to say.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Instructor Đỗ Thùy Hương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Presenting: 5 steps of preparation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0020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" y="160020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765146" y="1600200"/>
            <a:ext cx="2152498" cy="868680"/>
          </a:xfrm>
          <a:prstGeom prst="chevron">
            <a:avLst/>
          </a:prstGeom>
          <a:solidFill>
            <a:srgbClr val="DC756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856586" y="160020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7371" y="160020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118811" y="160020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89597" y="1600200"/>
            <a:ext cx="2152498" cy="868680"/>
          </a:xfrm>
          <a:prstGeom prst="chevron">
            <a:avLst/>
          </a:prstGeom>
          <a:solidFill>
            <a:srgbClr val="DC756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381037" y="160020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551822" y="160020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643262" y="160020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2606040"/>
            <a:ext cx="2152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they, what do they care about, what do they expect?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765146" y="2606040"/>
            <a:ext cx="2152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talk, what should listeners know / believe / do?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7371" y="2606040"/>
            <a:ext cx="2152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3 main points, evidence, examples.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289597" y="2606040"/>
            <a:ext cx="2152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words, more visuals; slides support the speaker, they don't replace them.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551822" y="2606040"/>
            <a:ext cx="2152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speaking aloud, time yourself, prepare for tough questions.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2920" y="5212080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1 minute of presenting needs about 1 hour of preparation for a new topic — rehearsal time is what the audience "sees" most clearly.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structure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(10–15%) — capture attention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intriguing question, a striking figure, a short story; introduce yourself and outline the talk's roadmap.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2724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(70–80%) — at most 3 main points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point: claim → evidence → example; use clear transitions; place your strongest point first or last.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2744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8231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(10–15%) — leave one thing behind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3 points, stress the core message, call for a specific action; be ready for Q&amp;A.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Presenting confidently to an audience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language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firm, open shoulders, move with purpose; make eye contact around the whole room in turn; use natural hand gestures, don't pocket your hands or fidget with a pen.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loudly and clearly, vary pace and intonation; pause 1–2 seconds before a key point — silence is the seasoning of a talk.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Overcoming nerves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Nerves are normal; prepare thoroughly + arrive early to get used to the room + breathe deeply + focus on the message rather than yourself.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questions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 the whole question out, thank the asker, answer concisely; if unsure, promise to follow up later — honesty beats guessing.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SECTIONS 2.3 – 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AC4D33"/>
                </a:solidFill>
                <a:latin typeface="Cambria"/>
              </a:rPr>
              <a:t>Listening, questioning and telephone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The two least-taught skills, yet the most decisive ones in everyday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Instructor Đỗ Thùy Hương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Hearing vs. listening: 5 levels</a:t>
            </a:r>
            <a:endParaRPr lang="en-US" sz="2700" dirty="0"/>
          </a:p>
        </p:txBody>
      </p:sp>
      <p:pic>
        <p:nvPicPr>
          <p:cNvPr id="9" name="Picture 8" descr="c2-5-muc-lang-nghe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" y="1481328"/>
            <a:ext cx="11247120" cy="40971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Questioning skills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questions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with Yes/No or one fact: "Have you received the quotation yet?" — used to confirm and pin down information.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Why / How / What: invite the other person to open up — used to explore needs.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questions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"Specifically…?", "Could you give an example?" — clarify detail after a vague answer.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on asking questions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at a time; avoid pressuring or leading questions; after asking, wait in silence — don't answer for them.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 calls: making a professional call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49961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before calling  —  purpose, key points, pen and paper for notes; pick a suitable time (avoid too early, too late, or the lunch break).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328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4597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proper etiquette  —  greet, state your name and organisation, ask permission: "Hello, this is … from … company. Do you have 5 minutes to talk?"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4930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198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concise, check understanding  —  get straight to the point, speak clearly; recap the agreement: time, place, and next steps.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4531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3799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politely  —  thank them, say goodbye; let the more senior person / the customer hang up first.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calls and phone etiquette at work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answering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within ~3 rings; greet and state your organisation; sound upbeat — the caller can "hear" your smile; take notes and repeat back the message.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2724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person they want is unavailable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to take a message: who called – what it's about – contact number – when to expect a reply; pass the message on fully and on time.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2744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8231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phones at the office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mode during meetings; don't take personal calls while hosting a guest; work texts/chat messages need the same standard as email.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ACTIVITY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Practising two skills right in class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2103120"/>
          </a:xfrm>
          <a:prstGeom prst="roundRect">
            <a:avLst>
              <a:gd name="adj" fmla="val 4348"/>
            </a:avLst>
          </a:prstGeom>
          <a:solidFill>
            <a:srgbClr val="FBEDE0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15087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TASK (groups of 4–5 students, 25 minutes to prepare + perform)</a:t>
            </a:r>
            <a:endParaRPr lang="en-US" sz="1500" dirty="0"/>
          </a:p>
          <a:p>
            <a:pPr indent="0" marL="0">
              <a:buNone/>
            </a:pPr>
            <a:r>
              <a:rPr lang="en-US" sz="1350" i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draws a scenario: (a) a first call to a prospective client to arrange a product demo; or (b) a call handling a late delivery for an upset customer.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374904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TASKS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1788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41056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 a 3-minute call in front of the class: one student as the employee, one as the customer; the class scores it against the section 2.4 checklist.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4864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47914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groups give a 3-minute presentation on a topic prepared at home; the class comments on the opening–body–conclusion structure and body language.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55504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54772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identifies 3 things they would do differently next time.</a:t>
            </a:r>
            <a:endParaRPr lang="en-US" sz="1400" dirty="0"/>
          </a:p>
        </p:txBody>
      </p:sp>
      <p:pic>
        <p:nvPicPr>
          <p:cNvPr id="21" name="Picture 20" descr="co-huong-t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84048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remember from this chapter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impression is prepared, not left to luck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Attire, demeanour, greeting, etiquette: all of it can be rehearsed beforehand.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11810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7296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presentation starts with the audience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audience → set the objective → 3 main points → rehearse; speak to your audience, not to your slides.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7316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82803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and questioning is the best "selling" skill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needs correctly before presenting; a professional phone manner is the audible face of a business.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PREPARATION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49961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4×20 rule and how to apply it in a job interview.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395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32257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detailed structure for a 5-minute presentation introducing a product of your choice.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2186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14553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the 5 levels of listening; give an example of empathetic listening at work.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0416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396849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script for a client call following the 4 standard steps.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074920"/>
            <a:ext cx="11201400" cy="1143000"/>
          </a:xfrm>
          <a:prstGeom prst="roundRect">
            <a:avLst>
              <a:gd name="adj" fmla="val 7200"/>
            </a:avLst>
          </a:prstGeom>
          <a:solidFill>
            <a:srgbClr val="FBF3E2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77240" y="51206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NEXT SESSION:  Chapter 3 – Communication in specific settings. Each group collects one real, anonymised workplace communication dilemma to discuss.</a:t>
            </a:r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Instructor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materials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 Nam Khánh Giao (2023), Business Communication Textbook, Finance Publishing House.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950464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005328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Thái Trí Dũng (2012), Communication and Negotiation Skills in Business, Labour – Social Affairs Publishing House.  •  Decree 30/2020/ND-CP on records and archival work (used for Chapter 5 and the practice sessions).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437888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92752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Instructor's own materials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case scenarios and exercises prepared by Instructor Đỗ Thùy Hương; shared after each session in the class group.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 panose="020F0302020204030204"/>
        <a:ea typeface="Cambria"/>
        <a:cs typeface="Cambria"/>
      </a:majorFont>
      <a:minorFont>
        <a:latin typeface="Calibri" panose="020F0502020204030204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Je m’appelle Huong — Lecturer and Researcher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Đỗ Thùy Hương</dc:creator>
  <cp:lastModifiedBy>Đỗ Thùy Hương</cp:lastModifiedBy>
  <cp:revision>1</cp:revision>
  <dcterms:created xsi:type="dcterms:W3CDTF">2026-08-18T23:47:09Z</dcterms:created>
  <dcterms:modified xsi:type="dcterms:W3CDTF">2026-08-18T23:47:09Z</dcterms:modified>
</cp:coreProperties>
</file>