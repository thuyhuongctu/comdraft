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3" r:id="rId24"/>
    <p:sldId id="259" r:id="rId5"/>
    <p:sldId id="272" r:id="rId23"/>
    <p:sldId id="260" r:id="rId6"/>
    <p:sldId id="274" r:id="rId25"/>
    <p:sldId id="261" r:id="rId7"/>
    <p:sldId id="262" r:id="rId8"/>
    <p:sldId id="263" r:id="rId9"/>
    <p:sldId id="275" r:id="rId26"/>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7.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6.xml"/><Relationship Id="rId24" Type="http://schemas.openxmlformats.org/officeDocument/2006/relationships/slide" Target="slides/slide4.xml"/><Relationship Id="rId25" Type="http://schemas.openxmlformats.org/officeDocument/2006/relationships/slide" Target="slides/slide8.xml"/><Relationship Id="rId26"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 (2 phút)</a:t>
            </a:r>
          </a:p>
          <a:p>
            <a:r>
              <a:t>• Nhắc lại 1 câu về chương trước: mô hình 5 khâu + 5 nguyên tắc.</a:t>
            </a:r>
          </a:p>
          <a:p>
            <a:r>
              <a:t>• Vào đề bằng câu hỏi: "Bạn có bao giờ đánh giá một người chỉ sau 10 giây gặp mặt chưa?"</a:t>
            </a:r>
          </a:p>
          <a:p>
            <a:r>
              <a:t>• Chốt: chương này là 4 kỹ năng dùng hằng ngày suốt đời đi làm.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(1 phút)</a:t>
            </a:r>
          </a:p>
          <a:p>
            <a:r>
              <a:t>• Đọc lướt. Nhấn: chương này THỰC HÀNH nhiều hơn lý thuyết.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LỘ TRÌNH (1 phút)</a:t>
            </a:r>
          </a:p>
          <a:p>
            <a:r>
              <a:t>• 4 kỹ năng, mỗi kỹ năng khoảng 15 phút gồm cả thực hành.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QUY TẮC 4×20 (4 phút)</a:t>
            </a:r>
          </a:p>
          <a:p>
            <a:r>
              <a:t>• Hỏi trước khi giảng: "Theo bạn, người ta mất bao lâu để hình thành ấn tượng về mình?"</a:t>
            </a:r>
          </a:p>
          <a:p>
            <a:r>
              <a:t>• Đi qua 4 con số 20, mỗi con số cho một ví dụ ngắn.</a:t>
            </a:r>
          </a:p>
          <a:p>
            <a:r>
              <a:t>• DIỄN THỬ: cô bước vào lớp hai lần — lần cúi mặt bước nhanh, lần ngẩng cao vai mở mỉm cười. Hỏi lớp thấy khác gì.</a:t>
            </a:r>
          </a:p>
          <a:p>
            <a:r>
              <a:t>• CHỐT: ấn tượng ban đầu ĐƯỢC CHUẨN BỊ, không phải may mắn.</a:t>
            </a:r>
          </a:p>
          <a:p/>
          <a:p>
            <a:r>
              <a:t>NÓI ĐỦ Ý (phần đã rút khỏi slide)</a:t>
            </a:r>
          </a:p>
          <a:p>
            <a:r>
              <a:t>• Vài giây đầu: não bộ hình thành đánh giá gần như tức thì từ ngoại hình, thần thái, cách chào — và ấn tượng đầu rất khó đảo ngược về sau.</a:t>
            </a:r>
          </a:p>
          <a:p>
            <a:r>
              <a:t>• Quy tắc 4×20 đầy đủ: 20 giây đầu tiên • 20 bước chân đầu tiên • 20 cm gương mặt (ánh mắt, nụ cười) • 20 từ đầu tiên — chuẩn bị kỹ cả bốn.</a:t>
            </a:r>
          </a:p>
          <a:p>
            <a:r>
              <a:t>• Ba trụ cột: trang phục phù hợp bối cảnh VÀ vị trí; thần thái tự tin, thân thiện; lời chào – giới thiệu rõ ràng, đúng nghi thức.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THỨC (4 phút) — THỰC HÀNH NGAY</a:t>
            </a:r>
          </a:p>
          <a:p>
            <a:r>
              <a:t>• Cho cả lớp đứng dậy, quay sang bạn bên cạnh THỰC HÀNH BẮT TAY: đứng dậy, nhìn mắt, siết vừa, 2–3 giây.</a:t>
            </a:r>
          </a:p>
          <a:p>
            <a:r>
              <a:t>• Sửa lỗi tại chỗ: bắt tay hờ, bắt tay quá chặt, nhìn chỗ khác.</a:t>
            </a:r>
          </a:p>
          <a:p>
            <a:r>
              <a:t>• Danh thiếp: làm mẫu trao và nhận bằng hai tay, ĐỌC QUA rồi mới cất — nhấn: cất ngay là bất lịch sự.</a:t>
            </a:r>
          </a:p>
          <a:p>
            <a:r>
              <a:t>• Mẹo nhớ thứ tự giới thiệu: giới thiệu người ÍT quan trọng VỚI người quan trọng hơn.</a:t>
            </a:r>
          </a:p>
          <a:p/>
          <a:p>
            <a:r>
              <a:t>NÓI ĐỦ Ý (phần đã rút khỏi slide)</a:t>
            </a:r>
          </a:p>
          <a:p>
            <a:r>
              <a:t>• Chào hỏi: người nhỏ chào người lớn, nhân viên chào cấp trên trước; nói rõ tên – chức danh – đơn vị.</a:t>
            </a:r>
          </a:p>
          <a:p>
            <a:r>
              <a:t>• Bắt tay: người có vị thế cao hơn hoặc phụ nữ chủ động đưa tay trước; không bắt quá lỏng, quá chặt, quá lâu.</a:t>
            </a:r>
          </a:p>
          <a:p>
            <a:r>
              <a:t>• Danh thiếp: đừng nhét ngay vào túi quần — đó là chỗ sinh viên hay mắc nhất.</a:t>
            </a:r>
          </a:p>
          <a:p>
            <a:r>
              <a:t>• Không gian chung: thang máy, phòng họp, bàn làm việc mở — không nói to chuyện riêng.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CHUẨN BỊ THUYẾT TRÌNH (3 phút)</a:t>
            </a:r>
          </a:p>
          <a:p>
            <a:r>
              <a:t>• Nhấn bước 1: PHÂN TÍCH NGƯỜI NGHE — đa số sinh viên bỏ qua bước này.</a:t>
            </a:r>
          </a:p>
          <a:p>
            <a:r>
              <a:t>• Quy tắc slide: ÍT CHỮ NHIỀU HÌNH. Chỉ vào chính slide đang chiếu làm ví dụ.</a:t>
            </a:r>
          </a:p>
          <a:p>
            <a:r>
              <a:t>• Nhắc: bài thuyết trình nhóm cuối kỳ sẽ chấm theo đúng 5 bước này.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CẤU TRÚC (3 phút)</a:t>
            </a:r>
          </a:p>
          <a:p>
            <a:r>
              <a:t>• Tỷ lệ 10–15 / 70–80 / 10–15%.</a:t>
            </a:r>
          </a:p>
          <a:p>
            <a:r>
              <a:t>• Nhấn: TỐI ĐA 3 Ý CHÍNH. Nhiều hơn thì người nghe không nhớ nổi.</a:t>
            </a:r>
          </a:p>
          <a:p>
            <a:r>
              <a:t>• Mở đầu bằng câu hỏi / con số / câu chuyện — cho lớp thử nghĩ 1 câu mở đầu cho đề tài tự chọn.</a:t>
            </a:r>
          </a:p>
          <a:p/>
          <a:p>
            <a:r>
              <a:t>NÓI ĐỦ Ý (phần đã rút khỏi slide)</a:t>
            </a:r>
          </a:p>
          <a:p>
            <a:r>
              <a:t>• Mở đầu 10–15%: câu hỏi gây tò mò, con số ấn tượng, hoặc câu chuyện ngắn; giới thiệu bản thân rồi cho người nghe biết lộ trình bài nói.</a:t>
            </a:r>
          </a:p>
          <a:p>
            <a:r>
              <a:t>• Thân bài 70–80%: tối đa BA ý chính; mỗi ý có câu chuyển ý rõ ràng.</a:t>
            </a:r>
          </a:p>
          <a:p>
            <a:r>
              <a:t>• Kết luận 10–15%: đọng lại MỘT điều; chuẩn bị sẵn phần hỏi – đáp.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TRÌNH BÀY (3 phút)</a:t>
            </a:r>
          </a:p>
          <a:p>
            <a:r>
              <a:t>• Ba việc cụ thể: đứng vững hai chân, mở vai, giao tiếp mắt luân phiên khắp phòng.</a:t>
            </a:r>
          </a:p>
          <a:p>
            <a:r>
              <a:t>• Kỹ thuật dừng: DỪNG 1–2 GIÂY trước ý quan trọng — làm mẫu ngay tại chỗ cho lớp cảm nhận.</a:t>
            </a:r>
          </a:p>
          <a:p>
            <a:r>
              <a:t>• Run sợ: nói thật rằng ai cũng run; cách xử lý là chuẩn bị kỹ, đến sớm, hít thở sâu, và tập trung vào THÔNG ĐIỆP chứ không vào bản thân.</a:t>
            </a:r>
          </a:p>
          <a:p>
            <a:r>
              <a:t>• Câu hỏi khó: nghe hết → cảm ơn → trả lời ngắn; chưa chắc thì HẸN TRẢ LỜI SAU, không bịa.</a:t>
            </a:r>
          </a:p>
          <a:p/>
          <a:p>
            <a:r>
              <a:t>NÓI ĐỦ Ý (phần đã rút khỏi slide)</a:t>
            </a:r>
          </a:p>
          <a:p>
            <a:r>
              <a:t>• Ngôn ngữ cơ thể: di chuyển có chủ đích; không đút túi, không vặn bút.</a:t>
            </a:r>
          </a:p>
          <a:p>
            <a:r>
              <a:t>• Giọng nói: thay đổi cả tốc độ lẫn ngữ điệu — khoảng lặng là gia vị của bài nói.</a:t>
            </a:r>
          </a:p>
          <a:p>
            <a:r>
              <a:t>• Run sợ: run là BÌNH THƯỜNG; đến sớm làm quen không gian; tập trung vào thông điệp thay vì vào bản thân.</a:t>
            </a:r>
          </a:p>
          <a:p>
            <a:r>
              <a:t>• Câu hỏi: chưa chắc thì hẹn trả lời sau — trung thực hơn là đoán bừa.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MỨC ĐỘ NGHE (3 phút)</a:t>
            </a:r>
          </a:p>
          <a:p>
            <a:r>
              <a:t>• Đi từ thấp lên cao trên bậc thang.</a:t>
            </a:r>
          </a:p>
          <a:p>
            <a:r>
              <a:t>• HỎI THẲNG LỚP: "Trong 30 phút vừa rồi, các bạn đang ở mức mấy?" — cả lớp thường cười, tạo không khí.</a:t>
            </a:r>
          </a:p>
          <a:p>
            <a:r>
              <a:t>• Nhấn mức 5 NGHE THẤU CẢM: nghe được cả cảm xúc và nhu cầu đằng sau lời nói.</a:t>
            </a:r>
          </a:p>
          <a:p>
            <a:r>
              <a:t>• Kỹ thuật diễn đạt lại: "Nếu em hiểu đúng thì ý anh/chị là…" — cho lớp tập nói câu này.</a:t>
            </a:r>
          </a:p>
          <a:p/>
          <a:p>
            <a:r>
              <a:t>NÓI ĐỦ Ý (phần đã rút khỏi slide)</a:t>
            </a:r>
          </a:p>
          <a:p>
            <a:r>
              <a:t>• Lắng nghe chủ động đủ ý: tập trung toàn bộ vào người nói • không ngắt lời, không vội phán xét • ghi chú ý chính • phản hồi bằng ánh mắt, gật đầu • diễn đạt lại để xác nhận: “Nếu em hiểu đúng thì ý anh/chị là…”.</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ĐẶT CÂU HỎI (3 phút)</a:t>
            </a:r>
          </a:p>
          <a:p>
            <a:r>
              <a:t>• Phân biệt câu hỏi ĐÓNG (chốt thông tin) và MỞ (khám phá nhu cầu).</a:t>
            </a:r>
          </a:p>
          <a:p>
            <a:r>
              <a:t>• Nhấn: bán hàng giỏi là HỎI giỏi, không phải NÓI giỏi.</a:t>
            </a:r>
          </a:p>
          <a:p>
            <a:r>
              <a:t>• Lỗi phải tránh: hỏi dồn nhiều câu một lúc; hỏi mớm cung; hỏi xong không chờ mà nói tiếp.</a:t>
            </a:r>
          </a:p>
          <a:p>
            <a:r>
              <a:t>• LUẬT VÀNG: hỏi xong thì IM LẶNG chờ câu trả lời.</a:t>
            </a:r>
          </a:p>
          <a:p/>
          <a:p>
            <a:r>
              <a:t>NÓI ĐỦ Ý (phần đã rút khỏi slide)</a:t>
            </a:r>
          </a:p>
          <a:p>
            <a:r>
              <a:t>• Câu hỏi đóng, ví dụ: “Anh đã nhận được báo giá chưa?”</a:t>
            </a:r>
          </a:p>
          <a:p>
            <a:r>
              <a:t>• Câu hỏi mở khơi người đối diện chia sẻ.</a:t>
            </a:r>
          </a:p>
          <a:p>
            <a:r>
              <a:t>• Thăm dò – đào sâu: “Cụ thể là…?”, “Anh có thể cho ví dụ?”</a:t>
            </a:r>
          </a:p>
          <a:p>
            <a:r>
              <a:t>• Lưu ý: tránh câu hỏi dồn ép, mớm cung; hỏi xong đừng tự trả lời thay.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ĐIỆN THOẠI — GỌI ĐI (3 phút)</a:t>
            </a:r>
          </a:p>
          <a:p>
            <a:r>
              <a:t>• 4 bước, nhấn bước 1 CHUẨN BỊ TRƯỚC: mục đích, nội dung, giấy bút, chọn thời điểm.</a:t>
            </a:r>
          </a:p>
          <a:p>
            <a:r>
              <a:t>• Làm mẫu câu mở đầu chuẩn: "Dạ em chào anh, em là… gọi từ công ty… Không biết bây giờ anh có tiện nghe máy khoảng 5 phút không ạ?"</a:t>
            </a:r>
          </a:p>
          <a:p>
            <a:r>
              <a:t>• Kết thúc: TÓM TẮT LẠI thời gian, địa điểm, việc cần làm trước khi cúp máy.</a:t>
            </a:r>
          </a:p>
          <a:p/>
          <a:p>
            <a:r>
              <a:t>NÓI ĐỦ Ý (phần đã rút khỏi slide)</a:t>
            </a:r>
          </a:p>
          <a:p>
            <a:r>
              <a:t>• Chuẩn bị: tránh gọi sớm quá, muộn quá, hoặc giờ nghỉ trưa.</a:t>
            </a:r>
          </a:p>
          <a:p>
            <a:r>
              <a:t>• Mở đầu mẫu: “Em chào anh, em là… từ công ty… Anh có tiện nghe máy 5 phút không ạ?”</a:t>
            </a:r>
          </a:p>
          <a:p>
            <a:r>
              <a:t>• Trình bày: nói rõ ràng; tóm tắt lại thỏa thuận gồm thời gian, địa điểm, việc cần làm.</a:t>
            </a:r>
          </a:p>
          <a:p>
            <a:r>
              <a:t>• Kết thúc: để người có vị thế cao hơn hoặc khách hàng gác máy trước.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ĐIỆN THOẠI — NGHE MÁY (3 phút)</a:t>
            </a:r>
          </a:p>
          <a:p>
            <a:r>
              <a:t>• Nhấc trong 3 hồi chuông; chào và XƯNG DANH ĐƠN VỊ.</a:t>
            </a:r>
          </a:p>
          <a:p>
            <a:r>
              <a:t>• Mẹo: MỈM CƯỜI khi nói — người nghe cảm nhận được qua giọng.</a:t>
            </a:r>
          </a:p>
          <a:p>
            <a:r>
              <a:t>• Ghi lời nhắn đủ 4 thông tin: ai gọi – việc gì – số liên lạc – hẹn phản hồi khi nào.</a:t>
            </a:r>
          </a:p>
          <a:p>
            <a:r>
              <a:t>• Văn hóa công sở: không nghe điện riêng khi đang tiếp khách hoặc đang họp.</a:t>
            </a:r>
          </a:p>
          <a:p/>
          <a:p>
            <a:r>
              <a:t>NÓI ĐỦ Ý (phần đã rút khỏi slide)</a:t>
            </a:r>
          </a:p>
          <a:p>
            <a:r>
              <a:t>• Giọng tươi — người gọi “nghe thấy” nụ cười của bạn; ghi chú và NHẮC LẠI lời nhắn.</a:t>
            </a:r>
          </a:p>
          <a:p>
            <a:r>
              <a:t>• Lời nhắn phải chuyển đầy đủ và đúng hạn.</a:t>
            </a:r>
          </a:p>
          <a:p>
            <a:r>
              <a:t>• Nhắn tin / Zalo công việc cũng cần đúng chuẩn mực như email.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HOẠT ĐỘNG THỰC HÀNH (15 phút)</a:t>
            </a:r>
          </a:p>
          <a:p>
            <a:r>
              <a:t>• Chia cặp, mỗi cặp bốc một tình huống.</a:t>
            </a:r>
          </a:p>
          <a:p>
            <a:r>
              <a:t>• 5 phút chuẩn bị, mỗi cặp diễn 2 phút trước lớp, cả lớp nhận xét theo tiêu chí đã học.</a:t>
            </a:r>
          </a:p>
          <a:p>
            <a:r>
              <a:t>• Cô quan sát và ghi lại 2–3 lỗi phổ biến để chốt cuối buổi.</a:t>
            </a:r>
          </a:p>
          <a:p>
            <a:r>
              <a:t>• Khen công khai bạn làm tốt; góp ý chung cho cả lớp, không nêu tên bạn làm chưa tốt.</a:t>
            </a:r>
          </a:p>
          <a:p/>
          <a:p>
            <a:r>
              <a:t>NÓI ĐỦ Ý (phần đã rút khỏi slide)</a:t>
            </a:r>
          </a:p>
          <a:p>
            <a:r>
              <a:t>• Tình huống (a): gọi điện lần đầu cho khách hàng tiềm năng để hẹn gặp giới thiệu sản phẩm.</a:t>
            </a:r>
          </a:p>
          <a:p>
            <a:r>
              <a:t>• Tình huống (b): gọi điện xử lý việc giao hàng trễ cho khách đang khó chịu.</a:t>
            </a:r>
          </a:p>
          <a:p>
            <a:r>
              <a:t>• Đóng vai: một bạn vai nhân viên, một bạn vai khách hàng.</a:t>
            </a:r>
          </a:p>
          <a:p>
            <a:r>
              <a:t>• Thuyết trình: chủ đề đã chuẩn bị ở nhà; lớp nhận xét cả ngôn ngữ cơ thể.</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TỔNG KẾT (2 phút)</a:t>
            </a:r>
          </a:p>
          <a:p>
            <a:r>
              <a:t>• Nhắc lại quy tắc 4×20 và 5 mức lắng nghe — gọi sinh viên nhắc.</a:t>
            </a:r>
          </a:p>
          <a:p>
            <a:r>
              <a:t>• Giao việc: 40 câu trắc nghiệm Chương 2; chuẩn bị đề tài thuyết trình nhóm.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ÔN TẬP (1 phút) — sinh viên tự làm ở nhà.</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TÀI LIỆU (1 phút) — nhắc đọc trước phần giao tiếp nội bộ cho buổi sau.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TẮC 4×20 (2 phút)</a:t>
            </a:r>
          </a:p>
          <a:p>
            <a:r>
              <a:t>• Slide này để sinh viên CHỤP LẠI.</a:t>
            </a:r>
          </a:p>
          <a:p>
            <a:r>
              <a:t>• Đọc từng con số, mỗi con số cho một ví dụ 1 câu.</a:t>
            </a:r>
          </a:p>
          <a:p>
            <a:r>
              <a:t>• Hỏi: "Trong 4 cửa ải này, bạn tự tin nhất và yếu nhất ở đâu?"''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 — nhắc bài thuyết trình nhóm cuối kỳ chấm theo phần này.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8"/>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DC756A"/>
          </a:solidFill>
          <a:ln/>
        </p:spPr>
        <p:txBody>
          <a:bodyPr/>
          <a:p/>
        </p:txBody>
      </p:sp>
      <p:pic>
        <p:nvPicPr>
          <p:cNvPr id="3" name="Image 0" descr="/home/user/comdraft/assets/img/dau-huong.png">    </p:cNvPr>
          <p:cNvPicPr>
            <a:picLocks noChangeAspect="1"/>
          </p:cNvPicPr>
          <p:nvPr/>
        </p:nvPicPr>
        <p:blipFill>
          <a:blip r:embed="rId1">
            <a:alphaModFix amt="18000"/>
          </a:blip>
          <a:stretch>
            <a:fillRect/>
          </a:stretch>
        </p:blipFill>
        <p:spPr>
          <a:xfrm>
            <a:off x="8549640" y="1417320"/>
            <a:ext cx="3200400" cy="3200400"/>
          </a:xfrm>
          <a:prstGeom prst="rect">
            <a:avLst/>
          </a:prstGeom>
        </p:spPr>
      </p:pic>
      <p:pic>
        <p:nvPicPr>
          <p:cNvPr id="4" name="Image 1" descr="/home/user/comdraft/assets/img/lockup-huong.png">    </p:cNvPr>
          <p:cNvPicPr>
            <a:picLocks noChangeAspect="1"/>
          </p:cNvPicPr>
          <p:nvPr/>
        </p:nvPicPr>
        <p:blipFill>
          <a:blip r:embed="rId2"/>
          <a:stretch>
            <a:fillRect/>
          </a:stretch>
        </p:blipFill>
        <p:spPr>
          <a:xfrm>
            <a:off x="777240" y="411480"/>
            <a:ext cx="2834640" cy="1188720"/>
          </a:xfrm>
          <a:prstGeom prst="rect">
            <a:avLst/>
          </a:prstGeom>
        </p:spPr>
      </p:pic>
      <p:sp>
        <p:nvSpPr>
          <p:cNvPr id="5" name="Text 1"/>
          <p:cNvSpPr/>
          <p:nvPr/>
        </p:nvSpPr>
        <p:spPr>
          <a:xfrm>
            <a:off x="822960" y="2011680"/>
            <a:ext cx="10515600" cy="457200"/>
          </a:xfrm>
          <a:prstGeom prst="rect">
            <a:avLst/>
          </a:prstGeom>
          <a:noFill/>
          <a:ln/>
        </p:spPr>
        <p:txBody>
          <a:bodyPr wrap="square" lIns="0" tIns="0" rIns="0" bIns="0" rtlCol="0" anchor="ctr"/>
          <a:lstStyle/>
          <a:p>
            <a:pPr indent="0" marL="0">
              <a:buNone/>
            </a:pPr>
            <a:r>
              <a:rPr lang="en-US" sz="1800" b="1" spc="500" kern="0" dirty="0">
                <a:solidFill>
                  <a:srgbClr val="DC756A"/>
                </a:solidFill>
                <a:latin typeface="Calibri" pitchFamily="34" charset="0"/>
                <a:ea typeface="Calibri" pitchFamily="34" charset="-122"/>
                <a:cs typeface="Calibri" pitchFamily="34" charset="-120"/>
              </a:rPr>
              <a:t>CHƯƠNG 2</a:t>
            </a:r>
            <a:endParaRPr lang="en-US" sz="1800" dirty="0"/>
          </a:p>
        </p:txBody>
      </p:sp>
      <p:sp>
        <p:nvSpPr>
          <p:cNvPr id="6" name="Shape 2"/>
          <p:cNvSpPr/>
          <p:nvPr/>
        </p:nvSpPr>
        <p:spPr>
          <a:xfrm>
            <a:off x="822960" y="2487168"/>
            <a:ext cx="1371600" cy="41148"/>
          </a:xfrm>
          <a:prstGeom prst="rect">
            <a:avLst/>
          </a:prstGeom>
          <a:solidFill>
            <a:srgbClr val="DC756A"/>
          </a:solidFill>
          <a:ln/>
        </p:spPr>
        <p:txBody>
          <a:bodyPr/>
          <a:p/>
        </p:txBody>
      </p:sp>
      <p:sp>
        <p:nvSpPr>
          <p:cNvPr id="7" name="Text 3"/>
          <p:cNvSpPr/>
          <p:nvPr/>
        </p:nvSpPr>
        <p:spPr>
          <a:xfrm>
            <a:off x="822960" y="2697480"/>
            <a:ext cx="7589520" cy="1645920"/>
          </a:xfrm>
          <a:prstGeom prst="rect">
            <a:avLst/>
          </a:prstGeom>
          <a:noFill/>
          <a:ln/>
        </p:spPr>
        <p:txBody>
          <a:bodyPr wrap="square" lIns="0" tIns="0" rIns="0" bIns="0" rtlCol="0" anchor="ctr"/>
          <a:lstStyle/>
          <a:p>
            <a:pPr indent="0" marL="0">
              <a:buNone/>
            </a:pPr>
            <a:r>
              <a:rPr lang="en-US" sz="3800" b="1" dirty="0">
                <a:solidFill>
                  <a:srgbClr val="AC4D33"/>
                </a:solidFill>
                <a:latin typeface="Cambria" pitchFamily="34" charset="0"/>
                <a:ea typeface="Cambria" pitchFamily="34" charset="-122"/>
                <a:cs typeface="Cambria" pitchFamily="34" charset="-120"/>
              </a:rPr>
              <a:t>Các kỹ năng giao tiếp</a:t>
            </a:r>
            <a:endParaRPr lang="en-US" sz="3800" dirty="0"/>
          </a:p>
          <a:p>
            <a:pPr indent="0" marL="0">
              <a:buNone/>
            </a:pPr>
            <a:r>
              <a:rPr lang="en-US" sz="3800" b="1" dirty="0">
                <a:solidFill>
                  <a:srgbClr val="AC4D33"/>
                </a:solidFill>
                <a:latin typeface="Cambria" pitchFamily="34" charset="0"/>
                <a:ea typeface="Cambria" pitchFamily="34" charset="-122"/>
                <a:cs typeface="Cambria" pitchFamily="34" charset="-120"/>
              </a:rPr>
              <a:t>chuyên nghiệp</a:t>
            </a:r>
            <a:endParaRPr lang="en-US" sz="3800" dirty="0"/>
          </a:p>
        </p:txBody>
      </p:sp>
      <p:sp>
        <p:nvSpPr>
          <p:cNvPr id="8" name="Text 4"/>
          <p:cNvSpPr/>
          <p:nvPr/>
        </p:nvSpPr>
        <p:spPr>
          <a:xfrm>
            <a:off x="822960" y="4434840"/>
            <a:ext cx="7589520" cy="685800"/>
          </a:xfrm>
          <a:prstGeom prst="rect">
            <a:avLst/>
          </a:prstGeom>
          <a:noFill/>
          <a:ln/>
        </p:spPr>
        <p:txBody>
          <a:bodyPr wrap="square" lIns="0" tIns="0" rIns="0" bIns="0" rtlCol="0" anchor="ctr"/>
          <a:lstStyle/>
          <a:p>
            <a:pPr indent="0" marL="0">
              <a:buNone/>
            </a:pPr>
            <a:r>
              <a:rPr lang="en-US" sz="1400" i="1" dirty="0">
                <a:solidFill>
                  <a:srgbClr val="8A7A76"/>
                </a:solidFill>
                <a:latin typeface="Calibri" pitchFamily="34" charset="0"/>
                <a:ea typeface="Calibri" pitchFamily="34" charset="-122"/>
                <a:cs typeface="Calibri" pitchFamily="34" charset="-120"/>
              </a:rPr>
              <a:t>Bốn kỹ năng dùng hằng ngày suốt sự nghiệp: gây ấn tượng, thuyết trình, lắng nghe và điện thoại.</a:t>
            </a:r>
            <a:endParaRPr lang="en-US" sz="1400" dirty="0"/>
          </a:p>
        </p:txBody>
      </p:sp>
      <p:sp>
        <p:nvSpPr>
          <p:cNvPr id="9" name="Text 5"/>
          <p:cNvSpPr/>
          <p:nvPr/>
        </p:nvSpPr>
        <p:spPr>
          <a:xfrm>
            <a:off x="822960" y="5349240"/>
            <a:ext cx="7863840" cy="868680"/>
          </a:xfrm>
          <a:prstGeom prst="rect">
            <a:avLst/>
          </a:prstGeom>
          <a:noFill/>
          <a:ln/>
        </p:spPr>
        <p:txBody>
          <a:bodyPr wrap="square" lIns="0" tIns="0" rIns="0" bIns="0" rtlCol="0" anchor="ctr"/>
          <a:lstStyle/>
          <a:p>
            <a:pPr indent="0" marL="0">
              <a:buNone/>
            </a:pPr>
            <a:r>
              <a:rPr lang="en-US" sz="1500" b="1" dirty="0">
                <a:solidFill>
                  <a:srgbClr val="3A2B28"/>
                </a:solidFill>
                <a:latin typeface="Calibri" pitchFamily="34" charset="0"/>
                <a:ea typeface="Calibri" pitchFamily="34" charset="-122"/>
                <a:cs typeface="Calibri" pitchFamily="34" charset="-120"/>
              </a:rPr>
              <a:t>GV. Đỗ Thùy Hương</a:t>
            </a:r>
            <a:endParaRPr lang="en-US" sz="1500" dirty="0"/>
          </a:p>
          <a:p>
            <a:pPr indent="0" marL="0">
              <a:buNone/>
            </a:pPr>
            <a:r>
              <a:rPr lang="en-US" sz="1200" dirty="0">
                <a:solidFill>
                  <a:srgbClr val="8A7A76"/>
                </a:solidFill>
                <a:latin typeface="Calibri" pitchFamily="34" charset="0"/>
                <a:ea typeface="Calibri" pitchFamily="34" charset="-122"/>
                <a:cs typeface="Calibri" pitchFamily="34" charset="-120"/>
              </a:rPr>
              <a:t>EC1103 – Kỹ năng giao tiếp và soạn thảo văn bản (2:1)  •  Lớp 261b, HK1 năm học 2026 – 2027</a:t>
            </a:r>
            <a:endParaRPr lang="en-US" sz="1500" dirty="0"/>
          </a:p>
        </p:txBody>
      </p:sp>
      <p:sp>
        <p:nvSpPr>
          <p:cNvPr id="10" name="Text 6"/>
          <p:cNvSpPr/>
          <p:nvPr/>
        </p:nvSpPr>
        <p:spPr>
          <a:xfrm>
            <a:off x="822960" y="6355080"/>
            <a:ext cx="10515600" cy="320040"/>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 Đỗ Thùy Hương, 2026 — Bài giảng biên soạn cho lớp giảng dạy trực tiếp. Vui lòng ghi nguồn khi sử dụng.</a:t>
            </a:r>
            <a:endParaRPr lang="en-US" sz="900" dirty="0"/>
          </a:p>
        </p:txBody>
      </p:sp>
      <p:pic>
        <p:nvPicPr>
          <p:cNvPr id="11" name="Picture 10" descr="co-huong-doc.png"/>
          <p:cNvPicPr>
            <a:picLocks noChangeAspect="1"/>
          </p:cNvPicPr>
          <p:nvPr/>
        </p:nvPicPr>
        <p:blipFill>
          <a:blip r:embed="rId5"/>
          <a:stretch>
            <a:fillRect/>
          </a:stretch>
        </p:blipFill>
        <p:spPr>
          <a:xfrm>
            <a:off x="8641080" y="1051560"/>
            <a:ext cx="3279624"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MỤC TIÊU</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Sau chương này, sinh viên có thể</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Tạo dựng  —  </a:t>
            </a:r>
            <a:pPr indent="0" marL="0">
              <a:buNone/>
            </a:pPr>
            <a:r>
              <a:rPr lang="en-US" sz="1350" dirty="0">
                <a:solidFill>
                  <a:srgbClr val="3A2B28"/>
                </a:solidFill>
                <a:latin typeface="Calibri" pitchFamily="34" charset="0"/>
                <a:ea typeface="Calibri" pitchFamily="34" charset="-122"/>
                <a:cs typeface="Calibri" pitchFamily="34" charset="-120"/>
              </a:rPr>
              <a:t>ấn tượng ban đầu chuyên nghiệp và thực hiện đúng các nghi thức xã giao công sở.</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Chuẩn bị và trình bày  —  </a:t>
            </a:r>
            <a:pPr indent="0" marL="0">
              <a:buNone/>
            </a:pPr>
            <a:r>
              <a:rPr lang="en-US" sz="1350" dirty="0">
                <a:solidFill>
                  <a:srgbClr val="3A2B28"/>
                </a:solidFill>
                <a:latin typeface="Calibri" pitchFamily="34" charset="0"/>
                <a:ea typeface="Calibri" pitchFamily="34" charset="-122"/>
                <a:cs typeface="Calibri" pitchFamily="34" charset="-120"/>
              </a:rPr>
              <a:t>một bài thuyết trình có cấu trúc, tự tin trước đám đông.</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Thực hành  —  </a:t>
            </a:r>
            <a:pPr indent="0" marL="0">
              <a:buNone/>
            </a:pPr>
            <a:r>
              <a:rPr lang="en-US" sz="1350" dirty="0">
                <a:solidFill>
                  <a:srgbClr val="3A2B28"/>
                </a:solidFill>
                <a:latin typeface="Calibri" pitchFamily="34" charset="0"/>
                <a:ea typeface="Calibri" pitchFamily="34" charset="-122"/>
                <a:cs typeface="Calibri" pitchFamily="34" charset="-120"/>
              </a:rPr>
              <a:t>lắng nghe chủ động và đặt câu hỏi hiệu quả trong hội thoại công việc.</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Giao tiếp qua điện thoại  —  </a:t>
            </a:r>
            <a:pPr indent="0" marL="0">
              <a:buNone/>
            </a:pPr>
            <a:r>
              <a:rPr lang="en-US" sz="1350" dirty="0">
                <a:solidFill>
                  <a:srgbClr val="3A2B28"/>
                </a:solidFill>
                <a:latin typeface="Calibri" pitchFamily="34" charset="0"/>
                <a:ea typeface="Calibri" pitchFamily="34" charset="-122"/>
                <a:cs typeface="Calibri" pitchFamily="34" charset="-120"/>
              </a:rPr>
              <a:t>đúng chuẩn mực nghề nghiệp ở cả vai gọi đi và nghe máy.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NỘI DUNG</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Chúng ta sẽ đi qua</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2.1  —  </a:t>
            </a:r>
            <a:pPr indent="0" marL="0">
              <a:buNone/>
            </a:pPr>
            <a:r>
              <a:rPr lang="en-US" sz="1350" dirty="0">
                <a:solidFill>
                  <a:srgbClr val="3A2B28"/>
                </a:solidFill>
                <a:latin typeface="Calibri" pitchFamily="34" charset="0"/>
                <a:ea typeface="Calibri" pitchFamily="34" charset="-122"/>
                <a:cs typeface="Calibri" pitchFamily="34" charset="-120"/>
              </a:rPr>
              <a:t>Kỹ năng tạo ấn tượng ban đầu và xã giao</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2.2  —  </a:t>
            </a:r>
            <a:pPr indent="0" marL="0">
              <a:buNone/>
            </a:pPr>
            <a:r>
              <a:rPr lang="en-US" sz="1350" dirty="0">
                <a:solidFill>
                  <a:srgbClr val="3A2B28"/>
                </a:solidFill>
                <a:latin typeface="Calibri" pitchFamily="34" charset="0"/>
                <a:ea typeface="Calibri" pitchFamily="34" charset="-122"/>
                <a:cs typeface="Calibri" pitchFamily="34" charset="-120"/>
              </a:rPr>
              <a:t>Kỹ năng thuyết trình</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2.3  —  </a:t>
            </a:r>
            <a:pPr indent="0" marL="0">
              <a:buNone/>
            </a:pPr>
            <a:r>
              <a:rPr lang="en-US" sz="1350" dirty="0">
                <a:solidFill>
                  <a:srgbClr val="3A2B28"/>
                </a:solidFill>
                <a:latin typeface="Calibri" pitchFamily="34" charset="0"/>
                <a:ea typeface="Calibri" pitchFamily="34" charset="-122"/>
                <a:cs typeface="Calibri" pitchFamily="34" charset="-120"/>
              </a:rPr>
              <a:t>Kỹ năng lắng nghe và đặt câu hỏi</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2.4  —  </a:t>
            </a:r>
            <a:pPr indent="0" marL="0">
              <a:buNone/>
            </a:pPr>
            <a:r>
              <a:rPr lang="en-US" sz="1350" dirty="0">
                <a:solidFill>
                  <a:srgbClr val="3A2B28"/>
                </a:solidFill>
                <a:latin typeface="Calibri" pitchFamily="34" charset="0"/>
                <a:ea typeface="Calibri" pitchFamily="34" charset="-122"/>
                <a:cs typeface="Calibri" pitchFamily="34" charset="-120"/>
              </a:rPr>
              <a:t>Kỹ năng giao tiếp qua điện thoại</a:t>
            </a:r>
            <a:endParaRPr lang="en-US" sz="14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MỤC 2.1</a:t>
            </a:r>
          </a:p>
        </p:txBody>
      </p:sp>
      <p:sp>
        <p:nvSpPr>
          <p:cNvPr id="6" name="TextBox 5"/>
          <p:cNvSpPr txBox="1"/>
          <p:nvPr/>
        </p:nvSpPr>
        <p:spPr>
          <a:xfrm>
            <a:off x="1280160" y="2788920"/>
            <a:ext cx="9601200" cy="1371600"/>
          </a:xfrm>
          <a:prstGeom prst="rect">
            <a:avLst/>
          </a:prstGeom>
          <a:noFill/>
        </p:spPr>
        <p:txBody>
          <a:bodyPr wrap="square">
            <a:spAutoFit/>
          </a:bodyPr>
          <a:lstStyle/>
          <a:p>
            <a:r>
              <a:rPr sz="3300" b="1">
                <a:solidFill>
                  <a:srgbClr val="AC4D33"/>
                </a:solidFill>
                <a:latin typeface="Cambria"/>
              </a:rPr>
              <a:t>Ấn tượng ban đầu và nghi thức xã giao</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Hai mươi giây đầu tiên quyết định phần lớn cách người khác nhìn nhận bạn.</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2.1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Ấn tượng ban đầu — chỉ có một lần</a:t>
            </a:r>
            <a:endParaRPr lang="en-US" sz="2700" dirty="0"/>
          </a:p>
        </p:txBody>
      </p:sp>
      <p:pic>
        <p:nvPicPr>
          <p:cNvPr id="9" name="Picture 8" descr="c2-quy-tac-4x20-nt.png"/>
          <p:cNvPicPr>
            <a:picLocks noChangeAspect="1"/>
          </p:cNvPicPr>
          <p:nvPr/>
        </p:nvPicPr>
        <p:blipFill>
          <a:blip r:embed="rId4"/>
          <a:stretch>
            <a:fillRect/>
          </a:stretch>
        </p:blipFill>
        <p:spPr>
          <a:xfrm>
            <a:off x="472287" y="2034462"/>
            <a:ext cx="11247120" cy="360289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292608"/>
          </a:xfrm>
          <a:prstGeom prst="rect">
            <a:avLst/>
          </a:prstGeom>
          <a:noFill/>
        </p:spPr>
        <p:txBody>
          <a:bodyPr wrap="none">
            <a:spAutoFit/>
          </a:bodyPr>
          <a:lstStyle/>
          <a:p>
            <a:r>
              <a:rPr sz="1100" b="1">
                <a:solidFill>
                  <a:srgbClr val="DC756A"/>
                </a:solidFill>
                <a:latin typeface="Calibri"/>
              </a:rPr>
              <a:t>CON SỐ PHẢI NHỚ</a:t>
            </a:r>
          </a:p>
        </p:txBody>
      </p:sp>
      <p:sp>
        <p:nvSpPr>
          <p:cNvPr id="4" name="TextBox 3"/>
          <p:cNvSpPr txBox="1"/>
          <p:nvPr/>
        </p:nvSpPr>
        <p:spPr>
          <a:xfrm>
            <a:off x="502920" y="603504"/>
            <a:ext cx="11155680" cy="731520"/>
          </a:xfrm>
          <a:prstGeom prst="rect">
            <a:avLst/>
          </a:prstGeom>
          <a:noFill/>
        </p:spPr>
        <p:txBody>
          <a:bodyPr wrap="square">
            <a:spAutoFit/>
          </a:bodyPr>
          <a:lstStyle/>
          <a:p>
            <a:r>
              <a:rPr sz="2700" b="1">
                <a:solidFill>
                  <a:srgbClr val="3A2B28"/>
                </a:solidFill>
                <a:latin typeface="Cambria"/>
              </a:rPr>
              <a:t>Quy tắc 4 × 20 — bốn cửa ải của ấn tượng ban đầu</a:t>
            </a:r>
          </a:p>
        </p:txBody>
      </p:sp>
      <p:sp>
        <p:nvSpPr>
          <p:cNvPr id="5" name="Rounded Rectangle 4"/>
          <p:cNvSpPr/>
          <p:nvPr/>
        </p:nvSpPr>
        <p:spPr>
          <a:xfrm>
            <a:off x="502920"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20</a:t>
            </a:r>
          </a:p>
          <a:p>
            <a:pPr algn="ctr"/>
            <a:r>
              <a:rPr sz="1400" b="1">
                <a:solidFill>
                  <a:srgbClr val="AC4D33"/>
                </a:solidFill>
                <a:latin typeface="Calibri"/>
              </a:rPr>
              <a:t>GIÂY</a:t>
            </a:r>
          </a:p>
          <a:p>
            <a:pPr algn="ctr">
              <a:spcBef>
                <a:spcPts val="1200"/>
              </a:spcBef>
            </a:pPr>
            <a:r>
              <a:rPr sz="1250">
                <a:solidFill>
                  <a:srgbClr val="3A2B28"/>
                </a:solidFill>
                <a:latin typeface="Calibri"/>
              </a:rPr>
              <a:t>Đối phương hình thành đánh giá tổng thể</a:t>
            </a:r>
          </a:p>
        </p:txBody>
      </p:sp>
      <p:sp>
        <p:nvSpPr>
          <p:cNvPr id="6" name="Rounded Rectangle 5"/>
          <p:cNvSpPr/>
          <p:nvPr/>
        </p:nvSpPr>
        <p:spPr>
          <a:xfrm>
            <a:off x="3362706"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20</a:t>
            </a:r>
          </a:p>
          <a:p>
            <a:pPr algn="ctr"/>
            <a:r>
              <a:rPr sz="1400" b="1">
                <a:solidFill>
                  <a:srgbClr val="AC4D33"/>
                </a:solidFill>
                <a:latin typeface="Calibri"/>
              </a:rPr>
              <a:t>BƯỚC CHÂN</a:t>
            </a:r>
          </a:p>
          <a:p>
            <a:pPr algn="ctr">
              <a:spcBef>
                <a:spcPts val="1200"/>
              </a:spcBef>
            </a:pPr>
            <a:r>
              <a:rPr sz="1250">
                <a:solidFill>
                  <a:srgbClr val="3A2B28"/>
                </a:solidFill>
                <a:latin typeface="Calibri"/>
              </a:rPr>
              <a:t>Dáng đi, tư thế được đọc từ xa</a:t>
            </a:r>
          </a:p>
        </p:txBody>
      </p:sp>
      <p:sp>
        <p:nvSpPr>
          <p:cNvPr id="7" name="Rounded Rectangle 6"/>
          <p:cNvSpPr/>
          <p:nvPr/>
        </p:nvSpPr>
        <p:spPr>
          <a:xfrm>
            <a:off x="6222492"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20</a:t>
            </a:r>
          </a:p>
          <a:p>
            <a:pPr algn="ctr"/>
            <a:r>
              <a:rPr sz="1400" b="1">
                <a:solidFill>
                  <a:srgbClr val="AC4D33"/>
                </a:solidFill>
                <a:latin typeface="Calibri"/>
              </a:rPr>
              <a:t>CENTIMET</a:t>
            </a:r>
          </a:p>
          <a:p>
            <a:pPr algn="ctr">
              <a:spcBef>
                <a:spcPts val="1200"/>
              </a:spcBef>
            </a:pPr>
            <a:r>
              <a:rPr sz="1250">
                <a:solidFill>
                  <a:srgbClr val="3A2B28"/>
                </a:solidFill>
                <a:latin typeface="Calibri"/>
              </a:rPr>
              <a:t>Ánh mắt và nụ cười trên gương mặt</a:t>
            </a:r>
          </a:p>
        </p:txBody>
      </p:sp>
      <p:sp>
        <p:nvSpPr>
          <p:cNvPr id="8" name="Rounded Rectangle 7"/>
          <p:cNvSpPr/>
          <p:nvPr/>
        </p:nvSpPr>
        <p:spPr>
          <a:xfrm>
            <a:off x="9082278"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20</a:t>
            </a:r>
          </a:p>
          <a:p>
            <a:pPr algn="ctr"/>
            <a:r>
              <a:rPr sz="1400" b="1">
                <a:solidFill>
                  <a:srgbClr val="AC4D33"/>
                </a:solidFill>
                <a:latin typeface="Calibri"/>
              </a:rPr>
              <a:t>TỪ</a:t>
            </a:r>
          </a:p>
          <a:p>
            <a:pPr algn="ctr">
              <a:spcBef>
                <a:spcPts val="1200"/>
              </a:spcBef>
            </a:pPr>
            <a:r>
              <a:rPr sz="1250">
                <a:solidFill>
                  <a:srgbClr val="3A2B28"/>
                </a:solidFill>
                <a:latin typeface="Calibri"/>
              </a:rPr>
              <a:t>Lời chào và giới thiệu đầu tiên</a:t>
            </a:r>
          </a:p>
        </p:txBody>
      </p:sp>
      <p:sp>
        <p:nvSpPr>
          <p:cNvPr id="9" name="Rounded Rectangle 8"/>
          <p:cNvSpPr/>
          <p:nvPr/>
        </p:nvSpPr>
        <p:spPr>
          <a:xfrm>
            <a:off x="502920" y="5440680"/>
            <a:ext cx="11201400" cy="685800"/>
          </a:xfrm>
          <a:prstGeom prst="roundRect">
            <a:avLst>
              <a:gd name="adj" fmla="val 12000"/>
            </a:avLst>
          </a:prstGeom>
          <a:solidFill>
            <a:srgbClr val="FDF1EF"/>
          </a:solidFill>
          <a:ln w="12700">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ctr"/>
            <a:r>
              <a:rPr sz="1300">
                <a:solidFill>
                  <a:srgbClr val="3A2B28"/>
                </a:solidFill>
                <a:latin typeface="Calibri"/>
              </a:rPr>
              <a:t>Ấn tượng ban đầu hình thành gần như tức thì và rất khó đảo ngược — nó phải được CHUẨN BỊ, không phó mặc cho may mắn.</a:t>
            </a:r>
          </a:p>
        </p:txBody>
      </p:sp>
      <p:sp>
        <p:nvSpPr>
          <p:cNvPr id="10" name="TextBox 9"/>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11" name="TextBox 10"/>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2.1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Nghi thức xã giao cơ bản</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Chào hỏi và giới thiệu</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Người nhỏ chào trước; giới thiệu người ít quan trọng với người quan trọng hơn</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Bắt tay</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Đứng dậy, nhìn vào mắt, siết vừa phải 2–3 giây</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Trao – nhận danh thiếp</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Hai tay, mặt chữ hướng người nhận; đọc qua rồi mới cất</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Ứng xử không gian chung</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Giữ trật tự, nhường lối, gõ cửa trước khi vào</a:t>
            </a:r>
            <a:endParaRPr lang="en-US" sz="15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MỤC 2.2</a:t>
            </a:r>
          </a:p>
        </p:txBody>
      </p:sp>
      <p:sp>
        <p:nvSpPr>
          <p:cNvPr id="6" name="TextBox 5"/>
          <p:cNvSpPr txBox="1"/>
          <p:nvPr/>
        </p:nvSpPr>
        <p:spPr>
          <a:xfrm>
            <a:off x="1280160" y="2788920"/>
            <a:ext cx="9601200" cy="1371600"/>
          </a:xfrm>
          <a:prstGeom prst="rect">
            <a:avLst/>
          </a:prstGeom>
          <a:noFill/>
        </p:spPr>
        <p:txBody>
          <a:bodyPr wrap="square">
            <a:spAutoFit/>
          </a:bodyPr>
          <a:lstStyle/>
          <a:p>
            <a:r>
              <a:rPr sz="3800" b="1">
                <a:solidFill>
                  <a:srgbClr val="AC4D33"/>
                </a:solidFill>
                <a:latin typeface="Cambria"/>
              </a:rPr>
              <a:t>Kỹ năng thuyết trình</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Từ chuẩn bị đến trình bày: làm sao để người nghe nhớ được điều bạn muốn nói.</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2.2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Thuyết trình: 5 bước chuẩn bị</a:t>
            </a:r>
            <a:endParaRPr lang="en-US" sz="2700" dirty="0"/>
          </a:p>
        </p:txBody>
      </p:sp>
      <p:sp>
        <p:nvSpPr>
          <p:cNvPr id="9" name="Shape 6"/>
          <p:cNvSpPr/>
          <p:nvPr/>
        </p:nvSpPr>
        <p:spPr>
          <a:xfrm>
            <a:off x="502920" y="1600200"/>
            <a:ext cx="2152498" cy="868680"/>
          </a:xfrm>
          <a:prstGeom prst="chevron">
            <a:avLst/>
          </a:prstGeom>
          <a:solidFill>
            <a:srgbClr val="AC4D33"/>
          </a:solidFill>
          <a:ln w="12700">
            <a:solidFill>
              <a:srgbClr val="FFFFFF"/>
            </a:solidFill>
            <a:prstDash val="solid"/>
          </a:ln>
        </p:spPr>
        <p:txBody>
          <a:bodyPr/>
          <a:p/>
        </p:txBody>
      </p:sp>
      <p:sp>
        <p:nvSpPr>
          <p:cNvPr id="10" name="Text 7"/>
          <p:cNvSpPr/>
          <p:nvPr/>
        </p:nvSpPr>
        <p:spPr>
          <a:xfrm>
            <a:off x="594360" y="160020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PHÂN TÍCH NGƯỜI NGHE</a:t>
            </a:r>
            <a:endParaRPr lang="en-US" sz="1250" dirty="0"/>
          </a:p>
        </p:txBody>
      </p:sp>
      <p:sp>
        <p:nvSpPr>
          <p:cNvPr id="11" name="Shape 8"/>
          <p:cNvSpPr/>
          <p:nvPr/>
        </p:nvSpPr>
        <p:spPr>
          <a:xfrm>
            <a:off x="2765146" y="1600200"/>
            <a:ext cx="2152498" cy="868680"/>
          </a:xfrm>
          <a:prstGeom prst="chevron">
            <a:avLst/>
          </a:prstGeom>
          <a:solidFill>
            <a:srgbClr val="DC756A"/>
          </a:solidFill>
          <a:ln w="12700">
            <a:solidFill>
              <a:srgbClr val="FFFFFF"/>
            </a:solidFill>
            <a:prstDash val="solid"/>
          </a:ln>
        </p:spPr>
        <p:txBody>
          <a:bodyPr/>
          <a:p/>
        </p:txBody>
      </p:sp>
      <p:sp>
        <p:nvSpPr>
          <p:cNvPr id="12" name="Text 9"/>
          <p:cNvSpPr/>
          <p:nvPr/>
        </p:nvSpPr>
        <p:spPr>
          <a:xfrm>
            <a:off x="2856586" y="160020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XÁC ĐỊNH MỤC TIÊU</a:t>
            </a:r>
            <a:endParaRPr lang="en-US" sz="1250" dirty="0"/>
          </a:p>
        </p:txBody>
      </p:sp>
      <p:sp>
        <p:nvSpPr>
          <p:cNvPr id="13" name="Shape 10"/>
          <p:cNvSpPr/>
          <p:nvPr/>
        </p:nvSpPr>
        <p:spPr>
          <a:xfrm>
            <a:off x="5027371" y="1600200"/>
            <a:ext cx="2152498" cy="868680"/>
          </a:xfrm>
          <a:prstGeom prst="chevron">
            <a:avLst/>
          </a:prstGeom>
          <a:solidFill>
            <a:srgbClr val="AC4D33"/>
          </a:solidFill>
          <a:ln w="12700">
            <a:solidFill>
              <a:srgbClr val="FFFFFF"/>
            </a:solidFill>
            <a:prstDash val="solid"/>
          </a:ln>
        </p:spPr>
        <p:txBody>
          <a:bodyPr/>
          <a:p/>
        </p:txBody>
      </p:sp>
      <p:sp>
        <p:nvSpPr>
          <p:cNvPr id="14" name="Text 11"/>
          <p:cNvSpPr/>
          <p:nvPr/>
        </p:nvSpPr>
        <p:spPr>
          <a:xfrm>
            <a:off x="5118811" y="160020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XÂY DỰNG NỘI DUNG</a:t>
            </a:r>
            <a:endParaRPr lang="en-US" sz="1250" dirty="0"/>
          </a:p>
        </p:txBody>
      </p:sp>
      <p:sp>
        <p:nvSpPr>
          <p:cNvPr id="15" name="Shape 12"/>
          <p:cNvSpPr/>
          <p:nvPr/>
        </p:nvSpPr>
        <p:spPr>
          <a:xfrm>
            <a:off x="7289597" y="1600200"/>
            <a:ext cx="2152498" cy="868680"/>
          </a:xfrm>
          <a:prstGeom prst="chevron">
            <a:avLst/>
          </a:prstGeom>
          <a:solidFill>
            <a:srgbClr val="DC756A"/>
          </a:solidFill>
          <a:ln w="12700">
            <a:solidFill>
              <a:srgbClr val="FFFFFF"/>
            </a:solidFill>
            <a:prstDash val="solid"/>
          </a:ln>
        </p:spPr>
        <p:txBody>
          <a:bodyPr/>
          <a:p/>
        </p:txBody>
      </p:sp>
      <p:sp>
        <p:nvSpPr>
          <p:cNvPr id="16" name="Text 13"/>
          <p:cNvSpPr/>
          <p:nvPr/>
        </p:nvSpPr>
        <p:spPr>
          <a:xfrm>
            <a:off x="7381037" y="160020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THIẾT KẾ SLIDE</a:t>
            </a:r>
            <a:endParaRPr lang="en-US" sz="1250" dirty="0"/>
          </a:p>
        </p:txBody>
      </p:sp>
      <p:sp>
        <p:nvSpPr>
          <p:cNvPr id="17" name="Shape 14"/>
          <p:cNvSpPr/>
          <p:nvPr/>
        </p:nvSpPr>
        <p:spPr>
          <a:xfrm>
            <a:off x="9551822" y="1600200"/>
            <a:ext cx="2152498" cy="868680"/>
          </a:xfrm>
          <a:prstGeom prst="chevron">
            <a:avLst/>
          </a:prstGeom>
          <a:solidFill>
            <a:srgbClr val="AC4D33"/>
          </a:solidFill>
          <a:ln w="12700">
            <a:solidFill>
              <a:srgbClr val="FFFFFF"/>
            </a:solidFill>
            <a:prstDash val="solid"/>
          </a:ln>
        </p:spPr>
        <p:txBody>
          <a:bodyPr/>
          <a:p/>
        </p:txBody>
      </p:sp>
      <p:sp>
        <p:nvSpPr>
          <p:cNvPr id="18" name="Text 15"/>
          <p:cNvSpPr/>
          <p:nvPr/>
        </p:nvSpPr>
        <p:spPr>
          <a:xfrm>
            <a:off x="9643262" y="1600200"/>
            <a:ext cx="201533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LUYỆN TẬP</a:t>
            </a:r>
            <a:endParaRPr lang="en-US" sz="1250" dirty="0"/>
          </a:p>
        </p:txBody>
      </p:sp>
      <p:sp>
        <p:nvSpPr>
          <p:cNvPr id="19" name="Text 16"/>
          <p:cNvSpPr/>
          <p:nvPr/>
        </p:nvSpPr>
        <p:spPr>
          <a:xfrm>
            <a:off x="502920" y="2606040"/>
            <a:ext cx="2152498" cy="182880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Họ là ai, quan tâm gì, mong đợi điều gì?</a:t>
            </a:r>
            <a:endParaRPr lang="en-US" sz="1150" dirty="0"/>
          </a:p>
        </p:txBody>
      </p:sp>
      <p:sp>
        <p:nvSpPr>
          <p:cNvPr id="20" name="Text 17"/>
          <p:cNvSpPr/>
          <p:nvPr/>
        </p:nvSpPr>
        <p:spPr>
          <a:xfrm>
            <a:off x="2765146" y="2606040"/>
            <a:ext cx="2152498" cy="182880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Sau bài nói, người nghe biết / tin / làm gì?</a:t>
            </a:r>
            <a:endParaRPr lang="en-US" sz="1150" dirty="0"/>
          </a:p>
        </p:txBody>
      </p:sp>
      <p:sp>
        <p:nvSpPr>
          <p:cNvPr id="21" name="Text 18"/>
          <p:cNvSpPr/>
          <p:nvPr/>
        </p:nvSpPr>
        <p:spPr>
          <a:xfrm>
            <a:off x="5027371" y="2606040"/>
            <a:ext cx="2152498" cy="182880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Chọn 3 ý chính, dẫn chứng, ví dụ.</a:t>
            </a:r>
            <a:endParaRPr lang="en-US" sz="1150" dirty="0"/>
          </a:p>
        </p:txBody>
      </p:sp>
      <p:sp>
        <p:nvSpPr>
          <p:cNvPr id="22" name="Text 19"/>
          <p:cNvSpPr/>
          <p:nvPr/>
        </p:nvSpPr>
        <p:spPr>
          <a:xfrm>
            <a:off x="7289597" y="2606040"/>
            <a:ext cx="2152498" cy="182880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Ít chữ, nhiều hình; slide hỗ trợ chứ không thay người nói.</a:t>
            </a:r>
            <a:endParaRPr lang="en-US" sz="1150" dirty="0"/>
          </a:p>
        </p:txBody>
      </p:sp>
      <p:sp>
        <p:nvSpPr>
          <p:cNvPr id="23" name="Text 20"/>
          <p:cNvSpPr/>
          <p:nvPr/>
        </p:nvSpPr>
        <p:spPr>
          <a:xfrm>
            <a:off x="9551822" y="2606040"/>
            <a:ext cx="2152498" cy="1828800"/>
          </a:xfrm>
          <a:prstGeom prst="rect">
            <a:avLst/>
          </a:prstGeom>
          <a:noFill/>
          <a:ln/>
        </p:spPr>
        <p:txBody>
          <a:bodyPr wrap="square" lIns="0" tIns="0" rIns="0" bIns="0" rtlCol="0" anchor="t"/>
          <a:lstStyle/>
          <a:p>
            <a:pPr indent="0" marL="0">
              <a:buNone/>
            </a:pPr>
            <a:r>
              <a:rPr lang="en-US" sz="1150" dirty="0">
                <a:solidFill>
                  <a:srgbClr val="3A2B28"/>
                </a:solidFill>
                <a:latin typeface="Calibri" pitchFamily="34" charset="0"/>
                <a:ea typeface="Calibri" pitchFamily="34" charset="-122"/>
                <a:cs typeface="Calibri" pitchFamily="34" charset="-120"/>
              </a:rPr>
              <a:t>Tập nói to, canh giờ, dự phòng câu hỏi khó.</a:t>
            </a:r>
            <a:endParaRPr lang="en-US" sz="1150" dirty="0"/>
          </a:p>
        </p:txBody>
      </p:sp>
      <p:sp>
        <p:nvSpPr>
          <p:cNvPr id="24" name="Text 21"/>
          <p:cNvSpPr/>
          <p:nvPr/>
        </p:nvSpPr>
        <p:spPr>
          <a:xfrm>
            <a:off x="502920" y="5212080"/>
            <a:ext cx="11201400" cy="548640"/>
          </a:xfrm>
          <a:prstGeom prst="rect">
            <a:avLst/>
          </a:prstGeom>
          <a:noFill/>
          <a:ln/>
        </p:spPr>
        <p:txBody>
          <a:bodyPr wrap="square" lIns="0" tIns="0" rIns="0" bIns="0" rtlCol="0" anchor="ctr"/>
          <a:lstStyle/>
          <a:p>
            <a:pPr indent="0" marL="0">
              <a:buNone/>
            </a:pPr>
            <a:r>
              <a:rPr lang="en-US" sz="1250" i="1" dirty="0">
                <a:solidFill>
                  <a:srgbClr val="8A7A76"/>
                </a:solidFill>
                <a:latin typeface="Calibri" pitchFamily="34" charset="0"/>
                <a:ea typeface="Calibri" pitchFamily="34" charset="-122"/>
                <a:cs typeface="Calibri" pitchFamily="34" charset="-120"/>
              </a:rPr>
              <a:t>Kinh nghiệm: 1 phút thuyết trình cần khoảng 1 giờ chuẩn bị nếu chủ đề mới — thời lượng luyện tập là thứ khán giả “nhìn thấy” rõ nhất.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2.2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Cấu trúc bài thuyết trình</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Mở đầu (10–15%) — giành lấy sự chú ý</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Câu hỏi tò mò, con số, câu chuyện ngắn — rồi cho biết lộ trình</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Thân bài (70–80%) — tối đa 3 ý chính</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Mỗi ý: luận điểm → dẫn chứng → ví dụ; ý mạnh nhất đặt đầu hoặc cuối</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Kết luận (10–15%) — đọng lại một điều</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Tóm tắt 3 ý, nhấn thông điệp, kêu gọi hành động cụ thể</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2.2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Trình bày tự tin trước đám đông</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Ngôn ngữ cơ thể</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Đứng vững, mở vai, mắt luân phiên khắp phòng; tay minh họa tự nhiên</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Giọng nói</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To rõ, đổi tốc độ; dừng 1–2 giây trước ý quan trọng</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Vượt qua run sợ</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Chuẩn bị kỹ • đến sớm • hít thở sâu • nghĩ về thông điệp</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Xử lý câu hỏi</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Nghe hết, cảm ơn, trả lời ngắn; chưa chắc thì hẹn trả lời sau</a:t>
            </a:r>
            <a:endParaRPr lang="en-US" sz="15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MỤC 2.3 – 2.4</a:t>
            </a:r>
          </a:p>
        </p:txBody>
      </p:sp>
      <p:sp>
        <p:nvSpPr>
          <p:cNvPr id="6" name="TextBox 5"/>
          <p:cNvSpPr txBox="1"/>
          <p:nvPr/>
        </p:nvSpPr>
        <p:spPr>
          <a:xfrm>
            <a:off x="1280160" y="2788920"/>
            <a:ext cx="9601200" cy="1371600"/>
          </a:xfrm>
          <a:prstGeom prst="rect">
            <a:avLst/>
          </a:prstGeom>
          <a:noFill/>
        </p:spPr>
        <p:txBody>
          <a:bodyPr wrap="square">
            <a:spAutoFit/>
          </a:bodyPr>
          <a:lstStyle/>
          <a:p>
            <a:r>
              <a:rPr sz="2900" b="1">
                <a:solidFill>
                  <a:srgbClr val="AC4D33"/>
                </a:solidFill>
                <a:latin typeface="Cambria"/>
              </a:rPr>
              <a:t>Lắng nghe, đặt câu hỏi và giao tiếp qua điện thoại</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Hai kỹ năng ít được dạy nhất nhưng quyết định nhất trong công việc hằng ngày.</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2.3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Nghe khác lắng nghe: 5 mức độ</a:t>
            </a:r>
            <a:endParaRPr lang="en-US" sz="2700" dirty="0"/>
          </a:p>
        </p:txBody>
      </p:sp>
      <p:pic>
        <p:nvPicPr>
          <p:cNvPr id="9" name="Picture 8" descr="c2-5-muc-lang-nghe-nt.png"/>
          <p:cNvPicPr>
            <a:picLocks noChangeAspect="1"/>
          </p:cNvPicPr>
          <p:nvPr/>
        </p:nvPicPr>
        <p:blipFill>
          <a:blip r:embed="rId4"/>
          <a:stretch>
            <a:fillRect/>
          </a:stretch>
        </p:blipFill>
        <p:spPr>
          <a:xfrm>
            <a:off x="472287" y="1787325"/>
            <a:ext cx="11247120" cy="40971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2.3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Kỹ năng đặt câu hỏi</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Câu hỏi đóng</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Có / Không hoặc một dữ kiện — dùng để xác nhận, chốt thông tin</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Câu hỏi mở</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Vì sao • Như thế nào • Điều gì — dùng để khám phá nhu cầu</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Câu hỏi thăm dò – đào sâu</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“Cụ thể là…?” — làm rõ sau một câu trả lời chung chung</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Lưu ý khi hỏi</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Mỗi lần một câu; hỏi xong thì im lặng chờ</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2.4</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Điện thoại: cuộc gọi đi chuyên nghiệp</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Chuẩn bị trước khi gọi  —  </a:t>
            </a:r>
            <a:pPr indent="0" marL="0">
              <a:buNone/>
            </a:pPr>
            <a:r>
              <a:rPr lang="en-US" sz="1350" dirty="0">
                <a:solidFill>
                  <a:srgbClr val="3A2B28"/>
                </a:solidFill>
                <a:latin typeface="Calibri" pitchFamily="34" charset="0"/>
                <a:ea typeface="Calibri" pitchFamily="34" charset="-122"/>
                <a:cs typeface="Calibri" pitchFamily="34" charset="-120"/>
              </a:rPr>
              <a:t>mục đích, nội dung, giấy bút; chọn giờ phù hợp</a:t>
            </a:r>
            <a:endParaRPr lang="en-US" sz="1400" dirty="0"/>
          </a:p>
        </p:txBody>
      </p:sp>
      <p:sp>
        <p:nvSpPr>
          <p:cNvPr id="12" name="Shape 9"/>
          <p:cNvSpPr/>
          <p:nvPr/>
        </p:nvSpPr>
        <p:spPr>
          <a:xfrm>
            <a:off x="502920" y="2532888"/>
            <a:ext cx="384048" cy="384048"/>
          </a:xfrm>
          <a:prstGeom prst="ellipse">
            <a:avLst/>
          </a:prstGeom>
          <a:solidFill>
            <a:srgbClr val="DC756A"/>
          </a:solidFill>
          <a:ln/>
        </p:spPr>
        <p:txBody>
          <a:bodyPr/>
          <a:p/>
        </p:txBody>
      </p:sp>
      <p:sp>
        <p:nvSpPr>
          <p:cNvPr id="13" name="Text 10"/>
          <p:cNvSpPr/>
          <p:nvPr/>
        </p:nvSpPr>
        <p:spPr>
          <a:xfrm>
            <a:off x="502920" y="2532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4597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Mở đầu đúng nghi thức  —  </a:t>
            </a:r>
            <a:pPr indent="0" marL="0">
              <a:buNone/>
            </a:pPr>
            <a:r>
              <a:rPr lang="en-US" sz="1350" dirty="0">
                <a:solidFill>
                  <a:srgbClr val="3A2B28"/>
                </a:solidFill>
                <a:latin typeface="Calibri" pitchFamily="34" charset="0"/>
                <a:ea typeface="Calibri" pitchFamily="34" charset="-122"/>
                <a:cs typeface="Calibri" pitchFamily="34" charset="-120"/>
              </a:rPr>
              <a:t>chào, xưng danh và đơn vị, xin phép năm phút</a:t>
            </a:r>
            <a:endParaRPr lang="en-US" sz="1400" dirty="0"/>
          </a:p>
        </p:txBody>
      </p:sp>
      <p:sp>
        <p:nvSpPr>
          <p:cNvPr id="15" name="Shape 12"/>
          <p:cNvSpPr/>
          <p:nvPr/>
        </p:nvSpPr>
        <p:spPr>
          <a:xfrm>
            <a:off x="502920" y="3493008"/>
            <a:ext cx="384048" cy="384048"/>
          </a:xfrm>
          <a:prstGeom prst="ellipse">
            <a:avLst/>
          </a:prstGeom>
          <a:solidFill>
            <a:srgbClr val="DC756A"/>
          </a:solidFill>
          <a:ln/>
        </p:spPr>
        <p:txBody>
          <a:bodyPr/>
          <a:p/>
        </p:txBody>
      </p:sp>
      <p:sp>
        <p:nvSpPr>
          <p:cNvPr id="16" name="Text 13"/>
          <p:cNvSpPr/>
          <p:nvPr/>
        </p:nvSpPr>
        <p:spPr>
          <a:xfrm>
            <a:off x="502920" y="3493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198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Trình bày gọn, kiểm tra hiểu  —  </a:t>
            </a:r>
            <a:pPr indent="0" marL="0">
              <a:buNone/>
            </a:pPr>
            <a:r>
              <a:rPr lang="en-US" sz="1350" dirty="0">
                <a:solidFill>
                  <a:srgbClr val="3A2B28"/>
                </a:solidFill>
                <a:latin typeface="Calibri" pitchFamily="34" charset="0"/>
                <a:ea typeface="Calibri" pitchFamily="34" charset="-122"/>
                <a:cs typeface="Calibri" pitchFamily="34" charset="-120"/>
              </a:rPr>
              <a:t>đi thẳng vào việc; tóm tắt lại thời gian – địa điểm – việc cần làm</a:t>
            </a:r>
            <a:endParaRPr lang="en-US" sz="1400" dirty="0"/>
          </a:p>
        </p:txBody>
      </p:sp>
      <p:sp>
        <p:nvSpPr>
          <p:cNvPr id="18" name="Shape 15"/>
          <p:cNvSpPr/>
          <p:nvPr/>
        </p:nvSpPr>
        <p:spPr>
          <a:xfrm>
            <a:off x="502920" y="4453128"/>
            <a:ext cx="384048" cy="384048"/>
          </a:xfrm>
          <a:prstGeom prst="ellipse">
            <a:avLst/>
          </a:prstGeom>
          <a:solidFill>
            <a:srgbClr val="DC756A"/>
          </a:solidFill>
          <a:ln/>
        </p:spPr>
        <p:txBody>
          <a:bodyPr/>
          <a:p/>
        </p:txBody>
      </p:sp>
      <p:sp>
        <p:nvSpPr>
          <p:cNvPr id="19" name="Text 16"/>
          <p:cNvSpPr/>
          <p:nvPr/>
        </p:nvSpPr>
        <p:spPr>
          <a:xfrm>
            <a:off x="502920" y="4453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3799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Kết thúc lịch sự  —  </a:t>
            </a:r>
            <a:pPr indent="0" marL="0">
              <a:buNone/>
            </a:pPr>
            <a:r>
              <a:rPr lang="en-US" sz="1350" dirty="0">
                <a:solidFill>
                  <a:srgbClr val="3A2B28"/>
                </a:solidFill>
                <a:latin typeface="Calibri" pitchFamily="34" charset="0"/>
                <a:ea typeface="Calibri" pitchFamily="34" charset="-122"/>
                <a:cs typeface="Calibri" pitchFamily="34" charset="-120"/>
              </a:rPr>
              <a:t>cảm ơn, chào; để khách gác máy trước</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2.4</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Nghe máy và văn hóa điện thoại nơi làm việc</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Khi nghe máy</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Nhấc trong ~3 hồi chuông; chào và xưng danh; ghi lại lời nhắn</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Khi người cần gặp vắng mặt</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Ghi: ai gọi – việc gì – số liên lạc – hẹn phản hồi</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Di động nơi công sở</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Im lặng trong họp; không nghe điện riêng khi đang tiếp khách</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HOẠT ĐỘNG NHÓM</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Thực hành 2 kỹ năng ngay tại lớp</a:t>
            </a:r>
            <a:endParaRPr lang="en-US" sz="2700" dirty="0"/>
          </a:p>
        </p:txBody>
      </p:sp>
      <p:sp>
        <p:nvSpPr>
          <p:cNvPr id="9" name="Shape 6"/>
          <p:cNvSpPr/>
          <p:nvPr/>
        </p:nvSpPr>
        <p:spPr>
          <a:xfrm>
            <a:off x="502920" y="1417320"/>
            <a:ext cx="11201400" cy="2103120"/>
          </a:xfrm>
          <a:prstGeom prst="roundRect">
            <a:avLst>
              <a:gd name="adj" fmla="val 4348"/>
            </a:avLst>
          </a:prstGeom>
          <a:solidFill>
            <a:srgbClr val="FBEDE0"/>
          </a:solidFill>
          <a:ln w="15875">
            <a:solidFill>
              <a:srgbClr val="C9A227"/>
            </a:solidFill>
            <a:prstDash val="solid"/>
          </a:ln>
        </p:spPr>
        <p:txBody>
          <a:bodyPr/>
          <a:p/>
        </p:txBody>
      </p:sp>
      <p:sp>
        <p:nvSpPr>
          <p:cNvPr id="10" name="Text 7"/>
          <p:cNvSpPr/>
          <p:nvPr/>
        </p:nvSpPr>
        <p:spPr>
          <a:xfrm>
            <a:off x="749808" y="1508760"/>
            <a:ext cx="10698480" cy="1920240"/>
          </a:xfrm>
          <a:prstGeom prst="rect">
            <a:avLst/>
          </a:prstGeom>
          <a:noFill/>
          <a:ln/>
        </p:spPr>
        <p:txBody>
          <a:bodyPr wrap="square" lIns="0" tIns="0" rIns="0" bIns="0" rtlCol="0" anchor="ctr"/>
          <a:lstStyle/>
          <a:p>
            <a:pPr indent="0" marL="0">
              <a:buNone/>
            </a:pPr>
            <a:r>
              <a:rPr lang="en-US" sz="1500" b="1" dirty="0">
                <a:solidFill>
                  <a:srgbClr val="8A6510"/>
                </a:solidFill>
                <a:latin typeface="Calibri" pitchFamily="34" charset="0"/>
                <a:ea typeface="Calibri" pitchFamily="34" charset="-122"/>
                <a:cs typeface="Calibri" pitchFamily="34" charset="-120"/>
              </a:rPr>
              <a:t>NHIỆM VỤ KÉP (nhóm 4–5 sinh viên, 25 phút chuẩn bị + trình diễn)</a:t>
            </a:r>
            <a:endParaRPr lang="en-US" sz="1500" dirty="0"/>
          </a:p>
          <a:p>
            <a:pPr indent="0" marL="0">
              <a:buNone/>
            </a:pPr>
            <a:r>
              <a:rPr lang="en-US" sz="1350" i="1" dirty="0">
                <a:solidFill>
                  <a:srgbClr val="3A2B28"/>
                </a:solidFill>
                <a:latin typeface="Calibri" pitchFamily="34" charset="0"/>
                <a:ea typeface="Calibri" pitchFamily="34" charset="-122"/>
                <a:cs typeface="Calibri" pitchFamily="34" charset="-120"/>
              </a:rPr>
              <a:t>Bốc thăm: (a) gọi hẹn gặp khách hàng tiềm năng, hoặc (b) gọi xử lý giao hàng trễ.</a:t>
            </a:r>
            <a:endParaRPr lang="en-US" sz="1500" dirty="0"/>
          </a:p>
        </p:txBody>
      </p:sp>
      <p:sp>
        <p:nvSpPr>
          <p:cNvPr id="11" name="Text 8"/>
          <p:cNvSpPr/>
          <p:nvPr/>
        </p:nvSpPr>
        <p:spPr>
          <a:xfrm>
            <a:off x="502920" y="3749040"/>
            <a:ext cx="11201400" cy="320040"/>
          </a:xfrm>
          <a:prstGeom prst="rect">
            <a:avLst/>
          </a:prstGeom>
          <a:noFill/>
          <a:ln/>
        </p:spPr>
        <p:txBody>
          <a:bodyPr wrap="square" lIns="0" tIns="0" rIns="0" bIns="0" rtlCol="0" anchor="ctr"/>
          <a:lstStyle/>
          <a:p>
            <a:pPr indent="0" marL="0">
              <a:buNone/>
            </a:pPr>
            <a:r>
              <a:rPr lang="en-US" sz="1300" b="1" spc="100" kern="0" dirty="0">
                <a:solidFill>
                  <a:srgbClr val="AC4D33"/>
                </a:solidFill>
                <a:latin typeface="Calibri" pitchFamily="34" charset="0"/>
                <a:ea typeface="Calibri" pitchFamily="34" charset="-122"/>
                <a:cs typeface="Calibri" pitchFamily="34" charset="-120"/>
              </a:rPr>
              <a:t>NHIỆM VỤ CỦA NHÓM</a:t>
            </a:r>
            <a:endParaRPr lang="en-US" sz="1300" dirty="0"/>
          </a:p>
        </p:txBody>
      </p:sp>
      <p:sp>
        <p:nvSpPr>
          <p:cNvPr id="12" name="Shape 9"/>
          <p:cNvSpPr/>
          <p:nvPr/>
        </p:nvSpPr>
        <p:spPr>
          <a:xfrm>
            <a:off x="502920" y="4178808"/>
            <a:ext cx="384048" cy="384048"/>
          </a:xfrm>
          <a:prstGeom prst="ellipse">
            <a:avLst/>
          </a:prstGeom>
          <a:solidFill>
            <a:srgbClr val="DC756A"/>
          </a:solidFill>
          <a:ln/>
        </p:spPr>
        <p:txBody>
          <a:bodyPr/>
          <a:p/>
        </p:txBody>
      </p:sp>
      <p:sp>
        <p:nvSpPr>
          <p:cNvPr id="13" name="Text 10"/>
          <p:cNvSpPr/>
          <p:nvPr/>
        </p:nvSpPr>
        <p:spPr>
          <a:xfrm>
            <a:off x="50292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p:nvPr/>
        </p:nvSpPr>
        <p:spPr>
          <a:xfrm>
            <a:off x="1051560" y="41056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Đóng vai cuộc gọi 3 phút; cả lớp chấm theo checklist mục 2.4.</a:t>
            </a:r>
            <a:endParaRPr lang="en-US" sz="1400" dirty="0"/>
          </a:p>
        </p:txBody>
      </p:sp>
      <p:sp>
        <p:nvSpPr>
          <p:cNvPr id="15" name="Shape 12"/>
          <p:cNvSpPr/>
          <p:nvPr/>
        </p:nvSpPr>
        <p:spPr>
          <a:xfrm>
            <a:off x="502920" y="4864608"/>
            <a:ext cx="384048" cy="384048"/>
          </a:xfrm>
          <a:prstGeom prst="ellipse">
            <a:avLst/>
          </a:prstGeom>
          <a:solidFill>
            <a:srgbClr val="DC756A"/>
          </a:solidFill>
          <a:ln/>
        </p:spPr>
        <p:txBody>
          <a:bodyPr/>
          <a:p/>
        </p:txBody>
      </p:sp>
      <p:sp>
        <p:nvSpPr>
          <p:cNvPr id="16" name="Text 13"/>
          <p:cNvSpPr/>
          <p:nvPr/>
        </p:nvSpPr>
        <p:spPr>
          <a:xfrm>
            <a:off x="50292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1051560" y="47914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Nhóm còn lại thuyết trình 3 phút; lớp nhận xét theo mở – thân – kết.</a:t>
            </a:r>
            <a:endParaRPr lang="en-US" sz="1400" dirty="0"/>
          </a:p>
        </p:txBody>
      </p:sp>
      <p:sp>
        <p:nvSpPr>
          <p:cNvPr id="18" name="Shape 15"/>
          <p:cNvSpPr/>
          <p:nvPr/>
        </p:nvSpPr>
        <p:spPr>
          <a:xfrm>
            <a:off x="502920" y="5550408"/>
            <a:ext cx="384048" cy="384048"/>
          </a:xfrm>
          <a:prstGeom prst="ellipse">
            <a:avLst/>
          </a:prstGeom>
          <a:solidFill>
            <a:srgbClr val="DC756A"/>
          </a:solidFill>
          <a:ln/>
        </p:spPr>
        <p:txBody>
          <a:bodyPr/>
          <a:p/>
        </p:txBody>
      </p:sp>
      <p:sp>
        <p:nvSpPr>
          <p:cNvPr id="19" name="Text 16"/>
          <p:cNvSpPr/>
          <p:nvPr/>
        </p:nvSpPr>
        <p:spPr>
          <a:xfrm>
            <a:off x="502920" y="5550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051560" y="54772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Mỗi nhóm rút ra 3 điều sẽ làm khác đi nếu được thực hiện lại.</a:t>
            </a:r>
            <a:endParaRPr lang="en-US" sz="1400" dirty="0"/>
          </a:p>
        </p:txBody>
      </p:sp>
      <p:pic>
        <p:nvPicPr>
          <p:cNvPr id="21" name="Picture 20" descr="co-huong-tron.png"/>
          <p:cNvPicPr>
            <a:picLocks noChangeAspect="1"/>
          </p:cNvPicPr>
          <p:nvPr/>
        </p:nvPicPr>
        <p:blipFill>
          <a:blip r:embed="rId4"/>
          <a:stretch>
            <a:fillRect/>
          </a:stretch>
        </p:blipFill>
        <p:spPr>
          <a:xfrm>
            <a:off x="10378440" y="384048"/>
            <a:ext cx="960120" cy="960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TỔNG KẾT</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Ba điều cần nhớ của chương</a:t>
            </a:r>
            <a:endParaRPr lang="en-US" sz="2700" dirty="0"/>
          </a:p>
        </p:txBody>
      </p:sp>
      <p:sp>
        <p:nvSpPr>
          <p:cNvPr id="9" name="Shape 6"/>
          <p:cNvSpPr/>
          <p:nvPr/>
        </p:nvSpPr>
        <p:spPr>
          <a:xfrm>
            <a:off x="502920" y="146304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Ấn tượng ban đầu được chuẩn bị, không phải may mắn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Trang phục – thần thái – lời chào – nghi thức xã giao: tất cả đều luyện được trước.</a:t>
            </a:r>
            <a:endParaRPr lang="en-US" sz="1500" dirty="0"/>
          </a:p>
        </p:txBody>
      </p:sp>
      <p:sp>
        <p:nvSpPr>
          <p:cNvPr id="11" name="Shape 8"/>
          <p:cNvSpPr/>
          <p:nvPr/>
        </p:nvSpPr>
        <p:spPr>
          <a:xfrm>
            <a:off x="502920" y="311810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7296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Thuyết trình hay bắt đầu từ người nghe</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Phân tích khán giả → mục tiêu → 3 ý chính → luyện tập; nói với người nghe, không nói với slide.</a:t>
            </a:r>
            <a:endParaRPr lang="en-US" sz="1500" dirty="0"/>
          </a:p>
        </p:txBody>
      </p:sp>
      <p:sp>
        <p:nvSpPr>
          <p:cNvPr id="13" name="Shape 10"/>
          <p:cNvSpPr/>
          <p:nvPr/>
        </p:nvSpPr>
        <p:spPr>
          <a:xfrm>
            <a:off x="502920" y="477316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82803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Lắng nghe và đặt câu hỏi là kỹ năng “bán hàng” giỏi nhất</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Hiểu đúng nhu cầu trước, trình bày sau; điện thoại chuyên nghiệp là bộ mặt âm thanh của doanh nghiệp.</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ÔN TẬP &amp; CHUẨN BỊ</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Câu hỏi ôn tập</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Trình bày quy tắc 4×20 và cách vận dụng trong buổi phỏng vấn xin việc.</a:t>
            </a:r>
            <a:endParaRPr lang="en-US" sz="1400" dirty="0"/>
          </a:p>
        </p:txBody>
      </p:sp>
      <p:sp>
        <p:nvSpPr>
          <p:cNvPr id="12" name="Shape 9"/>
          <p:cNvSpPr/>
          <p:nvPr/>
        </p:nvSpPr>
        <p:spPr>
          <a:xfrm>
            <a:off x="502920" y="2395728"/>
            <a:ext cx="384048" cy="384048"/>
          </a:xfrm>
          <a:prstGeom prst="ellipse">
            <a:avLst/>
          </a:prstGeom>
          <a:solidFill>
            <a:srgbClr val="DC756A"/>
          </a:solidFill>
          <a:ln/>
        </p:spPr>
        <p:txBody>
          <a:bodyPr/>
          <a:p/>
        </p:txBody>
      </p:sp>
      <p:sp>
        <p:nvSpPr>
          <p:cNvPr id="13" name="Text 10"/>
          <p:cNvSpPr/>
          <p:nvPr/>
        </p:nvSpPr>
        <p:spPr>
          <a:xfrm>
            <a:off x="50292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32257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Xây dựng cấu trúc chi tiết cho bài thuyết trình 5 phút giới thiệu một sản phẩm tự chọn.</a:t>
            </a:r>
            <a:endParaRPr lang="en-US" sz="1400" dirty="0"/>
          </a:p>
        </p:txBody>
      </p:sp>
      <p:sp>
        <p:nvSpPr>
          <p:cNvPr id="15" name="Shape 12"/>
          <p:cNvSpPr/>
          <p:nvPr/>
        </p:nvSpPr>
        <p:spPr>
          <a:xfrm>
            <a:off x="502920" y="3218688"/>
            <a:ext cx="384048" cy="384048"/>
          </a:xfrm>
          <a:prstGeom prst="ellipse">
            <a:avLst/>
          </a:prstGeom>
          <a:solidFill>
            <a:srgbClr val="DC756A"/>
          </a:solidFill>
          <a:ln/>
        </p:spPr>
        <p:txBody>
          <a:bodyPr/>
          <a:p/>
        </p:txBody>
      </p:sp>
      <p:sp>
        <p:nvSpPr>
          <p:cNvPr id="16" name="Text 13"/>
          <p:cNvSpPr/>
          <p:nvPr/>
        </p:nvSpPr>
        <p:spPr>
          <a:xfrm>
            <a:off x="502920" y="3218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14553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Phân biệt 5 mức độ lắng nghe; cho ví dụ về lắng nghe thấu cảm trong công việc.</a:t>
            </a:r>
            <a:endParaRPr lang="en-US" sz="1400" dirty="0"/>
          </a:p>
        </p:txBody>
      </p:sp>
      <p:sp>
        <p:nvSpPr>
          <p:cNvPr id="18" name="Shape 15"/>
          <p:cNvSpPr/>
          <p:nvPr/>
        </p:nvSpPr>
        <p:spPr>
          <a:xfrm>
            <a:off x="502920" y="4041648"/>
            <a:ext cx="384048" cy="384048"/>
          </a:xfrm>
          <a:prstGeom prst="ellipse">
            <a:avLst/>
          </a:prstGeom>
          <a:solidFill>
            <a:srgbClr val="DC756A"/>
          </a:solidFill>
          <a:ln/>
        </p:spPr>
        <p:txBody>
          <a:bodyPr/>
          <a:p/>
        </p:txBody>
      </p:sp>
      <p:sp>
        <p:nvSpPr>
          <p:cNvPr id="19" name="Text 16"/>
          <p:cNvSpPr/>
          <p:nvPr/>
        </p:nvSpPr>
        <p:spPr>
          <a:xfrm>
            <a:off x="502920" y="4041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396849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Soạn kịch bản cuộc gọi hẹn gặp khách hàng theo 4 bước chuẩn.</a:t>
            </a:r>
            <a:endParaRPr lang="en-US" sz="1400" dirty="0"/>
          </a:p>
        </p:txBody>
      </p:sp>
      <p:sp>
        <p:nvSpPr>
          <p:cNvPr id="21" name="Shape 18"/>
          <p:cNvSpPr/>
          <p:nvPr/>
        </p:nvSpPr>
        <p:spPr>
          <a:xfrm>
            <a:off x="502920" y="5074920"/>
            <a:ext cx="11201400" cy="1143000"/>
          </a:xfrm>
          <a:prstGeom prst="roundRect">
            <a:avLst>
              <a:gd name="adj" fmla="val 7200"/>
            </a:avLst>
          </a:prstGeom>
          <a:solidFill>
            <a:srgbClr val="FBF3E2"/>
          </a:solidFill>
          <a:ln w="12700">
            <a:solidFill>
              <a:srgbClr val="C9A227"/>
            </a:solidFill>
            <a:prstDash val="solid"/>
          </a:ln>
        </p:spPr>
        <p:txBody>
          <a:bodyPr/>
          <a:p/>
        </p:txBody>
      </p:sp>
      <p:sp>
        <p:nvSpPr>
          <p:cNvPr id="22" name="Text 19"/>
          <p:cNvSpPr/>
          <p:nvPr/>
        </p:nvSpPr>
        <p:spPr>
          <a:xfrm>
            <a:off x="777240" y="5120640"/>
            <a:ext cx="10698480" cy="1051560"/>
          </a:xfrm>
          <a:prstGeom prst="rect">
            <a:avLst/>
          </a:prstGeom>
          <a:noFill/>
          <a:ln/>
        </p:spPr>
        <p:txBody>
          <a:bodyPr wrap="square" lIns="0" tIns="0" rIns="0" bIns="0" rtlCol="0" anchor="ctr"/>
          <a:lstStyle/>
          <a:p>
            <a:pPr indent="0" marL="0">
              <a:buNone/>
            </a:pPr>
            <a:r>
              <a:rPr lang="en-US" sz="1300" b="1" dirty="0">
                <a:solidFill>
                  <a:srgbClr val="8A6510"/>
                </a:solidFill>
                <a:latin typeface="Calibri" pitchFamily="34" charset="0"/>
                <a:ea typeface="Calibri" pitchFamily="34" charset="-122"/>
                <a:cs typeface="Calibri" pitchFamily="34" charset="-120"/>
              </a:rPr>
              <a:t>CHUẨN BỊ CHO BUỔI SAU:  </a:t>
            </a:r>
            <a:pPr indent="0" marL="0">
              <a:buNone/>
            </a:pPr>
            <a:r>
              <a:rPr lang="en-US" sz="1300" dirty="0">
                <a:solidFill>
                  <a:srgbClr val="3A2B28"/>
                </a:solidFill>
                <a:latin typeface="Calibri" pitchFamily="34" charset="0"/>
                <a:ea typeface="Calibri" pitchFamily="34" charset="-122"/>
                <a:cs typeface="Calibri" pitchFamily="34" charset="-120"/>
              </a:rPr>
              <a:t>Chương 3 – Giao tiếp trong các tình huống đặc thù. Mỗi nhóm sưu tầm một tình huống giao tiếp khó xử có thật tại nơi làm việc (giữ ẩn danh) để thảo luận.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2</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TÀI LIỆU</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Tài liệu học tập</a:t>
            </a:r>
            <a:endParaRPr lang="en-US" sz="2700" dirty="0"/>
          </a:p>
        </p:txBody>
      </p:sp>
      <p:sp>
        <p:nvSpPr>
          <p:cNvPr id="9" name="Shape 6"/>
          <p:cNvSpPr/>
          <p:nvPr/>
        </p:nvSpPr>
        <p:spPr>
          <a:xfrm>
            <a:off x="502920" y="1463040"/>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Giáo trình chính</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Hà Nam Khánh Giao (2023), Giáo trình Giao tiếp kinh doanh, NXB Tài chính.</a:t>
            </a:r>
            <a:endParaRPr lang="en-US" sz="1500" dirty="0"/>
          </a:p>
        </p:txBody>
      </p:sp>
      <p:sp>
        <p:nvSpPr>
          <p:cNvPr id="11" name="Shape 8"/>
          <p:cNvSpPr/>
          <p:nvPr/>
        </p:nvSpPr>
        <p:spPr>
          <a:xfrm>
            <a:off x="502920" y="2950464"/>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2" name="Text 9"/>
          <p:cNvSpPr/>
          <p:nvPr/>
        </p:nvSpPr>
        <p:spPr>
          <a:xfrm>
            <a:off x="722376" y="3005328"/>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Tài liệu tham khảo</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Thái Trí Dũng (2012), Kỹ năng giao tiếp và thương lượng trong kinh doanh, NXB Lao động – Xã hội.  •  Nghị định 30/2020/NĐ-CP về công tác văn thư (dùng cho Chương 5 và phần thực hành).</a:t>
            </a:r>
            <a:endParaRPr lang="en-US" sz="1500" dirty="0"/>
          </a:p>
        </p:txBody>
      </p:sp>
      <p:sp>
        <p:nvSpPr>
          <p:cNvPr id="13" name="Shape 10"/>
          <p:cNvSpPr/>
          <p:nvPr/>
        </p:nvSpPr>
        <p:spPr>
          <a:xfrm>
            <a:off x="502920" y="4437888"/>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4" name="Text 11"/>
          <p:cNvSpPr/>
          <p:nvPr/>
        </p:nvSpPr>
        <p:spPr>
          <a:xfrm>
            <a:off x="722376" y="4492752"/>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Học liệu của giảng viên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Slide bài giảng, tình huống và bài tập do GV. Đỗ Thùy Hương biên soạn; cung cấp sau mỗi buổi học trên nhóm lớp.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Je m’appelle Huong — Lecturer and Researcher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Đỗ Thùy Hương</dc:creator>
  <cp:lastModifiedBy>Đỗ Thùy Hương</cp:lastModifiedBy>
  <cp:revision>1</cp:revision>
  <dcterms:created xsi:type="dcterms:W3CDTF">2026-08-23T10:31:56Z</dcterms:created>
  <dcterms:modified xsi:type="dcterms:W3CDTF">2026-08-23T10:31:56Z</dcterms:modified>
</cp:coreProperties>
</file>