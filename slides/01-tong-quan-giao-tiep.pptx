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HỌC (2 phút)</a:t>
            </a:r>
          </a:p>
          <a:p>
            <a:r>
              <a:t>• Chào lớp, giới thiệu bản thân ngắn gọn.</a:t>
            </a:r>
          </a:p>
          <a:p>
            <a:r>
              <a:t>• Hỏi mở: "Theo các bạn, một ngày chúng ta dành bao nhiêu phần trăm thời gian làm việc để giao tiếp?" (Đáp án tham khảo: 70–80%).</a:t>
            </a:r>
          </a:p>
          <a:p>
            <a:r>
              <a:t>• Chốt: học phần này dạy hai nhóm kỹ năng — NÓI và VIẾT — đều là công cụ kiếm sống.</a:t>
            </a:r>
          </a:p>
          <a:p>
            <a:r>
              <a:t>CHUYỂN Ý: "Trước khi luyện kỹ năng, ta phải hiểu đúng bản chất giao tiếp đã."''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 KẾT LỚP HỌC (2 phút)</a:t>
            </a:r>
          </a:p>
          <a:p>
            <a:r>
              <a:t>• Nhấn mạnh: lớp này KHÔNG chỉ nghe giảng — mỗi buổi đều có tình huống và thực hành.</a:t>
            </a:r>
          </a:p>
          <a:p>
            <a:r>
              <a:t>• Nói rõ 3 điều: điểm danh tối thiểu 80%; bài tập nộp đúng hạn; điện thoại để chế độ im lặng.</a:t>
            </a:r>
          </a:p>
          <a:p>
            <a:r>
              <a:t>• Mời sinh viên nêu kỳ vọng của mình về học phần (2–3 bạn phát biểu).</a:t>
            </a:r>
          </a:p>
          <a:p>
            <a:r>
              <a:t>CHUYỂN Ý: "Giờ ta bắt đầu từ mục tiêu của chương một."''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CHƯƠNG (1 phút)</a:t>
            </a:r>
          </a:p>
          <a:p>
            <a:r>
              <a:t>• Đọc lướt 4 mục tiêu, KHÔNG đọc từng chữ.</a:t>
            </a:r>
          </a:p>
          <a:p>
            <a:r>
              <a:t>• Nhấn: mục tiêu số 4 (vận dụng nguyên tắc) sẽ được kiểm tra qua tình huống cuối chương.</a:t>
            </a:r>
          </a:p>
          <a:p>
            <a:r>
              <a:t>• Dặn sinh viên chụp lại slide này để tự đối chiếu khi ôn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CHƯƠNG (1 phút)</a:t>
            </a:r>
          </a:p>
          <a:p>
            <a:r>
              <a:t>• Chỉ tay theo 5 mục, nói nhanh mỗi mục một câu.</a:t>
            </a:r>
          </a:p>
          <a:p>
            <a:r>
              <a:t>• Nhấn: mục 1.2 (phương tiện) và 1.5 (nguyên tắc)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Viết lên bảng 2 từ: THÔNG TIN – MỤC ĐÍCH. Giao tiếp luôn có cả hai.</a:t>
            </a:r>
          </a:p>
          <a:p>
            <a:r>
              <a:t>• Phân biệt: nói chuyện phiếm ≠ giao tiếp kinh doanh. Giao tiếp KD luôn gắn với MỤC TIÊU CÔNG VIỆC.</a:t>
            </a:r>
          </a:p>
          <a:p>
            <a:r>
              <a:t>• Ví dụ nhanh: một cuộc gọi hỏi thăm khách hàng cũ — mục đích thật là gì? (giữ quan hệ để bán hàng lần sau).</a:t>
            </a:r>
          </a:p>
          <a:p>
            <a:r>
              <a:t>HỎI LỚP: "Hôm nay các bạn đã có cuộc giao tiếp kinh doanh nào chưa?" (mua cà phê, hỏi bài giáo vụ...).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BỐN ĐẶC ĐIỂM (3 phút)</a:t>
            </a:r>
          </a:p>
          <a:p>
            <a:r>
              <a:t>• Đặc điểm 3 (RÀNG BUỘC PHÁP LÝ) là quan trọng nhất — nhấn mạnh mạnh.</a:t>
            </a:r>
          </a:p>
          <a:p>
            <a:r>
              <a:t>• Ví dụ có thật: nhân viên hứa miệng giảm giá 20% với khách → công ty vẫn phải thực hiện vì đó là lời của người đại diện.</a:t>
            </a:r>
          </a:p>
          <a:p>
            <a:r>
              <a:t>• Nối sang học phần: đó là lý do Chương 5 dạy các bạn VĂN BẢN HÓA mọi thỏa thuận.</a:t>
            </a:r>
          </a:p>
          <a:p>
            <a:r>
              <a:t>CHUYỂN Ý: "Vậy một cuộc giao tiếp diễn ra qua những khâu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TRUNG TÂM CỦA CHƯƠNG (4 phút)</a:t>
            </a:r>
          </a:p>
          <a:p>
            <a:r>
              <a:t>• Vẽ lại sơ đồ lên bảng trong lúc giảng — sinh viên nhớ tốt hơn khi thấy nó được vẽ ra.</a:t>
            </a:r>
          </a:p>
          <a:p>
            <a:r>
              <a:t>• Đi từng khâu: NGƯỜI GỬI → MÃ HÓA → THÔNG ĐIỆP/KÊNH → GIẢI MÃ → PHẢN HỒI.</a:t>
            </a:r>
          </a:p>
          <a:p>
            <a:r>
              <a:t>• Điểm nhấn: NHIỄU có ở MỌI khâu, không chỉ ở đường truyền.</a:t>
            </a:r>
          </a:p>
          <a:p>
            <a:r>
              <a:t>• Bài tập miệng: "Sếp gửi email giao việc, nhân viên làm sai. Hỏng ở khâu nào?" — cho lớp đoán, rồi phân tích: có thể mã hóa kém (email mơ hồ), có thể giải mã sai (nhân viên hiểu nhầm), có thể thiếu phản hồi (không hỏi lại).</a:t>
            </a:r>
          </a:p>
          <a:p>
            <a:r>
              <a:t>• CHỐT: cuộc giao tiếp thất bại thì đừng đổ lỗi, hãy DÒ LẠI TỪNG KHÂU.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NGÔN NGỮ NÓI VÀ VIẾT (2 phút)</a:t>
            </a:r>
          </a:p>
          <a:p>
            <a:r>
              <a:t>• So sánh nhanh: nói thì NHANH và giàu cảm xúc nhưng "lời nói gió bay"; viết thì CHẬM hơn nhưng LƯU LẠI LÀM BẰNG CHỨNG.</a:t>
            </a:r>
          </a:p>
          <a:p>
            <a:r>
              <a:t>• Nguyên tắc thực hành: việc quan trọng — thỏa thuận xong bằng lời phải XÁC NHẬN LẠI BẰNG EMAIL.</a:t>
            </a:r>
          </a:p>
          <a:p>
            <a:r>
              <a:t>• Liên hệ nghề nghiệp: đây chính là kỹ năng nửa sau học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PHI NGÔN NGỮ (4 phút) — PHẦN SINH VIÊN THÍCH NHẤT</a:t>
            </a:r>
          </a:p>
          <a:p>
            <a:r>
              <a:t>• Làm thử ngay tại lớp: nói câu "Rất vui được gặp bạn" hai lần — lần đầu nhìn xuống đất giọng đều, lần sau nhìn mắt và mỉm cười. Hỏi lớp tin lần nào.</a:t>
            </a:r>
          </a:p>
          <a:p>
            <a:r>
              <a:t>• Giới thiệu con số Mehrabian 7 – 38 – 55%, nhưng NÓI RÕ: chỉ đúng với thông điệp CẢM XÚC, không phải mọi tình huống.</a:t>
            </a:r>
          </a:p>
          <a:p>
            <a:r>
              <a:t>• Khoảng cách giao tiếp: mời 2 sinh viên lên đứng thử ở 3 khoảng cách khác nhau cho lớp quan sát.</a:t>
            </a:r>
          </a:p>
          <a:p>
            <a:r>
              <a:t>• CHỐT: đừng để cơ thể nói ngược lại lời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HÌNH THỨC GIAO TIẾP (2 phút)</a:t>
            </a:r>
          </a:p>
          <a:p>
            <a:r>
              <a:t>• 4 cặp phân loại — đi nhanh, đừng sa đà.</a:t>
            </a:r>
          </a:p>
          <a:p>
            <a:r>
              <a:t>• Nhấn cặp cuối: TRUYỀN THỐNG ↔ GIAO TIẾP SỐ. Hỏi lớp: "Một email công việc gửi lúc 11 giờ đêm nói lên điều gì về người gửi?"</a:t>
            </a:r>
          </a:p>
          <a:p>
            <a:r>
              <a:t>• Nhắc: giao tiếp số vẫn phải giữ đúng chuẩn mực như gặp mặt.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NĂM NGUYÊN TẮC (3 phút)</a:t>
            </a:r>
          </a:p>
          <a:p>
            <a:r>
              <a:t>• Đây là phần SINH VIÊN PHẢI THUỘC — sẽ dùng lại ở tình huống ngay sau đây.</a:t>
            </a:r>
          </a:p>
          <a:p>
            <a:r>
              <a:t>• Nguyên tắc TÔN TRỌNG: nói rõ tôn trọng thể hiện qua hành vi cụ thể — đúng giờ, không cắt lời, nhớ tên người đối diện.</a:t>
            </a:r>
          </a:p>
          <a:p>
            <a:r>
              <a:t>• Nguyên tắc GIỮ CHỮ TÍN: nhấn mạnh "chữ tín là tài sản kinh doanh" — mất khách vì thất hứa một lần.</a:t>
            </a:r>
          </a:p>
          <a:p>
            <a:r>
              <a:t>CHUYỂN Ý: "Bây giờ ta thử áp dụng cả chương vào một tình huống."''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Chia nhóm 4–5 bạn, phát giấy A3 hoặc dùng vở.</a:t>
            </a:r>
          </a:p>
          <a:p>
            <a:r>
              <a:t>• Bấm giờ 10 phút thảo luận, 5 phút cho 2 nhóm trình bày.</a:t>
            </a:r>
          </a:p>
          <a:p>
            <a:r>
              <a:t>• GỢI Ý ĐÁP ÁN: đến trễ không báo (vi phạm tôn trọng + chữ tín) • áo thun (nhiễu ở khâu mã hóa phi ngôn ngữ) • nói 20 phút không hỏi (thiếu phản hồi, vi phạm nguyên tắc lắng nghe) • bắt máy 2 lần (vi phạm tôn trọng, tạo nhiễu).</a:t>
            </a:r>
          </a:p>
          <a:p>
            <a:r>
              <a:t>• Câu khách nói "để anh xem lại rồi báo em sau" — hỏi lớp: đây là lời hẹn hay lời từ chối? (Nối tới Chương 3 – giao tiếp đa văn hóa).</a:t>
            </a:r>
          </a:p>
          <a:p>
            <a:r>
              <a:t>• CHỐT: mọi lỗi đều quy về mô hình 5 khâu và 5 nguyên tắc vừa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Đọc chậm 3 điều, dừng 2 giây sau mỗi điều.</a:t>
            </a:r>
          </a:p>
          <a:p>
            <a:r>
              <a:t>• Hỏi lớp: "Ai nhắc lại được 5 khâu của mô hình giao tiếp?" — gọi 1 sinh viên.</a:t>
            </a:r>
          </a:p>
          <a:p>
            <a:r>
              <a:t>• Giao việc: làm 40 câu trắc nghiệm Chương 1 trước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HỎI ÔN TẬP (1 phút)</a:t>
            </a:r>
          </a:p>
          <a:p>
            <a:r>
              <a:t>• Không giải trên lớp — để sinh viên tự làm ở nhà.</a:t>
            </a:r>
          </a:p>
          <a:p>
            <a:r>
              <a:t>• Nói rõ: 4 câu này nằm trong phạm vi kiểm tra giữa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</a:t>
            </a:r>
          </a:p>
          <a:p>
            <a:r>
              <a:t>• Chỉ rõ giáo trình chính đọc chương nào cho buổi sau.</a:t>
            </a:r>
          </a:p>
          <a:p>
            <a:r>
              <a:t>• Nhắc: học liệu của cô sẽ gửi lên nhóm lớp sau mỗi buổi.</a:t>
            </a:r>
          </a:p>
          <a:p>
            <a:r>
              <a:t>• Kết thúc buổi: cảm ơn lớp, nhắc lịch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MEHRABIAN (2 phút)</a:t>
            </a:r>
          </a:p>
          <a:p>
            <a:r>
              <a:t>• Chiếu slide, để lớp nhìn 5 giây rồi mới nói.</a:t>
            </a:r>
          </a:p>
          <a:p>
            <a:r>
              <a:t>• NÓI RÕ GIỚI HẠN: con số này chỉ đúng với thông điệp cảm xúc — đừng suy ra "nội dung chỉ chiếm 7%".</a:t>
            </a:r>
          </a:p>
          <a:p>
            <a:r>
              <a:t>• Ý nghĩa thực hành: khi lời nói và cơ thể mâu thuẫn, người nghe TIN CƠ THỂ.</a:t>
            </a:r>
          </a:p>
          <a:p>
            <a:r>
              <a:t>• Hỏi lớp: "Bạn nhận ra ai đó đang không vui dù họ nói 'em ổn' bằng cách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nói một câu dẫn rồi sang slide tiếp. Đây là mốc để lớp biết mình đang ở đâu trong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YẾU TỐ ẢNH HƯỞNG (2 phút)</a:t>
            </a:r>
          </a:p>
          <a:p>
            <a:r>
              <a:t>• Nhấn yếu tố ĐỊNH KIẾN — thứ khó thấy nhất nhưng phá hỏng nhiều cuộc giao tiếp nhất.</a:t>
            </a:r>
          </a:p>
          <a:p>
            <a:r>
              <a:t>• Ví dụ: nghe giọng vùng miền rồi đánh giá năng lực; thấy người trẻ rồi cho là thiếu kinh nghiệm.</a:t>
            </a:r>
          </a:p>
          <a:p>
            <a:r>
              <a:t>• Liên hệ Chương 3: phần giao tiếp đa văn hóa sẽ quay lại điểm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quan về giao tiếp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móng của mọi kỹ năng nghề nghiệp: hiểu đúng về giao tiếp trước khi luyện kỹ năng.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HỌC PHẦN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học cùng nhau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thuyết – 10 buổi sáng Thứ 7 &amp; Chủ nhật (05/12/2026 – 03/01/2027, phòng C0105)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1: Tổng quan giao tiếp  •  Chương 2: Kỹ năng giao tiếp chuyên nghiệp  •  Chương 3: Tình huống đặc thù  •  Chương 4: Đàm phán trong kinh doanh  •  Chương 5: Soạn thảo và trình bày văn bản.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chiều Thứ 7 / Chủ nhật (26/12 – 24/01, phòng A0105 Mô phỏng Kinh tế)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1: Thể thức văn bản  •  Bài 2: Soạn thảo văn bản hành chính  •  Bài 3: Soạn thảo văn bản thương mại.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Chuyên cần (dự lớp ≥ 80%, bài tập đầy đủ)  •  Quá trình: trắc nghiệm + tự luận + thực hành  •  Cuối kỳ: bài thi thực hành.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 và mô hình quá trình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7500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75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7690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và hình thức giao tiếp; nhận diện ưu – nhược điểm của từng hình thức.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881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881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80847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hiệu quả giao tiếp trong tình huống thực tế.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0131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0131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4004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 để xử lý một tình huống giao tiếp kinh doanh cụ thể.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giao tiếp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hình thức giao tiếp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quá trình giao tiếp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và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là gì?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Quá trình trao đổi thông tin, tư tưởng, tình cảm giữa con người với con người nhằm đạt được mục đích nhất định — diễn ra bằng cả lời nói, chữ viết và hành vi không lời.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giao tiếp gắn với quá trình kinh doanh: giữa doanh nghiệp với khách hàng, đối tác, cơ quan quản lý và giữa các thành viên trong tổ chức — hướng tới mục tiêu kinh doanh cụ thể.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phải học?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Khảo sát nhà tuyển dụng nhiều năm liền xếp kỹ năng giao tiếp trong nhóm kỹ năng được yêu cầu cao nhất — bán được ý tưởng trước khi bán được sản phẩm.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Luôn có mục đích rõ ràng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cuộc gặp, cuộc gọi, email đều phục vụ một mục tiêu công việc: bán hàng, hợp tác, giải quyết vấn đề.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dạng chủ thể và vai vế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lúc giao tiếp với khách hàng, cấp trên, đồng nghiệp, cơ quan nhà nước — mỗi đối tượng một chuẩn mực riêng.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Chịu ràng buộc lợi ích và pháp lý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nói, văn bản trong kinh doanh có thể tạo ra nghĩa vụ, hợp đồng, trách nhiệm — phải cẩn trọng và chuẩn mực.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Vừa khoa học, vừa nghệ thuật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nguyên tắc, quy trình để học; nhưng vận dụng linh hoạt theo con người, hoàn cảnh mới tạo nên hiệu quả.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quá trình giao tiếp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481328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249487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Giao tiếp là quá trình hai chiều — muốn sửa một cuộc giao tiếp thất bại, hãy dò lại từng khâu.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nói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tiếp, nhanh, giàu cảm xúc, phản hồi tức thì — nhưng “lời nói gió bay”, dễ sai sót khi thiếu chuẩn bị. Chú ý: phát âm, tốc độ, âm lượng, ngữ điệu.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viết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xác, có thể cân nhắc kỹ, lưu lại làm bằng chứng — nền tảng của Chương 5 (soạn thảo văn bản). Chú ý: đúng chính tả, đúng thể thức, đúng văn phong.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dùng từ trong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ràng, lịch sự, tích cực; tránh khẩu ngữ, tiếng lóng, từ đa nghĩa; ưu tiên câu chủ động, ngắn gọn.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phi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Ánh mắt – nét mặt – nụ cười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biểu cảm mạnh nhất; giao tiếp bằng mắt thể hiện tự tin và tôn trọng người đối diện.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– tư thế – dáng đi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 thế thẳng, cởi mở tạo thiện cảm; khoanh tay, nhìn đồng hồ phát tín hiệu khép kín, sốt ruột.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1188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68503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cách và không gian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mật (&lt;0,5m) – cá nhân – xã giao (1,2–3,5m) – công cộng; chọn sai khoảng cách gây khó chịu.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611880"/>
            <a:ext cx="5509260" cy="2011680"/>
          </a:xfrm>
          <a:prstGeom prst="roundRect">
            <a:avLst>
              <a:gd name="adj" fmla="val 409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685032"/>
            <a:ext cx="50703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 – giọng điệu – thời gian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Ăn mặc phù hợp bối cảnh; giọng điệu quyết định cách thông điệp được đón nhận; đúng giờ cũng là thông điệp.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02920" y="576072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Nghiên cứu của Mehrabian: với thông điệp cảm xúc, tác động của từ ngữ ~7%, giọng nói ~38%, ngôn ngữ cơ thể ~55% — đừng để cơ thể “nói” ngược với lời.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hình thức giao tiếp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tiếp  ↔  Gián tiếp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Mặt đối mặt: giàu thông tin, phản hồi ngay. Gián tiếp (điện thoại, văn bản, email): vượt khoảng cách, có bằng chứng — nhưng dễ hiểu nhầm.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thức  ↔  Không chính thức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Cuộc họp, văn bản, hội nghị theo quy định; trò chuyện ngoài lề, tin đồn — người quản lý giỏi biết dùng cả hai.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 nhân  ↔  Nhóm / đám đông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1-1: sâu, riêng tư. Nhóm: cần điều phối; đám đông: cần kỹ năng thuyết trình (học ở Chương 2).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Truyền thống  ↔  Giao tiếp số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họp trực tuyến, mạng xã hội, tin nhắn nhóm — chuẩn mực mới: trả lời đúng hạn, đúng kênh, giữ hình ảnh số chuyên nghiệp.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Yếu tố ảnh hưởng đến quá trình giao tiếp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Yếu tố thuộc chủ thể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trạng thái tâm lý, cảm xúc, sức khỏe, vốn hiểu biết, kỹ năng và uy tín của người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điệp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rõ hay mơ hồ, cấu trúc hợp lý hay lộn xộn, phù hợp người nghe hay không.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và nhiễu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kênh sai (việc hệ trọng lại nhắn tin), chất lượng đường truyền, môi trường ồn ào.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 văn hóa – xã hội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mực, tôn giáo, vùng miền, thứ bậc; điều bình thường nơi này có thể là thất lễ nơi khác.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hệ và định kiến sẵn có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ấn tượng cũ, tin đồn, khoảng cách quyền lực làm méo cách diễn giải thông điệp.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nhân cách, thời gian, lợi ích và sự khác biệt của đối tượng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Thiện chí và hợp tác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tới hai bên cùng có lợi; thắng một cuộc cãi có thể thua một khách hàng.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và thấu hiểu trước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đúng nhu cầu đối phương rồi mới trình bày quan điểm của mình.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ngữ cảnh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vai, đúng lúc, đúng nơi, đúng kênh, đúng mức độ trang trọng.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mực và giữ chữ tín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 và văn bản nhất quán; đã hứa là làm — chữ tín là tài sản kinh doanh.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huống: buổi gặp đầu tiên thất bại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(thảo luận nhóm 4–5 sinh viên, 15 phút)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kinh doanh A đến gặp khách hàng lần đầu: đến trễ 10 phút vì kẹt xe nhưng không báo trước; mặc áo thun vì “cuối tuần”; vừa ngồi đã mở máy giới thiệu sản phẩm liên tục 20 phút; điện thoại đổ chuông 2 lần và A đều bắt máy. Kết thúc buổi gặp, khách hàng nói “để anh xem lại rồi báo em sau” và không phản hồi nữa.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Liệt kê tất cả các lỗi giao tiếp của A và xếp mỗi lỗi vào một khâu trong mô hình quá trình giao tiếp.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lỗi vi phạm nguyên tắc giao tiếp nào ở mục 1.5?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“kịch bản chuẩn” 5 bước cho buổi gặp khách hàng đầu tiên và cử đại diện trình bày trước lớp (3 phút).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kinh doanh có mục đích và có luật chơi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phải trò chuyện ngẫu nhiên: mỗi tương tác phục vụ mục tiêu, chịu chuẩn mực và ràng buộc lợi ích – pháp lý.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quả được quyết định ở cả 5 khâu + nhiễu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Muốn sửa một cuộc giao tiếp thất bại, hãy dò lại từng khâu: ý tưởng – mã hóa – kênh – giải mã – phản hồi.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ngôn ngữ mạnh hơn ta nghĩ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phục, ánh mắt, giọng điệu, đúng giờ… “nói” trước và nói to hơn lời — hãy để chúng nói cùng một điều với bạn.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các thành phần của mô hình quá trình giao tiếp qua một ví dụ thực tế của chính bạn.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ưu – nhược điểm của giao tiếp bằng lời nói và bằng văn bản trong kinh doanh.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nói giao tiếp kinh doanh “vừa là khoa học, vừa là nghệ thuật”?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và minh họa 5 nguyên tắc giao tiếp trong kinh doanh.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 – Kỹ năng giao tiếp chuyên nghiệp. Mỗi nhóm chuẩn bị một bài thuyết trình 3 phút về chủ đề tự chọn để thực hành trên lớp.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Thông điệp cảm xúc được truyền đi thế nào?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TỪ NGỮ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Nội dung lời nói — phần nhỏ nhất, dù ta thường đầu tư nhiều nhất vào đây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GIỌNG NÓI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Âm lượng, tốc độ, ngữ điệu, khoảng dừng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NGÔN NGỮ CƠ THỂ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Ánh mắt, nét mặt, cử chỉ, tư thế, khoảng cách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Nghiên cứu của Albert Mehrabian — chỉ áp dụng cho thông điệp mang tính CẢM XÚC, không phải mọi tình huống giao tiếp.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Bản chất và phương tiện giao tiếp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đúng bản chất trước khi luyện kỹ năng: giao tiếp là gì, diễn ra qua những khâu nào, bằng phương tiện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Yếu tố ảnh hưởng và nguyên tắc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Điều gì làm hỏng một cuộc giao tiếp, và năm nguyên tắc giúp ta tránh được điều đó.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2026-08-18T11:54:08Z</dcterms:created>
  <dcterms:modified xsi:type="dcterms:W3CDTF">2026-08-18T11:54:08Z</dcterms:modified>
</cp:coreProperties>
</file>