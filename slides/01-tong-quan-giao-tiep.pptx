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24"/>
    <p:sldId id="260" r:id="rId6"/>
    <p:sldId id="261" r:id="rId7"/>
    <p:sldId id="262" r:id="rId8"/>
    <p:sldId id="263" r:id="rId9"/>
    <p:sldId id="264" r:id="rId10"/>
    <p:sldId id="272" r:id="rId23"/>
    <p:sldId id="265" r:id="rId11"/>
    <p:sldId id="274" r:id="rId25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5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BUỔI HỌC (2 phút)</a:t>
            </a:r>
          </a:p>
          <a:p>
            <a:r>
              <a:t>• Chào lớp, giới thiệu bản thân ngắn gọn.</a:t>
            </a:r>
          </a:p>
          <a:p>
            <a:r>
              <a:t>• Hỏi mở: "Theo các bạn, một ngày chúng ta dành bao nhiêu phần trăm thời gian làm việc để giao tiếp?" (Đáp án tham khảo: 70–80%).</a:t>
            </a:r>
          </a:p>
          <a:p>
            <a:r>
              <a:t>• Chốt: học phần này dạy hai nhóm kỹ năng — NÓI và VIẾT — đều là công cụ kiếm sống.</a:t>
            </a:r>
          </a:p>
          <a:p>
            <a:r>
              <a:t>CHUYỂN Ý: "Trước khi luyện kỹ năng, ta phải hiểu đúng bản chất giao tiếp đã."''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 KẾT LỚP HỌC (2 phút)</a:t>
            </a:r>
          </a:p>
          <a:p>
            <a:r>
              <a:t>• Nhấn mạnh: lớp này KHÔNG chỉ nghe giảng — mỗi buổi đều có tình huống và thực hành.</a:t>
            </a:r>
          </a:p>
          <a:p>
            <a:r>
              <a:t>• Nói rõ 3 điều: điểm danh tối thiểu 80%; bài tập nộp đúng hạn; điện thoại để chế độ im lặng.</a:t>
            </a:r>
          </a:p>
          <a:p>
            <a:r>
              <a:t>• Mời sinh viên nêu kỳ vọng của mình về học phần (2–3 bạn phát biểu).</a:t>
            </a:r>
          </a:p>
          <a:p>
            <a:r>
              <a:t>CHUYỂN Ý: "Giờ ta bắt đầu từ mục tiêu của chương một."''</a:t>
            </a:r>
          </a:p>
          <a:p/>
          <a:p>
            <a:r>
              <a:t>NÓI ĐỦ Ý (phần đã rút khỏi slide)</a:t>
            </a:r>
          </a:p>
          <a:p>
            <a:r>
              <a:t>• Lý thuyết: 10 buổi sáng T7 &amp; CN, 05/12/2026 – 03/01/2027, phòng C0105 — Chương 1 Tổng quan giao tiếp; Chương 2 Kỹ năng chuyên nghiệp; Chương 3 Tình huống đặc thù; Chương 4 Đàm phán; Chương 5 Soạn thảo văn bản.</a:t>
            </a:r>
          </a:p>
          <a:p>
            <a:r>
              <a:t>• Thực hành: chiều T7/CN, 26/12 – 24/01, phòng A0105 Mô phỏng Kinh tế — Bài 1 Thể thức; Bài 2 Văn bản hành chính; Bài 3 Văn bản thương mại.</a:t>
            </a:r>
          </a:p>
          <a:p>
            <a:r>
              <a:t>• Đánh giá: chuyên cần (dự lớp ≥ 80%, bài tập đầy đủ); quá trình (trắc nghiệm + tự luận + thực hành); cuối kỳ thi thực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CHƯƠNG (1 phút)</a:t>
            </a:r>
          </a:p>
          <a:p>
            <a:r>
              <a:t>• Đọc lướt 4 mục tiêu, KHÔNG đọc từng chữ.</a:t>
            </a:r>
          </a:p>
          <a:p>
            <a:r>
              <a:t>• Nhấn: mục tiêu số 4 (vận dụng nguyên tắc) sẽ được kiểm tra qua tình huống cuối chương.</a:t>
            </a:r>
          </a:p>
          <a:p>
            <a:r>
              <a:t>• Dặn sinh viên chụp lại slide này để tự đối chiếu khi ôn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CHƯƠNG (1 phút)</a:t>
            </a:r>
          </a:p>
          <a:p>
            <a:r>
              <a:t>• Chỉ tay theo 5 mục, nói nhanh mỗi mục một câu.</a:t>
            </a:r>
          </a:p>
          <a:p>
            <a:r>
              <a:t>• Nhấn: mục 1.2 (phương tiện) và 1.5 (nguyên tắc) là phần hay ra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KHÁI NIỆM (3 phút)</a:t>
            </a:r>
          </a:p>
          <a:p>
            <a:r>
              <a:t>• Viết lên bảng 2 từ: THÔNG TIN – MỤC ĐÍCH. Giao tiếp luôn có cả hai.</a:t>
            </a:r>
          </a:p>
          <a:p>
            <a:r>
              <a:t>• Phân biệt: nói chuyện phiếm ≠ giao tiếp kinh doanh. Giao tiếp KD luôn gắn với MỤC TIÊU CÔNG VIỆC.</a:t>
            </a:r>
          </a:p>
          <a:p>
            <a:r>
              <a:t>• Ví dụ nhanh: một cuộc gọi hỏi thăm khách hàng cũ — mục đích thật là gì? (giữ quan hệ để bán hàng lần sau).</a:t>
            </a:r>
          </a:p>
          <a:p>
            <a:r>
              <a:t>HỎI LỚP: "Hôm nay các bạn đã có cuộc giao tiếp kinh doanh nào chưa?" (mua cà phê, hỏi bài giáo vụ...).</a:t>
            </a:r>
          </a:p>
          <a:p/>
          <a:p>
            <a:r>
              <a:t>NÓI ĐỦ Ý (phần đã rút khỏi slide)</a:t>
            </a:r>
          </a:p>
          <a:p>
            <a:r>
              <a:t>• Giao tiếp: quá trình trao đổi thông tin, tư tưởng, tình cảm giữa người với người nhằm đạt một mục đích — bằng cả lời nói, chữ viết và hành vi không lời.</a:t>
            </a:r>
          </a:p>
          <a:p>
            <a:r>
              <a:t>• Giao tiếp kinh doanh: gắn với quá trình kinh doanh — doanh nghiệp với khách hàng, đối tác, cơ quan quản lý, và giữa các thành viên trong tổ chức — hướng tới mục tiêu kinh doanh cụ thể.</a:t>
            </a:r>
          </a:p>
          <a:p>
            <a:r>
              <a:t>• Vì sao học: khảo sát nhà tuyển dụng nhiều năm liền xếp kỹ năng giao tiếp vào nhóm được yêu cầu cao nhất — bán được ý tưởng trước khi bán được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BỐN ĐẶC ĐIỂM (3 phút)</a:t>
            </a:r>
          </a:p>
          <a:p>
            <a:r>
              <a:t>• Đặc điểm 3 (RÀNG BUỘC PHÁP LÝ) là quan trọng nhất — nhấn mạnh mạnh.</a:t>
            </a:r>
          </a:p>
          <a:p>
            <a:r>
              <a:t>• Ví dụ có thật: nhân viên hứa miệng giảm giá 20% với khách → công ty vẫn phải thực hiện vì đó là lời của người đại diện.</a:t>
            </a:r>
          </a:p>
          <a:p>
            <a:r>
              <a:t>• Nối sang học phần: đó là lý do Chương 5 dạy các bạn VĂN BẢN HÓA mọi thỏa thuận.</a:t>
            </a:r>
          </a:p>
          <a:p>
            <a:r>
              <a:t>CHUYỂN Ý: "Vậy một cuộc giao tiếp diễn ra qua những khâu nào?"''</a:t>
            </a:r>
          </a:p>
          <a:p/>
          <a:p>
            <a:r>
              <a:t>NÓI ĐỦ Ý (phần đã rút khỏi slide)</a:t>
            </a:r>
          </a:p>
          <a:p>
            <a:r>
              <a:t>• Có mục đích: mỗi cuộc gặp, cuộc gọi, email đều phục vụ một mục tiêu công việc — bán hàng, hợp tác, giải quyết vấn đề.</a:t>
            </a:r>
          </a:p>
          <a:p>
            <a:r>
              <a:t>• Đa dạng chủ thể: cùng lúc giao tiếp với khách hàng, cấp trên, đồng nghiệp, cơ quan nhà nước — mỗi đối tượng một chuẩn mực riêng.</a:t>
            </a:r>
          </a:p>
          <a:p>
            <a:r>
              <a:t>• Ràng buộc: lời nói và văn bản trong kinh doanh có thể tạo ra nghĩa vụ, hợp đồng, trách nhiệm.</a:t>
            </a:r>
          </a:p>
          <a:p>
            <a:r>
              <a:t>• Khoa học và nghệ thuật: có nguyên tắc, quy trình để học; vận dụng linh hoạt theo con người và hoàn cảnh mới hiệu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SƠ ĐỒ TRUNG TÂM CỦA CHƯƠNG (4 phút)</a:t>
            </a:r>
          </a:p>
          <a:p>
            <a:r>
              <a:t>• Vẽ lại sơ đồ lên bảng trong lúc giảng — sinh viên nhớ tốt hơn khi thấy nó được vẽ ra.</a:t>
            </a:r>
          </a:p>
          <a:p>
            <a:r>
              <a:t>• Đi từng khâu: NGƯỜI GỬI → MÃ HÓA → THÔNG ĐIỆP/KÊNH → GIẢI MÃ → PHẢN HỒI.</a:t>
            </a:r>
          </a:p>
          <a:p>
            <a:r>
              <a:t>• Điểm nhấn: NHIỄU có ở MỌI khâu, không chỉ ở đường truyền.</a:t>
            </a:r>
          </a:p>
          <a:p>
            <a:r>
              <a:t>• Bài tập miệng: "Sếp gửi email giao việc, nhân viên làm sai. Hỏng ở khâu nào?" — cho lớp đoán, rồi phân tích: có thể mã hóa kém (email mơ hồ), có thể giải mã sai (nhân viên hiểu nhầm), có thể thiếu phản hồi (không hỏi lại).</a:t>
            </a:r>
          </a:p>
          <a:p>
            <a:r>
              <a:t>• CHỐT: cuộc giao tiếp thất bại thì đừng đổ lỗi, hãy DÒ LẠI TỪNG KHÂU.</a:t>
            </a:r>
          </a:p>
          <a:p/>
          <a:p>
            <a:r>
              <a:t>NÓI ĐỦ Ý (phần đã rút khỏi slide)</a:t>
            </a:r>
          </a:p>
          <a:p>
            <a:r>
              <a:t>• Người gửi: hình thành ý tưởng, xác định mục đích truyền đạt.</a:t>
            </a:r>
          </a:p>
          <a:p>
            <a:r>
              <a:t>• Mã hóa: chuyển ý tưởng thành lời nói, chữ viết, cử chỉ.</a:t>
            </a:r>
          </a:p>
          <a:p>
            <a:r>
              <a:t>• Thông điệp: nội dung truyền qua kênh — trực tiếp, điện thoại, email…</a:t>
            </a:r>
          </a:p>
          <a:p>
            <a:r>
              <a:t>• Giải mã: người nhận tiếp nhận và diễn giải.</a:t>
            </a:r>
          </a:p>
          <a:p>
            <a:r>
              <a:t>• Phản hồi: người nhận đáp lại — căn cứ để biết giao tiếp có hiệu quả.</a:t>
            </a:r>
          </a:p>
          <a:p>
            <a:r>
              <a:t>• NHIỄU: tiếng ồn, đường truyền kém, khác biệt ngôn ngữ – văn hóa, định kiến, cảm xúc tiêu cực… xuất hiện ở mọi khâu. Người giao tiếp giỏi chủ động giảm nhiễu ở từng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NGÔN NGỮ NÓI VÀ VIẾT (2 phút)</a:t>
            </a:r>
          </a:p>
          <a:p>
            <a:r>
              <a:t>• So sánh nhanh: nói thì NHANH và giàu cảm xúc nhưng "lời nói gió bay"; viết thì CHẬM hơn nhưng LƯU LẠI LÀM BẰNG CHỨNG.</a:t>
            </a:r>
          </a:p>
          <a:p>
            <a:r>
              <a:t>• Nguyên tắc thực hành: việc quan trọng — thỏa thuận xong bằng lời phải XÁC NHẬN LẠI BẰNG EMAIL.</a:t>
            </a:r>
          </a:p>
          <a:p>
            <a:r>
              <a:t>• Liên hệ nghề nghiệp: đây chính là kỹ năng nửa sau học phần.</a:t>
            </a:r>
          </a:p>
          <a:p/>
          <a:p>
            <a:r>
              <a:t>NÓI ĐỦ Ý (phần đã rút khỏi slide)</a:t>
            </a:r>
          </a:p>
          <a:p>
            <a:r>
              <a:t>• Nói: trực tiếp, nhanh, giàu cảm xúc, phản hồi tức thì — nhưng "lời nói gió bay", dễ sai khi thiếu chuẩn bị. Chú ý phát âm, tốc độ, âm lượng, ngữ điệu.</a:t>
            </a:r>
          </a:p>
          <a:p>
            <a:r>
              <a:t>• Viết: chính xác, cân nhắc được, lưu lại làm bằng chứng — nền tảng của Chương 5. Chú ý chính tả, thể thức, văn phong.</a:t>
            </a:r>
          </a:p>
          <a:p>
            <a:r>
              <a:t>• Dùng từ: rõ ràng, lịch sự, tích cực; tránh khẩu ngữ, tiếng lóng, từ đa nghĩa; ưu tiên câu chủ động, ngắn gọn.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PHI NGÔN NGỮ (4 phút) — PHẦN SINH VIÊN THÍCH NHẤT</a:t>
            </a:r>
          </a:p>
          <a:p>
            <a:r>
              <a:t>• Làm thử ngay tại lớp: nói câu "Rất vui được gặp bạn" hai lần — lần đầu nhìn xuống đất giọng đều, lần sau nhìn mắt và mỉm cười. Hỏi lớp tin lần nào.</a:t>
            </a:r>
          </a:p>
          <a:p>
            <a:r>
              <a:t>• Giới thiệu con số Mehrabian 7 – 38 – 55%, nhưng NÓI RÕ: chỉ đúng với thông điệp CẢM XÚC, không phải mọi tình huống.</a:t>
            </a:r>
          </a:p>
          <a:p>
            <a:r>
              <a:t>• Khoảng cách giao tiếp: mời 2 sinh viên lên đứng thử ở 3 khoảng cách khác nhau cho lớp quan sát.</a:t>
            </a:r>
          </a:p>
          <a:p>
            <a:r>
              <a:t>• CHỐT: đừng để cơ thể nói ngược lại lời của mình.</a:t>
            </a:r>
          </a:p>
          <a:p/>
          <a:p>
            <a:r>
              <a:t>NÓI ĐỦ Ý (phần đã rút khỏi slide)</a:t>
            </a:r>
          </a:p>
          <a:p>
            <a:r>
              <a:t>• Ánh mắt – nét mặt – nụ cười: kênh biểu cảm mạnh nhất; nhìn vào mắt thể hiện tự tin và tôn trọng.</a:t>
            </a:r>
          </a:p>
          <a:p>
            <a:r>
              <a:t>• Cử chỉ – tư thế – dáng đi: thẳng, cởi mở tạo thiện cảm; khoanh tay, nhìn đồng hồ phát tín hiệu khép kín, sốt ruột.</a:t>
            </a:r>
          </a:p>
          <a:p>
            <a:r>
              <a:t>• Khoảng cách: thân mật (&lt;0,5 m) – cá nhân – xã giao (1,2–3,5 m) – công cộng; chọn sai gây khó chịu.</a:t>
            </a:r>
          </a:p>
          <a:p>
            <a:r>
              <a:t>• Trang phục – giọng điệu – thời gian: ăn mặc phù hợp bối cảnh; giọng điệu quyết định cách thông điệp được đón nhận; đúng giờ cũng là thông điệp.</a:t>
            </a:r>
          </a:p>
          <a:p>
            <a:r>
              <a:t>• Ba con số trên slide là của Mehrabian, cho THÔNG ĐIỆP CẢM XÚC — đừng khái quát thành mọi loại giao tiếp. Chốt: đừng để cơ thể "nói" ngược với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HÌNH THỨC GIAO TIẾP (2 phút)</a:t>
            </a:r>
          </a:p>
          <a:p>
            <a:r>
              <a:t>• 4 cặp phân loại — đi nhanh, đừng sa đà.</a:t>
            </a:r>
          </a:p>
          <a:p>
            <a:r>
              <a:t>• Nhấn cặp cuối: TRUYỀN THỐNG ↔ GIAO TIẾP SỐ. Hỏi lớp: "Một email công việc gửi lúc 11 giờ đêm nói lên điều gì về người gửi?"</a:t>
            </a:r>
          </a:p>
          <a:p>
            <a:r>
              <a:t>• Nhắc: giao tiếp số vẫn phải giữ đúng chuẩn mực như gặp mặt.</a:t>
            </a:r>
          </a:p>
          <a:p/>
          <a:p>
            <a:r>
              <a:t>NÓI ĐỦ Ý (phần đã rút khỏi slide)</a:t>
            </a:r>
          </a:p>
          <a:p>
            <a:r>
              <a:t>• Trực tiếp: giàu thông tin, phản hồi ngay. Gián tiếp (điện thoại, văn bản, email): vượt khoảng cách, có bằng chứng — nhưng dễ hiểu nhầm.</a:t>
            </a:r>
          </a:p>
          <a:p>
            <a:r>
              <a:t>• Chính thức: họp, văn bản, hội nghị theo quy định. Không chính thức: trò chuyện ngoài lề, tin đồn — người quản lý giỏi dùng cả hai.</a:t>
            </a:r>
          </a:p>
          <a:p>
            <a:r>
              <a:t>• Cá nhân 1–1: sâu, riêng tư. Nhóm: cần điều phối. Đám đông: cần kỹ năng thuyết trình, học ở Chương 2.</a:t>
            </a:r>
          </a:p>
          <a:p>
            <a:r>
              <a:t>• Giao tiếp số: email, họp trực tuyến, mạng xã hội, tin nhắn nhóm — chuẩn mực mới là trả lời đúng hạn, đúng kênh, giữ hình ảnh số chuyên nghiệp.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NĂM NGUYÊN TẮC (3 phút)</a:t>
            </a:r>
          </a:p>
          <a:p>
            <a:r>
              <a:t>• Đây là phần SINH VIÊN PHẢI THUỘC — sẽ dùng lại ở tình huống ngay sau đây.</a:t>
            </a:r>
          </a:p>
          <a:p>
            <a:r>
              <a:t>• Nguyên tắc TÔN TRỌNG: nói rõ tôn trọng thể hiện qua hành vi cụ thể — đúng giờ, không cắt lời, nhớ tên người đối diện.</a:t>
            </a:r>
          </a:p>
          <a:p>
            <a:r>
              <a:t>• Nguyên tắc GIỮ CHỮ TÍN: nhấn mạnh "chữ tín là tài sản kinh doanh" — mất khách vì thất hứa một lần.</a:t>
            </a:r>
          </a:p>
          <a:p>
            <a:r>
              <a:t>CHUYỂN Ý: "Bây giờ ta thử áp dụng cả chương vào một tình huống."''</a:t>
            </a:r>
          </a:p>
          <a:p/>
          <a:p>
            <a:r>
              <a:t>NÓI ĐỦ Ý (phần đã rút khỏi slide)</a:t>
            </a:r>
          </a:p>
          <a:p>
            <a:r>
              <a:t>• Tôn trọng nhân cách, thời gian, lợi ích và sự khác biệt của đối tượng.</a:t>
            </a:r>
          </a:p>
          <a:p>
            <a:r>
              <a:t>• Thiện chí và hợp tác: hướng tới hai bên cùng có lợi — thắng một cuộc cãi có thể thua một khách hàng.</a:t>
            </a:r>
          </a:p>
          <a:p>
            <a:r>
              <a:t>• Lắng nghe và thấu hiểu trước: hiểu đúng nhu cầu đối phương rồi mới trình bày quan điểm mình.</a:t>
            </a:r>
          </a:p>
          <a:p>
            <a:r>
              <a:t>• Phù hợp ngữ cảnh: đúng vai, đúng lúc, đúng nơi, đúng kênh, đúng mức độ trang trọng.</a:t>
            </a:r>
          </a:p>
          <a:p>
            <a:r>
              <a:t>• Chuẩn mực và giữ chữ tín: lời nói và văn bản nhất quán; đã hứa là làm — chữ tín là tài sản kinh doanh.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NHÓM (15 phút)</a:t>
            </a:r>
          </a:p>
          <a:p>
            <a:r>
              <a:t>• Chia nhóm 4–5 bạn, phát giấy A3 hoặc dùng vở.</a:t>
            </a:r>
          </a:p>
          <a:p>
            <a:r>
              <a:t>• Bấm giờ 10 phút thảo luận, 5 phút cho 2 nhóm trình bày.</a:t>
            </a:r>
          </a:p>
          <a:p>
            <a:r>
              <a:t>• GỢI Ý ĐÁP ÁN: đến trễ không báo (vi phạm tôn trọng + chữ tín) • áo thun (nhiễu ở khâu mã hóa phi ngôn ngữ) • nói 20 phút không hỏi (thiếu phản hồi, vi phạm nguyên tắc lắng nghe) • bắt máy 2 lần (vi phạm tôn trọng, tạo nhiễu).</a:t>
            </a:r>
          </a:p>
          <a:p>
            <a:r>
              <a:t>• Câu khách nói "để anh xem lại rồi báo em sau" — hỏi lớp: đây là lời hẹn hay lời từ chối? (Nối tới Chương 3 – giao tiếp đa văn hóa).</a:t>
            </a:r>
          </a:p>
          <a:p>
            <a:r>
              <a:t>• CHỐT: mọi lỗi đều quy về mô hình 5 khâu và 5 nguyên tắc vừa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Đọc chậm 3 điều, dừng 2 giây sau mỗi điều.</a:t>
            </a:r>
          </a:p>
          <a:p>
            <a:r>
              <a:t>• Hỏi lớp: "Ai nhắc lại được 5 khâu của mô hình giao tiếp?" — gọi 1 sinh viên.</a:t>
            </a:r>
          </a:p>
          <a:p>
            <a:r>
              <a:t>• Giao việc: làm 40 câu trắc nghiệm Chương 1 trước buổi sau.</a:t>
            </a:r>
          </a:p>
          <a:p/>
          <a:p>
            <a:r>
              <a:t>NÓI ĐỦ Ý (phần đã rút khỏi slide)</a:t>
            </a:r>
          </a:p>
          <a:p>
            <a:r>
              <a:t>• Giao tiếp kinh doanh không phải trò chuyện ngẫu nhiên: mỗi tương tác phục vụ mục tiêu, chịu chuẩn mực và ràng buộc lợi ích – pháp lý.</a:t>
            </a:r>
          </a:p>
          <a:p>
            <a:r>
              <a:t>• Muốn sửa một cuộc giao tiếp thất bại, dò lại từng khâu: ý tưởng – mã hóa – kênh – giải mã – phản hồi.</a:t>
            </a:r>
          </a:p>
          <a:p>
            <a:r>
              <a:t>• Trang phục, ánh mắt, giọng điệu, đúng giờ… "nói" trước và nói to hơn lời — hãy để chúng nói cùng một điều với bạn.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CÂU HỎI ÔN TẬP (1 phút)</a:t>
            </a:r>
          </a:p>
          <a:p>
            <a:r>
              <a:t>• Không giải trên lớp — để sinh viên tự làm ở nhà.</a:t>
            </a:r>
          </a:p>
          <a:p>
            <a:r>
              <a:t>• Nói rõ: 4 câu này nằm trong phạm vi kiểm tra giữa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</a:t>
            </a:r>
          </a:p>
          <a:p>
            <a:r>
              <a:t>• Chỉ rõ giáo trình chính đọc chương nào cho buổi sau.</a:t>
            </a:r>
          </a:p>
          <a:p>
            <a:r>
              <a:t>• Nhắc: học liệu của cô sẽ gửi lên nhóm lớp sau mỗi buổi.</a:t>
            </a:r>
          </a:p>
          <a:p>
            <a:r>
              <a:t>• Kết thúc buổi: cảm ơn lớp, nhắc lịch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SỐ MEHRABIAN (2 phút)</a:t>
            </a:r>
          </a:p>
          <a:p>
            <a:r>
              <a:t>• Chiếu slide, để lớp nhìn 5 giây rồi mới nói.</a:t>
            </a:r>
          </a:p>
          <a:p>
            <a:r>
              <a:t>• NÓI RÕ GIỚI HẠN: con số này chỉ đúng với thông điệp cảm xúc — đừng suy ra "nội dung chỉ chiếm 7%".</a:t>
            </a:r>
          </a:p>
          <a:p>
            <a:r>
              <a:t>• Ý nghĩa thực hành: khi lời nói và cơ thể mâu thuẫn, người nghe TIN CƠ THỂ.</a:t>
            </a:r>
          </a:p>
          <a:p>
            <a:r>
              <a:t>• Hỏi lớp: "Bạn nhận ra ai đó đang không vui dù họ nói 'em ổn' bằng cách nào?"''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nói một câu dẫn rồi sang slide tiếp. Đây là mốc để lớp biết mình đang ở đâu trong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YẾU TỐ ẢNH HƯỞNG (2 phút)</a:t>
            </a:r>
          </a:p>
          <a:p>
            <a:r>
              <a:t>• Nhấn yếu tố ĐỊNH KIẾN — thứ khó thấy nhất nhưng phá hỏng nhiều cuộc giao tiếp nhất.</a:t>
            </a:r>
          </a:p>
          <a:p>
            <a:r>
              <a:t>• Ví dụ: nghe giọng vùng miền rồi đánh giá năng lực; thấy người trẻ rồi cho là thiếu kinh nghiệm.</a:t>
            </a:r>
          </a:p>
          <a:p>
            <a:r>
              <a:t>• Liên hệ Chương 3: phần giao tiếp đa văn hóa sẽ quay lại điểm này.</a:t>
            </a:r>
          </a:p>
          <a:p/>
          <a:p>
            <a:r>
              <a:t>NÓI ĐỦ Ý (phần đã rút khỏi slide)</a:t>
            </a:r>
          </a:p>
          <a:p>
            <a:r>
              <a:t>• Chủ thể: trạng thái tâm lý, cảm xúc, sức khỏe, vốn hiểu biết, kỹ năng, uy tín.</a:t>
            </a:r>
          </a:p>
          <a:p>
            <a:r>
              <a:t>• Thông điệp: rõ hay mơ hồ, cấu trúc hợp lý hay lộn xộn, hợp người nghe hay không.</a:t>
            </a:r>
          </a:p>
          <a:p>
            <a:r>
              <a:t>• Kênh và nhiễu: chọn kênh sai (việc hệ trọng lại nhắn tin), đường truyền kém, môi trường ồn ào.</a:t>
            </a:r>
          </a:p>
          <a:p>
            <a:r>
              <a:t>• Bối cảnh văn hóa – xã hội: chuẩn mực, tôn giáo, vùng miền, thứ bậc — bình thường nơi này có thể thất lễ nơi khác.</a:t>
            </a:r>
          </a:p>
          <a:p>
            <a:r>
              <a:t>• Quan hệ và định kiến: ấn tượng cũ, tin đồn, khoảng cách quyền lực làm méo cách diễn giải.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về giao tiếp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kinh doanh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móng của mọi kỹ năng nghề nghiệp: hiểu đúng về giao tiếp trước khi luyện kỹ năng.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GV.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Kỹ năng giao tiếp và soạn thảo văn bản (2:1)  •  Lớp 261b, HK1 năm học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Bài giảng biên soạn cho lớp giảng dạy trực tiếp. Vui lòng ghi nguồn khi sử dụng.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HỌC PHẦN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học cùng nhau thế nào?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— 10 buổi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T7 &amp; CN  •  5 chương  •  phòng C0105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— 3 bài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 T7 / CN  •  phòng A0105 Mô phỏng Kinh tế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— 3 cột điểm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cần  •  Quá trình  •  Thi cuối kỳ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 chương này, sinh viên có thể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niệm, đặc điểm của giao tiếp trong kinh doanh và mô hình quá trình giao tiếp.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phương tiện và hình thức giao tiếp; nhận diện ưu – nhược điểm của từng hình thức.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yếu tố ảnh hưởng đến hiệu quả giao tiếp trong tình huống thực tế.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dụng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nguyên tắc giao tiếp để xử lý một tình huống giao tiếp kinh doanh cụ thể.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đi qua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niệm, đặc điểm của giao tiếp trong kinh doanh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0592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phương tiện giao tiếp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55848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hình thức giao tiếp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3425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61104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yếu tố ảnh hưởng đến quá trình giao tiếp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66360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nguyên tắc giao tiếp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MỤC 1.1 –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Bản chất và phương tiện giao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Hiểu đúng bản chất trước khi luyện kỹ năng: giao tiếp là gì, diễn ra qua những khâu nào, bằng phương tiện gì.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GV.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Chương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và giao tiếp trong kinh doanh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là gì?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thông tin để đạt một mục đích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kinh doanh?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với mục tiêu công việc, có ràng buộc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phải học?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tuyển dụng xếp vào nhóm đòi hỏi cao nhất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Đặc điểm của giao tiếp trong kinh doanh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0195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có mục đích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cuộc gặp phục vụ một mục tiêu công việc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82880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90195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dạng chủ thể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đối tượng một chuẩn mực riêng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82219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lợi ích – pháp lý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 nói có thể tạo ra nghĩa vụ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749040"/>
            <a:ext cx="5509260" cy="1737360"/>
          </a:xfrm>
          <a:prstGeom prst="roundRect">
            <a:avLst>
              <a:gd name="adj" fmla="val 4737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822192"/>
            <a:ext cx="50703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học và nghệ thuật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nguyên tắc, nhưng cần linh hoạt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quá trình giao tiếp</a:t>
            </a:r>
            <a:endParaRPr lang="en-US" sz="2700" dirty="0"/>
          </a:p>
        </p:txBody>
      </p:sp>
      <p:pic>
        <p:nvPicPr>
          <p:cNvPr id="9" name="Picture 8" descr="c1-mo-hinh-giao-tiep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39" y="1988404"/>
            <a:ext cx="10421815" cy="3695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56563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Giao tiếp là quá trình hai chiều — muốn sửa một cuộc giao tiếp thất bại, hãy dò lại từng khâu.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tiện giao tiếp: ngôn ngữ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nói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Nhanh, giàu cảm xúc — nhưng lời nói gió bay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viết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xác, lưu được — nền tảng của Chương 5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dùng từ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Rõ  •  lịch sự  •  tích cực  •  ngắn gọn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tiện giao tiếp: phi ngôn ngữ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67335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mắt – nét mặt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biểu cảm mạnh nhất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5060" y="160020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67335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chỉ – tư thế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Thẳng và cởi mở tạo thiện cảm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2920" y="306324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13639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Thân mật · cá nhân · xã giao · công cộng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195060" y="3063240"/>
            <a:ext cx="5509260" cy="1280160"/>
          </a:xfrm>
          <a:prstGeom prst="roundRect">
            <a:avLst>
              <a:gd name="adj" fmla="val 642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136392"/>
            <a:ext cx="50703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phục – giọng – giờ giấc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giờ cũng là một thông điệp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NGỮ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475488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NÓI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3252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873252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THỂ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 — với thông điệp cảm xúc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756A"/>
                </a:solidFill>
                <a:latin typeface="Calibri"/>
              </a:rPr>
              <a:t>CON SỐ PHẢI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A2B28"/>
                </a:solidFill>
                <a:latin typeface="Cambria"/>
              </a:rPr>
              <a:t>Thông điệp cảm xúc được truyền đi thế nào?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7%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TỪ NGỮ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Nội dung lời nói — phần nhỏ nhất, dù ta thường đầu tư nhiều nhất vào đây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38%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GIỌNG NÓI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Âm lượng, tốc độ, ngữ điệu, khoảng dừng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9016" y="1783080"/>
            <a:ext cx="3575304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55%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NGÔN NGỮ CƠ THỂ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Ánh mắt, nét mặt, cử chỉ, tư thế, khoảng cách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12700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>
                <a:solidFill>
                  <a:srgbClr val="3A2B28"/>
                </a:solidFill>
                <a:latin typeface="Calibri"/>
              </a:rPr>
              <a:t>Nghiên cứu của Albert Mehrabian — chỉ áp dụng cho thông điệp mang tính CẢM XÚC, không phải mọi tình huống giao tiếp.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GV. Đỗ Thùy Hương  •  EC1103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Chương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hình thức giao tiếp</a:t>
            </a:r>
            <a:endParaRPr lang="en-US" sz="2700" dirty="0"/>
          </a:p>
        </p:txBody>
      </p:sp>
      <p:pic>
        <p:nvPicPr>
          <p:cNvPr id="9" name="Picture 8" descr="c1-hinh-thuc-giao-tiep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37" y="1745568"/>
            <a:ext cx="10511419" cy="41806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9939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Bốn cặp này không loại trừ nhau — một cuộc giao tiếp nằm đâu đó trên cả bốn trục cùng lúc.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MỤC 1.4 –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Yếu tố ảnh hưởng và nguyên tắc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Điều gì làm hỏng một cuộc giao tiếp, và năm nguyên tắc giúp ta tránh được điều đó.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GV.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Chương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Yếu tố ảnh hưởng đến quá trình giao tiếp</a:t>
            </a:r>
            <a:endParaRPr lang="en-US" sz="2700" dirty="0"/>
          </a:p>
        </p:txBody>
      </p:sp>
      <p:pic>
        <p:nvPicPr>
          <p:cNvPr id="9" name="Picture 8" descr="c1-yeu-to-anh-huong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01" y="2342007"/>
            <a:ext cx="10243892" cy="2987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0296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Hỏng ở yếu tố nào thì sửa đúng yếu tố ấy, đừng đổ hết cho “nói chưa khéo”.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 giao tiếp trong kinh doanh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8470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773936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 trọng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cách, thời gian, lợi ích, khác biệt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615184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 chí – hợp tác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thắng một cuộc cãi, thua một khách hàng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920" y="352958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56432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 trước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đúng rồi mới nói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2920" y="43708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97680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ngữ cảnh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vai, đúng lúc, đúng kênh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21208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38928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chữ tín  —  </a:t>
            </a:r>
            <a:pPr indent="0" marL="0">
              <a:buNone/>
            </a:pPr>
            <a:r>
              <a:rPr lang="en-US" sz="16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hứa là làm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NHÓM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Tình huống: buổi gặp đầu tiên thất bại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(thảo luận nhóm 4–5 sinh viên, 15 phút)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kinh doanh A đến gặp khách hàng lần đầu: đến trễ 10 phút vì kẹt xe nhưng không báo trước; mặc áo thun vì “cuối tuần”; vừa ngồi đã mở máy giới thiệu sản phẩm liên tục 20 phút; điện thoại đổ chuông 2 lần và A đều bắt máy. Kết thúc buổi gặp, khách hàng nói “để anh xem lại rồi báo em sau” và không phản hồi nữa.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CỦA NHÓM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tất cả các lỗi giao tiếp của A và xếp mỗi lỗi vào một khâu trong mô hình quá trình giao tiếp.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lỗi vi phạm nguyên tắc giao tiếp nào ở mục 1.5?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“kịch bản chuẩn” 5 bước cho buổi gặp khách hàng đầu tiên và cử đại diện trình bày trước lớp (3 phút).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điều cần nhớ của chương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975104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mục đích và có luật chơi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trò chuyện ngẫu nhiên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133344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88208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Hỏng ở khâu nào, dò lại khâu đó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khâu, cộng thêm nhiễu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" y="4346448"/>
            <a:ext cx="11201400" cy="1048512"/>
          </a:xfrm>
          <a:prstGeom prst="roundRect">
            <a:avLst>
              <a:gd name="adj" fmla="val 784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01312"/>
            <a:ext cx="1076248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ngôn ngữ mạnh hơn ta nghĩ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nói trước, và nói to hơn lời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TẬP &amp; CHUẨN BỊ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ôn tập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các thành phần của mô hình quá trình giao tiếp qua một ví dụ thực tế của chính bạn.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ưu – nhược điểm của giao tiếp bằng lời nói và bằng văn bản trong kinh doanh.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nói giao tiếp kinh doanh “vừa là khoa học, vừa là nghệ thuật”?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Nêu và minh họa 5 nguyên tắc giao tiếp trong kinh doanh.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CHO BUỔI SAU:  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– Kỹ năng giao tiếp chuyên nghiệp. Mỗi nhóm chuẩn bị một bài thuyết trình 3 phút về chủ đề tự chọn để thực hành trên lớp.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học tập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trình chính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Giáo trình Giao tiếp kinh doanh, NXB Tài chính.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tham khảo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Trí Dũng (2012), Kỹ năng giao tiếp và thương lượng trong kinh doanh, NXB Lao động – Xã hội.  •  Nghị định 30/2020/NĐ-CP về công tác văn thư (dùng cho Chương 5 và phần thực hành).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liệu của giảng viên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bài giảng, tình huống và bài tập do GV. Đỗ Thùy Hương biên soạn; cung cấp sau mỗi buổi học trên nhóm lớp.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2026-08-23T05:36:01Z</dcterms:created>
  <dcterms:modified xsi:type="dcterms:W3CDTF">2026-08-23T05:36:01Z</dcterms:modified>
</cp:coreProperties>
</file>