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1" r:id="rId22"/>
    <p:sldId id="259" r:id="rId5"/>
    <p:sldId id="260" r:id="rId6"/>
    <p:sldId id="272" r:id="rId23"/>
    <p:sldId id="261" r:id="rId7"/>
    <p:sldId id="262" r:id="rId8"/>
    <p:sldId id="263" r:id="rId9"/>
    <p:sldId id="273" r:id="rId24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2.xml"/><Relationship Id="rId11" Type="http://schemas.openxmlformats.org/officeDocument/2006/relationships/slide" Target="slides/slide13.xml"/><Relationship Id="rId12" Type="http://schemas.openxmlformats.org/officeDocument/2006/relationships/slide" Target="slides/slide14.xml"/><Relationship Id="rId13" Type="http://schemas.openxmlformats.org/officeDocument/2006/relationships/slide" Target="slides/slide15.xml"/><Relationship Id="rId14" Type="http://schemas.openxmlformats.org/officeDocument/2006/relationships/slide" Target="slides/slide16.xml"/><Relationship Id="rId15" Type="http://schemas.openxmlformats.org/officeDocument/2006/relationships/slide" Target="slides/slide17.xml"/><Relationship Id="rId16" Type="http://schemas.openxmlformats.org/officeDocument/2006/relationships/slide" Target="slides/slide18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4.xml"/><Relationship Id="rId23" Type="http://schemas.openxmlformats.org/officeDocument/2006/relationships/slide" Target="slides/slide7.xml"/><Relationship Id="rId24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MỤC TIÊU (1 phút) — nhấn: chương này nhiều tình huống thực tế nhất.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LỘ TRÌNH (1 phút) — 4 bối cảnh: nội bộ, bên ngoài, bàn tiệc, đa văn hóa.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VỚI CẤP TRÊN (4 phút)</a:t>
            </a:r>
          </a:p>
          <a:p>
            <a:r>
              <a:t>• Ba tình huống: nhận việc – báo cáo – có ý kiến khác.</a:t>
            </a:r>
          </a:p>
          <a:p>
            <a:r>
              <a:t>• Nhấn kỹ thuật XÁC NHẬN LẠI BẰNG VĂN BẢN sau khi nhận việc — tránh "sếp bảo thế này, em hiểu thế kia".</a:t>
            </a:r>
          </a:p>
          <a:p>
            <a:r>
              <a:t>• Nguyên tắc vàng khi báo cáo: KẾT QUẢ TRƯỚC, diễn giải sau. Sếp bận, đừng kể lể quá trình.</a:t>
            </a:r>
          </a:p>
          <a:p>
            <a:r>
              <a:t>• BÁO TIN XẤU SỚM kèm phương án — nhấn mạnh: giấu tin xấu là lỗi nặng nhất.</a:t>
            </a:r>
          </a:p>
          <a:p>
            <a:r>
              <a:t>• Có ý kiến khác: chọn lúc riêng tư, dựa trên DỮ LIỆU và LỢI ÍCH CHUNG, và tôn trọng quyết định cuối.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VỚI CẤP DƯỚI VÀ ĐỒNG NGHIỆP (3 phút)</a:t>
            </a:r>
          </a:p>
          <a:p>
            <a:r>
              <a:t>• Giao việc rõ 3 thứ: MỤC TIÊU – THỜI HẠN – TIÊU CHUẨN.</a:t>
            </a:r>
          </a:p>
          <a:p>
            <a:r>
              <a:t>• Quy tắc: KHEN CÔNG KHAI, PHÊ BÌNH RIÊNG TƯ. Viết to lên bảng.</a:t>
            </a:r>
          </a:p>
          <a:p>
            <a:r>
              <a:t>• Phê bình nhắm vào HÀNH VI, không nhắm vào CON NGƯỜI: "Báo cáo này nộp trễ 2 ngày" chứ không phải "Em vô trách nhiệm".</a:t>
            </a:r>
          </a:p>
          <a:p>
            <a:r>
              <a:t>• Với đồng nghiệp: tranh luận về công việc, không công kích cá nhân; tránh bè phái.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VỚI KHÁCH HÀNG (3 phút)</a:t>
            </a:r>
          </a:p>
          <a:p>
            <a:r>
              <a:t>• Tâm thế PHỤC VỤ, không phải xin xỏ cũng không phải ban ơn.</a:t>
            </a:r>
          </a:p>
          <a:p>
            <a:r>
              <a:t>• Mỗi điểm tiếp xúc XÂY hoặc PHÁ niềm tin.</a:t>
            </a:r>
          </a:p>
          <a:p>
            <a:r>
              <a:t>• Bốn điều tối kỵ — nhấn điều đầu: TRANH CÃI THẮNG THUA với khách. Thắng lý mà mất khách là thua.</a:t>
            </a:r>
          </a:p>
          <a:p>
            <a:r>
              <a:t>CHUYỂN Ý: "Vậy khi khách nổi giận thì làm sao?"''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QUY TRÌNH LAST (5 phút) — NỘI DUNG QUAN TRỌNG NHẤT CHƯƠNG</a:t>
            </a:r>
          </a:p>
          <a:p>
            <a:r>
              <a:t>• Viết 4 chữ L-A-S-T lên bảng.</a:t>
            </a:r>
          </a:p>
          <a:p>
            <a:r>
              <a:t>• L: nghe TRỌN VẸN, không ngắt lời, không phòng thủ. Nhấn: đừng vội giải thích khi khách đang giận.</a:t>
            </a:r>
          </a:p>
          <a:p>
            <a:r>
              <a:t>• A: xin lỗi về TRẢI NGHIỆM chưa tốt — kể cả khi chưa rõ lỗi thuộc về ai. Đây là điểm sinh viên hay tranh luận, hãy giải thích kỹ: xin lỗi ≠ nhận lỗi.</a:t>
            </a:r>
          </a:p>
          <a:p>
            <a:r>
              <a:t>• S: phương án CỤ THỂ, thời hạn RÕ. Vượt thẩm quyền thì chuyển đúng người, không đùn đẩy.</a:t>
            </a:r>
          </a:p>
          <a:p>
            <a:r>
              <a:t>• T: cảm ơn và THEO DÕI ĐẾN KHI XONG.</a:t>
            </a:r>
          </a:p>
          <a:p>
            <a:r>
              <a:t>• Số liệu chốt: khách phàn nàn được xử lý tốt thường TRUNG THÀNH HƠN khách chưa từng gặp vấn đề.</a:t>
            </a:r>
          </a:p>
          <a:p>
            <a:r>
              <a:t>• Cho lớp thực hành ngay 1 tình huống ngắn: khách nhận hàng trễ 3 ngày.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BÀN TIỆC (4 phút) — SINH VIÊN RẤT THÍCH PHẦN NÀY</a:t>
            </a:r>
          </a:p>
          <a:p>
            <a:r>
              <a:t>• Trước tiệc: xác nhận đúng hạn, đến đúng giờ, trang phục theo tính chất, CHỜ CHỦ TIỆC XẾP CHỖ.</a:t>
            </a:r>
          </a:p>
          <a:p>
            <a:r>
              <a:t>• Trong bữa: chủ tiệc bắt đầu trước; dụng cụ dùng TỪ NGOÀI VÀO TRONG; không nói khi đang nhai.</a:t>
            </a:r>
          </a:p>
          <a:p>
            <a:r>
              <a:t>• Chúc rượu: người vị thế thấp hơn NÂNG LY THẤP HƠN khi cụng. Làm mẫu ngay bằng ly nước.</a:t>
            </a:r>
          </a:p>
          <a:p>
            <a:r>
              <a:t>• NHẤN MẠNH: tôn trọng người không dùng rượu bia, TUYỆT ĐỐI KHÔNG ÉP. Dạy sinh viên cách từ chối lịch sự: "Dạ em lái xe, cho em xin ly nước thay ạ."</a:t>
            </a:r>
          </a:p>
          <a:p>
            <a:r>
              <a:t>• Chủ đề nên và không nên nói — nhấn: tránh chính trị, tôn giáo, thu nhập, đời tư.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ĐA VĂN HÓA (3 phút)</a:t>
            </a:r>
          </a:p>
          <a:p>
            <a:r>
              <a:t>• Bốn khác biệt: cách nói, thứ bậc, thời gian, cử chỉ – kiêng kỵ.</a:t>
            </a:r>
          </a:p>
          <a:p>
            <a:r>
              <a:t>• Ví dụ hay nhất: "Để chúng tôi xem xét" trong văn hóa Nhật thường LÀ LỜI TỪ CHỐI lịch sự.</a:t>
            </a:r>
          </a:p>
          <a:p>
            <a:r>
              <a:t>• Hỏi lớp: bạn nào từng làm việc/thực tập với người nước ngoài, kể một khác biệt đã gặp.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THÍCH ỨNG (2 phút)</a:t>
            </a:r>
          </a:p>
          <a:p>
            <a:r>
              <a:t>• 5 nguyên tắc — nhấn nguyên tắc "KHÔNG SUY DIỄN THEO CHUẨN CỦA MÌNH".</a:t>
            </a:r>
          </a:p>
          <a:p>
            <a:r>
              <a:t>• Mẹo thực dụng: nói chậm, rõ, và XÁC NHẬN LẠI BẰNG VĂN BẢN sau cuộc họp đa quốc gia.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HOẠT ĐỘNG NHÓM (15 phút)</a:t>
            </a:r>
          </a:p>
          <a:p>
            <a:r>
              <a:t>• Hai tình huống, chia lớp làm hai nửa, mỗi nửa xử lý một tình huống rồi trình bày.</a:t>
            </a:r>
          </a:p>
          <a:p>
            <a:r>
              <a:t>• Tình huống khách hàng: yêu cầu áp dụng đủ 4 bước LAST, nói thành lời thoại cụ thể.</a:t>
            </a:r>
          </a:p>
          <a:p>
            <a:r>
              <a:t>• Tình huống bàn tiệc: yêu cầu nói ra CÂU TỪ CHỐI cụ thể, không nói chung chung.</a:t>
            </a:r>
          </a:p>
          <a:p>
            <a:r>
              <a:t>• Cô chốt: nguyên tắc thì giống nhau, lời nói phải phù hợp từng ngữ cảnh.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TỔNG KẾT (2 phút)</a:t>
            </a:r>
          </a:p>
          <a:p>
            <a:r>
              <a:t>• Gọi sinh viên nhắc lại 4 bước LAST.</a:t>
            </a:r>
          </a:p>
          <a:p>
            <a:r>
              <a:t>• Giao việc: 40 câu trắc nghiệm Chương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ÔN TẬP (1 phút) — tự làm ở nhà.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TÀI LIỆU (1 phút) — đọc trước phần đàm phán cho buổi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MỤC (30 giây).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ĐỐI TÁC – CƠ QUAN – TRUYỀN THÔNG (3 phút)</a:t>
            </a:r>
          </a:p>
          <a:p>
            <a:r>
              <a:t>• Đối tác: quan hệ LÂU DÀI quan trọng hơn lợi thế ngắn hạn.</a:t>
            </a:r>
          </a:p>
          <a:p>
            <a:r>
              <a:t>• Cơ quan nhà nước: đúng thủ tục, đúng thẩm quyền, HỒ SƠ CHUẨN THỂ THỨC — nối sang Chương 5.</a:t>
            </a:r>
          </a:p>
          <a:p>
            <a:r>
              <a:t>• Truyền thông: CHỈ NGƯỜI ĐƯỢC ỦY QUYỀN phát ngôn. Nhân viên tuyệt đối không tự trả lời báo chí.</a:t>
            </a:r>
          </a:p>
          <a:p>
            <a:r>
              <a:t>• Khủng hoảng: phản hồi NHANH, nhận trách nhiệm đúng phần của mình.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MỤC (30 giây) — đây là phần sinh viên hào hứng nhất, giữ nhịp vui nhưng vẫn chuẩn mực.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C756A"/>
          </a:solidFill>
          <a:ln/>
        </p:spPr>
        <p:txBody>
          <a:bodyPr/>
          <a:p/>
        </p:txBody>
      </p:sp>
      <p:pic>
        <p:nvPicPr>
          <p:cNvPr id="3" name="Image 0" descr="assets/logo_tron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8549640" y="1417320"/>
            <a:ext cx="3200400" cy="3200400"/>
          </a:xfrm>
          <a:prstGeom prst="rect">
            <a:avLst/>
          </a:prstGeom>
        </p:spPr>
      </p:pic>
      <p:pic>
        <p:nvPicPr>
          <p:cNvPr id="4" name="Image 1" descr="assets/logo_nga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2834640" cy="11887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822960" y="2487168"/>
            <a:ext cx="1371600" cy="41148"/>
          </a:xfrm>
          <a:prstGeom prst="rect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822960" y="2697480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in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 settings</a:t>
            </a:r>
            <a:endParaRPr lang="en-US" sz="3800" dirty="0"/>
          </a:p>
        </p:txBody>
      </p:sp>
      <p:sp>
        <p:nvSpPr>
          <p:cNvPr id="8" name="Text 4"/>
          <p:cNvSpPr/>
          <p:nvPr/>
        </p:nvSpPr>
        <p:spPr>
          <a:xfrm>
            <a:off x="822960" y="44348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skill, different rules for each setting: internal, customers, banquets and cross-cultural work.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22960" y="53492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Đỗ Thùy Hương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EC1103 – Business Communication and Document Drafting Skills (2:1)  •  Class 261b, Semester 1, 2026 – 2027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Đỗ Thùy Hương, 2026 — Lecture prepared for the in-person class. Please credit the source when reused.</a:t>
            </a:r>
            <a:endParaRPr lang="en-US" sz="900" dirty="0"/>
          </a:p>
        </p:txBody>
      </p:sp>
      <p:pic>
        <p:nvPicPr>
          <p:cNvPr id="11" name="Picture 10" descr="co-huong-d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1051560"/>
            <a:ext cx="327962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this chapter, students will be able to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6184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54533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Behave appropriately  —  with superiors, subordinates and colleagues within the organisation.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5786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50545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professionally  —  with customers, partners, state agencies and the press; handle customer complaints.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46557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correctly  —  banquet etiquette in business activities.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49884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42569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 —  to cultural differences when working in a cross-cultural environment.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6184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54533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—  Communication within the organisation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5786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50545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—  Communication with customers, partners, state agencies and the press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46557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—  Banquet communication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49884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42569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 —  Cross-cultural communication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2743200"/>
          </a:xfrm>
          <a:prstGeom prst="rect">
            <a:avLst/>
          </a:prstGeom>
          <a:solidFill>
            <a:srgbClr val="FD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C7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377440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C756A"/>
                </a:solidFill>
                <a:latin typeface="Calibri"/>
              </a:rPr>
              <a:t>SECTION 3.1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7889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AC4D33"/>
                </a:solidFill>
                <a:latin typeface="Cambria"/>
              </a:rPr>
              <a:t>Communication within the organisation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224528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i="1">
                <a:solidFill>
                  <a:srgbClr val="8A7A76"/>
                </a:solidFill>
                <a:latin typeface="Calibri"/>
              </a:rPr>
              <a:t>With superiors, subordinates and colleagues — each relationship has its own approach.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7A76"/>
                </a:solidFill>
                <a:latin typeface="Calibri"/>
              </a:rPr>
              <a:t>Je m'appelle Huong  •  Instructor Đỗ Thùy Hương  •  EC1103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1908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7A76"/>
                </a:solidFill>
                <a:latin typeface="Calibri"/>
              </a:rPr>
              <a:t>Chapter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Communicating with superiors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72184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receiving a task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– take notes – ask for clarity on requirements, deadlines and resources; confirm by message/email so both sides share the same understanding.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3072384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27248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reporting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proactive and on time, results first, explanation after; report bad news early with a proposed fix, never hide it.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727448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782312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disagree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time and place (usually private); argue from data and shared interests; respect the final decision.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Communicating with subordinates and colleagues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9047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work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clear on the goal, deadline and standard; delegate with trust and resources; check progress at a sensible cadence, don't micromanage.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95060" y="141732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14516" y="149047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 and criticism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 publicly, promptly and specifically; criticise privately, target the behaviour not the person, and offer a way to fix it.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390906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398221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colleagues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respectful, cooperative, share information; debate the work, not the person; avoid cliques and gossiping behind people's backs.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195060" y="390906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414516" y="398221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meetings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agenda in advance; arrive on time; keep remarks brief and on point; end with conclusions, minutes and an owner for each action.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2743200"/>
          </a:xfrm>
          <a:prstGeom prst="rect">
            <a:avLst/>
          </a:prstGeom>
          <a:solidFill>
            <a:srgbClr val="FD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C7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377440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C756A"/>
                </a:solidFill>
                <a:latin typeface="Calibri"/>
              </a:rPr>
              <a:t>SECTION 3.2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7889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AC4D33"/>
                </a:solidFill>
                <a:latin typeface="Cambria"/>
              </a:rPr>
              <a:t>Communicating outside the organisation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224528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i="1">
                <a:solidFill>
                  <a:srgbClr val="8A7A76"/>
                </a:solidFill>
                <a:latin typeface="Calibri"/>
              </a:rPr>
              <a:t>Customers, partners, state agencies and the press — four groups, four sets of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7A76"/>
                </a:solidFill>
                <a:latin typeface="Calibri"/>
              </a:rPr>
              <a:t>Je m'appelle Huong  •  Instructor Đỗ Thùy Hương  •  EC1103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1908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7A76"/>
                </a:solidFill>
                <a:latin typeface="Calibri"/>
              </a:rPr>
              <a:t>Chapter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Communicating with customers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72184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mindset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sustain the business; every touchpoint (welcome, advice, delivery, after-sales) either builds or breaks trust.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3072384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27248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 warmly – use the customer's name when possible; listen to their needs before pitching; tell the truth about the product; keep promised deadlines.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727448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782312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no-nos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Arguing to "win" against a customer; over-promising; blaming colleagues or processes; abandoning the customer once the sale is made.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customer complaints — the LAST process</a:t>
            </a:r>
            <a:endParaRPr lang="en-US" sz="2700" dirty="0"/>
          </a:p>
        </p:txBody>
      </p:sp>
      <p:pic>
        <p:nvPicPr>
          <p:cNvPr id="9" name="Picture 8" descr="c3-quy-trinh-last-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87" y="1481328"/>
            <a:ext cx="11247120" cy="379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partners, state agencies and the press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72184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partners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equal, keep your word, be transparent; a long-term relationship matters more than a short-term edge — the foundation for negotiation in Chapter 4.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3072384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27248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agencies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proper procedure and authority, correctly formatted dossiers and documents (Chapter 5); be serious and punctual; never cut corners against regulations.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727448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782312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and the press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an authorised spokesperson speaks; keep information consistent and truthful; in a crisis: respond quickly, own your share of responsibility, don't dodge.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2743200"/>
          </a:xfrm>
          <a:prstGeom prst="rect">
            <a:avLst/>
          </a:prstGeom>
          <a:solidFill>
            <a:srgbClr val="FD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C7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377440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C756A"/>
                </a:solidFill>
                <a:latin typeface="Calibri"/>
              </a:rPr>
              <a:t>SECTIONS 3.3 – 3.4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7889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AC4D33"/>
                </a:solidFill>
                <a:latin typeface="Cambria"/>
              </a:rPr>
              <a:t>Banquets and cross-cultural settings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224528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i="1">
                <a:solidFill>
                  <a:srgbClr val="8A7A76"/>
                </a:solidFill>
                <a:latin typeface="Calibri"/>
              </a:rPr>
              <a:t>Where work carries on even though nobody mentions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7A76"/>
                </a:solidFill>
                <a:latin typeface="Calibri"/>
              </a:rPr>
              <a:t>Je m'appelle Huong  •  Instructor Đỗ Thùy Hương  •  EC1103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1908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7A76"/>
                </a:solidFill>
                <a:latin typeface="Calibri"/>
              </a:rPr>
              <a:t>Chapter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Banquet communication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9047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meal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RSVP on time; arrive punctually; dress to match the occasion; wait for the host to invite you in and seat you — seating reflects hierarchy.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95060" y="141732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14516" y="149047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meal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 starts first; use cutlery from the outside in; don't talk with your mouth full, don't tap chopsticks, don't keep spinning the lazy Susan toward yourself.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390906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398221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Toasting and clinking glasses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junior person clinks with their glass held lower; keep toasts short and address the right person; respect those who don't drink alcohol — never pressure them.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195060" y="390906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414516" y="398221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conversation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light: food, sport, travel, hometowns; avoid politics, religion, income, private life; only discuss work if the host brings it up.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Cross-cultural communication: spotting the differences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9047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style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"Direct" cultures (Germany, the US, the Netherlands) value clarity; "indirect" cultures (Japan, Korea, Vietnam) prioritise saving face — "we'll consider it" can mean no.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95060" y="141732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14516" y="149047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and decision-making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hierarchy matters (Japan, Korea, China): stay in your role and rank, group decisions are slow but solid; where it's egalitarian (Nordics, Australia): first names and openly debating the boss are normal.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390906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398221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and commitments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Strict-time cultures (Germany, Japan, Switzerland): 5 minutes late is disrespectful; flexible-time cultures: relationships come before schedules — pin down milestones in writing.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195060" y="390906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414516" y="398221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Gestures and taboos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gesture can mean different things in different countries; colours, numbers and gifts can all be sensitive — look them up before meeting a foreign partner.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Principles for cross-cultural adaptation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57276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499616"/>
            <a:ext cx="106527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beforehand  —  your partner's communication style, greeting customs and taboos before any important meeting.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514600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441448"/>
            <a:ext cx="106527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and adjust  —  notice how they greet, exchange cards, keep distance… and match your behaviour accordingly.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456432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383280"/>
            <a:ext cx="106527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judge by your own standards  —  a "strange" behaviour may be perfectly normal in their culture — ask politely instead of judging.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398264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398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325112"/>
            <a:ext cx="106527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slowly and clearly, confirm in writing  —  across languages: avoid slang and idioms; summarise the agreement by email after the meeting.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2920" y="5340096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02920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51560" y="5266944"/>
            <a:ext cx="106527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humble and eager to learn  —  be ready to apologise if you break a taboo; a genuine willingness to learn is valued in every culture.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ACTIVITY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tough situations — handled right in class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11201400" cy="2103120"/>
          </a:xfrm>
          <a:prstGeom prst="roundRect">
            <a:avLst>
              <a:gd name="adj" fmla="val 4348"/>
            </a:avLst>
          </a:prstGeom>
          <a:solidFill>
            <a:srgbClr val="FBEDE0"/>
          </a:solidFill>
          <a:ln w="15875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49808" y="1508760"/>
            <a:ext cx="10698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(groups of 4–5 students, 20 minutes, draw one of two)</a:t>
            </a:r>
            <a:endParaRPr lang="en-US" sz="1500" dirty="0"/>
          </a:p>
          <a:p>
            <a:pPr indent="0" marL="0">
              <a:buNone/>
            </a:pPr>
            <a:r>
              <a:rPr lang="en-US" sz="1350" i="1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A: A customer comes to the counter shouting about a faulty product for the second time this month, with other customers watching. Scenario B: The company is hosting a Japanese partner delegation for the first time — the group must prepare the welcome plan and a dinner banquet.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02920" y="3749040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TASKS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41788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41056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A: write a response script following the 4 LAST steps and role-play it in front of the class (employee – customer – manager).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48646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47914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B: list the things to do and the things to absolutely avoid (greetings, business cards, seating, gifts, conversation topics).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55504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5550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54772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cross-reviews: what matched the chapter's standards, and what needs adjusting?</a:t>
            </a:r>
            <a:endParaRPr lang="en-US" sz="1400" dirty="0"/>
          </a:p>
        </p:txBody>
      </p:sp>
      <p:pic>
        <p:nvPicPr>
          <p:cNvPr id="21" name="Picture 20" descr="co-huong-tr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440" y="384048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to remember from this chapter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517904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inside makes for a strong outside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tasks, reporting and giving feedback to superiors; delegating and praising/criticising subordinates — all follow learnable standards.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3118104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72968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complaint is an opportunity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LAST: Listen – Apologise – Solve – Thank; don't win the argument and lose the customer.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773168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828032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Cross-cultural: understand first, never judge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– observe – adapt; confirm agreements in writing to get past the language barrier.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PREPARATION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questions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57276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499616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to report bad news to a superior, using a concrete example.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39572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322576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LAST process to handle a complaint scenario of your choice.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2186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145536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5 things to do and 5 things to avoid at a banquet with a business partner.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04164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3968496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one East–West cultural difference and how to adapt to it at work.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2920" y="5074920"/>
            <a:ext cx="11201400" cy="1143000"/>
          </a:xfrm>
          <a:prstGeom prst="roundRect">
            <a:avLst>
              <a:gd name="adj" fmla="val 7200"/>
            </a:avLst>
          </a:prstGeom>
          <a:solidFill>
            <a:srgbClr val="FBF3E2"/>
          </a:solidFill>
          <a:ln w="12700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777240" y="512064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FOR NEXT SESSION:  Chapter 4 – Business negotiation. Each group should think of their most recent "haggling" experience (buying a vehicle, renting a room…): what made you succeed or fail?</a:t>
            </a:r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materials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517904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textbook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 Nam Khánh Giao (2023), Business Communication Textbook, Finance Publishing House.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2950464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005328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reading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Thái Trí Dũng (2012), Communication and Negotiation Skills in Business, Labour – Social Affairs Publishing House.  •  Decree 30/2020/ND-CP on records and archival work (used for Chapter 5 and the practice sessions).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437888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492752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Instructor's own materials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Slides, case scenarios and exercises prepared by Instructor Đỗ Thùy Hương; shared after each session in the class group.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 panose="020F0302020204030204"/>
        <a:ea typeface="Cambria"/>
        <a:cs typeface="Cambria"/>
      </a:majorFont>
      <a:minorFont>
        <a:latin typeface="Calibri" panose="020F0502020204030204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Je m’appelle Huong — Lecturer and Researcher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Đỗ Thùy Hương</dc:creator>
  <cp:lastModifiedBy>Đỗ Thùy Hương</cp:lastModifiedBy>
  <cp:revision>1</cp:revision>
  <dcterms:created xsi:type="dcterms:W3CDTF">2026-08-18T23:47:09Z</dcterms:created>
  <dcterms:modified xsi:type="dcterms:W3CDTF">2026-08-18T23:47:09Z</dcterms:modified>
</cp:coreProperties>
</file>