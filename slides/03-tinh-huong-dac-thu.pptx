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72" r:id="rId23"/>
    <p:sldId id="273" r:id="rId24"/>
    <p:sldId id="258" r:id="rId4"/>
    <p:sldId id="271" r:id="rId22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MỤC TIÊU (1 phút) — nhấn: chương này nhiều tình huống thực tế nhất.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LỘ TRÌNH (1 phút) — 4 bối cảnh: nội bộ, bên ngoài, bàn tiệc, đa văn hóa.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VỚI CẤP TRÊN (4 phút)</a:t>
            </a:r>
          </a:p>
          <a:p>
            <a:r>
              <a:t>• Ba tình huống: nhận việc – báo cáo – có ý kiến khác.</a:t>
            </a:r>
          </a:p>
          <a:p>
            <a:r>
              <a:t>• Nhấn kỹ thuật XÁC NHẬN LẠI BẰNG VĂN BẢN sau khi nhận việc — tránh "sếp bảo thế này, em hiểu thế kia".</a:t>
            </a:r>
          </a:p>
          <a:p>
            <a:r>
              <a:t>• Nguyên tắc vàng khi báo cáo: KẾT QUẢ TRƯỚC, diễn giải sau. Sếp bận, đừng kể lể quá trình.</a:t>
            </a:r>
          </a:p>
          <a:p>
            <a:r>
              <a:t>• BÁO TIN XẤU SỚM kèm phương án — nhấn mạnh: giấu tin xấu là lỗi nặng nhất.</a:t>
            </a:r>
          </a:p>
          <a:p>
            <a:r>
              <a:t>• Có ý kiến khác: chọn lúc riêng tư, dựa trên DỮ LIỆU và LỢI ÍCH CHUNG, và tôn trọng quyết định cuối.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VỚI CẤP DƯỚI VÀ ĐỒNG NGHIỆP (3 phút)</a:t>
            </a:r>
          </a:p>
          <a:p>
            <a:r>
              <a:t>• Giao việc rõ 3 thứ: MỤC TIÊU – THỜI HẠN – TIÊU CHUẨN.</a:t>
            </a:r>
          </a:p>
          <a:p>
            <a:r>
              <a:t>• Quy tắc: KHEN CÔNG KHAI, PHÊ BÌNH RIÊNG TƯ. Viết to lên bảng.</a:t>
            </a:r>
          </a:p>
          <a:p>
            <a:r>
              <a:t>• Phê bình nhắm vào HÀNH VI, không nhắm vào CON NGƯỜI: "Báo cáo này nộp trễ 2 ngày" chứ không phải "Em vô trách nhiệm".</a:t>
            </a:r>
          </a:p>
          <a:p>
            <a:r>
              <a:t>• Với đồng nghiệp: tranh luận về công việc, không công kích cá nhân; tránh bè phái.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VỚI KHÁCH HÀNG (3 phút)</a:t>
            </a:r>
          </a:p>
          <a:p>
            <a:r>
              <a:t>• Tâm thế PHỤC VỤ, không phải xin xỏ cũng không phải ban ơn.</a:t>
            </a:r>
          </a:p>
          <a:p>
            <a:r>
              <a:t>• Mỗi điểm tiếp xúc XÂY hoặc PHÁ niềm tin.</a:t>
            </a:r>
          </a:p>
          <a:p>
            <a:r>
              <a:t>• Bốn điều tối kỵ — nhấn điều đầu: TRANH CÃI THẮNG THUA với khách. Thắng lý mà mất khách là thua.</a:t>
            </a:r>
          </a:p>
          <a:p>
            <a:r>
              <a:t>CHUYỂN Ý: "Vậy khi khách nổi giận thì làm sao?"''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QUY TRÌNH LAST (5 phút) — NỘI DUNG QUAN TRỌNG NHẤT CHƯƠNG</a:t>
            </a:r>
          </a:p>
          <a:p>
            <a:r>
              <a:t>• Viết 4 chữ L-A-S-T lên bảng.</a:t>
            </a:r>
          </a:p>
          <a:p>
            <a:r>
              <a:t>• L: nghe TRỌN VẸN, không ngắt lời, không phòng thủ. Nhấn: đừng vội giải thích khi khách đang giận.</a:t>
            </a:r>
          </a:p>
          <a:p>
            <a:r>
              <a:t>• A: xin lỗi về TRẢI NGHIỆM chưa tốt — kể cả khi chưa rõ lỗi thuộc về ai. Đây là điểm sinh viên hay tranh luận, hãy giải thích kỹ: xin lỗi ≠ nhận lỗi.</a:t>
            </a:r>
          </a:p>
          <a:p>
            <a:r>
              <a:t>• S: phương án CỤ THỂ, thời hạn RÕ. Vượt thẩm quyền thì chuyển đúng người, không đùn đẩy.</a:t>
            </a:r>
          </a:p>
          <a:p>
            <a:r>
              <a:t>• T: cảm ơn và THEO DÕI ĐẾN KHI XONG.</a:t>
            </a:r>
          </a:p>
          <a:p>
            <a:r>
              <a:t>• Số liệu chốt: khách phàn nàn được xử lý tốt thường TRUNG THÀNH HƠN khách chưa từng gặp vấn đề.</a:t>
            </a:r>
          </a:p>
          <a:p>
            <a:r>
              <a:t>• Cho lớp thực hành ngay 1 tình huống ngắn: khách nhận hàng trễ 3 ngày.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BÀN TIỆC (4 phút) — SINH VIÊN RẤT THÍCH PHẦN NÀY</a:t>
            </a:r>
          </a:p>
          <a:p>
            <a:r>
              <a:t>• Trước tiệc: xác nhận đúng hạn, đến đúng giờ, trang phục theo tính chất, CHỜ CHỦ TIỆC XẾP CHỖ.</a:t>
            </a:r>
          </a:p>
          <a:p>
            <a:r>
              <a:t>• Trong bữa: chủ tiệc bắt đầu trước; dụng cụ dùng TỪ NGOÀI VÀO TRONG; không nói khi đang nhai.</a:t>
            </a:r>
          </a:p>
          <a:p>
            <a:r>
              <a:t>• Chúc rượu: người vị thế thấp hơn NÂNG LY THẤP HƠN khi cụng. Làm mẫu ngay bằng ly nước.</a:t>
            </a:r>
          </a:p>
          <a:p>
            <a:r>
              <a:t>• NHẤN MẠNH: tôn trọng người không dùng rượu bia, TUYỆT ĐỐI KHÔNG ÉP. Dạy sinh viên cách từ chối lịch sự: "Dạ em lái xe, cho em xin ly nước thay ạ."</a:t>
            </a:r>
          </a:p>
          <a:p>
            <a:r>
              <a:t>• Chủ đề nên và không nên nói — nhấn: tránh chính trị, tôn giáo, thu nhập, đời tư.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ĐA VĂN HÓA (3 phút)</a:t>
            </a:r>
          </a:p>
          <a:p>
            <a:r>
              <a:t>• Bốn khác biệt: cách nói, thứ bậc, thời gian, cử chỉ – kiêng kỵ.</a:t>
            </a:r>
          </a:p>
          <a:p>
            <a:r>
              <a:t>• Ví dụ hay nhất: "Để chúng tôi xem xét" trong văn hóa Nhật thường LÀ LỜI TỪ CHỐI lịch sự.</a:t>
            </a:r>
          </a:p>
          <a:p>
            <a:r>
              <a:t>• Hỏi lớp: bạn nào từng làm việc/thực tập với người nước ngoài, kể một khác biệt đã gặp.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THÍCH ỨNG (2 phút)</a:t>
            </a:r>
          </a:p>
          <a:p>
            <a:r>
              <a:t>• 5 nguyên tắc — nhấn nguyên tắc "KHÔNG SUY DIỄN THEO CHUẨN CỦA MÌNH".</a:t>
            </a:r>
          </a:p>
          <a:p>
            <a:r>
              <a:t>• Mẹo thực dụng: nói chậm, rõ, và XÁC NHẬN LẠI BẰNG VĂN BẢN sau cuộc họp đa quốc gia.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HOẠT ĐỘNG NHÓM (15 phút)</a:t>
            </a:r>
          </a:p>
          <a:p>
            <a:r>
              <a:t>• Hai tình huống, chia lớp làm hai nửa, mỗi nửa xử lý một tình huống rồi trình bày.</a:t>
            </a:r>
          </a:p>
          <a:p>
            <a:r>
              <a:t>• Tình huống khách hàng: yêu cầu áp dụng đủ 4 bước LAST, nói thành lời thoại cụ thể.</a:t>
            </a:r>
          </a:p>
          <a:p>
            <a:r>
              <a:t>• Tình huống bàn tiệc: yêu cầu nói ra CÂU TỪ CHỐI cụ thể, không nói chung chung.</a:t>
            </a:r>
          </a:p>
          <a:p>
            <a:r>
              <a:t>• Cô chốt: nguyên tắc thì giống nhau, lời nói phải phù hợp từng ngữ cảnh.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TỔNG KẾT (2 phút)</a:t>
            </a:r>
          </a:p>
          <a:p>
            <a:r>
              <a:t>• Gọi sinh viên nhắc lại 4 bước LAST.</a:t>
            </a:r>
          </a:p>
          <a:p>
            <a:r>
              <a:t>• Giao việc: 40 câu trắc nghiệm Chương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ÔN TẬP (1 phút) — tự làm ở nhà.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TÀI LIỆU (1 phút) — đọc trước phần đàm phán cho buổi sau.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CHUYỂN MỤC (30 giây).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ĐỐI TÁC – CƠ QUAN – TRUYỀN THÔNG (3 phút)</a:t>
            </a:r>
          </a:p>
          <a:p>
            <a:r>
              <a:t>• Đối tác: quan hệ LÂU DÀI quan trọng hơn lợi thế ngắn hạn.</a:t>
            </a:r>
          </a:p>
          <a:p>
            <a:r>
              <a:t>• Cơ quan nhà nước: đúng thủ tục, đúng thẩm quyền, HỒ SƠ CHUẨN THỂ THỨC — nối sang Chương 5.</a:t>
            </a:r>
          </a:p>
          <a:p>
            <a:r>
              <a:t>• Truyền thông: CHỈ NGƯỜI ĐƯỢC ỦY QUYỀN phát ngôn. Nhân viên tuyệt đối không tự trả lời báo chí.</a:t>
            </a:r>
          </a:p>
          <a:p>
            <a:r>
              <a:t>• Khủng hoảng: phản hồi NHANH, nhận trách nhiệm đúng phần của mình.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CHUYỂN MỤC (30 giây) — đây là phần sinh viên hào hứng nhất, giữ nhịp vui nhưng vẫn chuẩn mực.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pic>
        <p:nvPicPr>
          <p:cNvPr id="3" name="Image 0" descr="assets/logo_tron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8549640" y="1417320"/>
            <a:ext cx="3200400" cy="3200400"/>
          </a:xfrm>
          <a:prstGeom prst="rect">
            <a:avLst/>
          </a:prstGeom>
        </p:spPr>
      </p:pic>
      <p:pic>
        <p:nvPicPr>
          <p:cNvPr id="4" name="Image 1" descr="assets/logo_nga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11480"/>
            <a:ext cx="2834640" cy="11887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5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1800" dirty="0"/>
          </a:p>
        </p:txBody>
      </p:sp>
      <p:sp>
        <p:nvSpPr>
          <p:cNvPr id="6" name="Shape 2"/>
          <p:cNvSpPr/>
          <p:nvPr/>
        </p:nvSpPr>
        <p:spPr>
          <a:xfrm>
            <a:off x="822960" y="2487168"/>
            <a:ext cx="1371600" cy="41148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822960" y="269748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Giao tiếp trong các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tình huống đặc thù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822960" y="443484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Cùng một kỹ năng, mỗi bối cảnh một luật chơi: nội bộ, khách hàng, bàn tiệc và đa văn hóa.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822960" y="53492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GV. Đỗ Thùy Hương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EC1103 – Kỹ năng giao tiếp và soạn thảo văn bản (2:1)  •  Lớp 261b, HK1 năm học 2026 – 2027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Đỗ Thùy Hương, 2026 — Bài giảng biên soạn cho lớp giảng dạy trực tiếp. Vui lòng ghi nguồn khi sử dụng.</a:t>
            </a:r>
            <a:endParaRPr lang="en-US" sz="900" dirty="0"/>
          </a:p>
        </p:txBody>
      </p:sp>
      <p:pic>
        <p:nvPicPr>
          <p:cNvPr id="11" name="Picture 10" descr="co-huong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080" y="1051560"/>
            <a:ext cx="327962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Sau chương này, sinh viên có thể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Ứng xử phù hợp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với cấp trên, cấp dưới và đồng nghiệp trong môi trường nội bộ tổ chức.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75005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75005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676906"/>
            <a:ext cx="10652760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tiếp chuyên nghiệp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với khách hàng, đối tác, cơ quan nhà nước và truyền thông; xử lý được phàn nàn của khách.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8816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8816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808476"/>
            <a:ext cx="10652760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hiện đúng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nghi thức giao tiếp trên bàn tiệc trong hoạt động kinh doanh.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501319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501319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940046"/>
            <a:ext cx="10652760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Thích ứng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với khác biệt văn hóa khi làm việc trong môi trường đa văn hóa.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Chúng ta sẽ đi qua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tiếp trong môi trường nội bộ tổ chức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75005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75005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676906"/>
            <a:ext cx="10652760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tiếp với khách hàng, đối tác, cơ quan nhà nước và truyền thông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8816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8816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808476"/>
            <a:ext cx="10652760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tiếp trên bàn tiệc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501319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501319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940046"/>
            <a:ext cx="10652760" cy="113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tiếp trong môi trường đa văn hóa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Giao tiếp với cấp trên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Khi nhận nhiệm vụ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Lắng nghe – ghi chú – hỏi lại cho rõ yêu cầu, thời hạn, nguồn lực; xác nhận lại bằng tin nhắn/email để hai bên cùng hiểu một cách.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Khi báo cáo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Chủ động, đúng hạn, kết quả trước – diễn giải sau; báo tin xấu sớm kèm phương án xử lý, không che giấu.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Khi có ý kiến khác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Chọn đúng lúc, đúng chỗ (thường là riêng tư); trình bày trên cơ sở dữ liệu và lợi ích chung; tôn trọng quyết định cuối cùng.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Giao tiếp với cấp dưới và đồng nghiệp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việc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Rõ mục tiêu – thời hạn – tiêu chuẩn; giao việc kèm niềm tin và nguồn lực; kiểm tra tiến độ đúng mức, không quản lý vụn vặt.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Khen và phê bình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Khen công khai, kịp thời, cụ thể; phê bình riêng tư, nhắm vào hành vi chứ không nhắm vào con người, kèm hướng khắc phục.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Với đồng nghiệp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 trọng, hợp tác, chia sẻ thông tin; tranh luận về công việc chứ không công kích cá nhân; tránh bè phái, tán chuyện sau lưng.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Họp hiệu quả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 chương trình gửi trước; đến đúng giờ; phát biểu ngắn gọn vào trọng tâm; có kết luận, biên bản và người chịu trách nhiệm từng việc.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Giao tiếp với khách hàng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Tâm thế phục vụ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Khách hàng nuôi sống doanh nghiệp; mỗi điểm tiếp xúc (chào đón, tư vấn, giao hàng, hậu mãi) đều là khoảnh khắc xây hoặc phá niềm tin.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Nguyên tắc vàng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Chào đón niềm nở – gọi tên khách khi có thể; lắng nghe nhu cầu trước khi giới thiệu; nói sự thật về sản phẩm; giữ lời hứa về thời hạn.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Điều tối kỵ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Tranh cãi thắng – thua với khách; hứa quá khả năng; đổ lỗi cho đồng nghiệp, cho quy trình; bỏ mặc khách sau khi bán xong.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Xử lý phàn nàn của khách hàng — quy trình LAST</a:t>
            </a:r>
            <a:endParaRPr lang="en-US" sz="2700" dirty="0"/>
          </a:p>
        </p:txBody>
      </p:sp>
      <p:pic>
        <p:nvPicPr>
          <p:cNvPr id="9" name="Picture 8" descr="c3-quy-trinh-last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287" y="1481328"/>
            <a:ext cx="11247120" cy="37935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Với đối tác, cơ quan nhà nước và truyền thông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Đối tác kinh doanh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Bình đẳng, giữ chữ tín, minh bạch thông tin; quan hệ lâu dài quan trọng hơn lợi thế ngắn hạn — nền tảng cho đàm phán ở Chương 4.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Cơ quan nhà nước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Đúng thủ tục, đúng thẩm quyền, hồ sơ – văn bản chuẩn thể thức (Chương 5); tác phong nghiêm túc, đúng hẹn; tuyệt đối không “đi tắt” trái quy định.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Truyền thông – báo chí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 người được ủy quyền phát ngôn; thông tin nhất quán, trung thực; khi có khủng hoảng: phản hồi nhanh, nhận trách nhiệm đúng phần của mình, không né tránh.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Giao tiếp trên bàn tiệc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Trước bữa tiệc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Xác nhận tham dự đúng hạn; đến đúng giờ; trang phục theo tính chất tiệc; chờ chủ tiệc mời và xếp chỗ — vị trí ngồi thể hiện thứ bậc.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Trong bữa ăn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Chủ tiệc bắt đầu trước; dùng dụng cụ từ ngoài vào trong; không nói khi đang nhai, không gõ đũa, không xoay đĩa thức ăn về phía mình liên tục.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Chúc rượu – cụng ly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Người vị thế thấp nâng ly thấp hơn khi cụng; chúc ngắn gọn, đúng đối tượng; tôn trọng người không dùng rượu bia — không ép.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Câu chuyện trên bàn tiệc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Chủ đề nhẹ nhàng: ẩm thực, thể thao, du lịch, quê quán; tránh chính trị, tôn giáo, thu nhập, đời tư; công việc chỉ bàn khi chủ tiệc gợi mở.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Giao tiếp đa văn hóa: nhận diện khác biệt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Cách nói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Văn hóa “nói thẳng” (Đức, Mỹ, Hà Lan) đánh giá cao sự rõ ràng; văn hóa “nói vòng” (Nhật, Hàn, Việt) ưu tiên giữ thể diện — “để chúng tôi xem xét” có thể là lời từ chối.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Thứ bậc và ra quyết định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Nơi coi trọng tôn ti (Nhật, Hàn, Trung): đúng vai, đúng cấp, quyết định tập thể chậm mà chắc; nơi bình đẳng (Bắc Âu, Úc): gọi tên, tranh luận thẳng với sếp là bình thường.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Thời gian và cam kết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Văn hóa giờ giấc chặt (Đức, Nhật, Thụy Sĩ): trễ 5 phút là thất lễ; văn hóa thời gian linh hoạt: quan hệ đi trước, tiến độ đi sau — cần chốt mốc bằng văn bản.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Cử chỉ và kiêng kỵ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Cùng một cử chỉ mang nghĩa khác nhau giữa các nước; màu sắc, con số, quà tặng đều có thể nhạy cảm — tra cứu trước khi gặp đối tác nước ngoài.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Nguyên tắc thích ứng đa văn hóa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57276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499616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Tìm hiểu trước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văn hóa giao tiếp, nghi thức chào hỏi, kiêng kỵ của đối tác trước mỗi cuộc gặp quan trọng.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14600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441448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 sát và điều chỉnh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để ý cách đối tác chào, trao danh thiếp, giữ khoảng cách… và ứng xử tương thích.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456432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456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383280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suy diễn theo chuẩn của mình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một hành vi “kỳ lạ” có thể hoàn toàn bình thường trong văn hóa của họ — hỏi lịch sự thay vì phán xét.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398264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398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325112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Nói chậm, rõ, xác nhận lại bằng văn bản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khi khác ngôn ngữ: tránh tiếng lóng, thành ngữ; tóm tắt thỏa thuận qua email sau cuộc họp.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340096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502920" y="5340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051560" y="5266944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Khiêm tốn và cầu thị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sẵn sàng xin lỗi khi lỡ phạm điều kiêng kỵ; thiện chí học hỏi luôn được ghi nhận ở mọi nền văn hóa.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HOẠT ĐỘNG NHÓM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Hai tình huống khó — xử lý ngay tại lớp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2103120"/>
          </a:xfrm>
          <a:prstGeom prst="roundRect">
            <a:avLst>
              <a:gd name="adj" fmla="val 4348"/>
            </a:avLst>
          </a:prstGeom>
          <a:solidFill>
            <a:srgbClr val="FBEDE0"/>
          </a:solidFill>
          <a:ln w="15875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49808" y="150876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TÌNH HUỐNG (nhóm 4–5 sinh viên, 20 phút, bốc thăm 1 trong 2)</a:t>
            </a:r>
            <a:endParaRPr lang="en-US" sz="1500" dirty="0"/>
          </a:p>
          <a:p>
            <a:pPr indent="0" marL="0">
              <a:buNone/>
            </a:pPr>
            <a:r>
              <a:rPr lang="en-US" sz="1350" i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Tình huống A: Khách hàng đến quầy lớn tiếng vì sản phẩm lỗi lần thứ hai trong tháng, nhiều khách khác đang nhìn. Tình huống B: Công ty tiếp đoàn đối tác Nhật Bản lần đầu — nhóm được giao chuẩn bị kịch bản đón tiếp và một bữa tiệc tối.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02920" y="3749040"/>
            <a:ext cx="11201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NHIỆM VỤ CỦA NHÓM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1788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41056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Tình huống A: viết kịch bản xử lý theo đúng 4 bước LAST và đóng vai trước lớp (nhân viên – khách hàng – quản lý).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4864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4864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47914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Tình huống B: lập danh sách những việc phải làm và những điều tuyệt đối tránh (chào hỏi, danh thiếp, chỗ ngồi, quà tặng, chủ đề trò chuyện).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55504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5550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54772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Cả lớp nhận xét chéo: điều gì đã đúng chuẩn mực của chương, điều gì cần điều chỉnh?</a:t>
            </a:r>
            <a:endParaRPr lang="en-US" sz="1400" dirty="0"/>
          </a:p>
        </p:txBody>
      </p:sp>
      <p:pic>
        <p:nvPicPr>
          <p:cNvPr id="21" name="Picture 20" descr="co-huong-tr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8440" y="384048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TỔNG KẾT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 điều cần nhớ của chương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bộ vững thì đối ngoại mới mạnh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Nhận việc – báo cáo – phản hồi với cấp trên; giao việc – khen chê với cấp dưới: đều có chuẩn mực học được.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11810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7296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Khách hàng phàn nàn là cơ hội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LAST: Lắng nghe – Xin lỗi – Giải quyết – Cảm ơn; đừng thắng cuộc cãi để rồi mất khách hàng.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7316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82803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Đa văn hóa: hiểu trước, phán xét không bao giờ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Tìm hiểu – quan sát – thích ứng; xác nhận thỏa thuận bằng văn bản để vượt rào cản ngôn ngữ.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ÔN TẬP &amp; CHUẨN BỊ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hỏi ôn tập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57276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49961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Trình bày cách báo cáo tin xấu với cấp trên qua một ví dụ cụ thể.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395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395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32257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Vận dụng quy trình LAST để xử lý một tình huống phàn nàn tự chọn.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2186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218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14553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Nêu 5 điều nên làm và 5 điều nên tránh khi dự tiệc cùng đối tác kinh doanh.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0416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396849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 một khác biệt văn hóa Đông – Tây và cách thích ứng khi làm việc.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074920"/>
            <a:ext cx="11201400" cy="1143000"/>
          </a:xfrm>
          <a:prstGeom prst="roundRect">
            <a:avLst>
              <a:gd name="adj" fmla="val 7200"/>
            </a:avLst>
          </a:prstGeom>
          <a:solidFill>
            <a:srgbClr val="FBF3E2"/>
          </a:solidFill>
          <a:ln w="12700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777240" y="51206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CHUẨN BỊ CHO BUỔI SAU:  </a:t>
            </a:r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 – Đàm phán trong kinh doanh. Mỗi nhóm nghĩ về lần “trả giá” gần nhất của mình (mua xe, thuê trọ…): điều gì khiến bạn thành công hoặc thất bại?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TÀI LIỆU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Tài liệu học tập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Giáo trình chính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 Nam Khánh Giao (2023), Giáo trình Giao tiếp kinh doanh, NXB Tài chính.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950464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005328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Tài liệu tham khảo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Thái Trí Dũng (2012), Kỹ năng giao tiếp và thương lượng trong kinh doanh, NXB Lao động – Xã hội.  •  Nghị định 30/2020/NĐ-CP về công tác văn thư (dùng cho Chương 5 và phần thực hành).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437888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92752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liệu của giảng viên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bài giảng, tình huống và bài tập do GV. Đỗ Thùy Hương biên soạn; cung cấp sau mỗi buổi học trên nhóm lớp.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MỤC 3.1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Giao tiếp trong nội bộ tổ chức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Với cấp trên, cấp dưới và đồng nghiệp — mỗi mối quan hệ một cách ứng xử.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GV. Đỗ Thùy Hương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Chương 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MỤC 3.2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Giao tiếp với bên ngoài tổ chức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Khách hàng, đối tác, cơ quan nhà nước và truyền thông — bốn nhóm, bốn luật chơi.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GV. Đỗ Thùy Hương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Chương 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MỤC 3.3 – 3.4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Bàn tiệc và môi trường đa văn hóa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Nơi công việc vẫn tiếp diễn dù không ai nhắc đến công việc.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GV. Đỗ Thùy Hương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Chương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Je m’appelle Huong — Lecturer and Researcher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Đỗ Thùy Hương</dc:creator>
  <cp:lastModifiedBy>Đỗ Thùy Hương</cp:lastModifiedBy>
  <cp:revision>1</cp:revision>
  <dcterms:created xsi:type="dcterms:W3CDTF">2026-08-18T11:54:08Z</dcterms:created>
  <dcterms:modified xsi:type="dcterms:W3CDTF">2026-08-18T11:54:08Z</dcterms:modified>
</cp:coreProperties>
</file>