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22"/>
    <p:sldId id="259" r:id="rId5"/>
    <p:sldId id="260" r:id="rId6"/>
    <p:sldId id="272" r:id="rId23"/>
    <p:sldId id="261" r:id="rId7"/>
    <p:sldId id="262" r:id="rId8"/>
    <p:sldId id="263" r:id="rId9"/>
    <p:sldId id="273" r:id="rId24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4.xml"/><Relationship Id="rId23" Type="http://schemas.openxmlformats.org/officeDocument/2006/relationships/slide" Target="slides/slide7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MỤC TIÊU (1 phút) — nhấn: chương này nhiều tình huống thực tế nhất.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LỘ TRÌNH (1 phút) — 4 bối cảnh: nội bộ, bên ngoài, bàn tiệc, đa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CẤP TRÊN (4 phút)</a:t>
            </a:r>
          </a:p>
          <a:p>
            <a:r>
              <a:t>• Ba tình huống: nhận việc – báo cáo – có ý kiến khác.</a:t>
            </a:r>
          </a:p>
          <a:p>
            <a:r>
              <a:t>• Nhấn kỹ thuật XÁC NHẬN LẠI BẰNG VĂN BẢN sau khi nhận việc — tránh "sếp bảo thế này, em hiểu thế kia".</a:t>
            </a:r>
          </a:p>
          <a:p>
            <a:r>
              <a:t>• Nguyên tắc vàng khi báo cáo: KẾT QUẢ TRƯỚC, diễn giải sau. Sếp bận, đừng kể lể quá trình.</a:t>
            </a:r>
          </a:p>
          <a:p>
            <a:r>
              <a:t>• BÁO TIN XẤU SỚM kèm phương án — nhấn mạnh: giấu tin xấu là lỗi nặng nhất.</a:t>
            </a:r>
          </a:p>
          <a:p>
            <a:r>
              <a:t>• Có ý kiến khác: chọn lúc riêng tư, dựa trên DỮ LIỆU và LỢI ÍCH CHUNG, và tôn trọng quyết định cuối.</a:t>
            </a:r>
          </a:p>
          <a:p/>
          <a:p>
            <a:r>
              <a:t>NÓI ĐỦ Ý (phần đã rút khỏi slide)</a:t>
            </a:r>
          </a:p>
          <a:p>
            <a:r>
              <a:t>• Nhận nhiệm vụ: hỏi lại cho rõ YÊU CẦU, THỜI HẠN, NGUỒN LỰC — ba thứ này thiếu một là làm sai.</a:t>
            </a:r>
          </a:p>
          <a:p>
            <a:r>
              <a:t>• Báo cáo: kết quả trước, diễn giải sau. Tin xấu báo SỚM và kèm phương án, đừng che giấu.</a:t>
            </a:r>
          </a:p>
          <a:p>
            <a:r>
              <a:t>• Ý kiến khác: chọn lúc riêng tư; nói trên cơ sở dữ liệu và lợi ích chung; nói xong thì tôn trọng quyết định cuối cùng.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CẤP DƯỚI VÀ ĐỒNG NGHIỆP (3 phút)</a:t>
            </a:r>
          </a:p>
          <a:p>
            <a:r>
              <a:t>• Giao việc rõ 3 thứ: MỤC TIÊU – THỜI HẠN – TIÊU CHUẨN.</a:t>
            </a:r>
          </a:p>
          <a:p>
            <a:r>
              <a:t>• Quy tắc: KHEN CÔNG KHAI, PHÊ BÌNH RIÊNG TƯ. Viết to lên bảng.</a:t>
            </a:r>
          </a:p>
          <a:p>
            <a:r>
              <a:t>• Phê bình nhắm vào HÀNH VI, không nhắm vào CON NGƯỜI: "Báo cáo này nộp trễ 2 ngày" chứ không phải "Em vô trách nhiệm".</a:t>
            </a:r>
          </a:p>
          <a:p>
            <a:r>
              <a:t>• Với đồng nghiệp: tranh luận về công việc, không công kích cá nhân; tránh bè phái.</a:t>
            </a:r>
          </a:p>
          <a:p/>
          <a:p>
            <a:r>
              <a:t>NÓI ĐỦ Ý (phần đã rút khỏi slide)</a:t>
            </a:r>
          </a:p>
          <a:p>
            <a:r>
              <a:t>• Giao việc kèm NIỀM TIN và NGUỒN LỰC; kiểm tra tiến độ đúng mức, đừng quản lý vụn vặt.</a:t>
            </a:r>
          </a:p>
          <a:p>
            <a:r>
              <a:t>• Khen thì công khai, kịp thời, cụ thể. Phê bình thì riêng tư, kèm hướng khắc phục.</a:t>
            </a:r>
          </a:p>
          <a:p>
            <a:r>
              <a:t>• Đồng nghiệp: tránh bè phái, tránh tán chuyện sau lưng.</a:t>
            </a:r>
          </a:p>
          <a:p>
            <a:r>
              <a:t>• Họp: có chương trình gửi trước, phát biểu ngắn gọn, kết thúc phải có biên bản và người chịu trách nhiệm từng việc.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VỚI KHÁCH HÀNG (3 phút)</a:t>
            </a:r>
          </a:p>
          <a:p>
            <a:r>
              <a:t>• Tâm thế PHỤC VỤ, không phải xin xỏ cũng không phải ban ơn.</a:t>
            </a:r>
          </a:p>
          <a:p>
            <a:r>
              <a:t>• Mỗi điểm tiếp xúc XÂY hoặc PHÁ niềm tin.</a:t>
            </a:r>
          </a:p>
          <a:p>
            <a:r>
              <a:t>• Bốn điều tối kỵ — nhấn điều đầu: TRANH CÃI THẮNG THUA với khách. Thắng lý mà mất khách là thua.</a:t>
            </a:r>
          </a:p>
          <a:p>
            <a:r>
              <a:t>CHUYỂN Ý: "Vậy khi khách nổi giận thì làm sao?"''</a:t>
            </a:r>
          </a:p>
          <a:p/>
          <a:p>
            <a:r>
              <a:t>NÓI ĐỦ Ý (phần đã rút khỏi slide)</a:t>
            </a:r>
          </a:p>
          <a:p>
            <a:r>
              <a:t>• Mỗi điểm tiếp xúc — chào đón, tư vấn, giao hàng, hậu mãi — đều xây hoặc phá niềm tin.</a:t>
            </a:r>
          </a:p>
          <a:p>
            <a:r>
              <a:t>• Nguyên tắc vàng: chào niềm nở, gọi TÊN khách khi có thể; nói sự thật về sản phẩm; giữ lời hứa về thời hạn.</a:t>
            </a:r>
          </a:p>
          <a:p>
            <a:r>
              <a:t>• Tối kỵ: hứa quá khả năng; đổ lỗi cho đồng nghiệp hoặc cho quy trình; bỏ mặc khách sau khi bán xong.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QUY TRÌNH LAST (5 phút) — NỘI DUNG QUAN TRỌNG NHẤT CHƯƠNG</a:t>
            </a:r>
          </a:p>
          <a:p>
            <a:r>
              <a:t>• Viết 4 chữ L-A-S-T lên bảng.</a:t>
            </a:r>
          </a:p>
          <a:p>
            <a:r>
              <a:t>• L: nghe TRỌN VẸN, không ngắt lời, không phòng thủ. Nhấn: đừng vội giải thích khi khách đang giận.</a:t>
            </a:r>
          </a:p>
          <a:p>
            <a:r>
              <a:t>• A: xin lỗi về TRẢI NGHIỆM chưa tốt — kể cả khi chưa rõ lỗi thuộc về ai. Đây là điểm sinh viên hay tranh luận, hãy giải thích kỹ: xin lỗi ≠ nhận lỗi.</a:t>
            </a:r>
          </a:p>
          <a:p>
            <a:r>
              <a:t>• S: phương án CỤ THỂ, thời hạn RÕ. Vượt thẩm quyền thì chuyển đúng người, không đùn đẩy.</a:t>
            </a:r>
          </a:p>
          <a:p>
            <a:r>
              <a:t>• T: cảm ơn và THEO DÕI ĐẾN KHI XONG.</a:t>
            </a:r>
          </a:p>
          <a:p>
            <a:r>
              <a:t>• Số liệu chốt: khách phàn nàn được xử lý tốt thường TRUNG THÀNH HƠN khách chưa từng gặp vấn đề.</a:t>
            </a:r>
          </a:p>
          <a:p>
            <a:r>
              <a:t>• Cho lớp thực hành ngay 1 tình huống ngắn: khách nhận hàng trễ 3 ngày.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BÀN TIỆC (4 phút) — SINH VIÊN RẤT THÍCH PHẦN NÀY</a:t>
            </a:r>
          </a:p>
          <a:p>
            <a:r>
              <a:t>• Trước tiệc: xác nhận đúng hạn, đến đúng giờ, trang phục theo tính chất, CHỜ CHỦ TIỆC XẾP CHỖ.</a:t>
            </a:r>
          </a:p>
          <a:p>
            <a:r>
              <a:t>• Trong bữa: chủ tiệc bắt đầu trước; dụng cụ dùng TỪ NGOÀI VÀO TRONG; không nói khi đang nhai.</a:t>
            </a:r>
          </a:p>
          <a:p>
            <a:r>
              <a:t>• Chúc rượu: người vị thế thấp hơn NÂNG LY THẤP HƠN khi cụng. Làm mẫu ngay bằng ly nước.</a:t>
            </a:r>
          </a:p>
          <a:p>
            <a:r>
              <a:t>• NHẤN MẠNH: tôn trọng người không dùng rượu bia, TUYỆT ĐỐI KHÔNG ÉP. Dạy sinh viên cách từ chối lịch sự: "Dạ em lái xe, cho em xin ly nước thay ạ."</a:t>
            </a:r>
          </a:p>
          <a:p>
            <a:r>
              <a:t>• Chủ đề nên và không nên nói — nhấn: tránh chính trị, tôn giáo, thu nhập, đời tư.</a:t>
            </a:r>
          </a:p>
          <a:p/>
          <a:p>
            <a:r>
              <a:t>NÓI ĐỦ Ý (phần đã rút khỏi slide)</a:t>
            </a:r>
          </a:p>
          <a:p>
            <a:r>
              <a:t>• Trước tiệc: trang phục theo tính chất tiệc; vị trí ngồi thể hiện thứ bậc nên phải chờ chủ tiệc xếp chỗ.</a:t>
            </a:r>
          </a:p>
          <a:p>
            <a:r>
              <a:t>• Trong bữa: không nói khi đang nhai, không gõ đũa, không xoay đĩa thức ăn về phía mình liên tục.</a:t>
            </a:r>
          </a:p>
          <a:p>
            <a:r>
              <a:t>• Chúc rượu: chúc ngắn gọn, đúng đối tượng; tôn trọng người không dùng rượu bia.</a:t>
            </a:r>
          </a:p>
          <a:p>
            <a:r>
              <a:t>• Chuyện trò: công việc chỉ bàn khi chủ tiệc gợi mở.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ĐA VĂN HÓA (3 phút)</a:t>
            </a:r>
          </a:p>
          <a:p>
            <a:r>
              <a:t>• Bốn khác biệt: cách nói, thứ bậc, thời gian, cử chỉ – kiêng kỵ.</a:t>
            </a:r>
          </a:p>
          <a:p>
            <a:r>
              <a:t>• Ví dụ hay nhất: "Để chúng tôi xem xét" trong văn hóa Nhật thường LÀ LỜI TỪ CHỐI lịch sự.</a:t>
            </a:r>
          </a:p>
          <a:p>
            <a:r>
              <a:t>• Hỏi lớp: bạn nào từng làm việc/thực tập với người nước ngoài, kể một khác biệt đã gặp.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THÍCH ỨNG (2 phút)</a:t>
            </a:r>
          </a:p>
          <a:p>
            <a:r>
              <a:t>• 5 nguyên tắc — nhấn nguyên tắc "KHÔNG SUY DIỄN THEO CHUẨN CỦA MÌNH".</a:t>
            </a:r>
          </a:p>
          <a:p>
            <a:r>
              <a:t>• Mẹo thực dụng: nói chậm, rõ, và XÁC NHẬN LẠI BẰNG VĂN BẢN sau cuộc họp đa quốc gia.</a:t>
            </a:r>
          </a:p>
          <a:p/>
          <a:p>
            <a:r>
              <a:t>NÓI ĐỦ Ý (phần đã rút khỏi slide)</a:t>
            </a:r>
          </a:p>
          <a:p>
            <a:r>
              <a:t>• Tìm hiểu trước mỗi cuộc gặp quan trọng, đừng đợi đến lúc ngồi vào bàn.</a:t>
            </a:r>
          </a:p>
          <a:p>
            <a:r>
              <a:t>• Quan sát rồi ứng xử tương thích — bắt chước là cách học nhanh nhất.</a:t>
            </a:r>
          </a:p>
          <a:p>
            <a:r>
              <a:t>• Hỏi lịch sự thay vì phán xét.</a:t>
            </a:r>
          </a:p>
          <a:p>
            <a:r>
              <a:t>• Khác ngôn ngữ: nói chậm, rõ, tránh thành ngữ; tóm tắt thỏa thuận qua email sau họp.</a:t>
            </a:r>
          </a:p>
          <a:p>
            <a:r>
              <a:t>• Thiện chí học hỏi luôn được ghi nhận ở mọi nền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HOẠT ĐỘNG NHÓM (15 phút)</a:t>
            </a:r>
          </a:p>
          <a:p>
            <a:r>
              <a:t>• Hai tình huống, chia lớp làm hai nửa, mỗi nửa xử lý một tình huống rồi trình bày.</a:t>
            </a:r>
          </a:p>
          <a:p>
            <a:r>
              <a:t>• Tình huống khách hàng: yêu cầu áp dụng đủ 4 bước LAST, nói thành lời thoại cụ thể.</a:t>
            </a:r>
          </a:p>
          <a:p>
            <a:r>
              <a:t>• Tình huống bàn tiệc: yêu cầu nói ra CÂU TỪ CHỐI cụ thể, không nói chung chung.</a:t>
            </a:r>
          </a:p>
          <a:p>
            <a:r>
              <a:t>• Cô chốt: nguyên tắc thì giống nhau, lời nói phải phù hợp từng ngữ cảnh.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 (2 phút)</a:t>
            </a:r>
          </a:p>
          <a:p>
            <a:r>
              <a:t>• Gọi sinh viên nhắc lại 4 bước LAST.</a:t>
            </a:r>
          </a:p>
          <a:p>
            <a:r>
              <a:t>• Giao việc: 40 câu trắc nghiệm Chương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ÔN TẬP (1 phút) — tự làm ở nhà.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TÀI LIỆU (1 phút) — đọc trước phần đàm phán cho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ĐỐI TÁC – CƠ QUAN – TRUYỀN THÔNG (3 phút)</a:t>
            </a:r>
          </a:p>
          <a:p>
            <a:r>
              <a:t>• Đối tác: quan hệ LÂU DÀI quan trọng hơn lợi thế ngắn hạn.</a:t>
            </a:r>
          </a:p>
          <a:p>
            <a:r>
              <a:t>• Cơ quan nhà nước: đúng thủ tục, đúng thẩm quyền, HỒ SƠ CHUẨN THỂ THỨC — nối sang Chương 5.</a:t>
            </a:r>
          </a:p>
          <a:p>
            <a:r>
              <a:t>• Truyền thông: CHỈ NGƯỜI ĐƯỢC ỦY QUYỀN phát ngôn. Nhân viên tuyệt đối không tự trả lời báo chí.</a:t>
            </a:r>
          </a:p>
          <a:p>
            <a:r>
              <a:t>• Khủng hoảng: phản hồi NHANH, nhận trách nhiệm đúng phần của mình.</a:t>
            </a:r>
          </a:p>
          <a:p/>
          <a:p>
            <a:r>
              <a:t>NÓI ĐỦ Ý (phần đã rút khỏi slide)</a:t>
            </a:r>
          </a:p>
          <a:p>
            <a:r>
              <a:t>• Đối tác: quan hệ lâu dài quan trọng hơn lợi thế ngắn hạn — đây là nền cho Chương 4.</a:t>
            </a:r>
          </a:p>
          <a:p>
            <a:r>
              <a:t>• Cơ quan nhà nước: hồ sơ, văn bản phải chuẩn thể thức (Chương 5); tác phong nghiêm túc, đúng hẹn; tuyệt đối không “đi tắt” trái quy định.</a:t>
            </a:r>
          </a:p>
          <a:p>
            <a:r>
              <a:t>• Truyền thông: thông tin nhất quán, trung thực; khủng hoảng thì nhận trách nhiệm đúng phần của mình, không né tránh.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CHUYỂN MỤC (30 giây) — đây là phần sinh viên hào hứng nhất, giữ nhịp vui nhưng vẫn chuẩn mực.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pic>
        <p:nvPicPr>
          <p:cNvPr id="3" name="Image 0" descr="/home/user/comdraft/assets/img/dau-huong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49640" y="1417320"/>
            <a:ext cx="3200400" cy="3200400"/>
          </a:xfrm>
          <a:prstGeom prst="rect">
            <a:avLst/>
          </a:prstGeom>
        </p:spPr>
      </p:pic>
      <p:pic>
        <p:nvPicPr>
          <p:cNvPr id="4" name="Image 1" descr="/home/user/comdraft/assets/img/lockup-hu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"/>
            <a:ext cx="283464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5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822960" y="2487168"/>
            <a:ext cx="1371600" cy="41148"/>
          </a:xfrm>
          <a:prstGeom prst="rect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822960" y="2697480"/>
            <a:ext cx="7589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trong các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tình huống đặc thù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822960" y="44348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kỹ năng, mỗi bối cảnh một luật chơi: nội bộ, khách hàng, bàn tiệc và đa văn hóa.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22960" y="5349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GV. Đỗ Thùy Hương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EC1103 – Kỹ năng giao tiếp và soạn thảo văn bản (2:1)  •  Lớp 261b, HK1 năm học 2026 – 2027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Đỗ Thùy Hương, 2026 — Bài giảng biên soạn cho lớp giảng dạy trực tiếp. Vui lòng ghi nguồn khi sử dụng.</a:t>
            </a:r>
            <a:endParaRPr lang="en-US" sz="900" dirty="0"/>
          </a:p>
        </p:txBody>
      </p:sp>
      <p:pic>
        <p:nvPicPr>
          <p:cNvPr id="11" name="Picture 10" descr="co-huong-d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051560"/>
            <a:ext cx="32796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 chương này, sinh viên có thể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xử phù hợp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cấp trên, cấp dưới và đồng nghiệp trong môi trường nội bộ tổ chức.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chuyên nghiệp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khách hàng, đối tác, cơ quan nhà nước và truyền thông; xử lý được phàn nàn của khách.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hiện đúng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 thức giao tiếp trên bàn tiệc trong hoạt động kinh doanh.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Thích ứng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khác biệt văn hóa khi làm việc trong môi trường đa văn hóa.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Chúng ta sẽ đi qua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6184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54533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trong môi trường nội bộ tổ chức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78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50545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với khách hàng, đối tác, cơ quan nhà nước và truyền thông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6557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trên bàn tiệc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4988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425696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trong môi trường đa văn hóa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MỤC 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Giao tiếp trong nội bộ tổ chức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Với cấp trên, cấp dưới và đồng nghiệp — mỗi mối quan hệ một cách ứng xử.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GV.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Chương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với cấp trên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nhận nhiệm vụ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– ghi – hỏi lại cho rõ; xác nhận lại bằng email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báo cáo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trước, diễn giải sau; tin xấu báo sớm kèm phương án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có ý kiến khác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lúc, đúng chỗ, dựa trên dữ liệu; tôn trọng quyết định cuối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với cấp dưới và đồng nghiệp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việc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Rõ mục tiêu – thời hạn – tiêu chuẩn; giao kèm nguồn lực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Khen và phê bình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Khen công khai • phê bình riêng tư, nhắm hành vi không nhắm người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đồng nghiệp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Tranh luận công việc, không công kích cá nhân; tránh bè phái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Họp hiệu quả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gửi trước • kết luận rõ • ai làm việc gì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MỤC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Giao tiếp với bên ngoài tổ chức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Khách hàng, đối tác, cơ quan nhà nước và truyền thông — bốn nhóm, bốn luật chơi.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GV.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Chương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với khách hàng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 thế phục vụ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điểm tiếp xúc là một khoảnh khắc xây hoặc phá niềm tin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vàng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Nghe nhu cầu trước khi giới thiệu • nói thật • giữ lời hứa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tối kỵ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Cãi thắng thua • hứa quá khả năng • bỏ mặc sau khi bán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Xử lý phàn nàn của khách hàng — quy trình LAST</a:t>
            </a:r>
            <a:endParaRPr lang="en-US" sz="2700" dirty="0"/>
          </a:p>
        </p:txBody>
      </p:sp>
      <p:pic>
        <p:nvPicPr>
          <p:cNvPr id="9" name="Picture 8" descr="c3-quy-trinh-last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" y="1939147"/>
            <a:ext cx="11247120" cy="379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Với đối tác, cơ quan nhà nước và truyền thông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7218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tác kinh doanh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chữ tín, minh bạch; quan hệ lâu dài hơn lợi thế ngắn hạn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07238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2724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quan nhà nước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thủ tục, đúng thẩm quyền, văn bản chuẩn thể thức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2744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78231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 thông – báo chí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người được ủy quyền phát ngôn; khủng hoảng thì phản hồi nhanh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2743200"/>
          </a:xfrm>
          <a:prstGeom prst="rect">
            <a:avLst/>
          </a:prstGeom>
          <a:solidFill>
            <a:srgbClr val="FD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7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92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DC756A"/>
                </a:solidFill>
                <a:latin typeface="Calibri"/>
              </a:rPr>
              <a:t>MỤC 3.3 –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788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AC4D33"/>
                </a:solidFill>
                <a:latin typeface="Cambria"/>
              </a:rPr>
              <a:t>Bàn tiệc và môi trường đa văn hóa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22452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i="1">
                <a:solidFill>
                  <a:srgbClr val="8A7A76"/>
                </a:solidFill>
                <a:latin typeface="Calibri"/>
              </a:rPr>
              <a:t>Nơi công việc vẫn tiếp diễn dù không ai nhắc đến công việc.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772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7A76"/>
                </a:solidFill>
                <a:latin typeface="Calibri"/>
              </a:rPr>
              <a:t>Je m'appelle Huong  •  GV. Đỗ Thùy Hương  •  EC1103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6419088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7A76"/>
                </a:solidFill>
                <a:latin typeface="Calibri"/>
              </a:rPr>
              <a:t>Chương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trên bàn tiệc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Trước bữa tiệc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đúng hạn • đúng giờ • chờ chủ tiệc xếp chỗ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5060" y="141732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14516" y="149047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bữa ăn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tiệc bắt đầu trước; dụng cụ dùng từ ngoài vào trong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Chúc rượu – cụng ly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Vị thế thấp nâng ly thấp hơn; không ép người không uống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95060" y="3909060"/>
            <a:ext cx="5509260" cy="2308860"/>
          </a:xfrm>
          <a:prstGeom prst="roundRect">
            <a:avLst>
              <a:gd name="adj" fmla="val 3564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414516" y="3982212"/>
            <a:ext cx="5070348" cy="2162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chuyện trên bàn tiệc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Nên: ẩm thực, thể thao, du lịch • Tránh: chính trị, tôn giáo, thu nhập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tiếp đa văn hóa: nhận diện khác biệt</a:t>
            </a:r>
            <a:endParaRPr lang="en-US" sz="2700" dirty="0"/>
          </a:p>
        </p:txBody>
      </p:sp>
      <p:pic>
        <p:nvPicPr>
          <p:cNvPr id="9" name="Picture 8" descr="c3-ba-truc-van-hoa-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47" y="1640598"/>
            <a:ext cx="10544400" cy="43906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104369"/>
            <a:ext cx="11109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8A7A76"/>
                </a:solidFill>
                <a:latin typeface="Calibri"/>
              </a:rPr>
              <a:t>Không cực nào đúng hơn cực nào — biết mình đang đứng ở đâu trên trục mới là việc.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 thích ứng đa văn hóa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trước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 thức chào hỏi và điều kiêng kỵ của đối tác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514600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441448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và điều chỉnh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họ chào, trao danh thiếp, giữ khoảng cách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383280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suy diễn theo chuẩn của mình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vi “kỳ lạ” có thể rất bình thường với họ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398264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398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325112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chậm, rõ, xác nhận lại bằng văn bản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tiếng lóng; tóm tắt thỏa thuận qua email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340096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0292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5266944"/>
            <a:ext cx="106527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Khiêm tốn và cầu thị  —  </a:t>
            </a:r>
            <a:pPr indent="0" marL="0">
              <a:buNone/>
            </a:pPr>
            <a:r>
              <a:rPr lang="en-US" sz="135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lỗi khi lỡ phạm điều kiêng kỵ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NHÓM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Hai tình huống khó — xử lý ngay tại lớp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17320"/>
            <a:ext cx="11201400" cy="2103120"/>
          </a:xfrm>
          <a:prstGeom prst="roundRect">
            <a:avLst>
              <a:gd name="adj" fmla="val 4348"/>
            </a:avLst>
          </a:prstGeom>
          <a:solidFill>
            <a:srgbClr val="FBEDE0"/>
          </a:solidFill>
          <a:ln w="1587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49808" y="15087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(nhóm 4–5 sinh viên, 20 phút, bốc thăm 1 trong 2)</a:t>
            </a:r>
            <a:endParaRPr lang="en-US" sz="1500" dirty="0"/>
          </a:p>
          <a:p>
            <a:pPr indent="0" marL="0">
              <a:buNone/>
            </a:pPr>
            <a:r>
              <a:rPr lang="en-US" sz="1350" i="1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A: Khách hàng đến quầy lớn tiếng vì sản phẩm lỗi lần thứ hai trong tháng, nhiều khách khác đang nhìn. Tình huống B: Công ty tiếp đoàn đối tác Nhật Bản lần đầu — nhóm được giao chuẩn bị kịch bản đón tiếp và một bữa tiệc tối.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NHIỆM VỤ CỦA NHÓM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41788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41056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A: viết kịch bản xử lý theo đúng 4 bước LAST và đóng vai trước lớp (nhân viên – khách hàng – quản lý).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48646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47914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Tình huống B: lập danh sách những việc phải làm và những điều tuyệt đối tránh (chào hỏi, danh thiếp, chỗ ngồi, quà tặng, chủ đề trò chuyện).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555040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5550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5477256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 lớp nhận xét chéo: điều gì đã đúng chuẩn mực của chương, điều gì cần điều chỉnh?</a:t>
            </a:r>
            <a:endParaRPr lang="en-US" sz="1400" dirty="0"/>
          </a:p>
        </p:txBody>
      </p:sp>
      <p:pic>
        <p:nvPicPr>
          <p:cNvPr id="21" name="Picture 20" descr="co-huong-t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384048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điều cần nhớ của chương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bộ vững thì đối ngoại mới mạnh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việc – báo cáo – phản hồi với cấp trên; giao việc – khen chê với cấp dưới: đều có chuẩn mực học được.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3118104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172968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hàng phàn nàn là cơ hội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LAST: Lắng nghe – Xin lỗi – Giải quyết – Cảm ơn; đừng thắng cuộc cãi để rồi mất khách hàng.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773168"/>
            <a:ext cx="11201400" cy="1490472"/>
          </a:xfrm>
          <a:prstGeom prst="roundRect">
            <a:avLst>
              <a:gd name="adj" fmla="val 55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828032"/>
            <a:ext cx="1076248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 văn hóa: hiểu trước, phán xét không bao giờ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– quan sát – thích ứng; xác nhận thỏa thuận bằng văn bản để vượt rào cản ngôn ngữ.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ÔN TẬP &amp; CHUẨN BỊ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hỏi ôn tập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57276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029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149961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bày cách báo cáo tin xấu với cấp trên qua một ví dụ cụ thể.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292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32257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dụng quy trình LAST để xử lý một tình huống phàn nàn tự chọn.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321868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0292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14553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Nêu 5 điều nên làm và 5 điều nên tránh khi dự tiệc cùng đối tác kinh doanh.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02920" y="4041648"/>
            <a:ext cx="384048" cy="384048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3968496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một khác biệt văn hóa Đông – Tây và cách thích ứng khi làm việc.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2920" y="5074920"/>
            <a:ext cx="11201400" cy="1143000"/>
          </a:xfrm>
          <a:prstGeom prst="roundRect">
            <a:avLst>
              <a:gd name="adj" fmla="val 7200"/>
            </a:avLst>
          </a:prstGeom>
          <a:solidFill>
            <a:srgbClr val="FBF3E2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5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CHO BUỔI SAU:  </a:t>
            </a:r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4 – Đàm phán trong kinh doanh. Mỗi nhóm nghĩ về lần “trả giá” gần nhất của mình (mua xe, thuê trọ…): điều gì khiến bạn thành công hoặc thất bại?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omdraft/assets/img/dau-hu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327648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63550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m'appelle Huong  •  GV. Đỗ Thùy Hương  •  EC1103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8503920" y="6355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A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430000" y="6327648"/>
            <a:ext cx="365760" cy="365760"/>
          </a:xfrm>
          <a:prstGeom prst="ellipse">
            <a:avLst/>
          </a:prstGeom>
          <a:solidFill>
            <a:srgbClr val="DC756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43000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C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76072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C4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liệu học tập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22376" y="1517904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Giáo trình chính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 Nam Khánh Giao (2023), Giáo trình Giao tiếp kinh doanh, NXB Tài chính.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950464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22376" y="3005328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tham khảo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 Trí Dũng (2012), Kỹ năng giao tiếp và thương lượng trong kinh doanh, NXB Lao động – Xã hội.  •  Nghị định 30/2020/NĐ-CP về công tác văn thư (dùng cho Chương 5 và phần thực hành).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4437888"/>
            <a:ext cx="11201400" cy="1322832"/>
          </a:xfrm>
          <a:prstGeom prst="roundRect">
            <a:avLst>
              <a:gd name="adj" fmla="val 6221"/>
            </a:avLst>
          </a:prstGeom>
          <a:solidFill>
            <a:srgbClr val="FDF1EF"/>
          </a:solidFill>
          <a:ln w="15875">
            <a:solidFill>
              <a:srgbClr val="FBCEC9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22376" y="4492752"/>
            <a:ext cx="10762488" cy="121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C4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liệu của giảng viên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bài giảng, tình huống và bài tập do GV. Đỗ Thùy Hương biên soạn; cung cấp sau mỗi buổi học trên nhóm lớp.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Je m’appelle Huong — Lecturer and Researcher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Đỗ Thùy Hương</dc:creator>
  <cp:lastModifiedBy>Đỗ Thùy Hương</cp:lastModifiedBy>
  <cp:revision>1</cp:revision>
  <dcterms:created xsi:type="dcterms:W3CDTF">2026-08-23T05:42:54Z</dcterms:created>
  <dcterms:modified xsi:type="dcterms:W3CDTF">2026-08-23T05:42:54Z</dcterms:modified>
</cp:coreProperties>
</file>