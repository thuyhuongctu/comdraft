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72" r:id="rId23"/>
    <p:sldId id="261" r:id="rId7"/>
    <p:sldId id="262" r:id="rId8"/>
    <p:sldId id="263" r:id="rId9"/>
    <p:sldId id="273" r:id="rId24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nhiều tình huống thực tế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bối cảnh: nội bộ, bên ngoài, bàn tiệc, đa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TRÊN (4 phút)</a:t>
            </a:r>
          </a:p>
          <a:p>
            <a:r>
              <a:t>• Ba tình huống: nhận việc – báo cáo – có ý kiến khác.</a:t>
            </a:r>
          </a:p>
          <a:p>
            <a:r>
              <a:t>• Nhấn kỹ thuật XÁC NHẬN LẠI BẰNG VĂN BẢN sau khi nhận việc — tránh "sếp bảo thế này, em hiểu thế kia".</a:t>
            </a:r>
          </a:p>
          <a:p>
            <a:r>
              <a:t>• Nguyên tắc vàng khi báo cáo: KẾT QUẢ TRƯỚC, diễn giải sau. Sếp bận, đừng kể lể quá trình.</a:t>
            </a:r>
          </a:p>
          <a:p>
            <a:r>
              <a:t>• BÁO TIN XẤU SỚM kèm phương án — nhấn mạnh: giấu tin xấu là lỗi nặng nhất.</a:t>
            </a:r>
          </a:p>
          <a:p>
            <a:r>
              <a:t>• Có ý kiến khác: chọn lúc riêng tư, dựa trên DỮ LIỆU và LỢI ÍCH CHUNG, và tôn trọng quyết định cuối.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DƯỚI VÀ ĐỒNG NGHIỆP (3 phút)</a:t>
            </a:r>
          </a:p>
          <a:p>
            <a:r>
              <a:t>• Giao việc rõ 3 thứ: MỤC TIÊU – THỜI HẠN – TIÊU CHUẨN.</a:t>
            </a:r>
          </a:p>
          <a:p>
            <a:r>
              <a:t>• Quy tắc: KHEN CÔNG KHAI, PHÊ BÌNH RIÊNG TƯ. Viết to lên bảng.</a:t>
            </a:r>
          </a:p>
          <a:p>
            <a:r>
              <a:t>• Phê bình nhắm vào HÀNH VI, không nhắm vào CON NGƯỜI: "Báo cáo này nộp trễ 2 ngày" chứ không phải "Em vô trách nhiệm".</a:t>
            </a:r>
          </a:p>
          <a:p>
            <a:r>
              <a:t>• Với đồng nghiệp: tranh luận về công việc, không công kích cá nhân; tránh bè phái.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KHÁCH HÀNG (3 phút)</a:t>
            </a:r>
          </a:p>
          <a:p>
            <a:r>
              <a:t>• Tâm thế PHỤC VỤ, không phải xin xỏ cũng không phải ban ơn.</a:t>
            </a:r>
          </a:p>
          <a:p>
            <a:r>
              <a:t>• Mỗi điểm tiếp xúc XÂY hoặc PHÁ niềm tin.</a:t>
            </a:r>
          </a:p>
          <a:p>
            <a:r>
              <a:t>• Bốn điều tối kỵ — nhấn điều đầu: TRANH CÃI THẮNG THUA với khách. Thắng lý mà mất khách là thua.</a:t>
            </a:r>
          </a:p>
          <a:p>
            <a:r>
              <a:t>CHUYỂN Ý: "Vậy khi khách nổi giận thì làm sao?"''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LAST (5 phút) — NỘI DUNG QUAN TRỌNG NHẤT CHƯƠNG</a:t>
            </a:r>
          </a:p>
          <a:p>
            <a:r>
              <a:t>• Viết 4 chữ L-A-S-T lên bảng.</a:t>
            </a:r>
          </a:p>
          <a:p>
            <a:r>
              <a:t>• L: nghe TRỌN VẸN, không ngắt lời, không phòng thủ. Nhấn: đừng vội giải thích khi khách đang giận.</a:t>
            </a:r>
          </a:p>
          <a:p>
            <a:r>
              <a:t>• A: xin lỗi về TRẢI NGHIỆM chưa tốt — kể cả khi chưa rõ lỗi thuộc về ai. Đây là điểm sinh viên hay tranh luận, hãy giải thích kỹ: xin lỗi ≠ nhận lỗi.</a:t>
            </a:r>
          </a:p>
          <a:p>
            <a:r>
              <a:t>• S: phương án CỤ THỂ, thời hạn RÕ. Vượt thẩm quyền thì chuyển đúng người, không đùn đẩy.</a:t>
            </a:r>
          </a:p>
          <a:p>
            <a:r>
              <a:t>• T: cảm ơn và THEO DÕI ĐẾN KHI XONG.</a:t>
            </a:r>
          </a:p>
          <a:p>
            <a:r>
              <a:t>• Số liệu chốt: khách phàn nàn được xử lý tốt thường TRUNG THÀNH HƠN khách chưa từng gặp vấn đề.</a:t>
            </a:r>
          </a:p>
          <a:p>
            <a:r>
              <a:t>• Cho lớp thực hành ngay 1 tình huống ngắn: khách nhận hàng trễ 3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BÀN TIỆC (4 phút) — SINH VIÊN RẤT THÍCH PHẦN NÀY</a:t>
            </a:r>
          </a:p>
          <a:p>
            <a:r>
              <a:t>• Trước tiệc: xác nhận đúng hạn, đến đúng giờ, trang phục theo tính chất, CHỜ CHỦ TIỆC XẾP CHỖ.</a:t>
            </a:r>
          </a:p>
          <a:p>
            <a:r>
              <a:t>• Trong bữa: chủ tiệc bắt đầu trước; dụng cụ dùng TỪ NGOÀI VÀO TRONG; không nói khi đang nhai.</a:t>
            </a:r>
          </a:p>
          <a:p>
            <a:r>
              <a:t>• Chúc rượu: người vị thế thấp hơn NÂNG LY THẤP HƠN khi cụng. Làm mẫu ngay bằng ly nước.</a:t>
            </a:r>
          </a:p>
          <a:p>
            <a:r>
              <a:t>• NHẤN MẠNH: tôn trọng người không dùng rượu bia, TUYỆT ĐỐI KHÔNG ÉP. Dạy sinh viên cách từ chối lịch sự: "Dạ em lái xe, cho em xin ly nước thay ạ."</a:t>
            </a:r>
          </a:p>
          <a:p>
            <a:r>
              <a:t>• Chủ đề nên và không nên nói — nhấn: tránh chính trị, tôn giáo, thu nhập, đời tư.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ĐA VĂN HÓA (3 phút)</a:t>
            </a:r>
          </a:p>
          <a:p>
            <a:r>
              <a:t>• Bốn khác biệt: cách nói, thứ bậc, thời gian, cử chỉ – kiêng kỵ.</a:t>
            </a:r>
          </a:p>
          <a:p>
            <a:r>
              <a:t>• Ví dụ hay nhất: "Để chúng tôi xem xét" trong văn hóa Nhật thường LÀ LỜI TỪ CHỐI lịch sự.</a:t>
            </a:r>
          </a:p>
          <a:p>
            <a:r>
              <a:t>• Hỏi lớp: bạn nào từng làm việc/thực tập với người nước ngoài, kể một khác biệt đã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THÍCH ỨNG (2 phút)</a:t>
            </a:r>
          </a:p>
          <a:p>
            <a:r>
              <a:t>• 5 nguyên tắc — nhấn nguyên tắc "KHÔNG SUY DIỄN THEO CHUẨN CỦA MÌNH".</a:t>
            </a:r>
          </a:p>
          <a:p>
            <a:r>
              <a:t>• Mẹo thực dụng: nói chậm, rõ, và XÁC NHẬN LẠI BẰNG VĂN BẢN sau cuộc họp đa quốc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Hai tình huống, chia lớp làm hai nửa, mỗi nửa xử lý một tình huống rồi trình bày.</a:t>
            </a:r>
          </a:p>
          <a:p>
            <a:r>
              <a:t>• Tình huống khách hàng: yêu cầu áp dụng đủ 4 bước LAST, nói thành lời thoại cụ thể.</a:t>
            </a:r>
          </a:p>
          <a:p>
            <a:r>
              <a:t>• Tình huống bàn tiệc: yêu cầu nói ra CÂU TỪ CHỐI cụ thể, không nói chung chung.</a:t>
            </a:r>
          </a:p>
          <a:p>
            <a:r>
              <a:t>• Cô chốt: nguyên tắc thì giống nhau, lời nói phải phù hợp từng ngữ cảnh.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Gọi sinh viên nhắc lại 4 bước LAST.</a:t>
            </a:r>
          </a:p>
          <a:p>
            <a:r>
              <a:t>• Giao việc: 40 câu trắc nghiệm Chương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đọc trước phần đàm phán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ĐỐI TÁC – CƠ QUAN – TRUYỀN THÔNG (3 phút)</a:t>
            </a:r>
          </a:p>
          <a:p>
            <a:r>
              <a:t>• Đối tác: quan hệ LÂU DÀI quan trọng hơn lợi thế ngắn hạn.</a:t>
            </a:r>
          </a:p>
          <a:p>
            <a:r>
              <a:t>• Cơ quan nhà nước: đúng thủ tục, đúng thẩm quyền, HỒ SƠ CHUẨN THỂ THỨC — nối sang Chương 5.</a:t>
            </a:r>
          </a:p>
          <a:p>
            <a:r>
              <a:t>• Truyền thông: CHỈ NGƯỜI ĐƯỢC ỦY QUYỀN phát ngôn. Nhân viên tuyệt đối không tự trả lời báo chí.</a:t>
            </a:r>
          </a:p>
          <a:p>
            <a:r>
              <a:t>• Khủng hoảng: phản hồi NHANH, nhận trách nhiệm đúng phần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đây là phần sinh viên hào hứng nhất, giữ nhịp vui nhưng vẫn chuẩn mực.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trong các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 đặc thù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kỹ năng, mỗi bối cảnh một luật chơi: nội bộ, khách hàng, bàn tiệc và đa văn hóa.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xử phù hợp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cấp trên, cấp dưới và đồng nghiệp trong môi trường nội bộ tổ chức.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chuyên nghiệp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khách hàng, đối tác, cơ quan nhà nước và truyền thông; xử lý được phàn nàn của khách.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 thức giao tiếp trên bàn tiệc trong hoạt động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Thích ứng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 biệt văn hóa khi làm việc trong môi trường đa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nội bộ tổ chức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với khách hàng, đối tác, cơ quan nhà nước và truyền thông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trên bàn tiệc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đa văn hóa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trên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nhận nhiệm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– ghi chú – hỏi lại cho rõ yêu cầu, thời hạn, nguồn lực; xác nhận lại bằng tin nhắn/email để hai bên cùng hiểu một cách.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báo cáo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động, đúng hạn, kết quả trước – diễn giải sau; báo tin xấu sớm kèm phương án xử lý, không che giấu.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có ý kiến khác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đúng lúc, đúng chỗ (thường là riêng tư); trình bày trên cơ sở dữ liệu và lợi ích chung; tôn trọng quyết định cuối cùng.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dưới và đồng nghiệp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việc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mục tiêu – thời hạn – tiêu chuẩn; giao việc kèm niềm tin và nguồn lực; kiểm tra tiến độ đúng mức, không quản lý vụn vặt.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và phê bình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công khai, kịp thời, cụ thể; phê bình riêng tư, nhắm vào hành vi chứ không nhắm vào con người, kèm hướng khắc phục.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đồng nghiệp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trọng, hợp tác, chia sẻ thông tin; tranh luận về công việc chứ không công kích cá nhân; tránh bè phái, tán chuyện sau lưng.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Họp hiệu quả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chương trình gửi trước; đến đúng giờ; phát biểu ngắn gọn vào trọng tâm; có kết luận, biên bản và người chịu trách nhiệm từng việc.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khách hàng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Tâm thế phục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nuôi sống doanh nghiệp; mỗi điểm tiếp xúc (chào đón, tư vấn, giao hàng, hậu mãi) đều là khoảnh khắc xây hoặc phá niềm tin.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vàng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Chào đón niềm nở – gọi tên khách khi có thể; lắng nghe nhu cầu trước khi giới thiệu; nói sự thật về sản phẩm; giữ lời hứa về thời hạn.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tối kỵ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Tranh cãi thắng – thua với khách; hứa quá khả năng; đổ lỗi cho đồng nghiệp, cho quy trình; bỏ mặc khách sau khi bán xong.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phàn nàn của khách hàng — quy trình LAST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đối tác, cơ quan nhà nước và truyền thông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tác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đẳng, giữ chữ tín, minh bạch thông tin; quan hệ lâu dài quan trọng hơn lợi thế ngắn hạn — nền tảng cho đàm phán ở Chương 4.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quan nhà nước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thủ tục, đúng thẩm quyền, hồ sơ – văn bản chuẩn thể thức (Chương 5); tác phong nghiêm túc, đúng hẹn; tuyệt đối không “đi tắt” trái quy định.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thông – báo chí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người được ủy quyền phát ngôn; thông tin nhất quán, trung thực; khi có khủng hoảng: phản hồi nhanh, nhận trách nhiệm đúng phần của mình, không né tránh.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trên bàn tiệc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 bữa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tham dự đúng hạn; đến đúng giờ; trang phục theo tính chất tiệc; chờ chủ tiệc mời và xếp chỗ — vị trí ngồi thể hiện thứ bậc.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bữa ăn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tiệc bắt đầu trước; dùng dụng cụ từ ngoài vào trong; không nói khi đang nhai, không gõ đũa, không xoay đĩa thức ăn về phía mình liên tục.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Chúc rượu – cụng ly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vị thế thấp nâng ly thấp hơn khi cụng; chúc ngắn gọn, đúng đối tượng; tôn trọng người không dùng rượu bia — không ép.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chuyện trên bàn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đề nhẹ nhàng: ẩm thực, thể thao, du lịch, quê quán; tránh chính trị, tôn giáo, thu nhập, đời tư; công việc chỉ bàn khi chủ tiệc gợi mở.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đa văn hóa: nhận diện khác biệt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nói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“nói thẳng” (Đức, Mỹ, Hà Lan) đánh giá cao sự rõ ràng; văn hóa “nói vòng” (Nhật, Hàn, Việt) ưu tiên giữ thể diện — “để chúng tôi xem xét” có thể là lời từ chối.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Thứ bậc và ra quyết định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Nơi coi trọng tôn ti (Nhật, Hàn, Trung): đúng vai, đúng cấp, quyết định tập thể chậm mà chắc; nơi bình đẳng (Bắc Âu, Úc): gọi tên, tranh luận thẳng với sếp là bình thường.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và cam kết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giờ giấc chặt (Đức, Nhật, Thụy Sĩ): trễ 5 phút là thất lễ; văn hóa thời gian linh hoạt: quan hệ đi trước, tiến độ đi sau — cần chốt mốc bằng văn bản.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và kiêng kỵ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cử chỉ mang nghĩa khác nhau giữa các nước; màu sắc, con số, quà tặng đều có thể nhạy cảm — tra cứu trước khi gặp đối tác nước ngoài.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thích ứng đa văn hóa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giao tiếp, nghi thức chào hỏi, kiêng kỵ của đối tác trước mỗi cuộc gặp quan trọng.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 và điều chỉnh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để ý cách đối tác chào, trao danh thiếp, giữ khoảng cách… và ứng xử tương thích.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suy diễn theo chuẩn của mình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hành vi “kỳ lạ” có thể hoàn toàn bình thường trong văn hóa của họ — hỏi lịch sự thay vì phán xét.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chậm, rõ, xác nhận lại bằng văn bản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khác ngôn ngữ: tránh tiếng lóng, thành ngữ; tóm tắt thỏa thuận qua email sau cuộc họp.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Khiêm tốn và cầu thị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sàng xin lỗi khi lỡ phạm điều kiêng kỵ; thiện chí học hỏi luôn được ghi nhận ở mọi nền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tình huống khó — xử lý ngay tại lớp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(nhóm 4–5 sinh viên, 20 phút, bốc thăm 1 trong 2)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Khách hàng đến quầy lớn tiếng vì sản phẩm lỗi lần thứ hai trong tháng, nhiều khách khác đang nhìn. Tình huống B: Công ty tiếp đoàn đối tác Nhật Bản lần đầu — nhóm được giao chuẩn bị kịch bản đón tiếp và một bữa tiệc tối.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viết kịch bản xử lý theo đúng 4 bước LAST và đóng vai trước lớp (nhân viên – khách hàng – quản lý).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B: lập danh sách những việc phải làm và những điều tuyệt đối tránh (chào hỏi, danh thiếp, chỗ ngồi, quà tặng, chủ đề trò chuyện).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nhận xét chéo: điều gì đã đúng chuẩn mực của chương, điều gì cần điều chỉnh?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bộ vững thì đối ngoại mới mạnh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việc – báo cáo – phản hồi với cấp trên; giao việc – khen chê với cấp dưới: đều có chuẩn mực học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phàn nàn là cơ hội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Lắng nghe – Xin lỗi – Giải quyết – Cảm ơn; đừng thắng cuộc cãi để rồi mất khách hàng.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văn hóa: hiểu trước, phán xét không bao giờ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– quan sát – thích ứng; xác nhận thỏa thuận bằng văn bản để vượt rào cản ngôn ngữ.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cách báo cáo tin xấu với cấp trên qua một ví dụ cụ thể.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quy trình LAST để xử lý một tình huống phàn nàn tự chọn.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5 điều nên làm và 5 điều nên tránh khi dự tiệc cùng đối tác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một khác biệt văn hóa Đông – Tây và cách thích ứng khi làm việc.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 – Đàm phán trong kinh doanh. Mỗi nhóm nghĩ về lần “trả giá” gần nhất của mình (mua xe, thuê trọ…): điều gì khiến bạn thành công hoặc thất bại?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trong nội bộ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Với cấp trên, cấp dưới và đồng nghiệp — mỗi mối quan hệ một cách ứng xử.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với bên ngoài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Khách hàng, đối tác, cơ quan nhà nước và truyền thông — bốn nhóm, bốn luật chơi.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Bàn tiệc và môi trường đa văn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Nơi công việc vẫn tiếp diễn dù không ai nhắc đến công việc.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