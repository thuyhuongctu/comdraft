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a:p/>
          <a:p>
            <a:r>
              <a:t>NÓI ĐỦ Ý (phần đã rút khỏi slide)</a:t>
            </a:r>
          </a:p>
          <a:p>
            <a:r>
              <a:t>• Định nghĩa pháp lý đầy đủ, Nghị định 30/2020/NĐ-CP: “Văn bản là thông tin thành văn được truyền đạt bằng ngôn ngữ hoặc ký hiệu, hình thành trong hoạt động của các cơ quan, tổ chức và được trình bày đúng thể thức, kỹ thuật theo quy định.”</a:t>
            </a:r>
          </a:p>
          <a:p>
            <a:r>
              <a:t>• Cách hiểu chung: hình thành trong hoạt động của cơ quan, tổ chức, DOANH NGHIỆP — không chỉ cơ quan nhà nước.</a:t>
            </a:r>
          </a:p>
          <a:p>
            <a:r>
              <a:t>• Bốn vai trò: phương tiện quản lý – điều hành; căn cứ pháp lý; lưu trữ thông tin; thể hiện hình ảnh chuyên nghiệp của tổ chức.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a:p/>
          <a:p>
            <a:r>
              <a:t>NÓI ĐỦ Ý (phần đã rút khỏi slide)</a:t>
            </a:r>
          </a:p>
          <a:p>
            <a:r>
              <a:t>• Đúng mục đích: mỗi văn bản tập trung MỘT chủ đề; ban hành đúng chức năng, nhiệm vụ.</a:t>
            </a:r>
          </a:p>
          <a:p>
            <a:r>
              <a:t>• Chính xác: một con số sai có thể tạo hậu quả pháp lý lớn — nhấn mạnh chỗ này cho sinh viên.</a:t>
            </a:r>
          </a:p>
          <a:p>
            <a:r>
              <a:t>• Rõ ràng: người nhận đọc MỘT LẦN là hiểu đúng ý người soạn.</a:t>
            </a:r>
          </a:p>
          <a:p>
            <a:r>
              <a:t>• Ngôn ngữ hành chính: nghiêm túc, lịch sự, không khẩu ngữ.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a:p/>
          <a:p>
            <a:r>
              <a:t>NÓI ĐỦ Ý (phần đã rút khỏi slide)</a:t>
            </a:r>
          </a:p>
          <a:p>
            <a:r>
              <a:t>• Lề trái 30–35 mm rộng hơn vì phải chừa chỗ ĐÓNG GÁY.</a:t>
            </a:r>
          </a:p>
          <a:p>
            <a:r>
              <a:t>• Phông Times New Roman, bộ mã Unicode, cỡ 13–14, màu đen.</a:t>
            </a:r>
          </a:p>
          <a:p>
            <a:r>
              <a:t>• Số trang: đánh từ trang THỨ HAI, chữ số Ả Rập, canh giữa theo lề trên.</a:t>
            </a:r>
          </a:p>
          <a:p>
            <a:r>
              <a:t>• Ngôn ngữ: viết hoa và viết tắt phải đúng quy định; số liệu dùng chữ số Ả Rập.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a:p/>
          <a:p>
            <a:r>
              <a:t>NÓI ĐỦ Ý (phần đã rút khỏi slide)</a:t>
            </a:r>
          </a:p>
          <a:p>
            <a:r>
              <a:t>• Quyết định: phần căn cứ gồm căn cứ PHÁP LÝ và căn cứ THỰC TIỄN, mỗi căn cứ kết thúc bằng dấu chấm phẩy, căn cứ cuối kết thúc bằng dấu chấm. Điều cuối ghi hiệu lực và đối tượng thi hành.</a:t>
            </a:r>
          </a:p>
          <a:p>
            <a:r>
              <a:t>• Tờ trình: mở đầu nêu lý do và sự cần thiết; nội dung trình bày phương án, lợi ích, tính khả thi; kết thúc kiến nghị phê duyệt. Nhớ đính kèm hồ sơ, dự toán.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a:p/>
          <a:p>
            <a:r>
              <a:t>NÓI ĐỦ Ý (phần đã rút khỏi slide)</a:t>
            </a:r>
          </a:p>
          <a:p>
            <a:r>
              <a:t>• Công văn các loại: đề nghị, phúc đáp, đôn đốc, hướng dẫn, giải thích, mời họp. Kết thúc bằng “Trân trọng./.”</a:t>
            </a:r>
          </a:p>
          <a:p>
            <a:r>
              <a:t>• Biên bản: chữ ký các bên là yếu tố TẠO GIÁ TRỊ PHÁP LÝ — thiếu chữ ký thì biên bản chỉ là tờ giấy ghi chép.</a:t>
            </a:r>
          </a:p>
          <a:p>
            <a:r>
              <a:t>• Báo cáo có bốn dạng: định kỳ, đột xuất, chuyên đề, sơ kết – tổng kết.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a:p/>
          <a:p>
            <a:r>
              <a:t>NÓI ĐỦ Ý (phần đã rút khỏi slide)</a:t>
            </a:r>
          </a:p>
          <a:p>
            <a:r>
              <a:t>• Nguyên tắc 5C: Clear (rõ) • Concise (gọn) • Correct (đúng) • Complete (đủ) • Courteous (lịch sự).</a:t>
            </a:r>
          </a:p>
          <a:p>
            <a:r>
              <a:t>• Kết cấu thư: mở đầu – nội dung – kết thúc.</a:t>
            </a:r>
          </a:p>
          <a:p>
            <a:r>
              <a:t>• Báo giá phải có THỜI HẠN HIỆU LỰC — thiếu là tranh chấp khi giá thị trường biến động.</a:t>
            </a:r>
          </a:p>
          <a:p>
            <a:r>
              <a:t>• Email: phản hồi trong 24 giờ, kể cả khi chỉ để báo “đã nhận, đang xử lý”.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a:p/>
          <a:p>
            <a:r>
              <a:t>NÓI ĐỦ Ý (phần đã rút khỏi slide)</a:t>
            </a:r>
          </a:p>
          <a:p>
            <a:r>
              <a:t>• Hợp đồng thương mại căn cứ Bộ luật Dân sự 2015 và Luật Thương mại 2005.</a:t>
            </a:r>
          </a:p>
          <a:p>
            <a:r>
              <a:t>• Bộ ba khép kín một thương vụ: hợp đồng → biên bản nghiệm thu → biên bản thanh lý.</a:t>
            </a:r>
          </a:p>
          <a:p>
            <a:r>
              <a:t>• Nghiệm thu xác nhận khối lượng và chất lượng, là căn cứ để thanh toán.</a:t>
            </a:r>
          </a:p>
          <a:p>
            <a:r>
              <a:t>• Thanh lý xác nhận hoàn thành nghĩa vụ và quyết toán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ghi lại và truyền đạt thông tin bằng ngôn ngữ hoặc ký hiệu</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“Thông tin thành văn…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Quản lý – điều hành • căn cứ pháp lý • lưu trữ • hình ảnh tổ chức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pic>
        <p:nvPicPr>
          <p:cNvPr id="9" name="Picture 8" descr="c5-phan-loai-van-ban-nt.png"/>
          <p:cNvPicPr>
            <a:picLocks noChangeAspect="1"/>
          </p:cNvPicPr>
          <p:nvPr/>
        </p:nvPicPr>
        <p:blipFill>
          <a:blip r:embed="rId4"/>
          <a:stretch>
            <a:fillRect/>
          </a:stretch>
        </p:blipFill>
        <p:spPr>
          <a:xfrm>
            <a:off x="841173" y="1751850"/>
            <a:ext cx="10509347" cy="4168114"/>
          </a:xfrm>
          <a:prstGeom prst="rect">
            <a:avLst/>
          </a:prstGeom>
        </p:spPr>
      </p:pic>
      <p:sp>
        <p:nvSpPr>
          <p:cNvPr id="10" name="TextBox 9"/>
          <p:cNvSpPr txBox="1"/>
          <p:nvPr/>
        </p:nvSpPr>
        <p:spPr>
          <a:xfrm>
            <a:off x="548640" y="5993117"/>
            <a:ext cx="11109960" cy="310896"/>
          </a:xfrm>
          <a:prstGeom prst="rect">
            <a:avLst/>
          </a:prstGeom>
          <a:noFill/>
        </p:spPr>
        <p:txBody>
          <a:bodyPr wrap="square">
            <a:spAutoFit/>
          </a:bodyPr>
          <a:lstStyle/>
          <a:p>
            <a:pPr algn="ctr"/>
            <a:r>
              <a:rPr sz="1150" i="1">
                <a:solidFill>
                  <a:srgbClr val="8A7A76"/>
                </a:solidFill>
                <a:latin typeface="Calibri"/>
              </a:rPr>
              <a:t>Biết văn bản thuộc nhóm nào thì mới biết soạn theo mẫu nào và ai có thẩm quyền ký.</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một chủ đề, ban hành đúng chức năng</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Số liệu có căn cứ, kiểm chứng được — sai một con số là hậu quả pháp lý</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Đúng quy định hiện hành; văn phong nghiêm túc, không khẩu ngữ</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A4 • trên–dưới 20–25 mm • trái 30–35 mm • phải 15–20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2365438"/>
            <a:ext cx="10229353" cy="2940939"/>
          </a:xfrm>
          <a:prstGeom prst="rect">
            <a:avLst/>
          </a:prstGeom>
        </p:spPr>
      </p:pic>
      <p:sp>
        <p:nvSpPr>
          <p:cNvPr id="10" name="TextBox 9"/>
          <p:cNvSpPr txBox="1"/>
          <p:nvPr/>
        </p:nvSpPr>
        <p:spPr>
          <a:xfrm>
            <a:off x="548640" y="537952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 nội dung theo các Điều → Điều cuối ghi hiệu lực</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Đề xuất cấp có thẩm quyền phê duyệt một chủ trương hay phương án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Lý do → phương án, lợi ích → kiến nghị phê duyệt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số, ký hiệu, trích yếu. Mỗi công văn một chủ đề</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Thời gian – thành phần – diễn biến – kết luận – chữ ký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Tình hình → kết quả → hạn chế và nguyên nhân → phương hướng</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Hỏi hàng • chào hàng • đặt hàng • xác nhận • khiếu nại • cảm ơn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đúng nội dung • chữ ký đầy đủ •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Hàng hóa • số lượng, đơn giá, thuế • giao hàng, thanh toán • thời hạn hiệu lực</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Đối tượng • giá và thanh toán • quyền – nghĩa vụ • phạt •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và chất lượng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Hoàn thành nghĩa vụ, chấm dứt hiệu lực, quyết toán phần còn lại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2026-08-23T05:36:02Z</dcterms:created>
  <dcterms:modified xsi:type="dcterms:W3CDTF">2026-08-23T05:36:02Z</dcterms:modified>
</cp:coreProperties>
</file>