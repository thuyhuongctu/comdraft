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4" r:id="rId25"/>
    <p:sldId id="259" r:id="rId5"/>
    <p:sldId id="260" r:id="rId6"/>
    <p:sldId id="261" r:id="rId7"/>
    <p:sldId id="262" r:id="rId8"/>
    <p:sldId id="263" r:id="rId9"/>
    <p:sldId id="273" r:id="rId24"/>
    <p:sldId id="275" r:id="rId26"/>
    <p:sldId id="264" r:id="rId10"/>
    <p:sldId id="265" r:id="rId11"/>
    <p:sldId id="266" r:id="rId12"/>
    <p:sldId id="276" r:id="rId27"/>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6.xml"/><Relationship Id="rId14" Type="http://schemas.openxmlformats.org/officeDocument/2006/relationships/slide" Target="slides/slide17.xml"/><Relationship Id="rId15" Type="http://schemas.openxmlformats.org/officeDocument/2006/relationships/slide" Target="slides/slide18.xml"/><Relationship Id="rId16" Type="http://schemas.openxmlformats.org/officeDocument/2006/relationships/slide" Target="slides/slide19.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0.xml"/><Relationship Id="rId25" Type="http://schemas.openxmlformats.org/officeDocument/2006/relationships/slide" Target="slides/slide4.xml"/><Relationship Id="rId26" Type="http://schemas.openxmlformats.org/officeDocument/2006/relationships/slide" Target="slides/slide11.xml"/><Relationship Id="rId27"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MỞ ĐẦU (2 phút)</a:t>
            </a:r>
          </a:p>
          <a:p>
            <a:r>
              <a:t>• Câu dẫn: "Chương 4 dạy các bạn đạt thỏa thuận bằng lời. Chương 5 dạy cách biến lời nói thành văn bản có giá trị pháp lý."</a:t>
            </a:r>
          </a:p>
          <a:p>
            <a:r>
              <a:t>• Hỏi lớp: "Ai đã từng viết đơn xin nghỉ học? Có đúng thể thức không?"''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(1 phút) — nhấn: chương này gắn liền 3 buổi thực hành ở phòng máy.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LỘ TRÌNH (1 phút) — 4 mục: khái niệm, thể thức, hành chính, thương mại.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KHÁI NIỆM (3 phút)</a:t>
            </a:r>
          </a:p>
          <a:p>
            <a:r>
              <a:t>• Đọc chậm định nghĩa của NĐ 30/2020 — đây là câu SẼ RA THI.</a:t>
            </a:r>
          </a:p>
          <a:p>
            <a:r>
              <a:t>• Nhấn cụm "TRÌNH BÀY ĐÚNG THỂ THỨC, KỸ THUẬT THEO QUY ĐỊNH": nội dung hay mà sai thể thức thì vẫn bị trả lại.</a:t>
            </a:r>
          </a:p>
          <a:p>
            <a:r>
              <a:t>• Vai trò: nhấn "căn cứ pháp lý" — cho ví dụ tranh chấp hợp đồng ra tòa, cái tòa xem là VĂN BẢN.</a:t>
            </a:r>
          </a:p>
          <a:p/>
          <a:p>
            <a:r>
              <a:t>NÓI ĐỦ Ý (phần đã rút khỏi slide)</a:t>
            </a:r>
          </a:p>
          <a:p>
            <a:r>
              <a:t>• Định nghĩa pháp lý đầy đủ, Nghị định 30/2020/NĐ-CP: “Văn bản là thông tin thành văn được truyền đạt bằng ngôn ngữ hoặc ký hiệu, hình thành trong hoạt động của các cơ quan, tổ chức và được trình bày đúng thể thức, kỹ thuật theo quy định.”</a:t>
            </a:r>
          </a:p>
          <a:p>
            <a:r>
              <a:t>• Cách hiểu chung: hình thành trong hoạt động của cơ quan, tổ chức, DOANH NGHIỆP — không chỉ cơ quan nhà nước.</a:t>
            </a:r>
          </a:p>
          <a:p>
            <a:r>
              <a:t>• Bốn vai trò: phương tiện quản lý – điều hành; căn cứ pháp lý; lưu trữ thông tin; thể hiện hình ảnh chuyên nghiệp của tổ chức.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PHÂN LOẠI (3 phút)</a:t>
            </a:r>
          </a:p>
          <a:p>
            <a:r>
              <a:t>• 4 nhóm — vẽ sơ đồ cây lên bảng.</a:t>
            </a:r>
          </a:p>
          <a:p>
            <a:r>
              <a:t>• Nhấn: doanh nghiệp KHÔNG ban hành văn bản quy phạm pháp luật, nhưng phải tuân thủ.</a:t>
            </a:r>
          </a:p>
          <a:p>
            <a:r>
              <a:t>• Con số phải nhớ: 29 LOẠI văn bản hành chính theo NĐ 30/2020.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YÊU CẦU NỘI DUNG (3 phút)</a:t>
            </a:r>
          </a:p>
          <a:p>
            <a:r>
              <a:t>• Đi 4 yêu cầu, mỗi yêu cầu một ví dụ lỗi thực tế.</a:t>
            </a:r>
          </a:p>
          <a:p>
            <a:r>
              <a:t>• Nhấn yêu cầu 2: "Một con số sai trong văn bản có thể tạo hậu quả pháp lý rất lớn" — ví dụ ghi nhầm đơn giá trong hợp đồng.</a:t>
            </a:r>
          </a:p>
          <a:p>
            <a:r>
              <a:t>• Yêu cầu 4: đọc vài câu KHẨU NGỮ sai chuẩn cho lớp nhận diện ("mong anh chị thông cảm giúp em nha").</a:t>
            </a:r>
          </a:p>
          <a:p/>
          <a:p>
            <a:r>
              <a:t>NÓI ĐỦ Ý (phần đã rút khỏi slide)</a:t>
            </a:r>
          </a:p>
          <a:p>
            <a:r>
              <a:t>• Đúng mục đích: mỗi văn bản tập trung MỘT chủ đề; ban hành đúng chức năng, nhiệm vụ.</a:t>
            </a:r>
          </a:p>
          <a:p>
            <a:r>
              <a:t>• Chính xác: một con số sai có thể tạo hậu quả pháp lý lớn — nhấn mạnh chỗ này cho sinh viên.</a:t>
            </a:r>
          </a:p>
          <a:p>
            <a:r>
              <a:t>• Rõ ràng: người nhận đọc MỘT LẦN là hiểu đúng ý người soạn.</a:t>
            </a:r>
          </a:p>
          <a:p>
            <a:r>
              <a:t>• Ngôn ngữ hành chính: nghiêm túc, lịch sự, không khẩu ngữ.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SƠ ĐỒ THỂ THỨC (5 phút) — SLIDE QUAN TRỌNG NHẤT HỌC PHẦN</a:t>
            </a:r>
          </a:p>
          <a:p>
            <a:r>
              <a:t>• Yêu cầu cả lớp CHỤP LẠI SLIDE NÀY.</a:t>
            </a:r>
          </a:p>
          <a:p>
            <a:r>
              <a:t>• Chỉ từng số trên sơ đồ theo thứ tự 1 → 9, mỗi thành phần nói vị trí + một lưu ý.</a:t>
            </a:r>
          </a:p>
          <a:p>
            <a:r>
              <a:t>• Nhấn thành phần 5: CÔNG VĂN KHÔNG CÓ TÊN LOẠI, trích yếu bắt đầu bằng "V/v".</a:t>
            </a:r>
          </a:p>
          <a:p>
            <a:r>
              <a:t>• Nhấn thành phần 9: nơi nhận LUÔN có dòng cuối "Lưu: VT".</a:t>
            </a:r>
          </a:p>
          <a:p>
            <a:r>
              <a:t>• Nói rõ: 3 buổi thực hành sắp tới đều chấm theo sơ đồ này.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 CON SỐ (3 phút)</a:t>
            </a:r>
          </a:p>
          <a:p>
            <a:r>
              <a:t>• Đọc chậm từng con số, cho sinh viên ghi vào vở.</a:t>
            </a:r>
          </a:p>
          <a:p>
            <a:r>
              <a:t>• Mẹo nhớ LỀ TRÁI 30–35mm: rộng nhất vì để ĐÓNG GÁY LƯU TRỮ.</a:t>
            </a:r>
          </a:p>
          <a:p>
            <a:r>
              <a:t>• Nhấn: Times New Roman, Unicode, cỡ 13–14. Không dùng Arial, không dùng TCVN3.</a:t>
            </a:r>
          </a:p>
          <a:p>
            <a:r>
              <a:t>• Số trang: TỪ TRANG THỨ HAI, canh giữa LỀ TRÊN (nhiều bạn hay đặt ở dưới — sai).</a:t>
            </a:r>
          </a:p>
          <a:p/>
          <a:p>
            <a:r>
              <a:t>NÓI ĐỦ Ý (phần đã rút khỏi slide)</a:t>
            </a:r>
          </a:p>
          <a:p>
            <a:r>
              <a:t>• Lề trái 30–35 mm rộng hơn vì phải chừa chỗ ĐÓNG GÁY.</a:t>
            </a:r>
          </a:p>
          <a:p>
            <a:r>
              <a:t>• Phông Times New Roman, bộ mã Unicode, cỡ 13–14, màu đen.</a:t>
            </a:r>
          </a:p>
          <a:p>
            <a:r>
              <a:t>• Số trang: đánh từ trang THỨ HAI, chữ số Ả Rập, canh giữa theo lề trên.</a:t>
            </a:r>
          </a:p>
          <a:p>
            <a:r>
              <a:t>• Ngôn ngữ: viết hoa và viết tắt phải đúng quy định; số liệu dùng chữ số Ả Rập.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CHUỖI VĂN BẢN (3 phút)</a:t>
            </a:r>
          </a:p>
          <a:p>
            <a:r>
              <a:t>• Chỉ vào sơ đồ chuỗi: từ tờ trình → quyết định → công văn → hợp đồng → nghiệm thu → thanh lý.</a:t>
            </a:r>
          </a:p>
          <a:p>
            <a:r>
              <a:t>• Nói rõ: bài thực hành số 2 làm phần đầu chuỗi, bài số 3 làm phần sau.</a:t>
            </a:r>
          </a:p>
          <a:p>
            <a:r>
              <a:t>• Hỏi lớp: "Nếu bỏ qua biên bản nghiệm thu thì rủi ro gì?" (không có căn cứ thanh toán).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QUYẾT ĐỊNH – TỜ TRÌNH (4 phút)</a:t>
            </a:r>
          </a:p>
          <a:p>
            <a:r>
              <a:t>• Quyết định: phần CĂN CỨ + phần các ĐIỀU. Điều cuối GHI HIỆU LỰC.</a:t>
            </a:r>
          </a:p>
          <a:p>
            <a:r>
              <a:t>• Lỗi hay gặp: dùng từ "đề nghị" trong quyết định — sai, phải dùng NGÔN NGỮ MỆNH LỆNH.</a:t>
            </a:r>
          </a:p>
          <a:p>
            <a:r>
              <a:t>• Tờ trình 3 phần: lý do → phương án → kiến nghị.</a:t>
            </a:r>
          </a:p>
          <a:p>
            <a:r>
              <a:t>• Nhấn: tờ trình phải có SỐ LIỆU và DỰ TOÁN, nếu không cấp trên không có cơ sở duyệt.</a:t>
            </a:r>
          </a:p>
          <a:p/>
          <a:p>
            <a:r>
              <a:t>NÓI ĐỦ Ý (phần đã rút khỏi slide)</a:t>
            </a:r>
          </a:p>
          <a:p>
            <a:r>
              <a:t>• Quyết định: phần căn cứ gồm căn cứ PHÁP LÝ và căn cứ THỰC TIỄN, mỗi căn cứ kết thúc bằng dấu chấm phẩy, căn cứ cuối kết thúc bằng dấu chấm. Điều cuối ghi hiệu lực và đối tượng thi hành.</a:t>
            </a:r>
          </a:p>
          <a:p>
            <a:r>
              <a:t>• Tờ trình: mở đầu nêu lý do và sự cần thiết; nội dung trình bày phương án, lợi ích, tính khả thi; kết thúc kiến nghị phê duyệt. Nhớ đính kèm hồ sơ, dự toán.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CÔNG VĂN – BIÊN BẢN – BÁO CÁO (4 phút)</a:t>
            </a:r>
          </a:p>
          <a:p>
            <a:r>
              <a:t>• Công văn: nhắc lại KHÔNG CÓ TÊN LOẠI; mỗi công văn MỘT CHỦ ĐỀ; kết thúc "Trân trọng./."</a:t>
            </a:r>
          </a:p>
          <a:p>
            <a:r>
              <a:t>• Biên bản: LẬP NGAY TẠI CHỖ; chữ ký các bên tạo GIÁ TRỊ PHÁP LÝ; người ghi KHÔNG thêm nhận xét chủ quan.</a:t>
            </a:r>
          </a:p>
          <a:p>
            <a:r>
              <a:t>• Báo cáo: mạch 4 phần. Nhấn: phải nêu cả HẠN CHẾ, đừng chỉ kể thành tích.</a:t>
            </a:r>
          </a:p>
          <a:p/>
          <a:p>
            <a:r>
              <a:t>NÓI ĐỦ Ý (phần đã rút khỏi slide)</a:t>
            </a:r>
          </a:p>
          <a:p>
            <a:r>
              <a:t>• Công văn các loại: đề nghị, phúc đáp, đôn đốc, hướng dẫn, giải thích, mời họp. Kết thúc bằng “Trân trọng./.”</a:t>
            </a:r>
          </a:p>
          <a:p>
            <a:r>
              <a:t>• Biên bản: chữ ký các bên là yếu tố TẠO GIÁ TRỊ PHÁP LÝ — thiếu chữ ký thì biên bản chỉ là tờ giấy ghi chép.</a:t>
            </a:r>
          </a:p>
          <a:p>
            <a:r>
              <a:t>• Báo cáo có bốn dạng: định kỳ, đột xuất, chuyên đề, sơ kết – tổng kết.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THƯ TÍN – BÁO GIÁ (4 phút)</a:t>
            </a:r>
          </a:p>
          <a:p>
            <a:r>
              <a:t>• Nguyên tắc 5C: viết 5 chữ C lên bảng, giải nghĩa từng chữ bằng tiếng Việt.</a:t>
            </a:r>
          </a:p>
          <a:p>
            <a:r>
              <a:t>• Email: tiêu đề rõ, chữ ký đầy đủ, PHẢN HỒI TRONG 24 GIỜ.</a:t>
            </a:r>
          </a:p>
          <a:p>
            <a:r>
              <a:t>• Báo giá: nhấn mạnh THỜI HẠN HIỆU LỰC. Hỏi lớp vì sao cần — vì giá thị trường biến động, tránh bị ràng buộc giá cũ.</a:t>
            </a:r>
          </a:p>
          <a:p/>
          <a:p>
            <a:r>
              <a:t>NÓI ĐỦ Ý (phần đã rút khỏi slide)</a:t>
            </a:r>
          </a:p>
          <a:p>
            <a:r>
              <a:t>• Nguyên tắc 5C: Clear (rõ) • Concise (gọn) • Correct (đúng) • Complete (đủ) • Courteous (lịch sự).</a:t>
            </a:r>
          </a:p>
          <a:p>
            <a:r>
              <a:t>• Kết cấu thư: mở đầu – nội dung – kết thúc.</a:t>
            </a:r>
          </a:p>
          <a:p>
            <a:r>
              <a:t>• Báo giá phải có THỜI HẠN HIỆU LỰC — thiếu là tranh chấp khi giá thị trường biến động.</a:t>
            </a:r>
          </a:p>
          <a:p>
            <a:r>
              <a:t>• Email: phản hồi trong 24 giờ, kể cả khi chỉ để báo “đã nhận, đang xử lý”.</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BỘ BA VĂN BẢN (4 phút)</a:t>
            </a:r>
          </a:p>
          <a:p>
            <a:r>
              <a:t>• Căn cứ pháp lý: Bộ luật Dân sự 2015 và Luật Thương mại 2005.</a:t>
            </a:r>
          </a:p>
          <a:p>
            <a:r>
              <a:t>• Điểm qua 5 điều khoản chính, nhấn PHẠT VI PHẠM và GIẢI QUYẾT TRANH CHẤP — hai điều sinh viên hay quên.</a:t>
            </a:r>
          </a:p>
          <a:p>
            <a:r>
              <a:t>• Nghiệm thu = căn cứ THANH TOÁN. Thanh lý = CHẤM DỨT hiệu lực và quyết toán.</a:t>
            </a:r>
          </a:p>
          <a:p>
            <a:r>
              <a:t>• Câu chốt: "Đủ bộ ba này thì hồ sơ thương vụ mới trọn vẹn về pháp lý."''</a:t>
            </a:r>
          </a:p>
          <a:p/>
          <a:p>
            <a:r>
              <a:t>NÓI ĐỦ Ý (phần đã rút khỏi slide)</a:t>
            </a:r>
          </a:p>
          <a:p>
            <a:r>
              <a:t>• Hợp đồng thương mại căn cứ Bộ luật Dân sự 2015 và Luật Thương mại 2005.</a:t>
            </a:r>
          </a:p>
          <a:p>
            <a:r>
              <a:t>• Bộ ba khép kín một thương vụ: hợp đồng → biên bản nghiệm thu → biên bản thanh lý.</a:t>
            </a:r>
          </a:p>
          <a:p>
            <a:r>
              <a:t>• Nghiệm thu xác nhận khối lượng và chất lượng, là căn cứ để thanh toán.</a:t>
            </a:r>
          </a:p>
          <a:p>
            <a:r>
              <a:t>• Thanh lý xác nhận hoàn thành nghĩa vụ và quyết toán phần còn lại.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HOẠT ĐỘNG NHÓM (20 phút)</a:t>
            </a:r>
          </a:p>
          <a:p>
            <a:r>
              <a:t>• Nối tiếp thương vụ đã đàm phán ở Chương 4 — nhắc lại tình huống 1 câu.</a:t>
            </a:r>
          </a:p>
          <a:p>
            <a:r>
              <a:t>• Nhóm 4–5 bạn, 15 phút làm, 5 phút trình bày.</a:t>
            </a:r>
          </a:p>
          <a:p>
            <a:r>
              <a:t>• Yêu cầu nhóm VẼ chuỗi văn bản lên giấy A3 kèm người ký từng văn bản.</a:t>
            </a:r>
          </a:p>
          <a:p>
            <a:r>
              <a:t>• Cô chốt bằng cách so sánh với sơ đồ chuẩn trên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TỔNG KẾT (2 phút)</a:t>
            </a:r>
          </a:p>
          <a:p>
            <a:r>
              <a:t>• Nhắc 3 điều, gọi sinh viên nhắc lại 9 thành phần thể thức.</a:t>
            </a:r>
          </a:p>
          <a:p>
            <a:r>
              <a:t>• Dặn kỹ chuẩn bị buổi thực hành: MANG LAPTOP, cài Word, tải NĐ 30/2020.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ÔN TẬP (1 phút) — tự làm; nhấn câu về 9 thành phần thể thức sẽ có trong đề thi.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TÀI LIỆU (1 phút) — nhắc mở học liệu số để xem văn bản mẫu trước buổi thực hành.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CON SỐ (2 phút)</a:t>
            </a:r>
          </a:p>
          <a:p>
            <a:r>
              <a:t>• Đây là slide sinh viên phải THUỘC LÒNG — sẽ ra thi và dùng suốt 3 buổi thực hành.</a:t>
            </a:r>
          </a:p>
          <a:p>
            <a:r>
              <a:t>• Đọc chậm từng con số, yêu cầu cả lớp ghi vào vở.</a:t>
            </a:r>
          </a:p>
          <a:p>
            <a:r>
              <a:t>• Mẹo nhớ lề trái rộng nhất: để ĐÓNG GÁY.</a:t>
            </a:r>
          </a:p>
          <a:p>
            <a:r>
              <a:t>• Kiểm tra ngay: gọi 2 sinh viên nhắc lại không nhìn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 — nhắc: bài thực hành số 2 làm đúng năm loại này.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 — nhắc: bài thực hành số 3 làm đúng bộ hồ sơ này.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2.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BF8"/>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DC756A"/>
          </a:solidFill>
          <a:ln/>
        </p:spPr>
        <p:txBody>
          <a:bodyPr/>
          <a:p/>
        </p:txBody>
      </p:sp>
      <p:pic>
        <p:nvPicPr>
          <p:cNvPr id="3" name="Image 0" descr="/home/user/comdraft/assets/img/dau-huong.png">    </p:cNvPr>
          <p:cNvPicPr>
            <a:picLocks noChangeAspect="1"/>
          </p:cNvPicPr>
          <p:nvPr/>
        </p:nvPicPr>
        <p:blipFill>
          <a:blip r:embed="rId1">
            <a:alphaModFix amt="18000"/>
          </a:blip>
          <a:stretch>
            <a:fillRect/>
          </a:stretch>
        </p:blipFill>
        <p:spPr>
          <a:xfrm>
            <a:off x="8549640" y="1417320"/>
            <a:ext cx="3200400" cy="3200400"/>
          </a:xfrm>
          <a:prstGeom prst="rect">
            <a:avLst/>
          </a:prstGeom>
        </p:spPr>
      </p:pic>
      <p:pic>
        <p:nvPicPr>
          <p:cNvPr id="4" name="Image 1" descr="/home/user/comdraft/assets/img/lockup-huong.png">    </p:cNvPr>
          <p:cNvPicPr>
            <a:picLocks noChangeAspect="1"/>
          </p:cNvPicPr>
          <p:nvPr/>
        </p:nvPicPr>
        <p:blipFill>
          <a:blip r:embed="rId2"/>
          <a:stretch>
            <a:fillRect/>
          </a:stretch>
        </p:blipFill>
        <p:spPr>
          <a:xfrm>
            <a:off x="777240" y="411480"/>
            <a:ext cx="2834640" cy="1188720"/>
          </a:xfrm>
          <a:prstGeom prst="rect">
            <a:avLst/>
          </a:prstGeom>
        </p:spPr>
      </p:pic>
      <p:sp>
        <p:nvSpPr>
          <p:cNvPr id="5" name="Text 1"/>
          <p:cNvSpPr/>
          <p:nvPr/>
        </p:nvSpPr>
        <p:spPr>
          <a:xfrm>
            <a:off x="822960" y="2011680"/>
            <a:ext cx="10515600" cy="457200"/>
          </a:xfrm>
          <a:prstGeom prst="rect">
            <a:avLst/>
          </a:prstGeom>
          <a:noFill/>
          <a:ln/>
        </p:spPr>
        <p:txBody>
          <a:bodyPr wrap="square" lIns="0" tIns="0" rIns="0" bIns="0" rtlCol="0" anchor="ctr"/>
          <a:lstStyle/>
          <a:p>
            <a:pPr indent="0" marL="0">
              <a:buNone/>
            </a:pPr>
            <a:r>
              <a:rPr lang="en-US" sz="1800" b="1" spc="500" kern="0" dirty="0">
                <a:solidFill>
                  <a:srgbClr val="DC756A"/>
                </a:solidFill>
                <a:latin typeface="Calibri" pitchFamily="34" charset="0"/>
                <a:ea typeface="Calibri" pitchFamily="34" charset="-122"/>
                <a:cs typeface="Calibri" pitchFamily="34" charset="-120"/>
              </a:rPr>
              <a:t>CHƯƠNG 5</a:t>
            </a:r>
            <a:endParaRPr lang="en-US" sz="1800" dirty="0"/>
          </a:p>
        </p:txBody>
      </p:sp>
      <p:sp>
        <p:nvSpPr>
          <p:cNvPr id="6" name="Shape 2"/>
          <p:cNvSpPr/>
          <p:nvPr/>
        </p:nvSpPr>
        <p:spPr>
          <a:xfrm>
            <a:off x="822960" y="2487168"/>
            <a:ext cx="1371600" cy="41148"/>
          </a:xfrm>
          <a:prstGeom prst="rect">
            <a:avLst/>
          </a:prstGeom>
          <a:solidFill>
            <a:srgbClr val="DC756A"/>
          </a:solidFill>
          <a:ln/>
        </p:spPr>
        <p:txBody>
          <a:bodyPr/>
          <a:p/>
        </p:txBody>
      </p:sp>
      <p:sp>
        <p:nvSpPr>
          <p:cNvPr id="7" name="Text 3"/>
          <p:cNvSpPr/>
          <p:nvPr/>
        </p:nvSpPr>
        <p:spPr>
          <a:xfrm>
            <a:off x="822960" y="2697480"/>
            <a:ext cx="7589520" cy="1645920"/>
          </a:xfrm>
          <a:prstGeom prst="rect">
            <a:avLst/>
          </a:prstGeom>
          <a:noFill/>
          <a:ln/>
        </p:spPr>
        <p:txBody>
          <a:bodyPr wrap="square" lIns="0" tIns="0" rIns="0" bIns="0" rtlCol="0" anchor="ctr"/>
          <a:lstStyle/>
          <a:p>
            <a:pPr indent="0" marL="0">
              <a:buNone/>
            </a:pPr>
            <a:r>
              <a:rPr lang="en-US" sz="3800" b="1" dirty="0">
                <a:solidFill>
                  <a:srgbClr val="AC4D33"/>
                </a:solidFill>
                <a:latin typeface="Cambria" pitchFamily="34" charset="0"/>
                <a:ea typeface="Cambria" pitchFamily="34" charset="-122"/>
                <a:cs typeface="Cambria" pitchFamily="34" charset="-120"/>
              </a:rPr>
              <a:t>Soạn thảo và</a:t>
            </a:r>
            <a:endParaRPr lang="en-US" sz="3800" dirty="0"/>
          </a:p>
          <a:p>
            <a:pPr indent="0" marL="0">
              <a:buNone/>
            </a:pPr>
            <a:r>
              <a:rPr lang="en-US" sz="3800" b="1" dirty="0">
                <a:solidFill>
                  <a:srgbClr val="AC4D33"/>
                </a:solidFill>
                <a:latin typeface="Cambria" pitchFamily="34" charset="0"/>
                <a:ea typeface="Cambria" pitchFamily="34" charset="-122"/>
                <a:cs typeface="Cambria" pitchFamily="34" charset="-120"/>
              </a:rPr>
              <a:t>trình bày văn bản</a:t>
            </a:r>
            <a:endParaRPr lang="en-US" sz="3800" dirty="0"/>
          </a:p>
        </p:txBody>
      </p:sp>
      <p:sp>
        <p:nvSpPr>
          <p:cNvPr id="8" name="Text 4"/>
          <p:cNvSpPr/>
          <p:nvPr/>
        </p:nvSpPr>
        <p:spPr>
          <a:xfrm>
            <a:off x="822960" y="4434840"/>
            <a:ext cx="7589520" cy="685800"/>
          </a:xfrm>
          <a:prstGeom prst="rect">
            <a:avLst/>
          </a:prstGeom>
          <a:noFill/>
          <a:ln/>
        </p:spPr>
        <p:txBody>
          <a:bodyPr wrap="square" lIns="0" tIns="0" rIns="0" bIns="0" rtlCol="0" anchor="ctr"/>
          <a:lstStyle/>
          <a:p>
            <a:pPr indent="0" marL="0">
              <a:buNone/>
            </a:pPr>
            <a:r>
              <a:rPr lang="en-US" sz="1400" i="1" dirty="0">
                <a:solidFill>
                  <a:srgbClr val="8A7A76"/>
                </a:solidFill>
                <a:latin typeface="Calibri" pitchFamily="34" charset="0"/>
                <a:ea typeface="Calibri" pitchFamily="34" charset="-122"/>
                <a:cs typeface="Calibri" pitchFamily="34" charset="-120"/>
              </a:rPr>
              <a:t>Từ lời nói sang chữ viết: biến mọi thỏa thuận thành văn bản đúng chuẩn, có giá trị pháp lý.</a:t>
            </a:r>
            <a:endParaRPr lang="en-US" sz="1400" dirty="0"/>
          </a:p>
        </p:txBody>
      </p:sp>
      <p:sp>
        <p:nvSpPr>
          <p:cNvPr id="9" name="Text 5"/>
          <p:cNvSpPr/>
          <p:nvPr/>
        </p:nvSpPr>
        <p:spPr>
          <a:xfrm>
            <a:off x="822960" y="5349240"/>
            <a:ext cx="7863840" cy="868680"/>
          </a:xfrm>
          <a:prstGeom prst="rect">
            <a:avLst/>
          </a:prstGeom>
          <a:noFill/>
          <a:ln/>
        </p:spPr>
        <p:txBody>
          <a:bodyPr wrap="square" lIns="0" tIns="0" rIns="0" bIns="0" rtlCol="0" anchor="ctr"/>
          <a:lstStyle/>
          <a:p>
            <a:pPr indent="0" marL="0">
              <a:buNone/>
            </a:pPr>
            <a:r>
              <a:rPr lang="en-US" sz="1500" b="1" dirty="0">
                <a:solidFill>
                  <a:srgbClr val="3A2B28"/>
                </a:solidFill>
                <a:latin typeface="Calibri" pitchFamily="34" charset="0"/>
                <a:ea typeface="Calibri" pitchFamily="34" charset="-122"/>
                <a:cs typeface="Calibri" pitchFamily="34" charset="-120"/>
              </a:rPr>
              <a:t>GV. Đỗ Thùy Hương</a:t>
            </a:r>
            <a:endParaRPr lang="en-US" sz="1500" dirty="0"/>
          </a:p>
          <a:p>
            <a:pPr indent="0" marL="0">
              <a:buNone/>
            </a:pPr>
            <a:r>
              <a:rPr lang="en-US" sz="1200" dirty="0">
                <a:solidFill>
                  <a:srgbClr val="8A7A76"/>
                </a:solidFill>
                <a:latin typeface="Calibri" pitchFamily="34" charset="0"/>
                <a:ea typeface="Calibri" pitchFamily="34" charset="-122"/>
                <a:cs typeface="Calibri" pitchFamily="34" charset="-120"/>
              </a:rPr>
              <a:t>EC1103 – Kỹ năng giao tiếp và soạn thảo văn bản (2:1)  •  Lớp 261b, HK1 năm học 2026 – 2027</a:t>
            </a:r>
            <a:endParaRPr lang="en-US" sz="1500" dirty="0"/>
          </a:p>
        </p:txBody>
      </p:sp>
      <p:sp>
        <p:nvSpPr>
          <p:cNvPr id="10" name="Text 6"/>
          <p:cNvSpPr/>
          <p:nvPr/>
        </p:nvSpPr>
        <p:spPr>
          <a:xfrm>
            <a:off x="822960" y="6355080"/>
            <a:ext cx="10515600" cy="320040"/>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 Đỗ Thùy Hương, 2026 — Bài giảng biên soạn cho lớp giảng dạy trực tiếp. Vui lòng ghi nguồn khi sử dụng.</a:t>
            </a:r>
            <a:endParaRPr lang="en-US" sz="900" dirty="0"/>
          </a:p>
        </p:txBody>
      </p:sp>
      <p:pic>
        <p:nvPicPr>
          <p:cNvPr id="11" name="Picture 10" descr="co-huong-doc.png"/>
          <p:cNvPicPr>
            <a:picLocks noChangeAspect="1"/>
          </p:cNvPicPr>
          <p:nvPr/>
        </p:nvPicPr>
        <p:blipFill>
          <a:blip r:embed="rId5"/>
          <a:stretch>
            <a:fillRect/>
          </a:stretch>
        </p:blipFill>
        <p:spPr>
          <a:xfrm>
            <a:off x="8641080" y="1051560"/>
            <a:ext cx="3279624" cy="5120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MỤC TIÊU</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Sau bài học này, sinh viên có thể</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Trình bày  —  </a:t>
            </a:r>
            <a:pPr indent="0" marL="0">
              <a:buNone/>
            </a:pPr>
            <a:r>
              <a:rPr lang="en-US" sz="1350" dirty="0">
                <a:solidFill>
                  <a:srgbClr val="3A2B28"/>
                </a:solidFill>
                <a:latin typeface="Calibri" pitchFamily="34" charset="0"/>
                <a:ea typeface="Calibri" pitchFamily="34" charset="-122"/>
                <a:cs typeface="Calibri" pitchFamily="34" charset="-120"/>
              </a:rPr>
              <a:t>khái niệm văn bản và phân biệt được các nhóm văn bản trong tổ chức.</a:t>
            </a:r>
            <a:endParaRPr lang="en-US" sz="1400" dirty="0"/>
          </a:p>
        </p:txBody>
      </p:sp>
      <p:sp>
        <p:nvSpPr>
          <p:cNvPr id="12" name="Shape 9"/>
          <p:cNvSpPr/>
          <p:nvPr/>
        </p:nvSpPr>
        <p:spPr>
          <a:xfrm>
            <a:off x="502920" y="2578608"/>
            <a:ext cx="384048" cy="384048"/>
          </a:xfrm>
          <a:prstGeom prst="ellipse">
            <a:avLst/>
          </a:prstGeom>
          <a:solidFill>
            <a:srgbClr val="DC756A"/>
          </a:solidFill>
          <a:ln/>
        </p:spPr>
        <p:txBody>
          <a:bodyPr/>
          <a:p/>
        </p:txBody>
      </p:sp>
      <p:sp>
        <p:nvSpPr>
          <p:cNvPr id="13" name="Text 10"/>
          <p:cNvSpPr/>
          <p:nvPr/>
        </p:nvSpPr>
        <p:spPr>
          <a:xfrm>
            <a:off x="502920"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50545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Áp dụng  —  </a:t>
            </a:r>
            <a:pPr indent="0" marL="0">
              <a:buNone/>
            </a:pPr>
            <a:r>
              <a:rPr lang="en-US" sz="1350" dirty="0">
                <a:solidFill>
                  <a:srgbClr val="3A2B28"/>
                </a:solidFill>
                <a:latin typeface="Calibri" pitchFamily="34" charset="0"/>
                <a:ea typeface="Calibri" pitchFamily="34" charset="-122"/>
                <a:cs typeface="Calibri" pitchFamily="34" charset="-120"/>
              </a:rPr>
              <a:t>yêu cầu về nội dung và 9 thành phần thể thức theo Nghị định 30/2020/NĐ-CP.</a:t>
            </a:r>
            <a:endParaRPr lang="en-US" sz="1400" dirty="0"/>
          </a:p>
        </p:txBody>
      </p:sp>
      <p:sp>
        <p:nvSpPr>
          <p:cNvPr id="15" name="Shape 12"/>
          <p:cNvSpPr/>
          <p:nvPr/>
        </p:nvSpPr>
        <p:spPr>
          <a:xfrm>
            <a:off x="502920" y="3538728"/>
            <a:ext cx="384048" cy="384048"/>
          </a:xfrm>
          <a:prstGeom prst="ellipse">
            <a:avLst/>
          </a:prstGeom>
          <a:solidFill>
            <a:srgbClr val="DC756A"/>
          </a:solidFill>
          <a:ln/>
        </p:spPr>
        <p:txBody>
          <a:bodyPr/>
          <a:p/>
        </p:txBody>
      </p:sp>
      <p:sp>
        <p:nvSpPr>
          <p:cNvPr id="16" name="Text 13"/>
          <p:cNvSpPr/>
          <p:nvPr/>
        </p:nvSpPr>
        <p:spPr>
          <a:xfrm>
            <a:off x="502920" y="3538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46557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Soạn thảo  —  </a:t>
            </a:r>
            <a:pPr indent="0" marL="0">
              <a:buNone/>
            </a:pPr>
            <a:r>
              <a:rPr lang="en-US" sz="1350" dirty="0">
                <a:solidFill>
                  <a:srgbClr val="3A2B28"/>
                </a:solidFill>
                <a:latin typeface="Calibri" pitchFamily="34" charset="0"/>
                <a:ea typeface="Calibri" pitchFamily="34" charset="-122"/>
                <a:cs typeface="Calibri" pitchFamily="34" charset="-120"/>
              </a:rPr>
              <a:t>được quyết định, tờ trình, công văn, biên bản, báo cáo đúng bố cục.</a:t>
            </a:r>
            <a:endParaRPr lang="en-US" sz="1400" dirty="0"/>
          </a:p>
        </p:txBody>
      </p:sp>
      <p:sp>
        <p:nvSpPr>
          <p:cNvPr id="18" name="Shape 15"/>
          <p:cNvSpPr/>
          <p:nvPr/>
        </p:nvSpPr>
        <p:spPr>
          <a:xfrm>
            <a:off x="502920" y="4498848"/>
            <a:ext cx="384048" cy="384048"/>
          </a:xfrm>
          <a:prstGeom prst="ellipse">
            <a:avLst/>
          </a:prstGeom>
          <a:solidFill>
            <a:srgbClr val="DC756A"/>
          </a:solidFill>
          <a:ln/>
        </p:spPr>
        <p:txBody>
          <a:bodyPr/>
          <a:p/>
        </p:txBody>
      </p:sp>
      <p:sp>
        <p:nvSpPr>
          <p:cNvPr id="19" name="Text 16"/>
          <p:cNvSpPr/>
          <p:nvPr/>
        </p:nvSpPr>
        <p:spPr>
          <a:xfrm>
            <a:off x="502920" y="4498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42569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Soạn thảo  —  </a:t>
            </a:r>
            <a:pPr indent="0" marL="0">
              <a:buNone/>
            </a:pPr>
            <a:r>
              <a:rPr lang="en-US" sz="1350" dirty="0">
                <a:solidFill>
                  <a:srgbClr val="3A2B28"/>
                </a:solidFill>
                <a:latin typeface="Calibri" pitchFamily="34" charset="0"/>
                <a:ea typeface="Calibri" pitchFamily="34" charset="-122"/>
                <a:cs typeface="Calibri" pitchFamily="34" charset="-120"/>
              </a:rPr>
              <a:t>được thư tín thương mại, báo giá và hợp đồng phục vụ giao dịch kinh doanh.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NỘI DUNG</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Chúng ta sẽ đi qua</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5.1  —  </a:t>
            </a:r>
            <a:pPr indent="0" marL="0">
              <a:buNone/>
            </a:pPr>
            <a:r>
              <a:rPr lang="en-US" sz="1350" dirty="0">
                <a:solidFill>
                  <a:srgbClr val="3A2B28"/>
                </a:solidFill>
                <a:latin typeface="Calibri" pitchFamily="34" charset="0"/>
                <a:ea typeface="Calibri" pitchFamily="34" charset="-122"/>
                <a:cs typeface="Calibri" pitchFamily="34" charset="-120"/>
              </a:rPr>
              <a:t>Khái niệm và phân loại văn bản</a:t>
            </a:r>
            <a:endParaRPr lang="en-US" sz="1400" dirty="0"/>
          </a:p>
        </p:txBody>
      </p:sp>
      <p:sp>
        <p:nvSpPr>
          <p:cNvPr id="12" name="Shape 9"/>
          <p:cNvSpPr/>
          <p:nvPr/>
        </p:nvSpPr>
        <p:spPr>
          <a:xfrm>
            <a:off x="502920" y="2578608"/>
            <a:ext cx="384048" cy="384048"/>
          </a:xfrm>
          <a:prstGeom prst="ellipse">
            <a:avLst/>
          </a:prstGeom>
          <a:solidFill>
            <a:srgbClr val="DC756A"/>
          </a:solidFill>
          <a:ln/>
        </p:spPr>
        <p:txBody>
          <a:bodyPr/>
          <a:p/>
        </p:txBody>
      </p:sp>
      <p:sp>
        <p:nvSpPr>
          <p:cNvPr id="13" name="Text 10"/>
          <p:cNvSpPr/>
          <p:nvPr/>
        </p:nvSpPr>
        <p:spPr>
          <a:xfrm>
            <a:off x="502920"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50545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5.2  —  </a:t>
            </a:r>
            <a:pPr indent="0" marL="0">
              <a:buNone/>
            </a:pPr>
            <a:r>
              <a:rPr lang="en-US" sz="1350" dirty="0">
                <a:solidFill>
                  <a:srgbClr val="3A2B28"/>
                </a:solidFill>
                <a:latin typeface="Calibri" pitchFamily="34" charset="0"/>
                <a:ea typeface="Calibri" pitchFamily="34" charset="-122"/>
                <a:cs typeface="Calibri" pitchFamily="34" charset="-120"/>
              </a:rPr>
              <a:t>Các yêu cầu về nội dung và thể thức văn bản</a:t>
            </a:r>
            <a:endParaRPr lang="en-US" sz="1400" dirty="0"/>
          </a:p>
        </p:txBody>
      </p:sp>
      <p:sp>
        <p:nvSpPr>
          <p:cNvPr id="15" name="Shape 12"/>
          <p:cNvSpPr/>
          <p:nvPr/>
        </p:nvSpPr>
        <p:spPr>
          <a:xfrm>
            <a:off x="502920" y="3538728"/>
            <a:ext cx="384048" cy="384048"/>
          </a:xfrm>
          <a:prstGeom prst="ellipse">
            <a:avLst/>
          </a:prstGeom>
          <a:solidFill>
            <a:srgbClr val="DC756A"/>
          </a:solidFill>
          <a:ln/>
        </p:spPr>
        <p:txBody>
          <a:bodyPr/>
          <a:p/>
        </p:txBody>
      </p:sp>
      <p:sp>
        <p:nvSpPr>
          <p:cNvPr id="16" name="Text 13"/>
          <p:cNvSpPr/>
          <p:nvPr/>
        </p:nvSpPr>
        <p:spPr>
          <a:xfrm>
            <a:off x="502920" y="3538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46557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5.3  —  </a:t>
            </a:r>
            <a:pPr indent="0" marL="0">
              <a:buNone/>
            </a:pPr>
            <a:r>
              <a:rPr lang="en-US" sz="1350" dirty="0">
                <a:solidFill>
                  <a:srgbClr val="3A2B28"/>
                </a:solidFill>
                <a:latin typeface="Calibri" pitchFamily="34" charset="0"/>
                <a:ea typeface="Calibri" pitchFamily="34" charset="-122"/>
                <a:cs typeface="Calibri" pitchFamily="34" charset="-120"/>
              </a:rPr>
              <a:t>Soạn thảo văn bản hành chính thông dụng</a:t>
            </a:r>
            <a:endParaRPr lang="en-US" sz="1400" dirty="0"/>
          </a:p>
        </p:txBody>
      </p:sp>
      <p:sp>
        <p:nvSpPr>
          <p:cNvPr id="18" name="Shape 15"/>
          <p:cNvSpPr/>
          <p:nvPr/>
        </p:nvSpPr>
        <p:spPr>
          <a:xfrm>
            <a:off x="502920" y="4498848"/>
            <a:ext cx="384048" cy="384048"/>
          </a:xfrm>
          <a:prstGeom prst="ellipse">
            <a:avLst/>
          </a:prstGeom>
          <a:solidFill>
            <a:srgbClr val="DC756A"/>
          </a:solidFill>
          <a:ln/>
        </p:spPr>
        <p:txBody>
          <a:bodyPr/>
          <a:p/>
        </p:txBody>
      </p:sp>
      <p:sp>
        <p:nvSpPr>
          <p:cNvPr id="19" name="Text 16"/>
          <p:cNvSpPr/>
          <p:nvPr/>
        </p:nvSpPr>
        <p:spPr>
          <a:xfrm>
            <a:off x="502920" y="4498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42569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5.4  —  </a:t>
            </a:r>
            <a:pPr indent="0" marL="0">
              <a:buNone/>
            </a:pPr>
            <a:r>
              <a:rPr lang="en-US" sz="1350" dirty="0">
                <a:solidFill>
                  <a:srgbClr val="3A2B28"/>
                </a:solidFill>
                <a:latin typeface="Calibri" pitchFamily="34" charset="0"/>
                <a:ea typeface="Calibri" pitchFamily="34" charset="-122"/>
                <a:cs typeface="Calibri" pitchFamily="34" charset="-120"/>
              </a:rPr>
              <a:t>Soạn thảo văn bản thương mại</a:t>
            </a:r>
            <a:endParaRPr lang="en-US" sz="14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MỤC 5.1 – 5.2</a:t>
            </a:r>
          </a:p>
        </p:txBody>
      </p:sp>
      <p:sp>
        <p:nvSpPr>
          <p:cNvPr id="6" name="TextBox 5"/>
          <p:cNvSpPr txBox="1"/>
          <p:nvPr/>
        </p:nvSpPr>
        <p:spPr>
          <a:xfrm>
            <a:off x="1280160" y="2788920"/>
            <a:ext cx="9601200" cy="1371600"/>
          </a:xfrm>
          <a:prstGeom prst="rect">
            <a:avLst/>
          </a:prstGeom>
          <a:noFill/>
        </p:spPr>
        <p:txBody>
          <a:bodyPr wrap="square">
            <a:spAutoFit/>
          </a:bodyPr>
          <a:lstStyle/>
          <a:p>
            <a:r>
              <a:rPr sz="3300" b="1">
                <a:solidFill>
                  <a:srgbClr val="AC4D33"/>
                </a:solidFill>
                <a:latin typeface="Cambria"/>
              </a:rPr>
              <a:t>Khái niệm, phân loại và thể thức văn bản</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Nền tảng pháp lý và kỹ thuật: văn bản là gì và một trang văn bản đúng chuẩn trông thế nào.</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GV. Đỗ Thùy Hương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Chương 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Văn bản là gì?</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Cách hiểu chung</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Phương tiện ghi lại và truyền đạt thông tin bằng ngôn ngữ hoặc ký hiệu</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Định nghĩa pháp lý — Nghị định 30/2020/NĐ-CP</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“Thông tin thành văn… được trình bày đúng thể thức, kỹ thuật theo quy định.”</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Vai trò</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Quản lý – điều hành • căn cứ pháp lý • lưu trữ • hình ảnh tổ chức</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Phân loại văn bản</a:t>
            </a:r>
            <a:endParaRPr lang="en-US" sz="2700" dirty="0"/>
          </a:p>
        </p:txBody>
      </p:sp>
      <p:pic>
        <p:nvPicPr>
          <p:cNvPr id="9" name="Picture 8" descr="c5-phan-loai-van-ban-nt.png"/>
          <p:cNvPicPr>
            <a:picLocks noChangeAspect="1"/>
          </p:cNvPicPr>
          <p:nvPr/>
        </p:nvPicPr>
        <p:blipFill>
          <a:blip r:embed="rId4"/>
          <a:stretch>
            <a:fillRect/>
          </a:stretch>
        </p:blipFill>
        <p:spPr>
          <a:xfrm>
            <a:off x="841173" y="1751850"/>
            <a:ext cx="10509347" cy="4168114"/>
          </a:xfrm>
          <a:prstGeom prst="rect">
            <a:avLst/>
          </a:prstGeom>
        </p:spPr>
      </p:pic>
      <p:sp>
        <p:nvSpPr>
          <p:cNvPr id="10" name="TextBox 9"/>
          <p:cNvSpPr txBox="1"/>
          <p:nvPr/>
        </p:nvSpPr>
        <p:spPr>
          <a:xfrm>
            <a:off x="548640" y="5993117"/>
            <a:ext cx="11109960" cy="310896"/>
          </a:xfrm>
          <a:prstGeom prst="rect">
            <a:avLst/>
          </a:prstGeom>
          <a:noFill/>
        </p:spPr>
        <p:txBody>
          <a:bodyPr wrap="square">
            <a:spAutoFit/>
          </a:bodyPr>
          <a:lstStyle/>
          <a:p>
            <a:pPr algn="ctr"/>
            <a:r>
              <a:rPr sz="1150" i="1">
                <a:solidFill>
                  <a:srgbClr val="8A7A76"/>
                </a:solidFill>
                <a:latin typeface="Calibri"/>
              </a:rPr>
              <a:t>Biết văn bản thuộc nhóm nào thì mới biết soạn theo mẫu nào và ai có thẩm quyền ký.</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Bốn yêu cầu về nội dung</a:t>
            </a:r>
            <a:endParaRPr lang="en-US" sz="2700" dirty="0"/>
          </a:p>
        </p:txBody>
      </p:sp>
      <p:sp>
        <p:nvSpPr>
          <p:cNvPr id="9" name="Shape 6"/>
          <p:cNvSpPr/>
          <p:nvPr/>
        </p:nvSpPr>
        <p:spPr>
          <a:xfrm>
            <a:off x="502920" y="1417320"/>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966978"/>
          </a:xfrm>
          <a:prstGeom prst="rect">
            <a:avLst/>
          </a:prstGeom>
          <a:noFill/>
          <a:ln/>
        </p:spPr>
        <p:txBody>
          <a:bodyPr wrap="square" lIns="0" tIns="0" rIns="0" bIns="0" rtlCol="0" anchor="ctr"/>
          <a:lstStyle/>
          <a:p>
            <a:pPr indent="0" marL="0">
              <a:buNone/>
            </a:pPr>
            <a:r>
              <a:rPr lang="en-US" sz="1450" b="1" dirty="0">
                <a:solidFill>
                  <a:srgbClr val="AC4D33"/>
                </a:solidFill>
                <a:latin typeface="Calibri" pitchFamily="34" charset="0"/>
                <a:ea typeface="Calibri" pitchFamily="34" charset="-122"/>
                <a:cs typeface="Calibri" pitchFamily="34" charset="-120"/>
              </a:rPr>
              <a:t>Đúng mục đích, đúng thẩm quyền</a:t>
            </a:r>
            <a:endParaRPr lang="en-US" sz="1450" dirty="0"/>
          </a:p>
          <a:p>
            <a:pPr indent="0" marL="0">
              <a:buNone/>
            </a:pPr>
            <a:r>
              <a:rPr lang="en-US" sz="1250" dirty="0">
                <a:solidFill>
                  <a:srgbClr val="3A2B28"/>
                </a:solidFill>
                <a:latin typeface="Calibri" pitchFamily="34" charset="0"/>
                <a:ea typeface="Calibri" pitchFamily="34" charset="-122"/>
                <a:cs typeface="Calibri" pitchFamily="34" charset="-120"/>
              </a:rPr>
              <a:t>Mỗi văn bản một chủ đề, ban hành đúng chức năng</a:t>
            </a:r>
            <a:endParaRPr lang="en-US" sz="1450" dirty="0"/>
          </a:p>
        </p:txBody>
      </p:sp>
      <p:sp>
        <p:nvSpPr>
          <p:cNvPr id="11" name="Shape 8"/>
          <p:cNvSpPr/>
          <p:nvPr/>
        </p:nvSpPr>
        <p:spPr>
          <a:xfrm>
            <a:off x="502920" y="2658618"/>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2" name="Text 9"/>
          <p:cNvSpPr/>
          <p:nvPr/>
        </p:nvSpPr>
        <p:spPr>
          <a:xfrm>
            <a:off x="722376" y="2713482"/>
            <a:ext cx="10762488" cy="966978"/>
          </a:xfrm>
          <a:prstGeom prst="rect">
            <a:avLst/>
          </a:prstGeom>
          <a:noFill/>
          <a:ln/>
        </p:spPr>
        <p:txBody>
          <a:bodyPr wrap="square" lIns="0" tIns="0" rIns="0" bIns="0" rtlCol="0" anchor="ctr"/>
          <a:lstStyle/>
          <a:p>
            <a:pPr indent="0" marL="0">
              <a:buNone/>
            </a:pPr>
            <a:r>
              <a:rPr lang="en-US" sz="1450" b="1" dirty="0">
                <a:solidFill>
                  <a:srgbClr val="AC4D33"/>
                </a:solidFill>
                <a:latin typeface="Calibri" pitchFamily="34" charset="0"/>
                <a:ea typeface="Calibri" pitchFamily="34" charset="-122"/>
                <a:cs typeface="Calibri" pitchFamily="34" charset="-120"/>
              </a:rPr>
              <a:t>Chính xác — khách quan</a:t>
            </a:r>
            <a:endParaRPr lang="en-US" sz="1450" dirty="0"/>
          </a:p>
          <a:p>
            <a:pPr indent="0" marL="0">
              <a:buNone/>
            </a:pPr>
            <a:r>
              <a:rPr lang="en-US" sz="1250" dirty="0">
                <a:solidFill>
                  <a:srgbClr val="3A2B28"/>
                </a:solidFill>
                <a:latin typeface="Calibri" pitchFamily="34" charset="0"/>
                <a:ea typeface="Calibri" pitchFamily="34" charset="-122"/>
                <a:cs typeface="Calibri" pitchFamily="34" charset="-120"/>
              </a:rPr>
              <a:t>Số liệu có căn cứ, kiểm chứng được — sai một con số là hậu quả pháp lý</a:t>
            </a:r>
            <a:endParaRPr lang="en-US" sz="1450" dirty="0"/>
          </a:p>
        </p:txBody>
      </p:sp>
      <p:sp>
        <p:nvSpPr>
          <p:cNvPr id="13" name="Shape 10"/>
          <p:cNvSpPr/>
          <p:nvPr/>
        </p:nvSpPr>
        <p:spPr>
          <a:xfrm>
            <a:off x="502920" y="3899916"/>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4" name="Text 11"/>
          <p:cNvSpPr/>
          <p:nvPr/>
        </p:nvSpPr>
        <p:spPr>
          <a:xfrm>
            <a:off x="722376" y="3954780"/>
            <a:ext cx="10762488" cy="966978"/>
          </a:xfrm>
          <a:prstGeom prst="rect">
            <a:avLst/>
          </a:prstGeom>
          <a:noFill/>
          <a:ln/>
        </p:spPr>
        <p:txBody>
          <a:bodyPr wrap="square" lIns="0" tIns="0" rIns="0" bIns="0" rtlCol="0" anchor="ctr"/>
          <a:lstStyle/>
          <a:p>
            <a:pPr indent="0" marL="0">
              <a:buNone/>
            </a:pPr>
            <a:r>
              <a:rPr lang="en-US" sz="1450" b="1" dirty="0">
                <a:solidFill>
                  <a:srgbClr val="AC4D33"/>
                </a:solidFill>
                <a:latin typeface="Calibri" pitchFamily="34" charset="0"/>
                <a:ea typeface="Calibri" pitchFamily="34" charset="-122"/>
                <a:cs typeface="Calibri" pitchFamily="34" charset="-120"/>
              </a:rPr>
              <a:t>Rõ ràng — ngắn gọn — dễ hiểu</a:t>
            </a:r>
            <a:endParaRPr lang="en-US" sz="1450" dirty="0"/>
          </a:p>
          <a:p>
            <a:pPr indent="0" marL="0">
              <a:buNone/>
            </a:pPr>
            <a:r>
              <a:rPr lang="en-US" sz="1250" dirty="0">
                <a:solidFill>
                  <a:srgbClr val="3A2B28"/>
                </a:solidFill>
                <a:latin typeface="Calibri" pitchFamily="34" charset="0"/>
                <a:ea typeface="Calibri" pitchFamily="34" charset="-122"/>
                <a:cs typeface="Calibri" pitchFamily="34" charset="-120"/>
              </a:rPr>
              <a:t>Đọc một lần là hiểu đúng ý người soạn</a:t>
            </a:r>
            <a:endParaRPr lang="en-US" sz="1450" dirty="0"/>
          </a:p>
        </p:txBody>
      </p:sp>
      <p:sp>
        <p:nvSpPr>
          <p:cNvPr id="15" name="Shape 12"/>
          <p:cNvSpPr/>
          <p:nvPr/>
        </p:nvSpPr>
        <p:spPr>
          <a:xfrm>
            <a:off x="502920" y="5141214"/>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6" name="Text 13"/>
          <p:cNvSpPr/>
          <p:nvPr/>
        </p:nvSpPr>
        <p:spPr>
          <a:xfrm>
            <a:off x="722376" y="5196078"/>
            <a:ext cx="10762488" cy="966978"/>
          </a:xfrm>
          <a:prstGeom prst="rect">
            <a:avLst/>
          </a:prstGeom>
          <a:noFill/>
          <a:ln/>
        </p:spPr>
        <p:txBody>
          <a:bodyPr wrap="square" lIns="0" tIns="0" rIns="0" bIns="0" rtlCol="0" anchor="ctr"/>
          <a:lstStyle/>
          <a:p>
            <a:pPr indent="0" marL="0">
              <a:buNone/>
            </a:pPr>
            <a:r>
              <a:rPr lang="en-US" sz="1450" b="1" dirty="0">
                <a:solidFill>
                  <a:srgbClr val="AC4D33"/>
                </a:solidFill>
                <a:latin typeface="Calibri" pitchFamily="34" charset="0"/>
                <a:ea typeface="Calibri" pitchFamily="34" charset="-122"/>
                <a:cs typeface="Calibri" pitchFamily="34" charset="-120"/>
              </a:rPr>
              <a:t>Đúng pháp luật, đúng ngôn ngữ hành chính</a:t>
            </a:r>
            <a:endParaRPr lang="en-US" sz="1450" dirty="0"/>
          </a:p>
          <a:p>
            <a:pPr indent="0" marL="0">
              <a:buNone/>
            </a:pPr>
            <a:r>
              <a:rPr lang="en-US" sz="1250" dirty="0">
                <a:solidFill>
                  <a:srgbClr val="3A2B28"/>
                </a:solidFill>
                <a:latin typeface="Calibri" pitchFamily="34" charset="0"/>
                <a:ea typeface="Calibri" pitchFamily="34" charset="-122"/>
                <a:cs typeface="Calibri" pitchFamily="34" charset="-120"/>
              </a:rPr>
              <a:t>Đúng quy định hiện hành; văn phong nghiêm túc, không khẩu ngữ</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Chín thành phần thể thức — NĐ 30/2020/NĐ-CP</a:t>
            </a:r>
            <a:endParaRPr lang="en-US" sz="2700" dirty="0"/>
          </a:p>
        </p:txBody>
      </p:sp>
      <p:pic>
        <p:nvPicPr>
          <p:cNvPr id="9" name="Picture 8" descr="c5-the-thuc-a4-nt.png"/>
          <p:cNvPicPr>
            <a:picLocks noChangeAspect="1"/>
          </p:cNvPicPr>
          <p:nvPr/>
        </p:nvPicPr>
        <p:blipFill>
          <a:blip r:embed="rId4"/>
          <a:stretch>
            <a:fillRect/>
          </a:stretch>
        </p:blipFill>
        <p:spPr>
          <a:xfrm>
            <a:off x="472287" y="1595135"/>
            <a:ext cx="11247120" cy="44815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Kỹ thuật trình bày — những con số phải thuộc</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Khổ giấy và lề trang</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A4 • trên–dưới 20–25 mm • trái 30–35 mm • phải 15–20 mm</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Phông chữ</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Times New Roman, bộ mã Unicode, cỡ 13 – 14, màu đen.</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Số trang</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Đánh từ trang thứ hai, bằng chữ số Ả Rập, canh giữa theo lề trên.</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Ngôn ngữ</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Tiếng Việt chuẩn mực; viết hoa, viết tắt đúng quy định</a:t>
            </a:r>
            <a:endParaRPr lang="en-US" sz="15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292608"/>
          </a:xfrm>
          <a:prstGeom prst="rect">
            <a:avLst/>
          </a:prstGeom>
          <a:noFill/>
        </p:spPr>
        <p:txBody>
          <a:bodyPr wrap="none">
            <a:spAutoFit/>
          </a:bodyPr>
          <a:lstStyle/>
          <a:p>
            <a:r>
              <a:rPr sz="1100" b="1">
                <a:solidFill>
                  <a:srgbClr val="DC756A"/>
                </a:solidFill>
                <a:latin typeface="Calibri"/>
              </a:rPr>
              <a:t>CON SỐ PHẢI NHỚ</a:t>
            </a:r>
          </a:p>
        </p:txBody>
      </p:sp>
      <p:sp>
        <p:nvSpPr>
          <p:cNvPr id="4" name="TextBox 3"/>
          <p:cNvSpPr txBox="1"/>
          <p:nvPr/>
        </p:nvSpPr>
        <p:spPr>
          <a:xfrm>
            <a:off x="502920" y="603504"/>
            <a:ext cx="11155680" cy="731520"/>
          </a:xfrm>
          <a:prstGeom prst="rect">
            <a:avLst/>
          </a:prstGeom>
          <a:noFill/>
        </p:spPr>
        <p:txBody>
          <a:bodyPr wrap="square">
            <a:spAutoFit/>
          </a:bodyPr>
          <a:lstStyle/>
          <a:p>
            <a:r>
              <a:rPr sz="2700" b="1">
                <a:solidFill>
                  <a:srgbClr val="3A2B28"/>
                </a:solidFill>
                <a:latin typeface="Cambria"/>
              </a:rPr>
              <a:t>Bốn con số của một trang văn bản đúng chuẩn</a:t>
            </a:r>
          </a:p>
        </p:txBody>
      </p:sp>
      <p:sp>
        <p:nvSpPr>
          <p:cNvPr id="5" name="Rounded Rectangle 4"/>
          <p:cNvSpPr/>
          <p:nvPr/>
        </p:nvSpPr>
        <p:spPr>
          <a:xfrm>
            <a:off x="502920"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A4</a:t>
            </a:r>
          </a:p>
          <a:p>
            <a:pPr algn="ctr"/>
            <a:r>
              <a:rPr sz="1400" b="1">
                <a:solidFill>
                  <a:srgbClr val="AC4D33"/>
                </a:solidFill>
                <a:latin typeface="Calibri"/>
              </a:rPr>
              <a:t>KHỔ GIẤY</a:t>
            </a:r>
          </a:p>
          <a:p>
            <a:pPr algn="ctr">
              <a:spcBef>
                <a:spcPts val="1200"/>
              </a:spcBef>
            </a:pPr>
            <a:r>
              <a:rPr sz="1250">
                <a:solidFill>
                  <a:srgbClr val="3A2B28"/>
                </a:solidFill>
                <a:latin typeface="Calibri"/>
              </a:rPr>
              <a:t>210 × 297 mm — không dùng khổ Letter</a:t>
            </a:r>
          </a:p>
        </p:txBody>
      </p:sp>
      <p:sp>
        <p:nvSpPr>
          <p:cNvPr id="6" name="Rounded Rectangle 5"/>
          <p:cNvSpPr/>
          <p:nvPr/>
        </p:nvSpPr>
        <p:spPr>
          <a:xfrm>
            <a:off x="3362706"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30–35</a:t>
            </a:r>
          </a:p>
          <a:p>
            <a:pPr algn="ctr"/>
            <a:r>
              <a:rPr sz="1400" b="1">
                <a:solidFill>
                  <a:srgbClr val="AC4D33"/>
                </a:solidFill>
                <a:latin typeface="Calibri"/>
              </a:rPr>
              <a:t>MILIMET</a:t>
            </a:r>
          </a:p>
          <a:p>
            <a:pPr algn="ctr">
              <a:spcBef>
                <a:spcPts val="1200"/>
              </a:spcBef>
            </a:pPr>
            <a:r>
              <a:rPr sz="1250">
                <a:solidFill>
                  <a:srgbClr val="3A2B28"/>
                </a:solidFill>
                <a:latin typeface="Calibri"/>
              </a:rPr>
              <a:t>Lề trái, rộng nhất để đóng gáy lưu trữ</a:t>
            </a:r>
          </a:p>
        </p:txBody>
      </p:sp>
      <p:sp>
        <p:nvSpPr>
          <p:cNvPr id="7" name="Rounded Rectangle 6"/>
          <p:cNvSpPr/>
          <p:nvPr/>
        </p:nvSpPr>
        <p:spPr>
          <a:xfrm>
            <a:off x="6222492"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13–14</a:t>
            </a:r>
          </a:p>
          <a:p>
            <a:pPr algn="ctr"/>
            <a:r>
              <a:rPr sz="1400" b="1">
                <a:solidFill>
                  <a:srgbClr val="AC4D33"/>
                </a:solidFill>
                <a:latin typeface="Calibri"/>
              </a:rPr>
              <a:t>CỠ CHỮ</a:t>
            </a:r>
          </a:p>
          <a:p>
            <a:pPr algn="ctr">
              <a:spcBef>
                <a:spcPts val="1200"/>
              </a:spcBef>
            </a:pPr>
            <a:r>
              <a:rPr sz="1250">
                <a:solidFill>
                  <a:srgbClr val="3A2B28"/>
                </a:solidFill>
                <a:latin typeface="Calibri"/>
              </a:rPr>
              <a:t>Times New Roman, bộ mã Unicode, màu đen</a:t>
            </a:r>
          </a:p>
        </p:txBody>
      </p:sp>
      <p:sp>
        <p:nvSpPr>
          <p:cNvPr id="8" name="Rounded Rectangle 7"/>
          <p:cNvSpPr/>
          <p:nvPr/>
        </p:nvSpPr>
        <p:spPr>
          <a:xfrm>
            <a:off x="9082278"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9</a:t>
            </a:r>
          </a:p>
          <a:p>
            <a:pPr algn="ctr"/>
            <a:r>
              <a:rPr sz="1400" b="1">
                <a:solidFill>
                  <a:srgbClr val="AC4D33"/>
                </a:solidFill>
                <a:latin typeface="Calibri"/>
              </a:rPr>
              <a:t>THÀNH PHẦN</a:t>
            </a:r>
          </a:p>
          <a:p>
            <a:pPr algn="ctr">
              <a:spcBef>
                <a:spcPts val="1200"/>
              </a:spcBef>
            </a:pPr>
            <a:r>
              <a:rPr sz="1250">
                <a:solidFill>
                  <a:srgbClr val="3A2B28"/>
                </a:solidFill>
                <a:latin typeface="Calibri"/>
              </a:rPr>
              <a:t>Số thành phần thể thức bắt buộc theo NĐ 30/2020</a:t>
            </a:r>
          </a:p>
        </p:txBody>
      </p:sp>
      <p:sp>
        <p:nvSpPr>
          <p:cNvPr id="9" name="Rounded Rectangle 8"/>
          <p:cNvSpPr/>
          <p:nvPr/>
        </p:nvSpPr>
        <p:spPr>
          <a:xfrm>
            <a:off x="502920" y="5440680"/>
            <a:ext cx="11201400" cy="685800"/>
          </a:xfrm>
          <a:prstGeom prst="roundRect">
            <a:avLst>
              <a:gd name="adj" fmla="val 12000"/>
            </a:avLst>
          </a:prstGeom>
          <a:solidFill>
            <a:srgbClr val="FDF1EF"/>
          </a:solidFill>
          <a:ln w="12700">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ctr"/>
            <a:r>
              <a:rPr sz="1300">
                <a:solidFill>
                  <a:srgbClr val="3A2B28"/>
                </a:solidFill>
                <a:latin typeface="Calibri"/>
              </a:rPr>
              <a:t>Lề trên và dưới 20 – 25 mm • lề phải 15 – 20 mm • số trang đánh từ trang thứ hai, canh giữa theo lề trên.</a:t>
            </a:r>
          </a:p>
        </p:txBody>
      </p:sp>
      <p:sp>
        <p:nvSpPr>
          <p:cNvPr id="10" name="TextBox 9"/>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GV. Đỗ Thùy Hương  •  EC1103</a:t>
            </a:r>
          </a:p>
        </p:txBody>
      </p:sp>
      <p:sp>
        <p:nvSpPr>
          <p:cNvPr id="11" name="TextBox 10"/>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Chương 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MỤC 5.3</a:t>
            </a:r>
          </a:p>
        </p:txBody>
      </p:sp>
      <p:sp>
        <p:nvSpPr>
          <p:cNvPr id="6" name="TextBox 5"/>
          <p:cNvSpPr txBox="1"/>
          <p:nvPr/>
        </p:nvSpPr>
        <p:spPr>
          <a:xfrm>
            <a:off x="1280160" y="2788920"/>
            <a:ext cx="9601200" cy="1371600"/>
          </a:xfrm>
          <a:prstGeom prst="rect">
            <a:avLst/>
          </a:prstGeom>
          <a:noFill/>
        </p:spPr>
        <p:txBody>
          <a:bodyPr wrap="square">
            <a:spAutoFit/>
          </a:bodyPr>
          <a:lstStyle/>
          <a:p>
            <a:r>
              <a:rPr sz="3300" b="1">
                <a:solidFill>
                  <a:srgbClr val="AC4D33"/>
                </a:solidFill>
                <a:latin typeface="Cambria"/>
              </a:rPr>
              <a:t>Soạn thảo văn bản hành chính thông dụng</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Năm loại văn bản dùng hằng ngày trong mọi cơ quan, tổ chức.</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GV. Đỗ Thùy Hương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Chương 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Năm văn bản hành chính thông dụng</a:t>
            </a:r>
            <a:endParaRPr lang="en-US" sz="2700" dirty="0"/>
          </a:p>
        </p:txBody>
      </p:sp>
      <p:pic>
        <p:nvPicPr>
          <p:cNvPr id="9" name="Picture 8" descr="c5-chuoi-van-ban-nt.png"/>
          <p:cNvPicPr>
            <a:picLocks noChangeAspect="1"/>
          </p:cNvPicPr>
          <p:nvPr/>
        </p:nvPicPr>
        <p:blipFill>
          <a:blip r:embed="rId4"/>
          <a:stretch>
            <a:fillRect/>
          </a:stretch>
        </p:blipFill>
        <p:spPr>
          <a:xfrm>
            <a:off x="981171" y="2365438"/>
            <a:ext cx="10229353" cy="2940939"/>
          </a:xfrm>
          <a:prstGeom prst="rect">
            <a:avLst/>
          </a:prstGeom>
        </p:spPr>
      </p:pic>
      <p:sp>
        <p:nvSpPr>
          <p:cNvPr id="10" name="TextBox 9"/>
          <p:cNvSpPr txBox="1"/>
          <p:nvPr/>
        </p:nvSpPr>
        <p:spPr>
          <a:xfrm>
            <a:off x="548640" y="5379529"/>
            <a:ext cx="11109960" cy="310896"/>
          </a:xfrm>
          <a:prstGeom prst="rect">
            <a:avLst/>
          </a:prstGeom>
          <a:noFill/>
        </p:spPr>
        <p:txBody>
          <a:bodyPr wrap="square">
            <a:spAutoFit/>
          </a:bodyPr>
          <a:lstStyle/>
          <a:p>
            <a:pPr algn="ctr"/>
            <a:r>
              <a:rPr sz="1150" i="1">
                <a:solidFill>
                  <a:srgbClr val="8A7A76"/>
                </a:solidFill>
                <a:latin typeface="Calibri"/>
              </a:rPr>
              <a:t>Chuỗi văn bản của một thương vụ — sinh viên sẽ soạn lại đúng chuỗi này trong phần thực hành.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Quyết định và Tờ trình</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Quyết định — khái niệm</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Văn bản do người có thẩm quyền ban hành để giải quyết một công việc cụ thể.</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Quyết định — bố cục</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Phần căn cứ → nội dung theo các Điều → Điều cuối ghi hiệu lực</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Tờ trình — khái niệm</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Đề xuất cấp có thẩm quyền phê duyệt một chủ trương hay phương án</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Tờ trình — bố cục 3 phần</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Lý do → phương án, lợi ích → kiến nghị phê duyệt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Công văn, Biên bản và Báo cáo</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Công văn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Không có tên loại — chỉ số, ký hiệu, trích yếu. Mỗi công văn một chủ đề</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Biên bản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Ghi tại chỗ. Thời gian – thành phần – diễn biến – kết luận – chữ ký</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Báo cáo</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Tình hình → kết quả → hạn chế và nguyên nhân → phương hướng</a:t>
            </a:r>
            <a:endParaRPr lang="en-US" sz="15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MỤC 5.4</a:t>
            </a:r>
          </a:p>
        </p:txBody>
      </p:sp>
      <p:sp>
        <p:nvSpPr>
          <p:cNvPr id="6" name="TextBox 5"/>
          <p:cNvSpPr txBox="1"/>
          <p:nvPr/>
        </p:nvSpPr>
        <p:spPr>
          <a:xfrm>
            <a:off x="1280160" y="2788920"/>
            <a:ext cx="9601200" cy="1371600"/>
          </a:xfrm>
          <a:prstGeom prst="rect">
            <a:avLst/>
          </a:prstGeom>
          <a:noFill/>
        </p:spPr>
        <p:txBody>
          <a:bodyPr wrap="square">
            <a:spAutoFit/>
          </a:bodyPr>
          <a:lstStyle/>
          <a:p>
            <a:r>
              <a:rPr sz="3800" b="1">
                <a:solidFill>
                  <a:srgbClr val="AC4D33"/>
                </a:solidFill>
                <a:latin typeface="Cambria"/>
              </a:rPr>
              <a:t>Soạn thảo văn bản thương mại</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Thư tín, báo giá và hợp đồng — bộ hồ sơ đưa một thương vụ đi đến đích.</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GV. Đỗ Thùy Hương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Chương 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5.4</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Thư tín thương mại và báo giá</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Thư tín thương mại</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Hỏi hàng • chào hàng • đặt hàng • xác nhận • khiếu nại • cảm ơn</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Nguyên tắc 5C</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Clear (rõ) • Concise (gọn) • Correct (đúng) • Complete (đủ) • Courteous (lịch sự).</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Email thương mại</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Tiêu đề đúng nội dung • chữ ký đầy đủ • phản hồi trong 24 giờ</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Báo giá</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Hàng hóa • số lượng, đơn giá, thuế • giao hàng, thanh toán • thời hạn hiệu lực</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5.4</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Hợp đồng — nghiệm thu — thanh lý</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Hợp đồng thương mại</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Đối tượng • giá và thanh toán • quyền – nghĩa vụ • phạt • tranh chấp</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Biên bản nghiệm thu</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Xác nhận khối lượng và chất lượng — căn cứ để thanh toán</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Biên bản thanh lý hợp đồng</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Hoàn thành nghĩa vụ, chấm dứt hiệu lực, quyết toán phần còn lại</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HOẠT ĐỘNG NHÓM</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Từ đàm phán đến hợp đồng</a:t>
            </a:r>
            <a:endParaRPr lang="en-US" sz="2700" dirty="0"/>
          </a:p>
        </p:txBody>
      </p:sp>
      <p:sp>
        <p:nvSpPr>
          <p:cNvPr id="9" name="Shape 6"/>
          <p:cNvSpPr/>
          <p:nvPr/>
        </p:nvSpPr>
        <p:spPr>
          <a:xfrm>
            <a:off x="502920" y="1417320"/>
            <a:ext cx="11201400" cy="2103120"/>
          </a:xfrm>
          <a:prstGeom prst="roundRect">
            <a:avLst>
              <a:gd name="adj" fmla="val 4348"/>
            </a:avLst>
          </a:prstGeom>
          <a:solidFill>
            <a:srgbClr val="FBEDE0"/>
          </a:solidFill>
          <a:ln w="15875">
            <a:solidFill>
              <a:srgbClr val="C9A227"/>
            </a:solidFill>
            <a:prstDash val="solid"/>
          </a:ln>
        </p:spPr>
        <p:txBody>
          <a:bodyPr/>
          <a:p/>
        </p:txBody>
      </p:sp>
      <p:sp>
        <p:nvSpPr>
          <p:cNvPr id="10" name="Text 7"/>
          <p:cNvSpPr/>
          <p:nvPr/>
        </p:nvSpPr>
        <p:spPr>
          <a:xfrm>
            <a:off x="749808" y="1508760"/>
            <a:ext cx="10698480" cy="1920240"/>
          </a:xfrm>
          <a:prstGeom prst="rect">
            <a:avLst/>
          </a:prstGeom>
          <a:noFill/>
          <a:ln/>
        </p:spPr>
        <p:txBody>
          <a:bodyPr wrap="square" lIns="0" tIns="0" rIns="0" bIns="0" rtlCol="0" anchor="ctr"/>
          <a:lstStyle/>
          <a:p>
            <a:pPr indent="0" marL="0">
              <a:buNone/>
            </a:pPr>
            <a:r>
              <a:rPr lang="en-US" sz="1500" b="1" dirty="0">
                <a:solidFill>
                  <a:srgbClr val="8A6510"/>
                </a:solidFill>
                <a:latin typeface="Calibri" pitchFamily="34" charset="0"/>
                <a:ea typeface="Calibri" pitchFamily="34" charset="-122"/>
                <a:cs typeface="Calibri" pitchFamily="34" charset="-120"/>
              </a:rPr>
              <a:t>TÌNH HUỐNG (nhóm 4–5 sinh viên, 20 phút)</a:t>
            </a:r>
            <a:endParaRPr lang="en-US" sz="1500" dirty="0"/>
          </a:p>
          <a:p>
            <a:pPr indent="0" marL="0">
              <a:buNone/>
            </a:pPr>
            <a:r>
              <a:rPr lang="en-US" sz="1350" i="1" dirty="0">
                <a:solidFill>
                  <a:srgbClr val="3A2B28"/>
                </a:solidFill>
                <a:latin typeface="Calibri" pitchFamily="34" charset="0"/>
                <a:ea typeface="Calibri" pitchFamily="34" charset="-122"/>
                <a:cs typeface="Calibri" pitchFamily="34" charset="-120"/>
              </a:rPr>
              <a:t>Tiếp nối thương vụ mua 20 máy tính đã đàm phán ở Chương 4: Phòng Hành chính Công ty X phải hoàn tất toàn bộ hồ sơ giấy tờ cho thương vụ, từ lúc đề xuất mua đến khi thanh toán xong.</a:t>
            </a:r>
            <a:endParaRPr lang="en-US" sz="1500" dirty="0"/>
          </a:p>
        </p:txBody>
      </p:sp>
      <p:sp>
        <p:nvSpPr>
          <p:cNvPr id="11" name="Text 8"/>
          <p:cNvSpPr/>
          <p:nvPr/>
        </p:nvSpPr>
        <p:spPr>
          <a:xfrm>
            <a:off x="502920" y="3749040"/>
            <a:ext cx="11201400" cy="320040"/>
          </a:xfrm>
          <a:prstGeom prst="rect">
            <a:avLst/>
          </a:prstGeom>
          <a:noFill/>
          <a:ln/>
        </p:spPr>
        <p:txBody>
          <a:bodyPr wrap="square" lIns="0" tIns="0" rIns="0" bIns="0" rtlCol="0" anchor="ctr"/>
          <a:lstStyle/>
          <a:p>
            <a:pPr indent="0" marL="0">
              <a:buNone/>
            </a:pPr>
            <a:r>
              <a:rPr lang="en-US" sz="1300" b="1" spc="100" kern="0" dirty="0">
                <a:solidFill>
                  <a:srgbClr val="AC4D33"/>
                </a:solidFill>
                <a:latin typeface="Calibri" pitchFamily="34" charset="0"/>
                <a:ea typeface="Calibri" pitchFamily="34" charset="-122"/>
                <a:cs typeface="Calibri" pitchFamily="34" charset="-120"/>
              </a:rPr>
              <a:t>NHIỆM VỤ CỦA NHÓM</a:t>
            </a:r>
            <a:endParaRPr lang="en-US" sz="1300" dirty="0"/>
          </a:p>
        </p:txBody>
      </p:sp>
      <p:sp>
        <p:nvSpPr>
          <p:cNvPr id="12" name="Shape 9"/>
          <p:cNvSpPr/>
          <p:nvPr/>
        </p:nvSpPr>
        <p:spPr>
          <a:xfrm>
            <a:off x="502920" y="4178808"/>
            <a:ext cx="384048" cy="384048"/>
          </a:xfrm>
          <a:prstGeom prst="ellipse">
            <a:avLst/>
          </a:prstGeom>
          <a:solidFill>
            <a:srgbClr val="DC756A"/>
          </a:solidFill>
          <a:ln/>
        </p:spPr>
        <p:txBody>
          <a:bodyPr/>
          <a:p/>
        </p:txBody>
      </p:sp>
      <p:sp>
        <p:nvSpPr>
          <p:cNvPr id="13" name="Text 10"/>
          <p:cNvSpPr/>
          <p:nvPr/>
        </p:nvSpPr>
        <p:spPr>
          <a:xfrm>
            <a:off x="502920" y="4178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1"/>
          <p:cNvSpPr/>
          <p:nvPr/>
        </p:nvSpPr>
        <p:spPr>
          <a:xfrm>
            <a:off x="1051560" y="41056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Liệt kê đầy đủ chuỗi văn bản cần soạn theo đúng trình tự thời gian và cho biết ai ký từng văn bản.</a:t>
            </a:r>
            <a:endParaRPr lang="en-US" sz="1400" dirty="0"/>
          </a:p>
        </p:txBody>
      </p:sp>
      <p:sp>
        <p:nvSpPr>
          <p:cNvPr id="15" name="Shape 12"/>
          <p:cNvSpPr/>
          <p:nvPr/>
        </p:nvSpPr>
        <p:spPr>
          <a:xfrm>
            <a:off x="502920" y="4864608"/>
            <a:ext cx="384048" cy="384048"/>
          </a:xfrm>
          <a:prstGeom prst="ellipse">
            <a:avLst/>
          </a:prstGeom>
          <a:solidFill>
            <a:srgbClr val="DC756A"/>
          </a:solidFill>
          <a:ln/>
        </p:spPr>
        <p:txBody>
          <a:bodyPr/>
          <a:p/>
        </p:txBody>
      </p:sp>
      <p:sp>
        <p:nvSpPr>
          <p:cNvPr id="16" name="Text 13"/>
          <p:cNvSpPr/>
          <p:nvPr/>
        </p:nvSpPr>
        <p:spPr>
          <a:xfrm>
            <a:off x="502920" y="4864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p:nvPr/>
        </p:nvSpPr>
        <p:spPr>
          <a:xfrm>
            <a:off x="1051560" y="47914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Chọn một văn bản trong chuỗi, phác thảo bố cục đầy đủ 9 thành phần thể thức lên giấy A4.</a:t>
            </a:r>
            <a:endParaRPr lang="en-US" sz="1400" dirty="0"/>
          </a:p>
        </p:txBody>
      </p:sp>
      <p:sp>
        <p:nvSpPr>
          <p:cNvPr id="18" name="Shape 15"/>
          <p:cNvSpPr/>
          <p:nvPr/>
        </p:nvSpPr>
        <p:spPr>
          <a:xfrm>
            <a:off x="502920" y="5550408"/>
            <a:ext cx="384048" cy="384048"/>
          </a:xfrm>
          <a:prstGeom prst="ellipse">
            <a:avLst/>
          </a:prstGeom>
          <a:solidFill>
            <a:srgbClr val="DC756A"/>
          </a:solidFill>
          <a:ln/>
        </p:spPr>
        <p:txBody>
          <a:bodyPr/>
          <a:p/>
        </p:txBody>
      </p:sp>
      <p:sp>
        <p:nvSpPr>
          <p:cNvPr id="19" name="Text 16"/>
          <p:cNvSpPr/>
          <p:nvPr/>
        </p:nvSpPr>
        <p:spPr>
          <a:xfrm>
            <a:off x="502920" y="5550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1051560" y="54772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Chỉ ra 3 lỗi thể thức thường gặp nhất mà nhóm dự đoán sinh viên hay mắc phải khi soạn văn bản này.</a:t>
            </a:r>
            <a:endParaRPr lang="en-US" sz="1400" dirty="0"/>
          </a:p>
        </p:txBody>
      </p:sp>
      <p:pic>
        <p:nvPicPr>
          <p:cNvPr id="21" name="Picture 20" descr="co-huong-tron.png"/>
          <p:cNvPicPr>
            <a:picLocks noChangeAspect="1"/>
          </p:cNvPicPr>
          <p:nvPr/>
        </p:nvPicPr>
        <p:blipFill>
          <a:blip r:embed="rId4"/>
          <a:stretch>
            <a:fillRect/>
          </a:stretch>
        </p:blipFill>
        <p:spPr>
          <a:xfrm>
            <a:off x="10378440" y="384048"/>
            <a:ext cx="960120" cy="9601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TỔNG KẾT</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Những điều cần nhớ</a:t>
            </a:r>
            <a:endParaRPr lang="en-US" sz="2700" dirty="0"/>
          </a:p>
        </p:txBody>
      </p:sp>
      <p:sp>
        <p:nvSpPr>
          <p:cNvPr id="9" name="Shape 6"/>
          <p:cNvSpPr/>
          <p:nvPr/>
        </p:nvSpPr>
        <p:spPr>
          <a:xfrm>
            <a:off x="502920" y="1463040"/>
            <a:ext cx="11201400" cy="1475232"/>
          </a:xfrm>
          <a:prstGeom prst="roundRect">
            <a:avLst>
              <a:gd name="adj" fmla="val 5579"/>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3655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Thể thức là “giấy thông hành” của văn bản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Nội dung hay đến đâu mà sai thể thức thì văn bản vẫn bị trả lại — thuộc 9 thành phần và các con số trình bày.</a:t>
            </a:r>
            <a:endParaRPr lang="en-US" sz="1500" dirty="0"/>
          </a:p>
        </p:txBody>
      </p:sp>
      <p:sp>
        <p:nvSpPr>
          <p:cNvPr id="11" name="Shape 8"/>
          <p:cNvSpPr/>
          <p:nvPr/>
        </p:nvSpPr>
        <p:spPr>
          <a:xfrm>
            <a:off x="502920" y="3102864"/>
            <a:ext cx="11201400" cy="1475232"/>
          </a:xfrm>
          <a:prstGeom prst="roundRect">
            <a:avLst>
              <a:gd name="adj" fmla="val 5579"/>
            </a:avLst>
          </a:prstGeom>
          <a:solidFill>
            <a:srgbClr val="FDF1EF"/>
          </a:solidFill>
          <a:ln w="15875">
            <a:solidFill>
              <a:srgbClr val="FBCEC9"/>
            </a:solidFill>
            <a:prstDash val="solid"/>
          </a:ln>
        </p:spPr>
        <p:txBody>
          <a:bodyPr/>
          <a:p/>
        </p:txBody>
      </p:sp>
      <p:sp>
        <p:nvSpPr>
          <p:cNvPr id="12" name="Text 9"/>
          <p:cNvSpPr/>
          <p:nvPr/>
        </p:nvSpPr>
        <p:spPr>
          <a:xfrm>
            <a:off x="722376" y="3157728"/>
            <a:ext cx="10762488" cy="13655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Mỗi loại văn bản có một bố cục riêng</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Quyết định theo Điều; tờ trình 3 phần; công văn không tên loại; biên bản lập tại chỗ; báo cáo theo mạch 4 phần.</a:t>
            </a:r>
            <a:endParaRPr lang="en-US" sz="1500" dirty="0"/>
          </a:p>
        </p:txBody>
      </p:sp>
      <p:sp>
        <p:nvSpPr>
          <p:cNvPr id="13" name="Shape 10"/>
          <p:cNvSpPr/>
          <p:nvPr/>
        </p:nvSpPr>
        <p:spPr>
          <a:xfrm>
            <a:off x="502920" y="4742688"/>
            <a:ext cx="11201400" cy="1475232"/>
          </a:xfrm>
          <a:prstGeom prst="roundRect">
            <a:avLst>
              <a:gd name="adj" fmla="val 5579"/>
            </a:avLst>
          </a:prstGeom>
          <a:solidFill>
            <a:srgbClr val="FDF1EF"/>
          </a:solidFill>
          <a:ln w="15875">
            <a:solidFill>
              <a:srgbClr val="FBCEC9"/>
            </a:solidFill>
            <a:prstDash val="solid"/>
          </a:ln>
        </p:spPr>
        <p:txBody>
          <a:bodyPr/>
          <a:p/>
        </p:txBody>
      </p:sp>
      <p:sp>
        <p:nvSpPr>
          <p:cNvPr id="14" name="Text 11"/>
          <p:cNvSpPr/>
          <p:nvPr/>
        </p:nvSpPr>
        <p:spPr>
          <a:xfrm>
            <a:off x="722376" y="4797552"/>
            <a:ext cx="10762488" cy="13655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Văn bản thương mại giữ uy tín doanh nghiệp</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Thư tín đạt 5C, báo giá có hiệu lực rõ, hợp đồng đủ điều khoản — bộ ba hợp đồng, nghiệm thu, thanh lý khép kín thương vụ.</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ÔN TẬP &amp; CHUẨN BỊ</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Câu hỏi ôn tập</a:t>
            </a:r>
            <a:endParaRPr lang="en-US" sz="2700" dirty="0"/>
          </a:p>
        </p:txBody>
      </p:sp>
      <p:sp>
        <p:nvSpPr>
          <p:cNvPr id="9" name="Shape 6"/>
          <p:cNvSpPr/>
          <p:nvPr/>
        </p:nvSpPr>
        <p:spPr>
          <a:xfrm>
            <a:off x="502920" y="1572768"/>
            <a:ext cx="384048" cy="384048"/>
          </a:xfrm>
          <a:prstGeom prst="ellipse">
            <a:avLst/>
          </a:prstGeom>
          <a:solidFill>
            <a:srgbClr val="DC756A"/>
          </a:solidFill>
          <a:ln/>
        </p:spPr>
        <p:txBody>
          <a:bodyPr/>
          <a:p/>
        </p:txBody>
      </p:sp>
      <p:sp>
        <p:nvSpPr>
          <p:cNvPr id="10" name="Text 7"/>
          <p:cNvSpPr/>
          <p:nvPr/>
        </p:nvSpPr>
        <p:spPr>
          <a:xfrm>
            <a:off x="50292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49961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Trình bày khái niệm văn bản và các nhóm văn bản trong tổ chức.</a:t>
            </a:r>
            <a:endParaRPr lang="en-US" sz="1400" dirty="0"/>
          </a:p>
        </p:txBody>
      </p:sp>
      <p:sp>
        <p:nvSpPr>
          <p:cNvPr id="12" name="Shape 9"/>
          <p:cNvSpPr/>
          <p:nvPr/>
        </p:nvSpPr>
        <p:spPr>
          <a:xfrm>
            <a:off x="502920" y="2395728"/>
            <a:ext cx="384048" cy="384048"/>
          </a:xfrm>
          <a:prstGeom prst="ellipse">
            <a:avLst/>
          </a:prstGeom>
          <a:solidFill>
            <a:srgbClr val="DC756A"/>
          </a:solidFill>
          <a:ln/>
        </p:spPr>
        <p:txBody>
          <a:bodyPr/>
          <a:p/>
        </p:txBody>
      </p:sp>
      <p:sp>
        <p:nvSpPr>
          <p:cNvPr id="13" name="Text 10"/>
          <p:cNvSpPr/>
          <p:nvPr/>
        </p:nvSpPr>
        <p:spPr>
          <a:xfrm>
            <a:off x="502920"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32257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Nêu 9 thành phần thể thức văn bản hành chính và các quy định về lề trang, phông chữ.</a:t>
            </a:r>
            <a:endParaRPr lang="en-US" sz="1400" dirty="0"/>
          </a:p>
        </p:txBody>
      </p:sp>
      <p:sp>
        <p:nvSpPr>
          <p:cNvPr id="15" name="Shape 12"/>
          <p:cNvSpPr/>
          <p:nvPr/>
        </p:nvSpPr>
        <p:spPr>
          <a:xfrm>
            <a:off x="502920" y="3218688"/>
            <a:ext cx="384048" cy="384048"/>
          </a:xfrm>
          <a:prstGeom prst="ellipse">
            <a:avLst/>
          </a:prstGeom>
          <a:solidFill>
            <a:srgbClr val="DC756A"/>
          </a:solidFill>
          <a:ln/>
        </p:spPr>
        <p:txBody>
          <a:bodyPr/>
          <a:p/>
        </p:txBody>
      </p:sp>
      <p:sp>
        <p:nvSpPr>
          <p:cNvPr id="16" name="Text 13"/>
          <p:cNvSpPr/>
          <p:nvPr/>
        </p:nvSpPr>
        <p:spPr>
          <a:xfrm>
            <a:off x="502920" y="3218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14553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So sánh bố cục của quyết định, tờ trình và công văn.</a:t>
            </a:r>
            <a:endParaRPr lang="en-US" sz="1400" dirty="0"/>
          </a:p>
        </p:txBody>
      </p:sp>
      <p:sp>
        <p:nvSpPr>
          <p:cNvPr id="18" name="Shape 15"/>
          <p:cNvSpPr/>
          <p:nvPr/>
        </p:nvSpPr>
        <p:spPr>
          <a:xfrm>
            <a:off x="502920" y="4041648"/>
            <a:ext cx="384048" cy="384048"/>
          </a:xfrm>
          <a:prstGeom prst="ellipse">
            <a:avLst/>
          </a:prstGeom>
          <a:solidFill>
            <a:srgbClr val="DC756A"/>
          </a:solidFill>
          <a:ln/>
        </p:spPr>
        <p:txBody>
          <a:bodyPr/>
          <a:p/>
        </p:txBody>
      </p:sp>
      <p:sp>
        <p:nvSpPr>
          <p:cNvPr id="19" name="Text 16"/>
          <p:cNvSpPr/>
          <p:nvPr/>
        </p:nvSpPr>
        <p:spPr>
          <a:xfrm>
            <a:off x="502920" y="4041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396849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Nêu nguyên tắc 5C và các điều khoản cơ bản của hợp đồng thương mại.</a:t>
            </a:r>
            <a:endParaRPr lang="en-US" sz="1400" dirty="0"/>
          </a:p>
        </p:txBody>
      </p:sp>
      <p:sp>
        <p:nvSpPr>
          <p:cNvPr id="21" name="Shape 18"/>
          <p:cNvSpPr/>
          <p:nvPr/>
        </p:nvSpPr>
        <p:spPr>
          <a:xfrm>
            <a:off x="502920" y="5074920"/>
            <a:ext cx="11201400" cy="1097280"/>
          </a:xfrm>
          <a:prstGeom prst="roundRect">
            <a:avLst>
              <a:gd name="adj" fmla="val 7500"/>
            </a:avLst>
          </a:prstGeom>
          <a:solidFill>
            <a:srgbClr val="FBEDE0"/>
          </a:solidFill>
          <a:ln w="12700">
            <a:solidFill>
              <a:srgbClr val="C9A227"/>
            </a:solidFill>
            <a:prstDash val="solid"/>
          </a:ln>
        </p:spPr>
        <p:txBody>
          <a:bodyPr/>
          <a:p/>
        </p:txBody>
      </p:sp>
      <p:sp>
        <p:nvSpPr>
          <p:cNvPr id="22" name="Text 19"/>
          <p:cNvSpPr/>
          <p:nvPr/>
        </p:nvSpPr>
        <p:spPr>
          <a:xfrm>
            <a:off x="777240" y="5120640"/>
            <a:ext cx="10698480" cy="1005840"/>
          </a:xfrm>
          <a:prstGeom prst="rect">
            <a:avLst/>
          </a:prstGeom>
          <a:noFill/>
          <a:ln/>
        </p:spPr>
        <p:txBody>
          <a:bodyPr wrap="square" lIns="0" tIns="0" rIns="0" bIns="0" rtlCol="0" anchor="ctr"/>
          <a:lstStyle/>
          <a:p>
            <a:pPr indent="0" marL="0">
              <a:buNone/>
            </a:pPr>
            <a:r>
              <a:rPr lang="en-US" sz="1300" b="1" dirty="0">
                <a:solidFill>
                  <a:srgbClr val="8A6510"/>
                </a:solidFill>
                <a:latin typeface="Calibri" pitchFamily="34" charset="0"/>
                <a:ea typeface="Calibri" pitchFamily="34" charset="-122"/>
                <a:cs typeface="Calibri" pitchFamily="34" charset="-120"/>
              </a:rPr>
              <a:t>CHUẨN BỊ CHO BUỔI SAU:  </a:t>
            </a:r>
            <a:pPr indent="0" marL="0">
              <a:buNone/>
            </a:pPr>
            <a:r>
              <a:rPr lang="en-US" sz="1300" dirty="0">
                <a:solidFill>
                  <a:srgbClr val="3A2B28"/>
                </a:solidFill>
                <a:latin typeface="Calibri" pitchFamily="34" charset="0"/>
                <a:ea typeface="Calibri" pitchFamily="34" charset="-122"/>
                <a:cs typeface="Calibri" pitchFamily="34" charset="-120"/>
              </a:rPr>
              <a:t>Phần thực hành tại phòng A0105 — Bài 1: Thể thức văn bản. Mang theo laptop, cài sẵn Microsoft Word và tải Nghị định 30/2020/NĐ-CP.</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17</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TÀI LIỆU</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Tài liệu học tập</a:t>
            </a:r>
            <a:endParaRPr lang="en-US" sz="2700" dirty="0"/>
          </a:p>
        </p:txBody>
      </p:sp>
      <p:sp>
        <p:nvSpPr>
          <p:cNvPr id="9" name="Shape 6"/>
          <p:cNvSpPr/>
          <p:nvPr/>
        </p:nvSpPr>
        <p:spPr>
          <a:xfrm>
            <a:off x="502920" y="1463040"/>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Giáo trình chính</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Hà Nam Khánh Giao (2023), Giáo trình Giao tiếp kinh doanh, NXB Tài chính.</a:t>
            </a:r>
            <a:endParaRPr lang="en-US" sz="1500" dirty="0"/>
          </a:p>
        </p:txBody>
      </p:sp>
      <p:sp>
        <p:nvSpPr>
          <p:cNvPr id="11" name="Shape 8"/>
          <p:cNvSpPr/>
          <p:nvPr/>
        </p:nvSpPr>
        <p:spPr>
          <a:xfrm>
            <a:off x="502920" y="2950464"/>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2" name="Text 9"/>
          <p:cNvSpPr/>
          <p:nvPr/>
        </p:nvSpPr>
        <p:spPr>
          <a:xfrm>
            <a:off x="722376" y="3005328"/>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Văn bản pháp lý bắt buộc</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Nghị định 30/2020/NĐ-CP ngày 05/3/2020 của Chính phủ về công tác văn thư — hướng dẫn thể thức và kỹ thuật trình bày văn bản hành chính.</a:t>
            </a:r>
            <a:endParaRPr lang="en-US" sz="1500" dirty="0"/>
          </a:p>
        </p:txBody>
      </p:sp>
      <p:sp>
        <p:nvSpPr>
          <p:cNvPr id="13" name="Shape 10"/>
          <p:cNvSpPr/>
          <p:nvPr/>
        </p:nvSpPr>
        <p:spPr>
          <a:xfrm>
            <a:off x="502920" y="4437888"/>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4" name="Text 11"/>
          <p:cNvSpPr/>
          <p:nvPr/>
        </p:nvSpPr>
        <p:spPr>
          <a:xfrm>
            <a:off x="722376" y="4492752"/>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Học liệu của giảng viên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Slide, biểu mẫu văn bản, tình huống và bài tập do GV. Đỗ Thùy Hương biên soạn; cung cấp sau mỗi buổi học.</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Je m’appelle Huong — Lecturer and Researcher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Đỗ Thùy Hương</dc:creator>
  <cp:lastModifiedBy>Đỗ Thùy Hương</cp:lastModifiedBy>
  <cp:revision>1</cp:revision>
  <dcterms:created xsi:type="dcterms:W3CDTF">2026-08-23T10:31:57Z</dcterms:created>
  <dcterms:modified xsi:type="dcterms:W3CDTF">2026-08-23T10:31:57Z</dcterms:modified>
</cp:coreProperties>
</file>