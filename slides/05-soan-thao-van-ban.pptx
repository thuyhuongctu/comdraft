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73" r:id="rId24"/>
    <p:sldId id="275" r:id="rId26"/>
    <p:sldId id="264" r:id="rId10"/>
    <p:sldId id="265" r:id="rId11"/>
    <p:sldId id="266" r:id="rId12"/>
    <p:sldId id="276" r:id="rId27"/>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 — nhấn: chương này gắn liền 3 buổi thực hành ở phòng máy.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 — 4 mục: khái niệm, thể thức, hành chính, thương mại.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KHÁI NIỆM (3 phút)</a:t>
            </a:r>
          </a:p>
          <a:p>
            <a:r>
              <a:t>• Đọc chậm định nghĩa của NĐ 30/2020 — đây là câu SẼ RA THI.</a:t>
            </a:r>
          </a:p>
          <a:p>
            <a:r>
              <a:t>• Nhấn cụm "TRÌNH BÀY ĐÚNG THỂ THỨC, KỸ THUẬT THEO QUY ĐỊNH": nội dung hay mà sai thể thức thì vẫn bị trả lại.</a:t>
            </a:r>
          </a:p>
          <a:p>
            <a:r>
              <a:t>• Vai trò: nhấn "căn cứ pháp lý" — cho ví dụ tranh chấp hợp đồng ra tòa, cái tòa xem là VĂN BẢN.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LOẠI (3 phút)</a:t>
            </a:r>
          </a:p>
          <a:p>
            <a:r>
              <a:t>• 4 nhóm — vẽ sơ đồ cây lên bảng.</a:t>
            </a:r>
          </a:p>
          <a:p>
            <a:r>
              <a:t>• Nhấn: doanh nghiệp KHÔNG ban hành văn bản quy phạm pháp luật, nhưng phải tuân thủ.</a:t>
            </a:r>
          </a:p>
          <a:p>
            <a:r>
              <a:t>• Con số phải nhớ: 29 LOẠI văn bản hành chính theo NĐ 30/2020.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YÊU CẦU NỘI DUNG (3 phút)</a:t>
            </a:r>
          </a:p>
          <a:p>
            <a:r>
              <a:t>• Đi 4 yêu cầu, mỗi yêu cầu một ví dụ lỗi thực tế.</a:t>
            </a:r>
          </a:p>
          <a:p>
            <a:r>
              <a:t>• Nhấn yêu cầu 2: "Một con số sai trong văn bản có thể tạo hậu quả pháp lý rất lớn" — ví dụ ghi nhầm đơn giá trong hợp đồng.</a:t>
            </a:r>
          </a:p>
          <a:p>
            <a:r>
              <a:t>• Yêu cầu 4: đọc vài câu KHẨU NGỮ sai chuẩn cho lớp nhận diện ("mong anh chị thông cảm giúp em nha").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SƠ ĐỒ THỂ THỨC (5 phút) — SLIDE QUAN TRỌNG NHẤT HỌC PHẦN</a:t>
            </a:r>
          </a:p>
          <a:p>
            <a:r>
              <a:t>• Yêu cầu cả lớp CHỤP LẠI SLIDE NÀY.</a:t>
            </a:r>
          </a:p>
          <a:p>
            <a:r>
              <a:t>• Chỉ từng số trên sơ đồ theo thứ tự 1 → 9, mỗi thành phần nói vị trí + một lưu ý.</a:t>
            </a:r>
          </a:p>
          <a:p>
            <a:r>
              <a:t>• Nhấn thành phần 5: CÔNG VĂN KHÔNG CÓ TÊN LOẠI, trích yếu bắt đầu bằng "V/v".</a:t>
            </a:r>
          </a:p>
          <a:p>
            <a:r>
              <a:t>• Nhấn thành phần 9: nơi nhận LUÔN có dòng cuối "Lưu: VT".</a:t>
            </a:r>
          </a:p>
          <a:p>
            <a:r>
              <a:t>• Nói rõ: 3 buổi thực hành sắp tới đều chấm theo sơ đồ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CÁC CON SỐ (3 phút)</a:t>
            </a:r>
          </a:p>
          <a:p>
            <a:r>
              <a:t>• Đọc chậm từng con số, cho sinh viên ghi vào vở.</a:t>
            </a:r>
          </a:p>
          <a:p>
            <a:r>
              <a:t>• Mẹo nhớ LỀ TRÁI 30–35mm: rộng nhất vì để ĐÓNG GÁY LƯU TRỮ.</a:t>
            </a:r>
          </a:p>
          <a:p>
            <a:r>
              <a:t>• Nhấn: Times New Roman, Unicode, cỡ 13–14. Không dùng Arial, không dùng TCVN3.</a:t>
            </a:r>
          </a:p>
          <a:p>
            <a:r>
              <a:t>• Số trang: TỪ TRANG THỨ HAI, canh giữa LỀ TRÊN (nhiều bạn hay đặt ở dưới — sai).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CHUỖI VĂN BẢN (3 phút)</a:t>
            </a:r>
          </a:p>
          <a:p>
            <a:r>
              <a:t>• Chỉ vào sơ đồ chuỗi: từ tờ trình → quyết định → công văn → hợp đồng → nghiệm thu → thanh lý.</a:t>
            </a:r>
          </a:p>
          <a:p>
            <a:r>
              <a:t>• Nói rõ: bài thực hành số 2 làm phần đầu chuỗi, bài số 3 làm phần sau.</a:t>
            </a:r>
          </a:p>
          <a:p>
            <a:r>
              <a:t>• Hỏi lớp: "Nếu bỏ qua biên bản nghiệm thu thì rủi ro gì?" (không có căn cứ thanh toán).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QUYẾT ĐỊNH – TỜ TRÌNH (4 phút)</a:t>
            </a:r>
          </a:p>
          <a:p>
            <a:r>
              <a:t>• Quyết định: phần CĂN CỨ + phần các ĐIỀU. Điều cuối GHI HIỆU LỰC.</a:t>
            </a:r>
          </a:p>
          <a:p>
            <a:r>
              <a:t>• Lỗi hay gặp: dùng từ "đề nghị" trong quyết định — sai, phải dùng NGÔN NGỮ MỆNH LỆNH.</a:t>
            </a:r>
          </a:p>
          <a:p>
            <a:r>
              <a:t>• Tờ trình 3 phần: lý do → phương án → kiến nghị.</a:t>
            </a:r>
          </a:p>
          <a:p>
            <a:r>
              <a:t>• Nhấn: tờ trình phải có SỐ LIỆU và DỰ TOÁN, nếu không cấp trên không có cơ sở duyệt.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CÔNG VĂN – BIÊN BẢN – BÁO CÁO (4 phút)</a:t>
            </a:r>
          </a:p>
          <a:p>
            <a:r>
              <a:t>• Công văn: nhắc lại KHÔNG CÓ TÊN LOẠI; mỗi công văn MỘT CHỦ ĐỀ; kết thúc "Trân trọng./."</a:t>
            </a:r>
          </a:p>
          <a:p>
            <a:r>
              <a:t>• Biên bản: LẬP NGAY TẠI CHỖ; chữ ký các bên tạo GIÁ TRỊ PHÁP LÝ; người ghi KHÔNG thêm nhận xét chủ quan.</a:t>
            </a:r>
          </a:p>
          <a:p>
            <a:r>
              <a:t>• Báo cáo: mạch 4 phần. Nhấn: phải nêu cả HẠN CHẾ, đừng chỉ kể thành tích.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THƯ TÍN – BÁO GIÁ (4 phút)</a:t>
            </a:r>
          </a:p>
          <a:p>
            <a:r>
              <a:t>• Nguyên tắc 5C: viết 5 chữ C lên bảng, giải nghĩa từng chữ bằng tiếng Việt.</a:t>
            </a:r>
          </a:p>
          <a:p>
            <a:r>
              <a:t>• Email: tiêu đề rõ, chữ ký đầy đủ, PHẢN HỒI TRONG 24 GIỜ.</a:t>
            </a:r>
          </a:p>
          <a:p>
            <a:r>
              <a:t>• Báo giá: nhấn mạnh THỜI HẠN HIỆU LỰC. Hỏi lớp vì sao cần — vì giá thị trường biến động, tránh bị ràng buộc giá cũ.</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BA VĂN BẢN (4 phút)</a:t>
            </a:r>
          </a:p>
          <a:p>
            <a:r>
              <a:t>• Căn cứ pháp lý: Bộ luật Dân sự 2015 và Luật Thương mại 2005.</a:t>
            </a:r>
          </a:p>
          <a:p>
            <a:r>
              <a:t>• Điểm qua 5 điều khoản chính, nhấn PHẠT VI PHẠM và GIẢI QUYẾT TRANH CHẤP — hai điều sinh viên hay quên.</a:t>
            </a:r>
          </a:p>
          <a:p>
            <a:r>
              <a:t>• Nghiệm thu = căn cứ THANH TOÁN. Thanh lý = CHẤM DỨT hiệu lực và quyết toán.</a:t>
            </a:r>
          </a:p>
          <a:p>
            <a:r>
              <a:t>• Câu chốt: "Đủ bộ ba này thì hồ sơ thương vụ mới trọn vẹn về pháp lý."''</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NHÓM (20 phút)</a:t>
            </a:r>
          </a:p>
          <a:p>
            <a:r>
              <a:t>• Nối tiếp thương vụ đã đàm phán ở Chương 4 — nhắc lại tình huống 1 câu.</a:t>
            </a:r>
          </a:p>
          <a:p>
            <a:r>
              <a:t>• Nhóm 4–5 bạn, 15 phút làm, 5 phút trình bày.</a:t>
            </a:r>
          </a:p>
          <a:p>
            <a:r>
              <a:t>• Yêu cầu nhóm VẼ chuỗi văn bản lên giấy A3 kèm người ký từng văn bản.</a:t>
            </a:r>
          </a:p>
          <a:p>
            <a:r>
              <a:t>• Cô chốt bằng cách so sánh với sơ đồ chuẩn trên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3 điều, gọi sinh viên nhắc lại 9 thành phần thể thức.</a:t>
            </a:r>
          </a:p>
          <a:p>
            <a:r>
              <a:t>• Dặn kỹ chuẩn bị buổi thực hành: MANG LAPTOP, cài Word, tải NĐ 30/2020.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tự làm; nhấn câu về 9 thành phần thể thức sẽ có trong đề thi.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mở học liệu số để xem văn bản mẫu trước buổi thực hành.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CON SỐ (2 phút)</a:t>
            </a:r>
          </a:p>
          <a:p>
            <a:r>
              <a:t>• Đây là slide sinh viên phải THUỘC LÒNG — sẽ ra thi và dùng suốt 3 buổi thực hành.</a:t>
            </a:r>
          </a:p>
          <a:p>
            <a:r>
              <a:t>• Đọc chậm từng con số, yêu cầu cả lớp ghi vào vở.</a:t>
            </a:r>
          </a:p>
          <a:p>
            <a:r>
              <a:t>• Mẹo nhớ lề trái rộng nhất: để ĐÓNG GÁY.</a:t>
            </a:r>
          </a:p>
          <a:p>
            <a:r>
              <a:t>• Kiểm tra ngay: gọi 2 sinh viên nhắc lại không nhìn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2 làm đúng năm loại này.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3 làm đúng bộ hồ sơ này.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assets/logo_tron.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assets/logo_nga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5</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Soạn thảo và</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trình bày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Từ lời nói sang chữ viết: biến mọi thỏa thuận thành văn bản đúng chuẩn, có giá trị pháp lý.</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Kỹ năng giao tiếp và soạn thảo văn bản (2:1)  •  Lớp 261b, HK1 năm học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bài học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khái niệm văn bản và phân biệt được các nhóm văn bản trong tổ chức.</a:t>
            </a:r>
            <a:endParaRPr lang="en-US" sz="1400" dirty="0"/>
          </a:p>
        </p:txBody>
      </p:sp>
      <p:sp>
        <p:nvSpPr>
          <p:cNvPr id="12" name="Shape 9"/>
          <p:cNvSpPr/>
          <p:nvPr/>
        </p:nvSpPr>
        <p:spPr>
          <a:xfrm>
            <a:off x="502920" y="2750058"/>
            <a:ext cx="384048" cy="384048"/>
          </a:xfrm>
          <a:prstGeom prst="ellipse">
            <a:avLst/>
          </a:prstGeom>
          <a:solidFill>
            <a:srgbClr val="DC756A"/>
          </a:solidFill>
          <a:ln/>
        </p:spPr>
        <p:txBody>
          <a:bodyPr/>
          <a:p/>
        </p:txBody>
      </p:sp>
      <p:sp>
        <p:nvSpPr>
          <p:cNvPr id="13" name="Text 10"/>
          <p:cNvSpPr/>
          <p:nvPr/>
        </p:nvSpPr>
        <p:spPr>
          <a:xfrm>
            <a:off x="502920" y="27500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67690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Áp dụng  —  </a:t>
            </a:r>
            <a:pPr indent="0" marL="0">
              <a:buNone/>
            </a:pPr>
            <a:r>
              <a:rPr lang="en-US" sz="1350" dirty="0">
                <a:solidFill>
                  <a:srgbClr val="3A2B28"/>
                </a:solidFill>
                <a:latin typeface="Calibri" pitchFamily="34" charset="0"/>
                <a:ea typeface="Calibri" pitchFamily="34" charset="-122"/>
                <a:cs typeface="Calibri" pitchFamily="34" charset="-120"/>
              </a:rPr>
              <a:t>yêu cầu về nội dung và 9 thành phần thể thức theo Nghị định 30/2020/NĐ-CP.</a:t>
            </a:r>
            <a:endParaRPr lang="en-US" sz="1400" dirty="0"/>
          </a:p>
        </p:txBody>
      </p:sp>
      <p:sp>
        <p:nvSpPr>
          <p:cNvPr id="15" name="Shape 12"/>
          <p:cNvSpPr/>
          <p:nvPr/>
        </p:nvSpPr>
        <p:spPr>
          <a:xfrm>
            <a:off x="502920" y="3881628"/>
            <a:ext cx="384048" cy="384048"/>
          </a:xfrm>
          <a:prstGeom prst="ellipse">
            <a:avLst/>
          </a:prstGeom>
          <a:solidFill>
            <a:srgbClr val="DC756A"/>
          </a:solidFill>
          <a:ln/>
        </p:spPr>
        <p:txBody>
          <a:bodyPr/>
          <a:p/>
        </p:txBody>
      </p:sp>
      <p:sp>
        <p:nvSpPr>
          <p:cNvPr id="16" name="Text 13"/>
          <p:cNvSpPr/>
          <p:nvPr/>
        </p:nvSpPr>
        <p:spPr>
          <a:xfrm>
            <a:off x="502920" y="3881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80847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quyết định, tờ trình, công văn, biên bản, báo cáo đúng bố cục.</a:t>
            </a:r>
            <a:endParaRPr lang="en-US" sz="1400" dirty="0"/>
          </a:p>
        </p:txBody>
      </p:sp>
      <p:sp>
        <p:nvSpPr>
          <p:cNvPr id="18" name="Shape 15"/>
          <p:cNvSpPr/>
          <p:nvPr/>
        </p:nvSpPr>
        <p:spPr>
          <a:xfrm>
            <a:off x="502920" y="5013198"/>
            <a:ext cx="384048" cy="384048"/>
          </a:xfrm>
          <a:prstGeom prst="ellipse">
            <a:avLst/>
          </a:prstGeom>
          <a:solidFill>
            <a:srgbClr val="DC756A"/>
          </a:solidFill>
          <a:ln/>
        </p:spPr>
        <p:txBody>
          <a:bodyPr/>
          <a:p/>
        </p:txBody>
      </p:sp>
      <p:sp>
        <p:nvSpPr>
          <p:cNvPr id="19" name="Text 16"/>
          <p:cNvSpPr/>
          <p:nvPr/>
        </p:nvSpPr>
        <p:spPr>
          <a:xfrm>
            <a:off x="502920" y="50131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94004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thư tín thương mại, báo giá và hợp đồng phục vụ giao dịch kinh doanh.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5.1  —  </a:t>
            </a:r>
            <a:pPr indent="0" marL="0">
              <a:buNone/>
            </a:pPr>
            <a:r>
              <a:rPr lang="en-US" sz="1350" dirty="0">
                <a:solidFill>
                  <a:srgbClr val="3A2B28"/>
                </a:solidFill>
                <a:latin typeface="Calibri" pitchFamily="34" charset="0"/>
                <a:ea typeface="Calibri" pitchFamily="34" charset="-122"/>
                <a:cs typeface="Calibri" pitchFamily="34" charset="-120"/>
              </a:rPr>
              <a:t>Khái niệm và phân loại văn bản</a:t>
            </a:r>
            <a:endParaRPr lang="en-US" sz="1400" dirty="0"/>
          </a:p>
        </p:txBody>
      </p:sp>
      <p:sp>
        <p:nvSpPr>
          <p:cNvPr id="12" name="Shape 9"/>
          <p:cNvSpPr/>
          <p:nvPr/>
        </p:nvSpPr>
        <p:spPr>
          <a:xfrm>
            <a:off x="502920" y="2750058"/>
            <a:ext cx="384048" cy="384048"/>
          </a:xfrm>
          <a:prstGeom prst="ellipse">
            <a:avLst/>
          </a:prstGeom>
          <a:solidFill>
            <a:srgbClr val="DC756A"/>
          </a:solidFill>
          <a:ln/>
        </p:spPr>
        <p:txBody>
          <a:bodyPr/>
          <a:p/>
        </p:txBody>
      </p:sp>
      <p:sp>
        <p:nvSpPr>
          <p:cNvPr id="13" name="Text 10"/>
          <p:cNvSpPr/>
          <p:nvPr/>
        </p:nvSpPr>
        <p:spPr>
          <a:xfrm>
            <a:off x="502920" y="27500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67690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5.2  —  </a:t>
            </a:r>
            <a:pPr indent="0" marL="0">
              <a:buNone/>
            </a:pPr>
            <a:r>
              <a:rPr lang="en-US" sz="1350" dirty="0">
                <a:solidFill>
                  <a:srgbClr val="3A2B28"/>
                </a:solidFill>
                <a:latin typeface="Calibri" pitchFamily="34" charset="0"/>
                <a:ea typeface="Calibri" pitchFamily="34" charset="-122"/>
                <a:cs typeface="Calibri" pitchFamily="34" charset="-120"/>
              </a:rPr>
              <a:t>Các yêu cầu về nội dung và thể thức văn bản</a:t>
            </a:r>
            <a:endParaRPr lang="en-US" sz="1400" dirty="0"/>
          </a:p>
        </p:txBody>
      </p:sp>
      <p:sp>
        <p:nvSpPr>
          <p:cNvPr id="15" name="Shape 12"/>
          <p:cNvSpPr/>
          <p:nvPr/>
        </p:nvSpPr>
        <p:spPr>
          <a:xfrm>
            <a:off x="502920" y="3881628"/>
            <a:ext cx="384048" cy="384048"/>
          </a:xfrm>
          <a:prstGeom prst="ellipse">
            <a:avLst/>
          </a:prstGeom>
          <a:solidFill>
            <a:srgbClr val="DC756A"/>
          </a:solidFill>
          <a:ln/>
        </p:spPr>
        <p:txBody>
          <a:bodyPr/>
          <a:p/>
        </p:txBody>
      </p:sp>
      <p:sp>
        <p:nvSpPr>
          <p:cNvPr id="16" name="Text 13"/>
          <p:cNvSpPr/>
          <p:nvPr/>
        </p:nvSpPr>
        <p:spPr>
          <a:xfrm>
            <a:off x="502920" y="3881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80847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5.3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hành chính thông dụng</a:t>
            </a:r>
            <a:endParaRPr lang="en-US" sz="1400" dirty="0"/>
          </a:p>
        </p:txBody>
      </p:sp>
      <p:sp>
        <p:nvSpPr>
          <p:cNvPr id="18" name="Shape 15"/>
          <p:cNvSpPr/>
          <p:nvPr/>
        </p:nvSpPr>
        <p:spPr>
          <a:xfrm>
            <a:off x="502920" y="5013198"/>
            <a:ext cx="384048" cy="384048"/>
          </a:xfrm>
          <a:prstGeom prst="ellipse">
            <a:avLst/>
          </a:prstGeom>
          <a:solidFill>
            <a:srgbClr val="DC756A"/>
          </a:solidFill>
          <a:ln/>
        </p:spPr>
        <p:txBody>
          <a:bodyPr/>
          <a:p/>
        </p:txBody>
      </p:sp>
      <p:sp>
        <p:nvSpPr>
          <p:cNvPr id="19" name="Text 16"/>
          <p:cNvSpPr/>
          <p:nvPr/>
        </p:nvSpPr>
        <p:spPr>
          <a:xfrm>
            <a:off x="502920" y="50131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940046"/>
            <a:ext cx="10652760" cy="113157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5.4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thương mại</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Văn bản là gì?</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Cách hiểu chung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Văn bản là phương tiện ghi lại và truyền đạt thông tin bằng ngôn ngữ hay ký hiệu nhất định, hình thành trong hoạt động của cơ quan, tổ chức, doanh nghiệp.</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Định nghĩa pháp lý — Nghị định 30/2020/NĐ-CP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“Văn bản là thông tin thành văn được truyền đạt bằng ngôn ngữ hoặc ký hiệu, hình thành trong hoạt động của các cơ quan, tổ chức và được trình bày đúng thể thức, kỹ thuật theo quy định.”</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Vai trò</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Phương tiện quản lý – điều hành • căn cứ pháp lý cho hoạt động • lưu trữ thông tin • thể hiện hình ảnh chuyên nghiệp của tổ chức.</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Phân loại văn bản</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quy phạm pháp luật</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Chứa quy tắc xử sự chung, do cơ quan nhà nước có thẩm quyền ban hành: Luật, Nghị định, Thông tư. Doanh nghiệp không ban hành nhưng phải tuân thủ.</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hành chính</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Loại gặp nhiều nhất — 29 loại theo NĐ 30/2020: quyết định cá biệt, công văn, thông báo, báo cáo, tờ trình, biên bản…</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chuyên ngành</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Hình thành trong nghiệp vụ chuyên môn: chứng từ kế toán, hồ sơ kỹ thuật, hồ sơ mời thầu.</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Phục vụ giao dịch kinh doanh: thư tín thương mại, báo giá, đơn đặt hàng, hợp đồng — học kỹ ở mục 5.4.</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Bốn yêu cầu về nội dung</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mục đích, đúng thẩm quyền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Mỗi văn bản tập trung một chủ đề; ban hành đúng chức năng, nhiệm vụ của cơ quan, tổ chức.</a:t>
            </a:r>
            <a:endParaRPr lang="en-US" sz="145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Chính xác — khách quan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Thông tin, số liệu trung thực, có căn cứ, được kiểm chứng. Một con số sai có thể tạo hậu quả pháp lý lớn.</a:t>
            </a:r>
            <a:endParaRPr lang="en-US" sz="145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Rõ ràng — ngắn gọn — dễ hiểu</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Câu văn mạch lạc, không đa nghĩa; người nhận đọc một lần là hiểu đúng ý người soạn.</a:t>
            </a:r>
            <a:endParaRPr lang="en-US" sz="145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pháp luật, đúng ngôn ngữ hành chính</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Phù hợp quy định hiện hành; văn phong nghiêm túc, lịch sự, không dùng khẩu ngữ.</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Chín thành phần thể thức — NĐ 30/2020/NĐ-CP</a:t>
            </a:r>
            <a:endParaRPr lang="en-US" sz="2700" dirty="0"/>
          </a:p>
        </p:txBody>
      </p:sp>
      <p:pic>
        <p:nvPicPr>
          <p:cNvPr id="9" name="Picture 8" descr="c5-the-thuc-a4-nt.png"/>
          <p:cNvPicPr>
            <a:picLocks noChangeAspect="1"/>
          </p:cNvPicPr>
          <p:nvPr/>
        </p:nvPicPr>
        <p:blipFill>
          <a:blip r:embed="rId4"/>
          <a:stretch>
            <a:fillRect/>
          </a:stretch>
        </p:blipFill>
        <p:spPr>
          <a:xfrm>
            <a:off x="472287" y="1481328"/>
            <a:ext cx="11247120" cy="448154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thuật trình bày — những con số phải thuộc</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Khổ giấy và lề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Khổ A4 (210 × 297 mm). Lề trên, dưới: 20 – 25 mm • lề trái: 30 – 35 mm (để đóng gáy) • lề phải: 15 – 20 mm.</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Phông chữ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bộ mã Unicode, cỡ 13 – 14, màu đen.</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Số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Đánh từ trang thứ hai, bằng chữ số Ả Rập, canh giữa theo lề trên.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Ngôn ngữ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Tiếng Việt chuẩn mực; viết hoa, viết tắt đúng quy định; số liệu dùng chữ số Ả Rập.</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Năm văn bản hành chính thông dụng</a:t>
            </a:r>
            <a:endParaRPr lang="en-US" sz="2700" dirty="0"/>
          </a:p>
        </p:txBody>
      </p:sp>
      <p:pic>
        <p:nvPicPr>
          <p:cNvPr id="9" name="Picture 8" descr="c5-chuoi-van-ban-nt.png"/>
          <p:cNvPicPr>
            <a:picLocks noChangeAspect="1"/>
          </p:cNvPicPr>
          <p:nvPr/>
        </p:nvPicPr>
        <p:blipFill>
          <a:blip r:embed="rId4"/>
          <a:stretch>
            <a:fillRect/>
          </a:stretch>
        </p:blipFill>
        <p:spPr>
          <a:xfrm>
            <a:off x="981171" y="1481328"/>
            <a:ext cx="10229353" cy="2940939"/>
          </a:xfrm>
          <a:prstGeom prst="rect">
            <a:avLst/>
          </a:prstGeom>
        </p:spPr>
      </p:pic>
      <p:sp>
        <p:nvSpPr>
          <p:cNvPr id="10" name="TextBox 9"/>
          <p:cNvSpPr txBox="1"/>
          <p:nvPr/>
        </p:nvSpPr>
        <p:spPr>
          <a:xfrm>
            <a:off x="548640" y="4495419"/>
            <a:ext cx="11109960" cy="310896"/>
          </a:xfrm>
          <a:prstGeom prst="rect">
            <a:avLst/>
          </a:prstGeom>
          <a:noFill/>
        </p:spPr>
        <p:txBody>
          <a:bodyPr wrap="square">
            <a:spAutoFit/>
          </a:bodyPr>
          <a:lstStyle/>
          <a:p>
            <a:pPr algn="ctr"/>
            <a:r>
              <a:rPr sz="1150" i="1">
                <a:solidFill>
                  <a:srgbClr val="8A7A76"/>
                </a:solidFill>
                <a:latin typeface="Calibri"/>
              </a:rPr>
              <a:t>Chuỗi văn bản của một thương vụ — sinh viên sẽ soạn lại đúng chuỗi này trong phần thực hành.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Quyết định và Tờ trình</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Văn bản do người có thẩm quyền ban hành để giải quyết một công việc cụ thể.</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bố cục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Phần căn cứ (pháp lý + thực tiễn, kết thúc bằng dấu chấm) → phần nội dung theo các Điều. Điều cuối ghi hiệu lực và đối tượng thi hành.</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Văn bản đề xuất cấp có thẩm quyền phê duyệt chủ trương, phương án, đề án hoặc giải quyết công việc.</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bố cục 3 phần</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Mở đầu: lý do, sự cần thiết → Nội dung: phương án, lợi ích, tính khả thi → Kết thúc: kiến nghị phê duyệt. Đính kèm hồ sơ, dự toán.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Công văn, Biên bản và Báo cáo</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Công văn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Không có tên loại — chỉ có số, ký hiệu và trích yếu. Các loại: đề nghị, phúc đáp, đôn đốc, hướng dẫn, giải thích, mời họp. Mỗi công văn một chủ đề; kết thúc “Trân trọng./.”</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Ghi tại chỗ, trung thực, khách quan. Kết cấu: thời gian – địa điểm → thành phần tham dự → diễn biến, ý kiến → kết luận → chữ ký các bên (yếu tố tạo giá trị pháp lý).</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cáo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Định kỳ • đột xuất • chuyên đề • sơ kết, tổng kết. Mạch 4 phần: đặc điểm tình hình → kết quả đạt được → hạn chế và nguyên nhân → phương hướng, kiến nghị.</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Thư tín thương mại và báo giá</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Thư tín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Thư hỏi hàng, chào hàng, đặt hàng, xác nhận, khiếu nại, cảm ơn. Kết cấu: mở đầu – nội dung – kết thúc.</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Nguyên tắc 5C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Clear (rõ) • Concise (gọn) • Correct (đúng) • Complete (đủ) • Courteous (lịch sự).</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Email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Tiêu đề ngắn đúng nội dung; xưng hô phù hợp; chữ ký đầy đủ thông tin; phản hồi trong 24 giờ.</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giá</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Thông tin doanh nghiệp • mô tả hàng hóa • số lượng, đơn giá, thuế • điều kiện giao hàng, thanh toán • thời hạn hiệu lực (tránh tranh chấp khi giá thị trường biến động).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Hợp đồng — nghiệm thu — thanh lý</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Hợp đồng thương mại</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Căn cứ Bộ luật Dân sự 2015 và Luật Thương mại 2005. Điều khoản chính: đối tượng; giá và phương thức thanh toán; quyền – nghĩa vụ các bên; phạt vi phạm; giải quyết tranh chấp.</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nghiệm thu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Xác nhận khối lượng, chất lượng hàng hóa, dịch vụ đã thực hiện — căn cứ để thanh toán.</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thanh lý hợp đồng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Xác nhận hoàn thành nghĩa vụ, chấm dứt hiệu lực hợp đồng, quyết toán các quyền và nghĩa vụ còn lại.</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Từ đàm phán đến hợp đồng</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TÌNH HUỐNG (nhóm 4–5 sinh viên, 20 phút)</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Tiếp nối thương vụ mua 20 máy tính đã đàm phán ở Chương 4: Phòng Hành chính Công ty X phải hoàn tất toàn bộ hồ sơ giấy tờ cho thương vụ, từ lúc đề xuất mua đến khi thanh toán xong.</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Liệt kê đầy đủ chuỗi văn bản cần soạn theo đúng trình tự thời gian và cho biết ai ký từng văn bản.</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Chọn một văn bản trong chuỗi, phác thảo bố cục đầy đủ 9 thành phần thể thức lên giấy A4.</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Chỉ ra 3 lỗi thể thức thường gặp nhất mà nhóm dự đoán sinh viên hay mắc phải khi soạn văn bản này.</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Những điều cần nhớ</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Thể thức là “giấy thông hành” của văn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hay đến đâu mà sai thể thức thì văn bản vẫn bị trả lại — thuộc 9 thành phần và các con số trình bày.</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Mỗi loại văn bản có một bố cục riêng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Quyết định theo Điều; tờ trình 3 phần; công văn không tên loại; biên bản lập tại chỗ; báo cáo theo mạch 4 phần.</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thương mại giữ uy tín doanh nghiệp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Thư tín đạt 5C, báo giá có hiệu lực rõ, hợp đồng đủ điều khoản — bộ ba hợp đồng, nghiệm thu, thanh lý khép kín thương vụ.</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khái niệm văn bản và các nhóm văn bản trong tổ chức.</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9 thành phần thể thức văn bản hành chính và các quy định về lề trang, phông chữ.</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So sánh bố cục của quyết định, tờ trình và công văn.</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nguyên tắc 5C và các điều khoản cơ bản của hợp đồng thương mại.</a:t>
            </a:r>
            <a:endParaRPr lang="en-US" sz="1400" dirty="0"/>
          </a:p>
        </p:txBody>
      </p:sp>
      <p:sp>
        <p:nvSpPr>
          <p:cNvPr id="21" name="Shape 18"/>
          <p:cNvSpPr/>
          <p:nvPr/>
        </p:nvSpPr>
        <p:spPr>
          <a:xfrm>
            <a:off x="502920" y="5074920"/>
            <a:ext cx="11201400" cy="1097280"/>
          </a:xfrm>
          <a:prstGeom prst="roundRect">
            <a:avLst>
              <a:gd name="adj" fmla="val 7500"/>
            </a:avLst>
          </a:prstGeom>
          <a:solidFill>
            <a:srgbClr val="FBEDE0"/>
          </a:solidFill>
          <a:ln w="12700">
            <a:solidFill>
              <a:srgbClr val="C9A227"/>
            </a:solidFill>
            <a:prstDash val="solid"/>
          </a:ln>
        </p:spPr>
        <p:txBody>
          <a:bodyPr/>
          <a:p/>
        </p:txBody>
      </p:sp>
      <p:sp>
        <p:nvSpPr>
          <p:cNvPr id="22" name="Text 19"/>
          <p:cNvSpPr/>
          <p:nvPr/>
        </p:nvSpPr>
        <p:spPr>
          <a:xfrm>
            <a:off x="777240" y="5120640"/>
            <a:ext cx="10698480" cy="100584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Phần thực hành tại phòng A0105 — Bài 1: Thể thức văn bản. Mang theo laptop, cài sẵn Microsoft Word và tải Nghị định 30/2020/NĐ-CP.</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Bốn con số của một trang văn bản đúng chuẩn</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A4</a:t>
            </a:r>
          </a:p>
          <a:p>
            <a:pPr algn="ctr"/>
            <a:r>
              <a:rPr sz="1400" b="1">
                <a:solidFill>
                  <a:srgbClr val="AC4D33"/>
                </a:solidFill>
                <a:latin typeface="Calibri"/>
              </a:rPr>
              <a:t>KHỔ GIẤY</a:t>
            </a:r>
          </a:p>
          <a:p>
            <a:pPr algn="ctr">
              <a:spcBef>
                <a:spcPts val="1200"/>
              </a:spcBef>
            </a:pPr>
            <a:r>
              <a:rPr sz="1250">
                <a:solidFill>
                  <a:srgbClr val="3A2B28"/>
                </a:solidFill>
                <a:latin typeface="Calibri"/>
              </a:rPr>
              <a:t>210 × 297 mm — không dùng khổ Letter</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30–35</a:t>
            </a:r>
          </a:p>
          <a:p>
            <a:pPr algn="ctr"/>
            <a:r>
              <a:rPr sz="1400" b="1">
                <a:solidFill>
                  <a:srgbClr val="AC4D33"/>
                </a:solidFill>
                <a:latin typeface="Calibri"/>
              </a:rPr>
              <a:t>MILIMET</a:t>
            </a:r>
          </a:p>
          <a:p>
            <a:pPr algn="ctr">
              <a:spcBef>
                <a:spcPts val="1200"/>
              </a:spcBef>
            </a:pPr>
            <a:r>
              <a:rPr sz="1250">
                <a:solidFill>
                  <a:srgbClr val="3A2B28"/>
                </a:solidFill>
                <a:latin typeface="Calibri"/>
              </a:rPr>
              <a:t>Lề trái, rộng nhất để đóng gáy lưu trữ</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13–14</a:t>
            </a:r>
          </a:p>
          <a:p>
            <a:pPr algn="ctr"/>
            <a:r>
              <a:rPr sz="1400" b="1">
                <a:solidFill>
                  <a:srgbClr val="AC4D33"/>
                </a:solidFill>
                <a:latin typeface="Calibri"/>
              </a:rPr>
              <a:t>CỠ CHỮ</a:t>
            </a:r>
          </a:p>
          <a:p>
            <a:pPr algn="ctr">
              <a:spcBef>
                <a:spcPts val="1200"/>
              </a:spcBef>
            </a:pPr>
            <a:r>
              <a:rPr sz="1250">
                <a:solidFill>
                  <a:srgbClr val="3A2B28"/>
                </a:solidFill>
                <a:latin typeface="Calibri"/>
              </a:rPr>
              <a:t>Times New Roman, bộ mã Unicode, màu đen</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9</a:t>
            </a:r>
          </a:p>
          <a:p>
            <a:pPr algn="ctr"/>
            <a:r>
              <a:rPr sz="1400" b="1">
                <a:solidFill>
                  <a:srgbClr val="AC4D33"/>
                </a:solidFill>
                <a:latin typeface="Calibri"/>
              </a:rPr>
              <a:t>THÀNH PHẦN</a:t>
            </a:r>
          </a:p>
          <a:p>
            <a:pPr algn="ctr">
              <a:spcBef>
                <a:spcPts val="1200"/>
              </a:spcBef>
            </a:pPr>
            <a:r>
              <a:rPr sz="1250">
                <a:solidFill>
                  <a:srgbClr val="3A2B28"/>
                </a:solidFill>
                <a:latin typeface="Calibri"/>
              </a:rPr>
              <a:t>Số thành phần thể thức bắt buộc theo NĐ 30/2020</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Lề trên và dưới 20 – 25 mm • lề phải 15 – 20 mm • số trang đánh từ trang thứ hai, canh giữa theo lề trên.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5.1 – 5.2</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Khái niệm, phân loại và thể thức văn bản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Nền tảng pháp lý và kỹ thuật: văn bản là gì và một trang văn bản đúng chuẩn trông thế nào.</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5.3</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Soạn thảo văn bản hành chính thông dụng</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Năm loại văn bản dùng hằng ngày trong mọi cơ quan, tổ chức.</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5.4</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Soạn thảo văn bản thương mại</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Thư tín, báo giá và hợp đồng — bộ hồ sơ đưa một thương vụ đi đến đích.</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panose="020F0302020204030204"/>
        <a:ea typeface="Cambria"/>
        <a:cs typeface="Cambria"/>
      </a:majorFont>
      <a:minorFont>
        <a:latin typeface="Calibri" panose="020F0502020204030204"/>
        <a:ea typeface="Calibri"/>
        <a:cs typeface="Calibr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2026-08-18T12:04:05Z</dcterms:created>
  <dcterms:modified xsi:type="dcterms:W3CDTF">2026-08-18T12:04:05Z</dcterms:modified>
</cp:coreProperties>
</file>