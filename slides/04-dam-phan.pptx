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3" r:id="rId24"/>
    <p:sldId id="259" r:id="rId5"/>
    <p:sldId id="260" r:id="rId6"/>
    <p:sldId id="261" r:id="rId7"/>
    <p:sldId id="274" r:id="rId25"/>
    <p:sldId id="262" r:id="rId8"/>
    <p:sldId id="263" r:id="rId9"/>
    <p:sldId id="272" r:id="rId23"/>
    <p:sldId id="264" r:id="rId10"/>
    <p:sldId id="265" r:id="rId11"/>
    <p:sldId id="275" r:id="rId26"/>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1.xml"/><Relationship Id="rId24" Type="http://schemas.openxmlformats.org/officeDocument/2006/relationships/slide" Target="slides/slide4.xml"/><Relationship Id="rId25" Type="http://schemas.openxmlformats.org/officeDocument/2006/relationships/slide" Target="slides/slide8.xml"/><Relationship Id="rId2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(1 phút) — nhấn: cuối chương có role-play chấm điểm.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LỘ TRÌNH (1 phút) — khái niệm, tiến trình 5 giai đoạn, kỹ năng.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KHÁI NIỆM (3 phút)</a:t>
            </a:r>
          </a:p>
          <a:p>
            <a:r>
              <a:t>• Nhấn BẢN CHẤT KÉP: vừa hợp tác (để chiếc bánh tồn tại) vừa cạnh tranh (khi chia bánh).</a:t>
            </a:r>
          </a:p>
          <a:p>
            <a:r>
              <a:t>• Ba nguồn sức mạnh: THÔNG TIN – THỜI GIAN – THẾ LỰC (số lựa chọn thay thế).</a:t>
            </a:r>
          </a:p>
          <a:p>
            <a:r>
              <a:t>• Ví dụ: người đang cần bán gấp luôn ở thế yếu — vì sao? (sức mạnh thời gian).</a:t>
            </a:r>
          </a:p>
          <a:p/>
          <a:p>
            <a:r>
              <a:t>NÓI ĐỦ Ý (phần đã rút khỏi slide)</a:t>
            </a:r>
          </a:p>
          <a:p>
            <a:r>
              <a:t>• Định nghĩa đủ: đàm phán là quá trình các bên vừa có lợi ích chung, vừa có lợi ích xung đột, cùng trao đổi và thuyết phục để đi đến một thỏa thuận mà các bên chấp nhận được.</a:t>
            </a:r>
          </a:p>
          <a:p>
            <a:r>
              <a:t>• Bản chất kép: quên vế hợp tác thì mất đối tác, quên vế cạnh tranh thì chịu thiệt.</a:t>
            </a:r>
          </a:p>
          <a:p>
            <a:r>
              <a:t>• Ba nguồn sức mạnh: THÔNG TIN — ai hiểu đối phương hơn; THỜI GIAN — ai ít bị ép tiến độ hơn; THẾ LỰC — ai có nhiều lựa chọn thay thế hơn.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ĐẶC ĐIỂM (2 phút)</a:t>
            </a:r>
          </a:p>
          <a:p>
            <a:r>
              <a:t>• 5 đặc điểm, đi nhanh.</a:t>
            </a:r>
          </a:p>
          <a:p>
            <a:r>
              <a:t>• Nhấn đặc điểm THỎA THUẬN PHẢI ĐƯỢC VĂN BẢN HÓA — nối thẳng sang Chương 5.</a:t>
            </a:r>
          </a:p>
          <a:p/>
          <a:p>
            <a:r>
              <a:t>NÓI ĐỦ Ý (phần đã rút khỏi slide)</a:t>
            </a:r>
          </a:p>
          <a:p>
            <a:r>
              <a:t>• Nhà đàm phán giỏi biết rõ giới hạn của MÌNH và ước lượng được giới hạn của ĐỐI PHƯƠNG.</a:t>
            </a:r>
          </a:p>
          <a:p>
            <a:r>
              <a:t>• Phong cách đàm phán Á – Âu khác nhau; thương vụ một lần khác hẳn quan hệ hợp tác lâu dài.</a:t>
            </a:r>
          </a:p>
          <a:p>
            <a:r>
              <a:t>• Kết quả chỉ an toàn khi thành hợp đồng đúng thể thức — cầu nối sang Chương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KIỂU ĐÀM PHÁN (4 phút)</a:t>
            </a:r>
          </a:p>
          <a:p>
            <a:r>
              <a:t>• Kiểu MỀM – CỨNG – NGUYÊN TẮC. Vẽ bảng so sánh 3 cột lên bảng.</a:t>
            </a:r>
          </a:p>
          <a:p>
            <a:r>
              <a:t>• Hỏi lớp: "Người Việt mình hay đàm phán theo kiểu nào?" (thường là mềm — ngại mất lòng).</a:t>
            </a:r>
          </a:p>
          <a:p>
            <a:r>
              <a:t>• Nhấn kiểu NGUYÊN TẮC (Harvard): TÁCH CON NGƯỜI KHỎI VẤN ĐỀ; tập trung LỢI ÍCH chứ không cố thủ LẬP TRƯỜNG.</a:t>
            </a:r>
          </a:p>
          <a:p>
            <a:r>
              <a:t>• Ví dụ kinh điển: hai chị em tranh quả cam — một người cần vỏ làm bánh, một người cần ruột vắt nước. Cắt đôi là giải pháp tồi. Hỏi lợi ích mới ra giải pháp tốt.</a:t>
            </a:r>
          </a:p>
          <a:p>
            <a:r>
              <a:t>• Phân bổ ↔ tích hợp: làm chiếc bánh LỚN HƠN nhờ khác biệt về ưu tiên.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CHUẨN BỊ: BATNA – ZOPA (5 phút) — PHẦN KHÓ NHẤT CHƯƠNG</a:t>
            </a:r>
          </a:p>
          <a:p>
            <a:r>
              <a:t>• Mục tiêu 3 mức: LÝ TƯỞNG – KỲ VỌNG – TỐI THIỂU. Bắt sinh viên VIẾT RA GIẤY trước khi vào bàn.</a:t>
            </a:r>
          </a:p>
          <a:p>
            <a:r>
              <a:t>• BATNA: giải thích chậm bằng ví dụ xin việc — bạn có sẵn một lời mời khác thì bạn tự tin hơn hẳn.</a:t>
            </a:r>
          </a:p>
          <a:p>
            <a:r>
              <a:t>• Nhấn: BATNA MẠNH thì thế đàm phán vững; BATNA YẾU thì ĐỪNG ĐỂ LỘ.</a:t>
            </a:r>
          </a:p>
          <a:p>
            <a:r>
              <a:t>• ZOPA: chỉ vào sơ đồ trên slide, đi theo trục tiền từ trái sang phải.</a:t>
            </a:r>
          </a:p>
          <a:p>
            <a:r>
              <a:t>• Câu hỏi cho lớp: "Nếu không có ZOPA thì làm gì?" — đáp: mở rộng chiếc bánh (đổi số lượng, tiến độ, dịch vụ kèm), đừng ép giá.</a:t>
            </a:r>
          </a:p>
          <a:p/>
          <a:p>
            <a:r>
              <a:t>NÓI ĐỦ Ý (phần đã rút khỏi slide)</a:t>
            </a:r>
          </a:p>
          <a:p>
            <a:r>
              <a:t>• Ba mức mục tiêu: lý tưởng (mong muốn nhất) – kỳ vọng (hợp lý) – tối thiểu (ranh giới rút lui).</a:t>
            </a:r>
          </a:p>
          <a:p>
            <a:r>
              <a:t>• BATNA = Best Alternative To a Negotiated Agreement. BATNA càng mạnh thế càng vững — và ĐỪNG ĐỂ LỘ khi BATNA yếu.</a:t>
            </a:r>
          </a:p>
          <a:p>
            <a:r>
              <a:t>• ZOPA: ước lượng để biết đề nghị nào khả thi, đề nghị nào làm vỡ bàn đàm phán.</a:t>
            </a:r>
          </a:p>
          <a:p>
            <a:r>
              <a:t>• Hiểu đối tác: nhu cầu thật đằng sau yêu cầu; ai là người có thẩm quyền quyết định.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THƯƠNG LƯỢNG (4 phút)</a:t>
            </a:r>
          </a:p>
          <a:p>
            <a:r>
              <a:t>• Neo tâm lý: đề nghị đầu tiên CÓ CĂN CỨ sẽ định hình cả cuộc đàm phán.</a:t>
            </a:r>
          </a:p>
          <a:p>
            <a:r>
              <a:t>• Khi bị neo: phản hồi bằng câu hỏi "Dựa trên cơ sở nào ạ?" — cho lớp tập nói câu này.</a:t>
            </a:r>
          </a:p>
          <a:p>
            <a:r>
              <a:t>• NHƯỢNG BỘ CÓ ĐIỀU KIỆN: "Nếu anh tăng số lượng lên 500, chúng tôi giảm 3%." Không bao giờ cho không.</a:t>
            </a:r>
          </a:p>
          <a:p>
            <a:r>
              <a:t>• Nhượng bộ NHỎ DẦN để phát tín hiệu đã chạm giới hạn.</a:t>
            </a:r>
          </a:p>
          <a:p>
            <a:r>
              <a:t>• Bế tắc: tạm nghỉ – đổi người/vấn đề/cách tiếp cận – quay về lợi ích gốc – đưa tiêu chí khách quan.</a:t>
            </a:r>
          </a:p>
          <a:p/>
          <a:p>
            <a:r>
              <a:t>NÓI ĐỦ Ý (phần đã rút khỏi slide)</a:t>
            </a:r>
          </a:p>
          <a:p>
            <a:r>
              <a:t>• Vài phút xã giao đúng mực, vừa tạo không khí vừa quan sát thái độ.</a:t>
            </a:r>
          </a:p>
          <a:p>
            <a:r>
              <a:t>• Đề nghị đầu tiên là cái neo tâm lý — nên phải có căn cứ.</a:t>
            </a:r>
          </a:p>
          <a:p>
            <a:r>
              <a:t>• Nhượng bộ có điều kiện, ví dụ: “Nếu anh tăng số lượng lên 500, chúng tôi sẽ giảm 3%.” Nhượng bộ nhỏ dần để phát tín hiệu đã chạm giới hạn.</a:t>
            </a:r>
          </a:p>
          <a:p>
            <a:r>
              <a:t>• Bế tắc: tạm nghỉ; đổi người, đổi vấn đề, đổi cách tiếp cận; quay về lợi ích gốc.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THÚC (3 phút)</a:t>
            </a:r>
          </a:p>
          <a:p>
            <a:r>
              <a:t>• Tín hiệu chốt: đối phương hỏi chi tiết TRIỂN KHAI, thanh toán, thời gian giao hàng.</a:t>
            </a:r>
          </a:p>
          <a:p>
            <a:r>
              <a:t>• Nhấn: TÓM TẮT VÀ VĂN BẢN HÓA NGAY — biên bản ghi nhớ hoặc hợp đồng.</a:t>
            </a:r>
          </a:p>
          <a:p>
            <a:r>
              <a:t>• Sau đàm phán: thực hiện đúng cam kết, giữ quan hệ, rút kinh nghiệm.</a:t>
            </a:r>
          </a:p>
          <a:p>
            <a:r>
              <a:t>• Câu chốt: "Đàm phán xong mà không có giấy tờ thì coi như chưa xong."''</a:t>
            </a:r>
          </a:p>
          <a:p/>
          <a:p>
            <a:r>
              <a:t>NÓI ĐỦ Ý (phần đã rút khỏi slide)</a:t>
            </a:r>
          </a:p>
          <a:p>
            <a:r>
              <a:t>• Tín hiệu sẵn sàng chốt: đối phương hỏi chi tiết triển khai, điều khoản thanh toán, thời gian giao hàng.</a:t>
            </a:r>
          </a:p>
          <a:p>
            <a:r>
              <a:t>• Văn bản hóa ngay: biên bản ghi nhớ, rồi hợp đồng đủ điều khoản cơ bản — kỹ thuật soạn thảo học ở Chương 5.</a:t>
            </a:r>
          </a:p>
          <a:p>
            <a:r>
              <a:t>• Sau đàm phán: thực hiện đúng cam kết chính là vốn cho lần đàm phán sau.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KỸ NĂNG (3 phút)</a:t>
            </a:r>
          </a:p>
          <a:p>
            <a:r>
              <a:t>• Nghe nhiều hơn nói; IM LẶNG ĐÚNG LÚC là vũ khí.</a:t>
            </a:r>
          </a:p>
          <a:p>
            <a:r>
              <a:t>• Thuyết phục bằng NGÔN NGỮ LỢI ÍCH CỦA ĐỐI PHƯƠNG, kèm số liệu và tiền lệ.</a:t>
            </a:r>
          </a:p>
          <a:p>
            <a:r>
              <a:t>• Kiểm soát cảm xúc: "tức giận là nhượng quyền kiểm soát cho đối phương".</a:t>
            </a:r>
          </a:p>
          <a:p>
            <a:r>
              <a:t>• Êkíp: phân vai trưởng đoàn – chuyên môn – ghi chép; TUYỆT ĐỐI không mâu thuẫn nội bộ trước mặt đối tác.</a:t>
            </a:r>
          </a:p>
          <a:p/>
          <a:p>
            <a:r>
              <a:t>NÓI ĐỦ Ý (phần đã rút khỏi slide)</a:t>
            </a:r>
          </a:p>
          <a:p>
            <a:r>
              <a:t>• Im lặng đúng lúc: nhiều nhượng bộ xuất hiện chỉ vì đối phương không chịu được khoảng lặng.</a:t>
            </a:r>
          </a:p>
          <a:p>
            <a:r>
              <a:t>• Thuyết phục bằng số liệu, tiền lệ, quy định khách quan — không tranh cãi cảm tính.</a:t>
            </a:r>
          </a:p>
          <a:p>
            <a:r>
              <a:t>• Tách con người khỏi vấn đề; giữ bình tĩnh trước khiêu khích.</a:t>
            </a:r>
          </a:p>
          <a:p>
            <a:r>
              <a:t>• Êkíp: phân vai trưởng đoàn – chuyên môn – ghi chép; thống nhất tín hiệu nội bộ trước.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CHIÊU TRÒ (4 phút) — SINH VIÊN RẤT HỨNG THÚ</a:t>
            </a:r>
          </a:p>
          <a:p>
            <a:r>
              <a:t>• Điểm qua 5 chiêu: neo giá sốc, người tốt – kẻ xấu, thời hạn chót giả, CẮT LÁT SALAMI, đòi hỏi phút chót.</a:t>
            </a:r>
          </a:p>
          <a:p>
            <a:r>
              <a:t>• Salami: giải thích kỹ vì hay gặp nhất — đòi thêm từng chút sau khi đã thỏa thuận. Ứng phó: GÓI TOÀN BỘ điều khoản lại.</a:t>
            </a:r>
          </a:p>
          <a:p>
            <a:r>
              <a:t>• Đòi hỏi phút chót: ĐỊNH GIÁ yêu cầu đó và đòi đối ứng tương xứng, đừng chiều để cho xong.</a:t>
            </a:r>
          </a:p>
          <a:p>
            <a:r>
              <a:t>• Hỏi lớp: ai từng bị "chốt gấp trong hôm nay" khi mua hàng online?</a:t>
            </a:r>
          </a:p>
          <a:p/>
          <a:p>
            <a:r>
              <a:t>NÓI ĐỦ Ý (phần đã rút khỏi slide)</a:t>
            </a:r>
          </a:p>
          <a:p>
            <a:r>
              <a:t>• Neo giá sốc: bám vào tiêu chí khách quan, đừng vội điều chỉnh mục tiêu của mình.</a:t>
            </a:r>
          </a:p>
          <a:p>
            <a:r>
              <a:t>• Người tốt – kẻ xấu: nhận diện rồi chỉ đàm phán trên nội dung.</a:t>
            </a:r>
          </a:p>
          <a:p>
            <a:r>
              <a:t>• Thời hạn chót giả: kiểm chứng thực hư; có BATNA thì sẵn sàng rời bàn.</a:t>
            </a:r>
          </a:p>
          <a:p>
            <a:r>
              <a:t>• Cắt lát salami: gói toàn bộ điều khoản lại — “điểm này mở thì cả gói mở”.</a:t>
            </a:r>
          </a:p>
          <a:p>
            <a:r>
              <a:t>• Đòi hỏi phút chót: bình tĩnh định giá yêu cầu đó và đòi đối ứng tương xứng.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ROLE-PLAY (20 phút) — HOẠT ĐỘNG CHÍNH CỦA BUỔI</a:t>
            </a:r>
          </a:p>
          <a:p>
            <a:r>
              <a:t>• Chia cặp mua – bán, phát phiếu thông tin riêng cho mỗi bên (có ngân sách và giá sàn khác nhau).</a:t>
            </a:r>
          </a:p>
          <a:p>
            <a:r>
              <a:t>• 5 phút chuẩn bị: bắt buộc viết ra mục tiêu 3 mức và BATNA.</a:t>
            </a:r>
          </a:p>
          <a:p>
            <a:r>
              <a:t>• 10 phút đàm phán, 5 phút chốt và rút kinh nghiệm.</a:t>
            </a:r>
          </a:p>
          <a:p>
            <a:r>
              <a:t>• Cô đi quanh lớp quan sát, ghi lại 2–3 tình huống hay để phân tích chung.</a:t>
            </a:r>
          </a:p>
          <a:p>
            <a:r>
              <a:t>• Chốt: hỏi các cặp đạt thỏa thuận xem họ đã mở rộng chiếc bánh bằng cách nào.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KẾT (2 phút)</a:t>
            </a:r>
          </a:p>
          <a:p>
            <a:r>
              <a:t>• Nhấn lại: thắng từ trước khi ngồi vào bàn; đàm phán về LỢI ÍCH; văn bản hóa kết quả.</a:t>
            </a:r>
          </a:p>
          <a:p>
            <a:r>
              <a:t>• Giao việc: 40 câu trắc nghiệm Chương 4; đọc trước Chương 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ÔN TẬP (1 phút) — tự làm ở nhà.</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TÀI LIỆU (1 phút) — nhắc tải Nghị định 30/2020 cho buổi sau.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SỐ CHUẨN BỊ (2 phút)</a:t>
            </a:r>
          </a:p>
          <a:p>
            <a:r>
              <a:t>• Nhấn 70% — đây là con số sinh viên hay bất ngờ.</a:t>
            </a:r>
          </a:p>
          <a:p>
            <a:r>
              <a:t>• Liên hệ: bài role-play cuối buổi sẽ chấm phần chuẩn bị (mục tiêu 3 mức + BATNA viết ra giấy).</a:t>
            </a:r>
          </a:p>
          <a:p>
            <a:r>
              <a:t>• Câu chốt đọc chậm: "Không chuẩn bị chính là chuẩn bị để nhượng bộ."''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TIẾN TRÌNH 5 GIAI ĐOẠN (2 phút)</a:t>
            </a:r>
          </a:p>
          <a:p>
            <a:r>
              <a:t>• Đi lướt 5 giai đoạn, dừng lại ở giai đoạn 1.</a:t>
            </a:r>
          </a:p>
          <a:p>
            <a:r>
              <a:t>• Nói con số: CHUẨN BỊ QUYẾT ĐỊNH 70% KẾT QUẢ.</a:t>
            </a:r>
          </a:p>
          <a:p>
            <a:r>
              <a:t>• Câu chốt: "Không chuẩn bị chính là chuẩn bị để nhượng bộ."''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DC756A"/>
          </a:solidFill>
          <a:ln/>
        </p:spPr>
        <p:txBody>
          <a:bodyPr/>
          <a:p/>
        </p:txBody>
      </p:sp>
      <p:pic>
        <p:nvPicPr>
          <p:cNvPr id="3" name="Image 0" descr="/home/user/comdraft/assets/img/dau-huong.png">    </p:cNvPr>
          <p:cNvPicPr>
            <a:picLocks noChangeAspect="1"/>
          </p:cNvPicPr>
          <p:nvPr/>
        </p:nvPicPr>
        <p:blipFill>
          <a:blip r:embed="rId1">
            <a:alphaModFix amt="18000"/>
          </a:blip>
          <a:stretch>
            <a:fillRect/>
          </a:stretch>
        </p:blipFill>
        <p:spPr>
          <a:xfrm>
            <a:off x="8549640" y="1417320"/>
            <a:ext cx="3200400" cy="3200400"/>
          </a:xfrm>
          <a:prstGeom prst="rect">
            <a:avLst/>
          </a:prstGeom>
        </p:spPr>
      </p:pic>
      <p:pic>
        <p:nvPicPr>
          <p:cNvPr id="4" name="Image 1" descr="/home/user/comdraft/assets/img/lockup-huong.png">    </p:cNvPr>
          <p:cNvPicPr>
            <a:picLocks noChangeAspect="1"/>
          </p:cNvPicPr>
          <p:nvPr/>
        </p:nvPicPr>
        <p:blipFill>
          <a:blip r:embed="rId2"/>
          <a:stretch>
            <a:fillRect/>
          </a:stretch>
        </p:blipFill>
        <p:spPr>
          <a:xfrm>
            <a:off x="777240" y="411480"/>
            <a:ext cx="2834640" cy="1188720"/>
          </a:xfrm>
          <a:prstGeom prst="rect">
            <a:avLst/>
          </a:prstGeom>
        </p:spPr>
      </p:pic>
      <p:sp>
        <p:nvSpPr>
          <p:cNvPr id="5" name="Text 1"/>
          <p:cNvSpPr/>
          <p:nvPr/>
        </p:nvSpPr>
        <p:spPr>
          <a:xfrm>
            <a:off x="822960" y="2011680"/>
            <a:ext cx="10515600" cy="457200"/>
          </a:xfrm>
          <a:prstGeom prst="rect">
            <a:avLst/>
          </a:prstGeom>
          <a:noFill/>
          <a:ln/>
        </p:spPr>
        <p:txBody>
          <a:bodyPr wrap="square" lIns="0" tIns="0" rIns="0" bIns="0" rtlCol="0" anchor="ctr"/>
          <a:lstStyle/>
          <a:p>
            <a:pPr indent="0" marL="0">
              <a:buNone/>
            </a:pPr>
            <a:r>
              <a:rPr lang="en-US" sz="1800" b="1" spc="500" kern="0" dirty="0">
                <a:solidFill>
                  <a:srgbClr val="DC756A"/>
                </a:solidFill>
                <a:latin typeface="Calibri" pitchFamily="34" charset="0"/>
                <a:ea typeface="Calibri" pitchFamily="34" charset="-122"/>
                <a:cs typeface="Calibri" pitchFamily="34" charset="-120"/>
              </a:rPr>
              <a:t>CHƯƠNG 4</a:t>
            </a:r>
            <a:endParaRPr lang="en-US" sz="1800" dirty="0"/>
          </a:p>
        </p:txBody>
      </p:sp>
      <p:sp>
        <p:nvSpPr>
          <p:cNvPr id="6" name="Shape 2"/>
          <p:cNvSpPr/>
          <p:nvPr/>
        </p:nvSpPr>
        <p:spPr>
          <a:xfrm>
            <a:off x="822960" y="2487168"/>
            <a:ext cx="1371600" cy="41148"/>
          </a:xfrm>
          <a:prstGeom prst="rect">
            <a:avLst/>
          </a:prstGeom>
          <a:solidFill>
            <a:srgbClr val="DC756A"/>
          </a:solidFill>
          <a:ln/>
        </p:spPr>
        <p:txBody>
          <a:bodyPr/>
          <a:p/>
        </p:txBody>
      </p:sp>
      <p:sp>
        <p:nvSpPr>
          <p:cNvPr id="7" name="Text 3"/>
          <p:cNvSpPr/>
          <p:nvPr/>
        </p:nvSpPr>
        <p:spPr>
          <a:xfrm>
            <a:off x="822960" y="2697480"/>
            <a:ext cx="7589520" cy="1645920"/>
          </a:xfrm>
          <a:prstGeom prst="rect">
            <a:avLst/>
          </a:prstGeom>
          <a:noFill/>
          <a:ln/>
        </p:spPr>
        <p:txBody>
          <a:bodyPr wrap="square" lIns="0" tIns="0" rIns="0" bIns="0" rtlCol="0" anchor="ctr"/>
          <a:lstStyle/>
          <a:p>
            <a:pPr indent="0" marL="0">
              <a:buNone/>
            </a:pPr>
            <a:r>
              <a:rPr lang="en-US" sz="3800" b="1" dirty="0">
                <a:solidFill>
                  <a:srgbClr val="AC4D33"/>
                </a:solidFill>
                <a:latin typeface="Cambria" pitchFamily="34" charset="0"/>
                <a:ea typeface="Cambria" pitchFamily="34" charset="-122"/>
                <a:cs typeface="Cambria" pitchFamily="34" charset="-120"/>
              </a:rPr>
              <a:t>Đàm phán</a:t>
            </a:r>
            <a:endParaRPr lang="en-US" sz="3800" dirty="0"/>
          </a:p>
          <a:p>
            <a:pPr indent="0" marL="0">
              <a:buNone/>
            </a:pPr>
            <a:r>
              <a:rPr lang="en-US" sz="3800" b="1" dirty="0">
                <a:solidFill>
                  <a:srgbClr val="AC4D33"/>
                </a:solidFill>
                <a:latin typeface="Cambria" pitchFamily="34" charset="0"/>
                <a:ea typeface="Cambria" pitchFamily="34" charset="-122"/>
                <a:cs typeface="Cambria" pitchFamily="34" charset="-120"/>
              </a:rPr>
              <a:t>trong kinh doanh</a:t>
            </a:r>
            <a:endParaRPr lang="en-US" sz="3800" dirty="0"/>
          </a:p>
        </p:txBody>
      </p:sp>
      <p:sp>
        <p:nvSpPr>
          <p:cNvPr id="8" name="Text 4"/>
          <p:cNvSpPr/>
          <p:nvPr/>
        </p:nvSpPr>
        <p:spPr>
          <a:xfrm>
            <a:off x="822960" y="4434840"/>
            <a:ext cx="7589520" cy="685800"/>
          </a:xfrm>
          <a:prstGeom prst="rect">
            <a:avLst/>
          </a:prstGeom>
          <a:noFill/>
          <a:ln/>
        </p:spPr>
        <p:txBody>
          <a:bodyPr wrap="square" lIns="0" tIns="0" rIns="0" bIns="0" rtlCol="0" anchor="ctr"/>
          <a:lstStyle/>
          <a:p>
            <a:pPr indent="0" marL="0">
              <a:buNone/>
            </a:pPr>
            <a:r>
              <a:rPr lang="en-US" sz="1400" i="1" dirty="0">
                <a:solidFill>
                  <a:srgbClr val="8A7A76"/>
                </a:solidFill>
                <a:latin typeface="Calibri" pitchFamily="34" charset="0"/>
                <a:ea typeface="Calibri" pitchFamily="34" charset="-122"/>
                <a:cs typeface="Calibri" pitchFamily="34" charset="-120"/>
              </a:rPr>
              <a:t>Nghệ thuật đạt thỏa thuận mà không đánh mất quan hệ — kỹ năng sinh lời trực tiếp nhất của người làm kinh tế.</a:t>
            </a:r>
            <a:endParaRPr lang="en-US" sz="1400" dirty="0"/>
          </a:p>
        </p:txBody>
      </p:sp>
      <p:sp>
        <p:nvSpPr>
          <p:cNvPr id="9" name="Text 5"/>
          <p:cNvSpPr/>
          <p:nvPr/>
        </p:nvSpPr>
        <p:spPr>
          <a:xfrm>
            <a:off x="822960" y="5349240"/>
            <a:ext cx="7863840" cy="868680"/>
          </a:xfrm>
          <a:prstGeom prst="rect">
            <a:avLst/>
          </a:prstGeom>
          <a:noFill/>
          <a:ln/>
        </p:spPr>
        <p:txBody>
          <a:bodyPr wrap="square" lIns="0" tIns="0" rIns="0" bIns="0" rtlCol="0" anchor="ctr"/>
          <a:lstStyle/>
          <a:p>
            <a:pPr indent="0" marL="0">
              <a:buNone/>
            </a:pPr>
            <a:r>
              <a:rPr lang="en-US" sz="1500" b="1" dirty="0">
                <a:solidFill>
                  <a:srgbClr val="3A2B28"/>
                </a:solidFill>
                <a:latin typeface="Calibri" pitchFamily="34" charset="0"/>
                <a:ea typeface="Calibri" pitchFamily="34" charset="-122"/>
                <a:cs typeface="Calibri" pitchFamily="34" charset="-120"/>
              </a:rPr>
              <a:t>GV. Đỗ Thùy Hương</a:t>
            </a:r>
            <a:endParaRPr lang="en-US" sz="1500" dirty="0"/>
          </a:p>
          <a:p>
            <a:pPr indent="0" marL="0">
              <a:buNone/>
            </a:pPr>
            <a:r>
              <a:rPr lang="en-US" sz="1200" dirty="0">
                <a:solidFill>
                  <a:srgbClr val="8A7A76"/>
                </a:solidFill>
                <a:latin typeface="Calibri" pitchFamily="34" charset="0"/>
                <a:ea typeface="Calibri" pitchFamily="34" charset="-122"/>
                <a:cs typeface="Calibri" pitchFamily="34" charset="-120"/>
              </a:rPr>
              <a:t>EC1103 – Kỹ năng giao tiếp và soạn thảo văn bản (2:1)  •  Lớp 261b, HK1 năm học 2026 – 2027</a:t>
            </a:r>
            <a:endParaRPr lang="en-US" sz="1500" dirty="0"/>
          </a:p>
        </p:txBody>
      </p:sp>
      <p:sp>
        <p:nvSpPr>
          <p:cNvPr id="10" name="Text 6"/>
          <p:cNvSpPr/>
          <p:nvPr/>
        </p:nvSpPr>
        <p:spPr>
          <a:xfrm>
            <a:off x="822960" y="6355080"/>
            <a:ext cx="10515600" cy="320040"/>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 Đỗ Thùy Hương, 2026 — Bài giảng biên soạn cho lớp giảng dạy trực tiếp. Vui lòng ghi nguồn khi sử dụng.</a:t>
            </a:r>
            <a:endParaRPr lang="en-US" sz="900" dirty="0"/>
          </a:p>
        </p:txBody>
      </p:sp>
      <p:pic>
        <p:nvPicPr>
          <p:cNvPr id="11" name="Picture 10" descr="co-huong-doc.png"/>
          <p:cNvPicPr>
            <a:picLocks noChangeAspect="1"/>
          </p:cNvPicPr>
          <p:nvPr/>
        </p:nvPicPr>
        <p:blipFill>
          <a:blip r:embed="rId5"/>
          <a:stretch>
            <a:fillRect/>
          </a:stretch>
        </p:blipFill>
        <p:spPr>
          <a:xfrm>
            <a:off x="8641080" y="1051560"/>
            <a:ext cx="3279624"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MỤC TIÊU</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Sau chương này, sinh viên có thể</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Trình bày  —  </a:t>
            </a:r>
            <a:pPr indent="0" marL="0">
              <a:buNone/>
            </a:pPr>
            <a:r>
              <a:rPr lang="en-US" sz="1350" dirty="0">
                <a:solidFill>
                  <a:srgbClr val="3A2B28"/>
                </a:solidFill>
                <a:latin typeface="Calibri" pitchFamily="34" charset="0"/>
                <a:ea typeface="Calibri" pitchFamily="34" charset="-122"/>
                <a:cs typeface="Calibri" pitchFamily="34" charset="-120"/>
              </a:rPr>
              <a:t>khái niệm, đặc điểm và các kiểu đàm phán trong kinh doanh.</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Mô tả  —  </a:t>
            </a:r>
            <a:pPr indent="0" marL="0">
              <a:buNone/>
            </a:pPr>
            <a:r>
              <a:rPr lang="en-US" sz="1350" dirty="0">
                <a:solidFill>
                  <a:srgbClr val="3A2B28"/>
                </a:solidFill>
                <a:latin typeface="Calibri" pitchFamily="34" charset="0"/>
                <a:ea typeface="Calibri" pitchFamily="34" charset="-122"/>
                <a:cs typeface="Calibri" pitchFamily="34" charset="-120"/>
              </a:rPr>
              <a:t>tiến trình đàm phán 5 giai đoạn và nhiệm vụ then chốt của từng giai đoạn.</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Vận dụng  —  </a:t>
            </a:r>
            <a:pPr indent="0" marL="0">
              <a:buNone/>
            </a:pPr>
            <a:r>
              <a:rPr lang="en-US" sz="1350" dirty="0">
                <a:solidFill>
                  <a:srgbClr val="3A2B28"/>
                </a:solidFill>
                <a:latin typeface="Calibri" pitchFamily="34" charset="0"/>
                <a:ea typeface="Calibri" pitchFamily="34" charset="-122"/>
                <a:cs typeface="Calibri" pitchFamily="34" charset="-120"/>
              </a:rPr>
              <a:t>các kỹ năng đàm phán cơ bản: chuẩn bị BATNA, đặt câu hỏi, nhượng bộ có điều kiện.</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Nhận diện  —  </a:t>
            </a:r>
            <a:pPr indent="0" marL="0">
              <a:buNone/>
            </a:pPr>
            <a:r>
              <a:rPr lang="en-US" sz="1350" dirty="0">
                <a:solidFill>
                  <a:srgbClr val="3A2B28"/>
                </a:solidFill>
                <a:latin typeface="Calibri" pitchFamily="34" charset="0"/>
                <a:ea typeface="Calibri" pitchFamily="34" charset="-122"/>
                <a:cs typeface="Calibri" pitchFamily="34" charset="-120"/>
              </a:rPr>
              <a:t>các chiêu trò thường gặp trên bàn đàm phán và cách ứng phó chuyên nghiệp.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NỘI DUNG</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Chúng ta sẽ đi qua</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128016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4.1  —  </a:t>
            </a:r>
            <a:pPr indent="0" marL="0">
              <a:buNone/>
            </a:pPr>
            <a:r>
              <a:rPr lang="en-US" sz="1350" dirty="0">
                <a:solidFill>
                  <a:srgbClr val="3A2B28"/>
                </a:solidFill>
                <a:latin typeface="Calibri" pitchFamily="34" charset="0"/>
                <a:ea typeface="Calibri" pitchFamily="34" charset="-122"/>
                <a:cs typeface="Calibri" pitchFamily="34" charset="-120"/>
              </a:rPr>
              <a:t>Khái niệm, đặc điểm và các kiểu đàm phán trong kinh doanh</a:t>
            </a:r>
            <a:endParaRPr lang="en-US" sz="1400" dirty="0"/>
          </a:p>
        </p:txBody>
      </p:sp>
      <p:sp>
        <p:nvSpPr>
          <p:cNvPr id="12" name="Shape 9"/>
          <p:cNvSpPr/>
          <p:nvPr/>
        </p:nvSpPr>
        <p:spPr>
          <a:xfrm>
            <a:off x="502920" y="2898648"/>
            <a:ext cx="384048" cy="384048"/>
          </a:xfrm>
          <a:prstGeom prst="ellipse">
            <a:avLst/>
          </a:prstGeom>
          <a:solidFill>
            <a:srgbClr val="DC756A"/>
          </a:solidFill>
          <a:ln/>
        </p:spPr>
        <p:txBody>
          <a:bodyPr/>
          <a:p/>
        </p:txBody>
      </p:sp>
      <p:sp>
        <p:nvSpPr>
          <p:cNvPr id="13" name="Text 10"/>
          <p:cNvSpPr/>
          <p:nvPr/>
        </p:nvSpPr>
        <p:spPr>
          <a:xfrm>
            <a:off x="50292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825496"/>
            <a:ext cx="10652760" cy="128016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4.2  —  </a:t>
            </a:r>
            <a:pPr indent="0" marL="0">
              <a:buNone/>
            </a:pPr>
            <a:r>
              <a:rPr lang="en-US" sz="1350" dirty="0">
                <a:solidFill>
                  <a:srgbClr val="3A2B28"/>
                </a:solidFill>
                <a:latin typeface="Calibri" pitchFamily="34" charset="0"/>
                <a:ea typeface="Calibri" pitchFamily="34" charset="-122"/>
                <a:cs typeface="Calibri" pitchFamily="34" charset="-120"/>
              </a:rPr>
              <a:t>Tiến trình đàm phán qua năm giai đoạn, từ chuẩn bị đến sau đàm phán</a:t>
            </a:r>
            <a:endParaRPr lang="en-US" sz="1400" dirty="0"/>
          </a:p>
        </p:txBody>
      </p:sp>
      <p:sp>
        <p:nvSpPr>
          <p:cNvPr id="15" name="Shape 12"/>
          <p:cNvSpPr/>
          <p:nvPr/>
        </p:nvSpPr>
        <p:spPr>
          <a:xfrm>
            <a:off x="502920" y="4178808"/>
            <a:ext cx="384048" cy="384048"/>
          </a:xfrm>
          <a:prstGeom prst="ellipse">
            <a:avLst/>
          </a:prstGeom>
          <a:solidFill>
            <a:srgbClr val="DC756A"/>
          </a:solidFill>
          <a:ln/>
        </p:spPr>
        <p:txBody>
          <a:bodyPr/>
          <a:p/>
        </p:txBody>
      </p:sp>
      <p:sp>
        <p:nvSpPr>
          <p:cNvPr id="16" name="Text 13"/>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4105656"/>
            <a:ext cx="10652760" cy="128016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4.3  —  </a:t>
            </a:r>
            <a:pPr indent="0" marL="0">
              <a:buNone/>
            </a:pPr>
            <a:r>
              <a:rPr lang="en-US" sz="1350" dirty="0">
                <a:solidFill>
                  <a:srgbClr val="3A2B28"/>
                </a:solidFill>
                <a:latin typeface="Calibri" pitchFamily="34" charset="0"/>
                <a:ea typeface="Calibri" pitchFamily="34" charset="-122"/>
                <a:cs typeface="Calibri" pitchFamily="34" charset="-120"/>
              </a:rPr>
              <a:t>Các kỹ năng đàm phán và cách nhận diện chiêu trò thường gặp</a:t>
            </a:r>
            <a:endParaRPr lang="en-US" sz="14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4.1</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Khái niệm và các kiểu đàm phán</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Hiểu bản chất kép của đàm phán: vừa hợp tác vừa cạnh tranh.</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Đàm phán là gì?</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Khái niệm</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Các bên vừa có lợi ích chung vừa xung đột, cùng đi đến thỏa thuận</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Bản chất kép: hợp tác + cạnh tranh</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Hợp tác để chiếc bánh lớn lên • cạnh tranh khi chia bánh</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Ba nguồn sức mạnh trên bàn đàm phán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Thông tin • Thời gian • Thế lực</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Đặc điểm của đàm phán trong kinh doanh</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Lấy lợi ích kinh tế làm trung tâm  —  </a:t>
            </a:r>
            <a:pPr indent="0" marL="0">
              <a:buNone/>
            </a:pPr>
            <a:r>
              <a:rPr lang="en-US" sz="1350" dirty="0">
                <a:solidFill>
                  <a:srgbClr val="3A2B28"/>
                </a:solidFill>
                <a:latin typeface="Calibri" pitchFamily="34" charset="0"/>
                <a:ea typeface="Calibri" pitchFamily="34" charset="-122"/>
                <a:cs typeface="Calibri" pitchFamily="34" charset="-120"/>
              </a:rPr>
              <a:t>mọi điều khoản đều quy về giá trị, chi phí, rủi ro</a:t>
            </a:r>
            <a:endParaRPr lang="en-US" sz="1400" dirty="0"/>
          </a:p>
        </p:txBody>
      </p:sp>
      <p:sp>
        <p:nvSpPr>
          <p:cNvPr id="12" name="Shape 9"/>
          <p:cNvSpPr/>
          <p:nvPr/>
        </p:nvSpPr>
        <p:spPr>
          <a:xfrm>
            <a:off x="502920" y="2514600"/>
            <a:ext cx="384048" cy="384048"/>
          </a:xfrm>
          <a:prstGeom prst="ellipse">
            <a:avLst/>
          </a:prstGeom>
          <a:solidFill>
            <a:srgbClr val="DC756A"/>
          </a:solidFill>
          <a:ln/>
        </p:spPr>
        <p:txBody>
          <a:bodyPr/>
          <a:p/>
        </p:txBody>
      </p:sp>
      <p:sp>
        <p:nvSpPr>
          <p:cNvPr id="13" name="Text 10"/>
          <p:cNvSpPr/>
          <p:nvPr/>
        </p:nvSpPr>
        <p:spPr>
          <a:xfrm>
            <a:off x="50292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441448"/>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Các bên vừa phụ thuộc vừa độc lập  —  </a:t>
            </a:r>
            <a:pPr indent="0" marL="0">
              <a:buNone/>
            </a:pPr>
            <a:r>
              <a:rPr lang="en-US" sz="1350" dirty="0">
                <a:solidFill>
                  <a:srgbClr val="3A2B28"/>
                </a:solidFill>
                <a:latin typeface="Calibri" pitchFamily="34" charset="0"/>
                <a:ea typeface="Calibri" pitchFamily="34" charset="-122"/>
                <a:cs typeface="Calibri" pitchFamily="34" charset="-120"/>
              </a:rPr>
              <a:t>cần nhau, nhưng bên nào cũng có phương án riêng</a:t>
            </a:r>
            <a:endParaRPr lang="en-US" sz="1400" dirty="0"/>
          </a:p>
        </p:txBody>
      </p:sp>
      <p:sp>
        <p:nvSpPr>
          <p:cNvPr id="15" name="Shape 12"/>
          <p:cNvSpPr/>
          <p:nvPr/>
        </p:nvSpPr>
        <p:spPr>
          <a:xfrm>
            <a:off x="502920" y="3456432"/>
            <a:ext cx="384048" cy="384048"/>
          </a:xfrm>
          <a:prstGeom prst="ellipse">
            <a:avLst/>
          </a:prstGeom>
          <a:solidFill>
            <a:srgbClr val="DC756A"/>
          </a:solidFill>
          <a:ln/>
        </p:spPr>
        <p:txBody>
          <a:bodyPr/>
          <a:p/>
        </p:txBody>
      </p:sp>
      <p:sp>
        <p:nvSpPr>
          <p:cNvPr id="16" name="Text 13"/>
          <p:cNvSpPr/>
          <p:nvPr/>
        </p:nvSpPr>
        <p:spPr>
          <a:xfrm>
            <a:off x="502920" y="3456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383280"/>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Thỏa thuận phải được văn bản hóa  —  </a:t>
            </a:r>
            <a:pPr indent="0" marL="0">
              <a:buNone/>
            </a:pPr>
            <a:r>
              <a:rPr lang="en-US" sz="1350" dirty="0">
                <a:solidFill>
                  <a:srgbClr val="3A2B28"/>
                </a:solidFill>
                <a:latin typeface="Calibri" pitchFamily="34" charset="0"/>
                <a:ea typeface="Calibri" pitchFamily="34" charset="-122"/>
                <a:cs typeface="Calibri" pitchFamily="34" charset="-120"/>
              </a:rPr>
              <a:t>chỉ an toàn khi thành hợp đồng đúng thể thức</a:t>
            </a:r>
            <a:endParaRPr lang="en-US" sz="1400" dirty="0"/>
          </a:p>
        </p:txBody>
      </p:sp>
      <p:sp>
        <p:nvSpPr>
          <p:cNvPr id="18" name="Shape 15"/>
          <p:cNvSpPr/>
          <p:nvPr/>
        </p:nvSpPr>
        <p:spPr>
          <a:xfrm>
            <a:off x="502920" y="4398264"/>
            <a:ext cx="384048" cy="384048"/>
          </a:xfrm>
          <a:prstGeom prst="ellipse">
            <a:avLst/>
          </a:prstGeom>
          <a:solidFill>
            <a:srgbClr val="DC756A"/>
          </a:solidFill>
          <a:ln/>
        </p:spPr>
        <p:txBody>
          <a:bodyPr/>
          <a:p/>
        </p:txBody>
      </p:sp>
      <p:sp>
        <p:nvSpPr>
          <p:cNvPr id="19" name="Text 16"/>
          <p:cNvSpPr/>
          <p:nvPr/>
        </p:nvSpPr>
        <p:spPr>
          <a:xfrm>
            <a:off x="502920" y="4398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325112"/>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Diễn ra trong giới hạn  —  </a:t>
            </a:r>
            <a:pPr indent="0" marL="0">
              <a:buNone/>
            </a:pPr>
            <a:r>
              <a:rPr lang="en-US" sz="1350" dirty="0">
                <a:solidFill>
                  <a:srgbClr val="3A2B28"/>
                </a:solidFill>
                <a:latin typeface="Calibri" pitchFamily="34" charset="0"/>
                <a:ea typeface="Calibri" pitchFamily="34" charset="-122"/>
                <a:cs typeface="Calibri" pitchFamily="34" charset="-120"/>
              </a:rPr>
              <a:t>thời gian, thẩm quyền, ngân sách — của cả hai bên</a:t>
            </a:r>
            <a:endParaRPr lang="en-US" sz="1400" dirty="0"/>
          </a:p>
        </p:txBody>
      </p:sp>
      <p:sp>
        <p:nvSpPr>
          <p:cNvPr id="21" name="Shape 18"/>
          <p:cNvSpPr/>
          <p:nvPr/>
        </p:nvSpPr>
        <p:spPr>
          <a:xfrm>
            <a:off x="502920" y="5340096"/>
            <a:ext cx="384048" cy="384048"/>
          </a:xfrm>
          <a:prstGeom prst="ellipse">
            <a:avLst/>
          </a:prstGeom>
          <a:solidFill>
            <a:srgbClr val="DC756A"/>
          </a:solidFill>
          <a:ln/>
        </p:spPr>
        <p:txBody>
          <a:bodyPr/>
          <a:p/>
        </p:txBody>
      </p:sp>
      <p:sp>
        <p:nvSpPr>
          <p:cNvPr id="22" name="Text 19"/>
          <p:cNvSpPr/>
          <p:nvPr/>
        </p:nvSpPr>
        <p:spPr>
          <a:xfrm>
            <a:off x="502920" y="53400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0"/>
          <p:cNvSpPr/>
          <p:nvPr/>
        </p:nvSpPr>
        <p:spPr>
          <a:xfrm>
            <a:off x="1051560" y="5266944"/>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Chịu ảnh hưởng văn hóa và quan hệ  —  </a:t>
            </a:r>
            <a:pPr indent="0" marL="0">
              <a:buNone/>
            </a:pPr>
            <a:r>
              <a:rPr lang="en-US" sz="1350" dirty="0">
                <a:solidFill>
                  <a:srgbClr val="3A2B28"/>
                </a:solidFill>
                <a:latin typeface="Calibri" pitchFamily="34" charset="0"/>
                <a:ea typeface="Calibri" pitchFamily="34" charset="-122"/>
                <a:cs typeface="Calibri" pitchFamily="34" charset="-120"/>
              </a:rPr>
              <a:t>thương vụ một lần khác hẳn quan hệ lâu dài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Các kiểu đàm phán</a:t>
            </a:r>
            <a:endParaRPr lang="en-US" sz="2700" dirty="0"/>
          </a:p>
        </p:txBody>
      </p:sp>
      <p:pic>
        <p:nvPicPr>
          <p:cNvPr id="9" name="Picture 8" descr="c4-ba-kieu-dam-phan-nt.png"/>
          <p:cNvPicPr>
            <a:picLocks noChangeAspect="1"/>
          </p:cNvPicPr>
          <p:nvPr/>
        </p:nvPicPr>
        <p:blipFill>
          <a:blip r:embed="rId4"/>
          <a:stretch>
            <a:fillRect/>
          </a:stretch>
        </p:blipFill>
        <p:spPr>
          <a:xfrm>
            <a:off x="847426" y="1789023"/>
            <a:ext cx="10496843" cy="4093768"/>
          </a:xfrm>
          <a:prstGeom prst="rect">
            <a:avLst/>
          </a:prstGeom>
        </p:spPr>
      </p:pic>
      <p:sp>
        <p:nvSpPr>
          <p:cNvPr id="10" name="TextBox 9"/>
          <p:cNvSpPr txBox="1"/>
          <p:nvPr/>
        </p:nvSpPr>
        <p:spPr>
          <a:xfrm>
            <a:off x="548640" y="5955944"/>
            <a:ext cx="11109960" cy="310896"/>
          </a:xfrm>
          <a:prstGeom prst="rect">
            <a:avLst/>
          </a:prstGeom>
          <a:noFill/>
        </p:spPr>
        <p:txBody>
          <a:bodyPr wrap="square">
            <a:spAutoFit/>
          </a:bodyPr>
          <a:lstStyle/>
          <a:p>
            <a:pPr algn="ctr"/>
            <a:r>
              <a:rPr sz="1150" i="1">
                <a:solidFill>
                  <a:srgbClr val="8A7A76"/>
                </a:solidFill>
                <a:latin typeface="Calibri"/>
              </a:rPr>
              <a:t>Ba kiểu chỉ khác nhau ở bốn điểm — bảng đối chiếu cho thấy cả bốn trong một cái nhìn.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4.2</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Tiến trình đàm phán năm giai đoạn</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Bảy mươi phần trăm kết quả được quyết định trước khi hai bên ngồi vào bàn.</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Tiến trình đàm phán: 5 giai đoạn</a:t>
            </a:r>
            <a:endParaRPr lang="en-US" sz="2700" dirty="0"/>
          </a:p>
        </p:txBody>
      </p:sp>
      <p:pic>
        <p:nvPicPr>
          <p:cNvPr id="9" name="Picture 8" descr="c4-tien-trinh-dam-phan-nt.png"/>
          <p:cNvPicPr>
            <a:picLocks noChangeAspect="1"/>
          </p:cNvPicPr>
          <p:nvPr/>
        </p:nvPicPr>
        <p:blipFill>
          <a:blip r:embed="rId4"/>
          <a:stretch>
            <a:fillRect/>
          </a:stretch>
        </p:blipFill>
        <p:spPr>
          <a:xfrm>
            <a:off x="472287" y="1781494"/>
            <a:ext cx="11247120" cy="41088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Giai đoạn chuẩn bị — vũ khí quan trọng nhất</a:t>
            </a:r>
            <a:endParaRPr lang="en-US" sz="2700" dirty="0"/>
          </a:p>
        </p:txBody>
      </p:sp>
      <p:pic>
        <p:nvPicPr>
          <p:cNvPr id="9" name="Picture 8" descr="c4-batna-zopa-nt.png"/>
          <p:cNvPicPr>
            <a:picLocks noChangeAspect="1"/>
          </p:cNvPicPr>
          <p:nvPr/>
        </p:nvPicPr>
        <p:blipFill>
          <a:blip r:embed="rId4"/>
          <a:stretch>
            <a:fillRect/>
          </a:stretch>
        </p:blipFill>
        <p:spPr>
          <a:xfrm>
            <a:off x="875649" y="1942480"/>
            <a:ext cx="10440397" cy="3786855"/>
          </a:xfrm>
          <a:prstGeom prst="rect">
            <a:avLst/>
          </a:prstGeom>
        </p:spPr>
      </p:pic>
      <p:sp>
        <p:nvSpPr>
          <p:cNvPr id="10" name="TextBox 9"/>
          <p:cNvSpPr txBox="1"/>
          <p:nvPr/>
        </p:nvSpPr>
        <p:spPr>
          <a:xfrm>
            <a:off x="548640" y="5802487"/>
            <a:ext cx="11109960" cy="310896"/>
          </a:xfrm>
          <a:prstGeom prst="rect">
            <a:avLst/>
          </a:prstGeom>
          <a:noFill/>
        </p:spPr>
        <p:txBody>
          <a:bodyPr wrap="square">
            <a:spAutoFit/>
          </a:bodyPr>
          <a:lstStyle/>
          <a:p>
            <a:pPr algn="ctr"/>
            <a:r>
              <a:rPr sz="1150" i="1">
                <a:solidFill>
                  <a:srgbClr val="8A7A76"/>
                </a:solidFill>
                <a:latin typeface="Calibri"/>
              </a:rPr>
              <a:t>ZOPA hẹp hay rộng phụ thuộc vào giới hạn thật của hai bên — chuẩn bị kỹ để biết mình đang ở đâu trên trục này.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292608"/>
          </a:xfrm>
          <a:prstGeom prst="rect">
            <a:avLst/>
          </a:prstGeom>
          <a:noFill/>
        </p:spPr>
        <p:txBody>
          <a:bodyPr wrap="none">
            <a:spAutoFit/>
          </a:bodyPr>
          <a:lstStyle/>
          <a:p>
            <a:r>
              <a:rPr sz="1100" b="1">
                <a:solidFill>
                  <a:srgbClr val="DC756A"/>
                </a:solidFill>
                <a:latin typeface="Calibri"/>
              </a:rPr>
              <a:t>CON SỐ PHẢI NHỚ</a:t>
            </a:r>
          </a:p>
        </p:txBody>
      </p:sp>
      <p:sp>
        <p:nvSpPr>
          <p:cNvPr id="4" name="TextBox 3"/>
          <p:cNvSpPr txBox="1"/>
          <p:nvPr/>
        </p:nvSpPr>
        <p:spPr>
          <a:xfrm>
            <a:off x="502920" y="603504"/>
            <a:ext cx="11155680" cy="731520"/>
          </a:xfrm>
          <a:prstGeom prst="rect">
            <a:avLst/>
          </a:prstGeom>
          <a:noFill/>
        </p:spPr>
        <p:txBody>
          <a:bodyPr wrap="square">
            <a:spAutoFit/>
          </a:bodyPr>
          <a:lstStyle/>
          <a:p>
            <a:r>
              <a:rPr sz="2700" b="1">
                <a:solidFill>
                  <a:srgbClr val="3A2B28"/>
                </a:solidFill>
                <a:latin typeface="Cambria"/>
              </a:rPr>
              <a:t>Vì sao chuẩn bị lại quan trọng đến thế?</a:t>
            </a:r>
          </a:p>
        </p:txBody>
      </p:sp>
      <p:sp>
        <p:nvSpPr>
          <p:cNvPr id="5" name="Rounded Rectangle 4"/>
          <p:cNvSpPr/>
          <p:nvPr/>
        </p:nvSpPr>
        <p:spPr>
          <a:xfrm>
            <a:off x="502920" y="1783080"/>
            <a:ext cx="3575304"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70%</a:t>
            </a:r>
          </a:p>
          <a:p>
            <a:pPr algn="ctr"/>
            <a:r>
              <a:rPr sz="1400" b="1">
                <a:solidFill>
                  <a:srgbClr val="AC4D33"/>
                </a:solidFill>
                <a:latin typeface="Calibri"/>
              </a:rPr>
              <a:t>KẾT QUẢ</a:t>
            </a:r>
          </a:p>
          <a:p>
            <a:pPr algn="ctr">
              <a:spcBef>
                <a:spcPts val="1200"/>
              </a:spcBef>
            </a:pPr>
            <a:r>
              <a:rPr sz="1250">
                <a:solidFill>
                  <a:srgbClr val="3A2B28"/>
                </a:solidFill>
                <a:latin typeface="Calibri"/>
              </a:rPr>
              <a:t>được quyết định ngay từ giai đoạn chuẩn bị, trước khi hai bên ngồi vào bàn</a:t>
            </a:r>
          </a:p>
        </p:txBody>
      </p:sp>
      <p:sp>
        <p:nvSpPr>
          <p:cNvPr id="6" name="Rounded Rectangle 5"/>
          <p:cNvSpPr/>
          <p:nvPr/>
        </p:nvSpPr>
        <p:spPr>
          <a:xfrm>
            <a:off x="4315968" y="1783080"/>
            <a:ext cx="3575304"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3</a:t>
            </a:r>
          </a:p>
          <a:p>
            <a:pPr algn="ctr"/>
            <a:r>
              <a:rPr sz="1400" b="1">
                <a:solidFill>
                  <a:srgbClr val="AC4D33"/>
                </a:solidFill>
                <a:latin typeface="Calibri"/>
              </a:rPr>
              <a:t>MỨC MỤC TIÊU</a:t>
            </a:r>
          </a:p>
          <a:p>
            <a:pPr algn="ctr">
              <a:spcBef>
                <a:spcPts val="1200"/>
              </a:spcBef>
            </a:pPr>
            <a:r>
              <a:rPr sz="1250">
                <a:solidFill>
                  <a:srgbClr val="3A2B28"/>
                </a:solidFill>
                <a:latin typeface="Calibri"/>
              </a:rPr>
              <a:t>Lý tưởng – Kỳ vọng – Tối thiểu: phải viết ra giấy trước khi đàm phán</a:t>
            </a:r>
          </a:p>
        </p:txBody>
      </p:sp>
      <p:sp>
        <p:nvSpPr>
          <p:cNvPr id="7" name="Rounded Rectangle 6"/>
          <p:cNvSpPr/>
          <p:nvPr/>
        </p:nvSpPr>
        <p:spPr>
          <a:xfrm>
            <a:off x="8129016" y="1783080"/>
            <a:ext cx="3575304"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1</a:t>
            </a:r>
          </a:p>
          <a:p>
            <a:pPr algn="ctr"/>
            <a:r>
              <a:rPr sz="1400" b="1">
                <a:solidFill>
                  <a:srgbClr val="AC4D33"/>
                </a:solidFill>
                <a:latin typeface="Calibri"/>
              </a:rPr>
              <a:t>BATNA</a:t>
            </a:r>
          </a:p>
          <a:p>
            <a:pPr algn="ctr">
              <a:spcBef>
                <a:spcPts val="1200"/>
              </a:spcBef>
            </a:pPr>
            <a:r>
              <a:rPr sz="1250">
                <a:solidFill>
                  <a:srgbClr val="3A2B28"/>
                </a:solidFill>
                <a:latin typeface="Calibri"/>
              </a:rPr>
              <a:t>Phương án thay thế tốt nhất — nguồn sức mạnh thật sự trên bàn đàm phán</a:t>
            </a:r>
          </a:p>
        </p:txBody>
      </p:sp>
      <p:sp>
        <p:nvSpPr>
          <p:cNvPr id="8" name="Rounded Rectangle 7"/>
          <p:cNvSpPr/>
          <p:nvPr/>
        </p:nvSpPr>
        <p:spPr>
          <a:xfrm>
            <a:off x="502920" y="5440680"/>
            <a:ext cx="11201400" cy="685800"/>
          </a:xfrm>
          <a:prstGeom prst="roundRect">
            <a:avLst>
              <a:gd name="adj" fmla="val 12000"/>
            </a:avLst>
          </a:prstGeom>
          <a:solidFill>
            <a:srgbClr val="FDF1EF"/>
          </a:solidFill>
          <a:ln w="12700">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r>
              <a:rPr sz="1300">
                <a:solidFill>
                  <a:srgbClr val="3A2B28"/>
                </a:solidFill>
                <a:latin typeface="Calibri"/>
              </a:rPr>
              <a:t>Câu để đời của chương: “Không chuẩn bị chính là chuẩn bị để nhượng bộ.”</a:t>
            </a:r>
          </a:p>
        </p:txBody>
      </p:sp>
      <p:sp>
        <p:nvSpPr>
          <p:cNvPr id="9" name="TextBox 8"/>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10" name="TextBox 9"/>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Mở đầu và thương lượng</a:t>
            </a:r>
            <a:endParaRPr lang="en-US" sz="2700" dirty="0"/>
          </a:p>
        </p:txBody>
      </p:sp>
      <p:sp>
        <p:nvSpPr>
          <p:cNvPr id="9" name="Shape 6"/>
          <p:cNvSpPr/>
          <p:nvPr/>
        </p:nvSpPr>
        <p:spPr>
          <a:xfrm>
            <a:off x="502920" y="1417320"/>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Tạo không khí và thăm dò</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Hỏi mở để họ bộc lộ nhu cầu trước khi mình ra giá</a:t>
            </a:r>
            <a:endParaRPr lang="en-US" sz="1500" dirty="0"/>
          </a:p>
        </p:txBody>
      </p:sp>
      <p:sp>
        <p:nvSpPr>
          <p:cNvPr id="11" name="Shape 8"/>
          <p:cNvSpPr/>
          <p:nvPr/>
        </p:nvSpPr>
        <p:spPr>
          <a:xfrm>
            <a:off x="502920" y="2658618"/>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2" name="Text 9"/>
          <p:cNvSpPr/>
          <p:nvPr/>
        </p:nvSpPr>
        <p:spPr>
          <a:xfrm>
            <a:off x="722376" y="2713482"/>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Đưa đề nghị và mặc cả</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Đề nghị đầu phải có căn cứ; hỏi lại “dựa trên cơ sở nào?”</a:t>
            </a:r>
            <a:endParaRPr lang="en-US" sz="1500" dirty="0"/>
          </a:p>
        </p:txBody>
      </p:sp>
      <p:sp>
        <p:nvSpPr>
          <p:cNvPr id="13" name="Shape 10"/>
          <p:cNvSpPr/>
          <p:nvPr/>
        </p:nvSpPr>
        <p:spPr>
          <a:xfrm>
            <a:off x="502920" y="3899916"/>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4" name="Text 11"/>
          <p:cNvSpPr/>
          <p:nvPr/>
        </p:nvSpPr>
        <p:spPr>
          <a:xfrm>
            <a:off x="722376" y="3954780"/>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Nhượng bộ có điều kiện</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Không cho không bao giờ; nhượng bộ nhỏ dần</a:t>
            </a:r>
            <a:endParaRPr lang="en-US" sz="1500" dirty="0"/>
          </a:p>
        </p:txBody>
      </p:sp>
      <p:sp>
        <p:nvSpPr>
          <p:cNvPr id="15" name="Shape 12"/>
          <p:cNvSpPr/>
          <p:nvPr/>
        </p:nvSpPr>
        <p:spPr>
          <a:xfrm>
            <a:off x="502920" y="5141214"/>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6" name="Text 13"/>
          <p:cNvSpPr/>
          <p:nvPr/>
        </p:nvSpPr>
        <p:spPr>
          <a:xfrm>
            <a:off x="722376" y="5196078"/>
            <a:ext cx="10762488" cy="966978"/>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Xử lý bế tắc</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Tạm nghỉ • đổi người, đổi vấn đề • lấy tiêu chí khách quan làm trọng tài</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Kết thúc và sau đàm phán</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Nhận biết thời điểm chốt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Họ hỏi chi tiết triển khai, thanh toán, giao hàng — đó là tín hiệu</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Văn bản hóa ngay</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Thỏa thuận miệng chưa phải kết thúc — phải thành văn bản</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Sau đàm phán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Làm đúng cam kết • giữ liên lạc • họp rút kinh nghiệm</a:t>
            </a:r>
            <a:endParaRPr lang="en-US" sz="15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MỤC 4.3</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Kỹ năng và chiêu trò trên bàn đàm phán</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Những gì cần rèn, và những gì cần nhận diện để không bị dẫn dắt.</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GV. Đỗ Thùy Hương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Chương 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Kỹ năng nền tảng trên bàn đàm phán</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Lắng nghe và đặt câu hỏi</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Nghe nhiều hơn nói; im lặng đúng lúc cũng là một nước đi</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Thuyết phục bằng lợi ích và bằng chứng</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Nói bằng ngôn ngữ lợi ích của họ, kèm số liệu và tiền lệ</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Kiểm soát cảm xúc</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Tức giận là nhượng quyền kiểm soát cho đối phương</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Làm việc theo êkíp</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Phân vai rõ; không bao giờ mâu thuẫn nội bộ trước mặt đối tác</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4.3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Nhận diện chiêu trò thường gặp</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Neo giá sốc  —  </a:t>
            </a:r>
            <a:pPr indent="0" marL="0">
              <a:buNone/>
            </a:pPr>
            <a:r>
              <a:rPr lang="en-US" sz="1350" dirty="0">
                <a:solidFill>
                  <a:srgbClr val="3A2B28"/>
                </a:solidFill>
                <a:latin typeface="Calibri" pitchFamily="34" charset="0"/>
                <a:ea typeface="Calibri" pitchFamily="34" charset="-122"/>
                <a:cs typeface="Calibri" pitchFamily="34" charset="-120"/>
              </a:rPr>
              <a:t>đề nghị bất thường để kéo kỳ vọng → bám tiêu chí khách quan</a:t>
            </a:r>
            <a:endParaRPr lang="en-US" sz="1400" dirty="0"/>
          </a:p>
        </p:txBody>
      </p:sp>
      <p:sp>
        <p:nvSpPr>
          <p:cNvPr id="12" name="Shape 9"/>
          <p:cNvSpPr/>
          <p:nvPr/>
        </p:nvSpPr>
        <p:spPr>
          <a:xfrm>
            <a:off x="502920" y="2514600"/>
            <a:ext cx="384048" cy="384048"/>
          </a:xfrm>
          <a:prstGeom prst="ellipse">
            <a:avLst/>
          </a:prstGeom>
          <a:solidFill>
            <a:srgbClr val="DC756A"/>
          </a:solidFill>
          <a:ln/>
        </p:spPr>
        <p:txBody>
          <a:bodyPr/>
          <a:p/>
        </p:txBody>
      </p:sp>
      <p:sp>
        <p:nvSpPr>
          <p:cNvPr id="13" name="Text 10"/>
          <p:cNvSpPr/>
          <p:nvPr/>
        </p:nvSpPr>
        <p:spPr>
          <a:xfrm>
            <a:off x="50292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441448"/>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Người tốt – kẻ xấu  —  </a:t>
            </a:r>
            <a:pPr indent="0" marL="0">
              <a:buNone/>
            </a:pPr>
            <a:r>
              <a:rPr lang="en-US" sz="1350" dirty="0">
                <a:solidFill>
                  <a:srgbClr val="3A2B28"/>
                </a:solidFill>
                <a:latin typeface="Calibri" pitchFamily="34" charset="0"/>
                <a:ea typeface="Calibri" pitchFamily="34" charset="-122"/>
                <a:cs typeface="Calibri" pitchFamily="34" charset="-120"/>
              </a:rPr>
              <a:t>một người gay gắt, một người dễ thương → chỉ bàn nội dung</a:t>
            </a:r>
            <a:endParaRPr lang="en-US" sz="1400" dirty="0"/>
          </a:p>
        </p:txBody>
      </p:sp>
      <p:sp>
        <p:nvSpPr>
          <p:cNvPr id="15" name="Shape 12"/>
          <p:cNvSpPr/>
          <p:nvPr/>
        </p:nvSpPr>
        <p:spPr>
          <a:xfrm>
            <a:off x="502920" y="3456432"/>
            <a:ext cx="384048" cy="384048"/>
          </a:xfrm>
          <a:prstGeom prst="ellipse">
            <a:avLst/>
          </a:prstGeom>
          <a:solidFill>
            <a:srgbClr val="DC756A"/>
          </a:solidFill>
          <a:ln/>
        </p:spPr>
        <p:txBody>
          <a:bodyPr/>
          <a:p/>
        </p:txBody>
      </p:sp>
      <p:sp>
        <p:nvSpPr>
          <p:cNvPr id="16" name="Text 13"/>
          <p:cNvSpPr/>
          <p:nvPr/>
        </p:nvSpPr>
        <p:spPr>
          <a:xfrm>
            <a:off x="502920" y="3456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383280"/>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Thời hạn chót giả  —  </a:t>
            </a:r>
            <a:pPr indent="0" marL="0">
              <a:buNone/>
            </a:pPr>
            <a:r>
              <a:rPr lang="en-US" sz="1350" dirty="0">
                <a:solidFill>
                  <a:srgbClr val="3A2B28"/>
                </a:solidFill>
                <a:latin typeface="Calibri" pitchFamily="34" charset="0"/>
                <a:ea typeface="Calibri" pitchFamily="34" charset="-122"/>
                <a:cs typeface="Calibri" pitchFamily="34" charset="-120"/>
              </a:rPr>
              <a:t>“chỉ còn hôm nay” → kiểm chứng, sẵn sàng rời bàn</a:t>
            </a:r>
            <a:endParaRPr lang="en-US" sz="1400" dirty="0"/>
          </a:p>
        </p:txBody>
      </p:sp>
      <p:sp>
        <p:nvSpPr>
          <p:cNvPr id="18" name="Shape 15"/>
          <p:cNvSpPr/>
          <p:nvPr/>
        </p:nvSpPr>
        <p:spPr>
          <a:xfrm>
            <a:off x="502920" y="4398264"/>
            <a:ext cx="384048" cy="384048"/>
          </a:xfrm>
          <a:prstGeom prst="ellipse">
            <a:avLst/>
          </a:prstGeom>
          <a:solidFill>
            <a:srgbClr val="DC756A"/>
          </a:solidFill>
          <a:ln/>
        </p:spPr>
        <p:txBody>
          <a:bodyPr/>
          <a:p/>
        </p:txBody>
      </p:sp>
      <p:sp>
        <p:nvSpPr>
          <p:cNvPr id="19" name="Text 16"/>
          <p:cNvSpPr/>
          <p:nvPr/>
        </p:nvSpPr>
        <p:spPr>
          <a:xfrm>
            <a:off x="502920" y="4398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325112"/>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Cắt lát salami  —  </a:t>
            </a:r>
            <a:pPr indent="0" marL="0">
              <a:buNone/>
            </a:pPr>
            <a:r>
              <a:rPr lang="en-US" sz="1350" dirty="0">
                <a:solidFill>
                  <a:srgbClr val="3A2B28"/>
                </a:solidFill>
                <a:latin typeface="Calibri" pitchFamily="34" charset="0"/>
                <a:ea typeface="Calibri" pitchFamily="34" charset="-122"/>
                <a:cs typeface="Calibri" pitchFamily="34" charset="-120"/>
              </a:rPr>
              <a:t>đòi thêm từng chút → gói cả điều khoản lại</a:t>
            </a:r>
            <a:endParaRPr lang="en-US" sz="1400" dirty="0"/>
          </a:p>
        </p:txBody>
      </p:sp>
      <p:sp>
        <p:nvSpPr>
          <p:cNvPr id="21" name="Shape 18"/>
          <p:cNvSpPr/>
          <p:nvPr/>
        </p:nvSpPr>
        <p:spPr>
          <a:xfrm>
            <a:off x="502920" y="5340096"/>
            <a:ext cx="384048" cy="384048"/>
          </a:xfrm>
          <a:prstGeom prst="ellipse">
            <a:avLst/>
          </a:prstGeom>
          <a:solidFill>
            <a:srgbClr val="DC756A"/>
          </a:solidFill>
          <a:ln/>
        </p:spPr>
        <p:txBody>
          <a:bodyPr/>
          <a:p/>
        </p:txBody>
      </p:sp>
      <p:sp>
        <p:nvSpPr>
          <p:cNvPr id="22" name="Text 19"/>
          <p:cNvSpPr/>
          <p:nvPr/>
        </p:nvSpPr>
        <p:spPr>
          <a:xfrm>
            <a:off x="502920" y="53400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0"/>
          <p:cNvSpPr/>
          <p:nvPr/>
        </p:nvSpPr>
        <p:spPr>
          <a:xfrm>
            <a:off x="1051560" y="5266944"/>
            <a:ext cx="10652760" cy="941832"/>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Đòi hỏi phút chót  —  </a:t>
            </a:r>
            <a:pPr indent="0" marL="0">
              <a:buNone/>
            </a:pPr>
            <a:r>
              <a:rPr lang="en-US" sz="1350" dirty="0">
                <a:solidFill>
                  <a:srgbClr val="3A2B28"/>
                </a:solidFill>
                <a:latin typeface="Calibri" pitchFamily="34" charset="0"/>
                <a:ea typeface="Calibri" pitchFamily="34" charset="-122"/>
                <a:cs typeface="Calibri" pitchFamily="34" charset="-120"/>
              </a:rPr>
              <a:t>thêm yêu cầu trước khi ký → đòi đối ứng tương xứng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HOẠT ĐỘNG NHÓM</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Role-play: đàm phán mua thiết bị</a:t>
            </a:r>
            <a:endParaRPr lang="en-US" sz="2700" dirty="0"/>
          </a:p>
        </p:txBody>
      </p:sp>
      <p:sp>
        <p:nvSpPr>
          <p:cNvPr id="9" name="Shape 6"/>
          <p:cNvSpPr/>
          <p:nvPr/>
        </p:nvSpPr>
        <p:spPr>
          <a:xfrm>
            <a:off x="502920" y="1417320"/>
            <a:ext cx="11201400" cy="2103120"/>
          </a:xfrm>
          <a:prstGeom prst="roundRect">
            <a:avLst>
              <a:gd name="adj" fmla="val 4348"/>
            </a:avLst>
          </a:prstGeom>
          <a:solidFill>
            <a:srgbClr val="FBEDE0"/>
          </a:solidFill>
          <a:ln w="15875">
            <a:solidFill>
              <a:srgbClr val="C9A227"/>
            </a:solidFill>
            <a:prstDash val="solid"/>
          </a:ln>
        </p:spPr>
        <p:txBody>
          <a:bodyPr/>
          <a:p/>
        </p:txBody>
      </p:sp>
      <p:sp>
        <p:nvSpPr>
          <p:cNvPr id="10" name="Text 7"/>
          <p:cNvSpPr/>
          <p:nvPr/>
        </p:nvSpPr>
        <p:spPr>
          <a:xfrm>
            <a:off x="749808" y="1508760"/>
            <a:ext cx="10698480" cy="1920240"/>
          </a:xfrm>
          <a:prstGeom prst="rect">
            <a:avLst/>
          </a:prstGeom>
          <a:noFill/>
          <a:ln/>
        </p:spPr>
        <p:txBody>
          <a:bodyPr wrap="square" lIns="0" tIns="0" rIns="0" bIns="0" rtlCol="0" anchor="ctr"/>
          <a:lstStyle/>
          <a:p>
            <a:pPr indent="0" marL="0">
              <a:buNone/>
            </a:pPr>
            <a:r>
              <a:rPr lang="en-US" sz="1500" b="1" dirty="0">
                <a:solidFill>
                  <a:srgbClr val="8A6510"/>
                </a:solidFill>
                <a:latin typeface="Calibri" pitchFamily="34" charset="0"/>
                <a:ea typeface="Calibri" pitchFamily="34" charset="-122"/>
                <a:cs typeface="Calibri" pitchFamily="34" charset="-120"/>
              </a:rPr>
              <a:t>TÌNH HUỐNG (2 nhóm/cặp, 25 phút; mỗi bên nhận “hồ sơ mật” riêng của giảng viên)</a:t>
            </a:r>
            <a:endParaRPr lang="en-US" sz="1500" dirty="0"/>
          </a:p>
          <a:p>
            <a:pPr indent="0" marL="0">
              <a:buNone/>
            </a:pPr>
            <a:r>
              <a:rPr lang="en-US" sz="1350" i="1" dirty="0">
                <a:solidFill>
                  <a:srgbClr val="3A2B28"/>
                </a:solidFill>
                <a:latin typeface="Calibri" pitchFamily="34" charset="0"/>
                <a:ea typeface="Calibri" pitchFamily="34" charset="-122"/>
                <a:cs typeface="Calibri" pitchFamily="34" charset="-120"/>
              </a:rPr>
              <a:t>Công ty X cần mua 20 máy tính cho phòng làm việc mới, ngân sách tối đa 240 triệu, cần giao trong 3 tuần. Nhà cung cấp Y muốn bán giá tốt nhưng đang tồn kho model cũ và muốn ký hợp đồng bảo trì dài hạn. Hai bên chưa biết giới hạn của nhau.</a:t>
            </a:r>
            <a:endParaRPr lang="en-US" sz="1500" dirty="0"/>
          </a:p>
        </p:txBody>
      </p:sp>
      <p:sp>
        <p:nvSpPr>
          <p:cNvPr id="11" name="Text 8"/>
          <p:cNvSpPr/>
          <p:nvPr/>
        </p:nvSpPr>
        <p:spPr>
          <a:xfrm>
            <a:off x="502920" y="3749040"/>
            <a:ext cx="11201400" cy="320040"/>
          </a:xfrm>
          <a:prstGeom prst="rect">
            <a:avLst/>
          </a:prstGeom>
          <a:noFill/>
          <a:ln/>
        </p:spPr>
        <p:txBody>
          <a:bodyPr wrap="square" lIns="0" tIns="0" rIns="0" bIns="0" rtlCol="0" anchor="ctr"/>
          <a:lstStyle/>
          <a:p>
            <a:pPr indent="0" marL="0">
              <a:buNone/>
            </a:pPr>
            <a:r>
              <a:rPr lang="en-US" sz="1300" b="1" spc="100" kern="0" dirty="0">
                <a:solidFill>
                  <a:srgbClr val="AC4D33"/>
                </a:solidFill>
                <a:latin typeface="Calibri" pitchFamily="34" charset="0"/>
                <a:ea typeface="Calibri" pitchFamily="34" charset="-122"/>
                <a:cs typeface="Calibri" pitchFamily="34" charset="-120"/>
              </a:rPr>
              <a:t>NHIỆM VỤ CỦA NHÓM</a:t>
            </a:r>
            <a:endParaRPr lang="en-US" sz="1300" dirty="0"/>
          </a:p>
        </p:txBody>
      </p:sp>
      <p:sp>
        <p:nvSpPr>
          <p:cNvPr id="12" name="Shape 9"/>
          <p:cNvSpPr/>
          <p:nvPr/>
        </p:nvSpPr>
        <p:spPr>
          <a:xfrm>
            <a:off x="502920" y="4178808"/>
            <a:ext cx="384048" cy="384048"/>
          </a:xfrm>
          <a:prstGeom prst="ellipse">
            <a:avLst/>
          </a:prstGeom>
          <a:solidFill>
            <a:srgbClr val="DC756A"/>
          </a:solidFill>
          <a:ln/>
        </p:spPr>
        <p:txBody>
          <a:bodyPr/>
          <a:p/>
        </p:txBody>
      </p:sp>
      <p:sp>
        <p:nvSpPr>
          <p:cNvPr id="13" name="Text 10"/>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1051560" y="41056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Mỗi bên 10 phút chuẩn bị: xác định mục tiêu 3 mức, BATNA và chiến lược nhượng bộ theo hồ sơ được phát.</a:t>
            </a:r>
            <a:endParaRPr lang="en-US" sz="1400" dirty="0"/>
          </a:p>
        </p:txBody>
      </p:sp>
      <p:sp>
        <p:nvSpPr>
          <p:cNvPr id="15" name="Shape 12"/>
          <p:cNvSpPr/>
          <p:nvPr/>
        </p:nvSpPr>
        <p:spPr>
          <a:xfrm>
            <a:off x="502920" y="4864608"/>
            <a:ext cx="384048" cy="384048"/>
          </a:xfrm>
          <a:prstGeom prst="ellipse">
            <a:avLst/>
          </a:prstGeom>
          <a:solidFill>
            <a:srgbClr val="DC756A"/>
          </a:solidFill>
          <a:ln/>
        </p:spPr>
        <p:txBody>
          <a:bodyPr/>
          <a:p/>
        </p:txBody>
      </p:sp>
      <p:sp>
        <p:nvSpPr>
          <p:cNvPr id="16" name="Text 13"/>
          <p:cNvSpPr/>
          <p:nvPr/>
        </p:nvSpPr>
        <p:spPr>
          <a:xfrm>
            <a:off x="50292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47914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Đàm phán 10 phút trước lớp; các nhóm quan sát ghi lại: đề nghị neo, các nhượng bộ, chiêu trò (nếu có).</a:t>
            </a:r>
            <a:endParaRPr lang="en-US" sz="1400" dirty="0"/>
          </a:p>
        </p:txBody>
      </p:sp>
      <p:sp>
        <p:nvSpPr>
          <p:cNvPr id="18" name="Shape 15"/>
          <p:cNvSpPr/>
          <p:nvPr/>
        </p:nvSpPr>
        <p:spPr>
          <a:xfrm>
            <a:off x="502920" y="5550408"/>
            <a:ext cx="384048" cy="384048"/>
          </a:xfrm>
          <a:prstGeom prst="ellipse">
            <a:avLst/>
          </a:prstGeom>
          <a:solidFill>
            <a:srgbClr val="DC756A"/>
          </a:solidFill>
          <a:ln/>
        </p:spPr>
        <p:txBody>
          <a:bodyPr/>
          <a:p/>
        </p:txBody>
      </p:sp>
      <p:sp>
        <p:nvSpPr>
          <p:cNvPr id="19" name="Text 16"/>
          <p:cNvSpPr/>
          <p:nvPr/>
        </p:nvSpPr>
        <p:spPr>
          <a:xfrm>
            <a:off x="502920" y="5550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51560" y="54772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Cả lớp phân tích: thỏa thuận đạt được nằm ở đâu trong ZOPA? Bên nào chuẩn bị tốt hơn và vì sao?</a:t>
            </a:r>
            <a:endParaRPr lang="en-US" sz="1400" dirty="0"/>
          </a:p>
        </p:txBody>
      </p:sp>
      <p:pic>
        <p:nvPicPr>
          <p:cNvPr id="21" name="Picture 20" descr="co-huong-tron.png"/>
          <p:cNvPicPr>
            <a:picLocks noChangeAspect="1"/>
          </p:cNvPicPr>
          <p:nvPr/>
        </p:nvPicPr>
        <p:blipFill>
          <a:blip r:embed="rId4"/>
          <a:stretch>
            <a:fillRect/>
          </a:stretch>
        </p:blipFill>
        <p:spPr>
          <a:xfrm>
            <a:off x="10378440" y="384048"/>
            <a:ext cx="960120" cy="960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TỔNG KẾT</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Ba điều cần nhớ của chương</a:t>
            </a:r>
            <a:endParaRPr lang="en-US" sz="2700" dirty="0"/>
          </a:p>
        </p:txBody>
      </p:sp>
      <p:sp>
        <p:nvSpPr>
          <p:cNvPr id="9" name="Shape 6"/>
          <p:cNvSpPr/>
          <p:nvPr/>
        </p:nvSpPr>
        <p:spPr>
          <a:xfrm>
            <a:off x="502920" y="146304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Đàm phán thắng từ trước khi ngồi vào bàn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Mục tiêu 3 mức + BATNA + hiểu đối tác = 70% kết quả; không chuẩn bị là chuẩn bị để nhượng bộ.</a:t>
            </a:r>
            <a:endParaRPr lang="en-US" sz="1500" dirty="0"/>
          </a:p>
        </p:txBody>
      </p:sp>
      <p:sp>
        <p:nvSpPr>
          <p:cNvPr id="11" name="Shape 8"/>
          <p:cNvSpPr/>
          <p:nvPr/>
        </p:nvSpPr>
        <p:spPr>
          <a:xfrm>
            <a:off x="502920" y="311810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7296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Đàm phán lợi ích, đừng cố thủ lập trường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Hỏi “vì sao” để tìm lợi ích thật; nhượng bộ luôn kèm điều kiện; hướng tới thỏa thuận hai bên thực hiện được.</a:t>
            </a:r>
            <a:endParaRPr lang="en-US" sz="1500" dirty="0"/>
          </a:p>
        </p:txBody>
      </p:sp>
      <p:sp>
        <p:nvSpPr>
          <p:cNvPr id="13" name="Shape 10"/>
          <p:cNvSpPr/>
          <p:nvPr/>
        </p:nvSpPr>
        <p:spPr>
          <a:xfrm>
            <a:off x="502920" y="477316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82803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Thỏa thuận chỉ an toàn khi thành văn bản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Chốt xong phải văn bản hóa thành hợp đồng đúng thể thức — đó là nội dung Chương 5: Soạn thảo và trình bày văn bản.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ÔN TẬP &amp; CHUẨN BỊ</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Câu hỏi ôn tập</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Phân biệt đàm phán kiểu mềm, kiểu cứng và kiểu nguyên tắc; khi nào nên dùng kiểu nào?</a:t>
            </a:r>
            <a:endParaRPr lang="en-US" sz="1400" dirty="0"/>
          </a:p>
        </p:txBody>
      </p:sp>
      <p:sp>
        <p:nvSpPr>
          <p:cNvPr id="12" name="Shape 9"/>
          <p:cNvSpPr/>
          <p:nvPr/>
        </p:nvSpPr>
        <p:spPr>
          <a:xfrm>
            <a:off x="502920" y="2395728"/>
            <a:ext cx="384048" cy="384048"/>
          </a:xfrm>
          <a:prstGeom prst="ellipse">
            <a:avLst/>
          </a:prstGeom>
          <a:solidFill>
            <a:srgbClr val="DC756A"/>
          </a:solidFill>
          <a:ln/>
        </p:spPr>
        <p:txBody>
          <a:bodyPr/>
          <a:p/>
        </p:txBody>
      </p:sp>
      <p:sp>
        <p:nvSpPr>
          <p:cNvPr id="13" name="Text 10"/>
          <p:cNvSpPr/>
          <p:nvPr/>
        </p:nvSpPr>
        <p:spPr>
          <a:xfrm>
            <a:off x="5029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32257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BATNA và ZOPA là gì? Xây dựng BATNA cho một tình huống thuê nhà trọ của sinh viên.</a:t>
            </a:r>
            <a:endParaRPr lang="en-US" sz="1400" dirty="0"/>
          </a:p>
        </p:txBody>
      </p:sp>
      <p:sp>
        <p:nvSpPr>
          <p:cNvPr id="15" name="Shape 12"/>
          <p:cNvSpPr/>
          <p:nvPr/>
        </p:nvSpPr>
        <p:spPr>
          <a:xfrm>
            <a:off x="502920" y="3218688"/>
            <a:ext cx="384048" cy="384048"/>
          </a:xfrm>
          <a:prstGeom prst="ellipse">
            <a:avLst/>
          </a:prstGeom>
          <a:solidFill>
            <a:srgbClr val="DC756A"/>
          </a:solidFill>
          <a:ln/>
        </p:spPr>
        <p:txBody>
          <a:bodyPr/>
          <a:p/>
        </p:txBody>
      </p:sp>
      <p:sp>
        <p:nvSpPr>
          <p:cNvPr id="16" name="Text 13"/>
          <p:cNvSpPr/>
          <p:nvPr/>
        </p:nvSpPr>
        <p:spPr>
          <a:xfrm>
            <a:off x="50292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14553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Trình bày 5 giai đoạn của tiến trình đàm phán và nhiệm vụ chính của mỗi giai đoạn.</a:t>
            </a:r>
            <a:endParaRPr lang="en-US" sz="1400" dirty="0"/>
          </a:p>
        </p:txBody>
      </p:sp>
      <p:sp>
        <p:nvSpPr>
          <p:cNvPr id="18" name="Shape 15"/>
          <p:cNvSpPr/>
          <p:nvPr/>
        </p:nvSpPr>
        <p:spPr>
          <a:xfrm>
            <a:off x="502920" y="4041648"/>
            <a:ext cx="384048" cy="384048"/>
          </a:xfrm>
          <a:prstGeom prst="ellipse">
            <a:avLst/>
          </a:prstGeom>
          <a:solidFill>
            <a:srgbClr val="DC756A"/>
          </a:solidFill>
          <a:ln/>
        </p:spPr>
        <p:txBody>
          <a:bodyPr/>
          <a:p/>
        </p:txBody>
      </p:sp>
      <p:sp>
        <p:nvSpPr>
          <p:cNvPr id="19" name="Text 16"/>
          <p:cNvSpPr/>
          <p:nvPr/>
        </p:nvSpPr>
        <p:spPr>
          <a:xfrm>
            <a:off x="502920" y="4041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396849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Nêu 3 chiêu trò thường gặp trong đàm phán và cách ứng phó.</a:t>
            </a:r>
            <a:endParaRPr lang="en-US" sz="1400" dirty="0"/>
          </a:p>
        </p:txBody>
      </p:sp>
      <p:sp>
        <p:nvSpPr>
          <p:cNvPr id="21" name="Shape 18"/>
          <p:cNvSpPr/>
          <p:nvPr/>
        </p:nvSpPr>
        <p:spPr>
          <a:xfrm>
            <a:off x="502920" y="5074920"/>
            <a:ext cx="11201400" cy="1143000"/>
          </a:xfrm>
          <a:prstGeom prst="roundRect">
            <a:avLst>
              <a:gd name="adj" fmla="val 7200"/>
            </a:avLst>
          </a:prstGeom>
          <a:solidFill>
            <a:srgbClr val="FBF3E2"/>
          </a:solidFill>
          <a:ln w="12700">
            <a:solidFill>
              <a:srgbClr val="C9A227"/>
            </a:solidFill>
            <a:prstDash val="solid"/>
          </a:ln>
        </p:spPr>
        <p:txBody>
          <a:bodyPr/>
          <a:p/>
        </p:txBody>
      </p:sp>
      <p:sp>
        <p:nvSpPr>
          <p:cNvPr id="22" name="Text 19"/>
          <p:cNvSpPr/>
          <p:nvPr/>
        </p:nvSpPr>
        <p:spPr>
          <a:xfrm>
            <a:off x="777240" y="5120640"/>
            <a:ext cx="10698480" cy="1051560"/>
          </a:xfrm>
          <a:prstGeom prst="rect">
            <a:avLst/>
          </a:prstGeom>
          <a:noFill/>
          <a:ln/>
        </p:spPr>
        <p:txBody>
          <a:bodyPr wrap="square" lIns="0" tIns="0" rIns="0" bIns="0" rtlCol="0" anchor="ctr"/>
          <a:lstStyle/>
          <a:p>
            <a:pPr indent="0" marL="0">
              <a:buNone/>
            </a:pPr>
            <a:r>
              <a:rPr lang="en-US" sz="1300" b="1" dirty="0">
                <a:solidFill>
                  <a:srgbClr val="8A6510"/>
                </a:solidFill>
                <a:latin typeface="Calibri" pitchFamily="34" charset="0"/>
                <a:ea typeface="Calibri" pitchFamily="34" charset="-122"/>
                <a:cs typeface="Calibri" pitchFamily="34" charset="-120"/>
              </a:rPr>
              <a:t>CHUẨN BỊ CHO BUỔI SAU:  </a:t>
            </a:r>
            <a:pPr indent="0" marL="0">
              <a:buNone/>
            </a:pPr>
            <a:r>
              <a:rPr lang="en-US" sz="1300" dirty="0">
                <a:solidFill>
                  <a:srgbClr val="3A2B28"/>
                </a:solidFill>
                <a:latin typeface="Calibri" pitchFamily="34" charset="0"/>
                <a:ea typeface="Calibri" pitchFamily="34" charset="-122"/>
                <a:cs typeface="Calibri" pitchFamily="34" charset="-120"/>
              </a:rPr>
              <a:t>Chương 5 – Soạn thảo và trình bày văn bản: đọc trước Nghị định 30/2020/NĐ-CP (phần thể thức văn bản); phần thực hành sẽ soạn hợp đồng cho chính thương vụ vừa đàm phán hôm nay.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GV. Đỗ Thùy Hương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Chương 4</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TÀI LIỆU</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Tài liệu học tập</a:t>
            </a:r>
            <a:endParaRPr lang="en-US" sz="2700" dirty="0"/>
          </a:p>
        </p:txBody>
      </p:sp>
      <p:sp>
        <p:nvSpPr>
          <p:cNvPr id="9" name="Shape 6"/>
          <p:cNvSpPr/>
          <p:nvPr/>
        </p:nvSpPr>
        <p:spPr>
          <a:xfrm>
            <a:off x="502920" y="1463040"/>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Giáo trình chính</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Hà Nam Khánh Giao (2023), Giáo trình Giao tiếp kinh doanh, NXB Tài chính.</a:t>
            </a:r>
            <a:endParaRPr lang="en-US" sz="1500" dirty="0"/>
          </a:p>
        </p:txBody>
      </p:sp>
      <p:sp>
        <p:nvSpPr>
          <p:cNvPr id="11" name="Shape 8"/>
          <p:cNvSpPr/>
          <p:nvPr/>
        </p:nvSpPr>
        <p:spPr>
          <a:xfrm>
            <a:off x="502920" y="2950464"/>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2" name="Text 9"/>
          <p:cNvSpPr/>
          <p:nvPr/>
        </p:nvSpPr>
        <p:spPr>
          <a:xfrm>
            <a:off x="722376" y="3005328"/>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Tài liệu tham khảo</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Thái Trí Dũng (2012), Kỹ năng giao tiếp và thương lượng trong kinh doanh, NXB Lao động – Xã hội.  •  Nghị định 30/2020/NĐ-CP về công tác văn thư (dùng cho Chương 5 và phần thực hành).</a:t>
            </a:r>
            <a:endParaRPr lang="en-US" sz="1500" dirty="0"/>
          </a:p>
        </p:txBody>
      </p:sp>
      <p:sp>
        <p:nvSpPr>
          <p:cNvPr id="13" name="Shape 10"/>
          <p:cNvSpPr/>
          <p:nvPr/>
        </p:nvSpPr>
        <p:spPr>
          <a:xfrm>
            <a:off x="502920" y="4437888"/>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4" name="Text 11"/>
          <p:cNvSpPr/>
          <p:nvPr/>
        </p:nvSpPr>
        <p:spPr>
          <a:xfrm>
            <a:off x="722376" y="4492752"/>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Học liệu của giảng viên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Slide bài giảng, tình huống và bài tập do GV. Đỗ Thùy Hương biên soạn; cung cấp sau mỗi buổi học trên nhóm lớp.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Je m’appelle Huong — Lecturer and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Đỗ Thùy Hương</dc:creator>
  <cp:lastModifiedBy>Đỗ Thùy Hương</cp:lastModifiedBy>
  <cp:revision>1</cp:revision>
  <dcterms:created xsi:type="dcterms:W3CDTF">2026-08-23T05:42:54Z</dcterms:created>
  <dcterms:modified xsi:type="dcterms:W3CDTF">2026-08-23T05:42:54Z</dcterms:modified>
</cp:coreProperties>
</file>