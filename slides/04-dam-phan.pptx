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cuối chương có role-play chấm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khái niệm, tiến trình 5 giai đoạn, kỹ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Nhấn BẢN CHẤT KÉP: vừa hợp tác (để chiếc bánh tồn tại) vừa cạnh tranh (khi chia bánh).</a:t>
            </a:r>
          </a:p>
          <a:p>
            <a:r>
              <a:t>• Ba nguồn sức mạnh: THÔNG TIN – THỜI GIAN – THẾ LỰC (số lựa chọn thay thế).</a:t>
            </a:r>
          </a:p>
          <a:p>
            <a:r>
              <a:t>• Ví dụ: người đang cần bán gấp luôn ở thế yếu — vì sao? (sức mạnh thời gian).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ĐIỂM (2 phút)</a:t>
            </a:r>
          </a:p>
          <a:p>
            <a:r>
              <a:t>• 5 đặc điểm, đi nhanh.</a:t>
            </a:r>
          </a:p>
          <a:p>
            <a:r>
              <a:t>• Nhấn đặc điểm THỎA THUẬN PHẢI ĐƯỢC VĂN BẢN HÓA — nối thẳng sang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KIỂU ĐÀM PHÁN (4 phút)</a:t>
            </a:r>
          </a:p>
          <a:p>
            <a:r>
              <a:t>• Kiểu MỀM – CỨNG – NGUYÊN TẮC. Vẽ bảng so sánh 3 cột lên bảng.</a:t>
            </a:r>
          </a:p>
          <a:p>
            <a:r>
              <a:t>• Hỏi lớp: "Người Việt mình hay đàm phán theo kiểu nào?" (thường là mềm — ngại mất lòng).</a:t>
            </a:r>
          </a:p>
          <a:p>
            <a:r>
              <a:t>• Nhấn kiểu NGUYÊN TẮC (Harvard): TÁCH CON NGƯỜI KHỎI VẤN ĐỀ; tập trung LỢI ÍCH chứ không cố thủ LẬP TRƯỜNG.</a:t>
            </a:r>
          </a:p>
          <a:p>
            <a:r>
              <a:t>• Ví dụ kinh điển: hai chị em tranh quả cam — một người cần vỏ làm bánh, một người cần ruột vắt nước. Cắt đôi là giải pháp tồi. Hỏi lợi ích mới ra giải pháp tốt.</a:t>
            </a:r>
          </a:p>
          <a:p>
            <a:r>
              <a:t>• Phân bổ ↔ tích hợp: làm chiếc bánh LỚN HƠN nhờ khác biệt về ưu tiên.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BỊ: BATNA – ZOPA (5 phút) — PHẦN KHÓ NHẤT CHƯƠNG</a:t>
            </a:r>
          </a:p>
          <a:p>
            <a:r>
              <a:t>• Mục tiêu 3 mức: LÝ TƯỞNG – KỲ VỌNG – TỐI THIỂU. Bắt sinh viên VIẾT RA GIẤY trước khi vào bàn.</a:t>
            </a:r>
          </a:p>
          <a:p>
            <a:r>
              <a:t>• BATNA: giải thích chậm bằng ví dụ xin việc — bạn có sẵn một lời mời khác thì bạn tự tin hơn hẳn.</a:t>
            </a:r>
          </a:p>
          <a:p>
            <a:r>
              <a:t>• Nhấn: BATNA MẠNH thì thế đàm phán vững; BATNA YẾU thì ĐỪNG ĐỂ LỘ.</a:t>
            </a:r>
          </a:p>
          <a:p>
            <a:r>
              <a:t>• ZOPA: chỉ vào sơ đồ trên slide, đi theo trục tiền từ trái sang phải.</a:t>
            </a:r>
          </a:p>
          <a:p>
            <a:r>
              <a:t>• Câu hỏi cho lớp: "Nếu không có ZOPA thì làm gì?" — đáp: mở rộng chiếc bánh (đổi số lượng, tiến độ, dịch vụ kèm), đừng ép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THƯƠNG LƯỢNG (4 phút)</a:t>
            </a:r>
          </a:p>
          <a:p>
            <a:r>
              <a:t>• Neo tâm lý: đề nghị đầu tiên CÓ CĂN CỨ sẽ định hình cả cuộc đàm phán.</a:t>
            </a:r>
          </a:p>
          <a:p>
            <a:r>
              <a:t>• Khi bị neo: phản hồi bằng câu hỏi "Dựa trên cơ sở nào ạ?" — cho lớp tập nói câu này.</a:t>
            </a:r>
          </a:p>
          <a:p>
            <a:r>
              <a:t>• NHƯỢNG BỘ CÓ ĐIỀU KIỆN: "Nếu anh tăng số lượng lên 500, chúng tôi giảm 3%." Không bao giờ cho không.</a:t>
            </a:r>
          </a:p>
          <a:p>
            <a:r>
              <a:t>• Nhượng bộ NHỎ DẦN để phát tín hiệu đã chạm giới hạn.</a:t>
            </a:r>
          </a:p>
          <a:p>
            <a:r>
              <a:t>• Bế tắc: tạm nghỉ – đổi người/vấn đề/cách tiếp cận – quay về lợi ích gốc – đưa tiêu chí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(3 phút)</a:t>
            </a:r>
          </a:p>
          <a:p>
            <a:r>
              <a:t>• Tín hiệu chốt: đối phương hỏi chi tiết TRIỂN KHAI, thanh toán, thời gian giao hàng.</a:t>
            </a:r>
          </a:p>
          <a:p>
            <a:r>
              <a:t>• Nhấn: TÓM TẮT VÀ VĂN BẢN HÓA NGAY — biên bản ghi nhớ hoặc hợp đồng.</a:t>
            </a:r>
          </a:p>
          <a:p>
            <a:r>
              <a:t>• Sau đàm phán: thực hiện đúng cam kết, giữ quan hệ, rút kinh nghiệm.</a:t>
            </a:r>
          </a:p>
          <a:p>
            <a:r>
              <a:t>• Câu chốt: "Đàm phán xong mà không có giấy tờ thì coi như chưa xong."''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KỸ NĂNG (3 phút)</a:t>
            </a:r>
          </a:p>
          <a:p>
            <a:r>
              <a:t>• Nghe nhiều hơn nói; IM LẶNG ĐÚNG LÚC là vũ khí.</a:t>
            </a:r>
          </a:p>
          <a:p>
            <a:r>
              <a:t>• Thuyết phục bằng NGÔN NGỮ LỢI ÍCH CỦA ĐỐI PHƯƠNG, kèm số liệu và tiền lệ.</a:t>
            </a:r>
          </a:p>
          <a:p>
            <a:r>
              <a:t>• Kiểm soát cảm xúc: "tức giận là nhượng quyền kiểm soát cho đối phương".</a:t>
            </a:r>
          </a:p>
          <a:p>
            <a:r>
              <a:t>• Êkíp: phân vai trưởng đoàn – chuyên môn – ghi chép; TUYỆT ĐỐI không mâu thuẫn nội bộ trước mặt đối tác.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CHIÊU TRÒ (4 phút) — SINH VIÊN RẤT HỨNG THÚ</a:t>
            </a:r>
          </a:p>
          <a:p>
            <a:r>
              <a:t>• Điểm qua 5 chiêu: neo giá sốc, người tốt – kẻ xấu, thời hạn chót giả, CẮT LÁT SALAMI, đòi hỏi phút chót.</a:t>
            </a:r>
          </a:p>
          <a:p>
            <a:r>
              <a:t>• Salami: giải thích kỹ vì hay gặp nhất — đòi thêm từng chút sau khi đã thỏa thuận. Ứng phó: GÓI TOÀN BỘ điều khoản lại.</a:t>
            </a:r>
          </a:p>
          <a:p>
            <a:r>
              <a:t>• Đòi hỏi phút chót: ĐỊNH GIÁ yêu cầu đó và đòi đối ứng tương xứng, đừng chiều để cho xong.</a:t>
            </a:r>
          </a:p>
          <a:p>
            <a:r>
              <a:t>• Hỏi lớp: ai từng bị "chốt gấp trong hôm nay" khi mua hàng online?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ROLE-PLAY (20 phút) — HOẠT ĐỘNG CHÍNH CỦA BUỔI</a:t>
            </a:r>
          </a:p>
          <a:p>
            <a:r>
              <a:t>• Chia cặp mua – bán, phát phiếu thông tin riêng cho mỗi bên (có ngân sách và giá sàn khác nhau).</a:t>
            </a:r>
          </a:p>
          <a:p>
            <a:r>
              <a:t>• 5 phút chuẩn bị: bắt buộc viết ra mục tiêu 3 mức và BATNA.</a:t>
            </a:r>
          </a:p>
          <a:p>
            <a:r>
              <a:t>• 10 phút đàm phán, 5 phút chốt và rút kinh nghiệm.</a:t>
            </a:r>
          </a:p>
          <a:p>
            <a:r>
              <a:t>• Cô đi quanh lớp quan sát, ghi lại 2–3 tình huống hay để phân tích chung.</a:t>
            </a:r>
          </a:p>
          <a:p>
            <a:r>
              <a:t>• Chốt: hỏi các cặp đạt thỏa thuận xem họ đã mở rộng chiếc bánh bằng cách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Nhấn lại: thắng từ trước khi ngồi vào bàn; đàm phán về LỢI ÍCH; văn bản hóa kết quả.</a:t>
            </a:r>
          </a:p>
          <a:p>
            <a:r>
              <a:t>• Giao việc: 40 câu trắc nghiệm Chương 4; đọc trước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tải Nghị định 30/2020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CHUẨN BỊ (2 phút)</a:t>
            </a:r>
          </a:p>
          <a:p>
            <a:r>
              <a:t>• Nhấn 70% — đây là con số sinh viên hay bất ngờ.</a:t>
            </a:r>
          </a:p>
          <a:p>
            <a:r>
              <a:t>• Liên hệ: bài role-play cuối buổi sẽ chấm phần chuẩn bị (mục tiêu 3 mức + BATNA viết ra giấy).</a:t>
            </a:r>
          </a:p>
          <a:p>
            <a:r>
              <a:t>• Câu chốt đọc chậm: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TIẾN TRÌNH 5 GIAI ĐOẠN (2 phút)</a:t>
            </a:r>
          </a:p>
          <a:p>
            <a:r>
              <a:t>• Đi lướt 5 giai đoạn, dừng lại ở giai đoạn 1.</a:t>
            </a:r>
          </a:p>
          <a:p>
            <a:r>
              <a:t>• Nói con số: CHUẨN BỊ QUYẾT ĐỊNH 70% KẾT QUẢ.</a:t>
            </a:r>
          </a:p>
          <a:p>
            <a:r>
              <a:t>• Câu chốt: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 thuật đạt thỏa thuận mà không đánh mất quan hệ — kỹ năng sinh lời trực tiếp nhất của người làm kinh tế.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5 giai đoạn và nhiệm vụ then chốt của từng giai đoạn.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cơ bản: chuẩn bị BATNA, đặt câu hỏi, nhượng bộ có điều kiện.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chiêu trò thường gặp trên bàn đàm phán và cách ứng phó chuyên nghiệp.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898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qua năm giai đoạn, từ chuẩn bị đến sau đàm phán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10565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và cách nhận diện chiêu trò thường gặp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 là gì?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là quá trình các bên vừa có lợi ích chung, vừa có lợi ích xung đột, cùng trao đổi – thuyết phục để đi đến một thỏa thuận mà các bên chấp nhận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chất kép: hợp tác + cạnh tranh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tác để “chiếc bánh” tồn tại và lớn lên; cạnh tranh khi phân chia chiếc bánh — quên vế nào cũng thất bại.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nguồn sức mạnh trên bàn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(ai hiểu đối phương hơn) • Thời gian (ai ít bị ép tiến độ hơn) • Thế lực (ai có nhiều lựa chọn thay thế hơn).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đàm phán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lợi ích kinh tế làm trung tâm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điều khoản cuối cùng đều quy về giá trị, chi phí, rủi ro của mỗi bên.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bên vừa phụ thuộc vừa độc 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nhau để có thỏa thuận, nhưng mỗi bên luôn có phương án riêng của mình.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phải được văn bản hóa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đàm phán chỉ an toàn khi thành hợp đồng đúng thể thức — cầu nối sang Chương 5.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ra trong giới hạn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thẩm quyền, ngân sách; nhà đàm phán giỏi biết rõ giới hạn của mình và ước lượng giới hạn đối phương.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ảnh hưởng văn hóa và quan hệ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cách đàm phán Á – Âu khác nhau; thương vụ một lần khác quan hệ hợp tác lâu dài.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kiểu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mềm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bạn, dễ nhượng bộ để giữ quan hệ — nhanh đạt thỏa thuận nhưng dễ chịu thiệt khi gặp đối thủ cứng.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cứng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đối thủ, ép buộc, giữ lập trường đến cùng — có thể thắng một lần nhưng phá vỡ quan hệ, dễ bế tắc.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nguyên tắc (Harvard)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con người khỏi vấn đề; tập trung vào lợi ích, không cố thủ lập trường; sáng tạo phương án cùng có lợi; dựa trên tiêu chí khách quan.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  ↔  Tích hợp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bổ: chia chiếc bánh cố định (được – mất). Tích hợp: làm chiếc bánh lớn hơn bằng cách khai thác khác biệt về ưu tiên — hướng đến win-win.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trình đàm phán: 5 giai đoạn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4108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Giai đoạn chuẩn bị — vũ khí quan trọng nhất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481328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41335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ZOPA hẹp hay rộng phụ thuộc vào giới hạn thật của hai bên — chuẩn bị kỹ để biết mình đang ở đâu trên trục này.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đầu và thương lượng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 và thăm dò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 phút xã giao đúng mực; quan sát thái độ; đặt câu hỏi mở để đối phương bộc lộ nhu cầu và giới hạn trước khi mình ra giá.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 và mặc cả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nghị đầu tiên có căn cứ (neo tâm lý); phản hồi đề nghị của đối phương bằng câu hỏi “dựa trên cơ sở nào?” thay vì đồng ý hay bác bỏ ngay.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Nhượng bộ có điều kiện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cho không bao giờ: “Nếu anh tăng số lượng lên 500, chúng tôi sẽ giảm 3%.” Nhượng bộ nhỏ dần để phát tín hiệu chạm giới hạn.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bế tắc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Tạm nghỉ; đổi người – đổi vấn đề – đổi cách tiếp cận; quay về lợi ích gốc; đưa tiêu chí khách quan (giá thị trường, quy định) làm trọng tài.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thúc và sau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biết thời điểm chốt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phương hỏi chi tiết triển khai, điều khoản thanh toán, thời gian giao hàng — tín hiệu sẵn sàng; tóm tắt thỏa thuận và đề nghị xác nhận.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hóa ngay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miệng chưa phải kết thúc: lập biên bản ghi nhớ, soạn hợp đồng đủ điều khoản cơ bản — kỹ thuật soạn thảo học ở Chương 5 và phần thực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cam kết — uy tín cho lần đàm phán sau; giữ liên lạc với đối tác; họp nhóm rút kinh nghiệm: điều gì hiệu quả, điều gì cần làm khác.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năng nền tảng trên bàn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đặt câu hỏi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nhiều hơn nói; hỏi mở để tìm lợi ích thật; im lặng đúng lúc — nhiều nhượng bộ xuất hiện chỉ vì đối phương không chịu được khoảng lặng.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Thuyết phục bằng lợi ích và bằng chứng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bằng ngôn ngữ lợi ích của đối phương; kèm số liệu, tiền lệ, quy định khách quan thay vì tranh cãi cảm tính.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soát cảm xúc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bình tĩnh trước khiêu khích; tách con người khỏi vấn đề; tức giận là nhượng quyền kiểm soát cho đối phương.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việc theo êkíp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vai trưởng đoàn – chuyên môn – ghi chép; thống nhất tín hiệu nội bộ; không bao giờ mâu thuẫn nội bộ trước mặt đối tác.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chiêu trò thường gặp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giá sốc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màn bằng đề nghị cao/thấp bất thường để kéo kỳ vọng của ta — ứng phó: bám vào tiêu chí khách quan, đừng vội điều chỉnh mục tiêu.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tốt – kẻ xấu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người gay gắt, một người “dễ thương” ra tay cứu vãn — nhận diện và chỉ đàm phán trên nội dung.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chót giả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“chỉ còn hôm nay” để ép quyết định vội — kiểm chứng thực hư, sẵn sàng rời bàn nếu có BATNA.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lát salami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thêm từng chút nhỏ sau khi đã thỏa thuận — gói toàn bộ điều khoản lại: “điểm này mở thì cả gói mở”.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hỏi phút chót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yêu cầu ngay trước khi ký — bình tĩnh định giá yêu cầu đó và đòi đối ứng tương xứng.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đàm phán mua thiết bị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(2 nhóm/cặp, 25 phút; mỗi bên nhận “hồ sơ mật” riêng của giảng viên)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X cần mua 20 máy tính cho phòng làm việc mới, ngân sách tối đa 240 triệu, cần giao trong 3 tuần. Nhà cung cấp Y muốn bán giá tốt nhưng đang tồn kho model cũ và muốn ký hợp đồng bảo trì dài hạn. Hai bên chưa biết giới hạn của nhau.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bên 10 phút chuẩn bị: xác định mục tiêu 3 mức, BATNA và chiến lược nhượng bộ theo hồ sơ được phát.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10 phút trước lớp; các nhóm quan sát ghi lại: đề nghị neo, các nhượng bộ, chiêu trò (nếu có).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phân tích: thỏa thuận đạt được nằm ở đâu trong ZOPA? Bên nào chuẩn bị tốt hơn và vì sao?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thắng từ trước khi ngồi vào bàn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3 mức + BATNA + hiểu đối tác = 70% kết quả; không chuẩn bị là chuẩn bị để nhượng bộ.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lợi ích, đừng cố thủ lập trường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“vì sao” để tìm lợi ích thật; nhượng bộ luôn kèm điều kiện; hướng tới thỏa thuận hai bên thực hiện được.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chỉ an toàn khi thành văn bản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xong phải văn bản hóa thành hợp đồng đúng thể thức — đó là nội dung Chương 5: Soạn thảo và trình bày văn bản.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đàm phán kiểu mềm, kiểu cứng và kiểu nguyên tắc; khi nào nên dùng kiểu nào?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BATNA và ZOPA là gì? Xây dựng BATNA cho một tình huống thuê nhà trọ của sinh viên.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5 giai đoạn của tiến trình đàm phán và nhiệm vụ chính của mỗi giai đoạn.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3 chiêu trò thường gặp trong đàm phán và cách ứng phó.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 – Soạn thảo và trình bày văn bản: đọc trước Nghị định 30/2020/NĐ-CP (phần thể thức văn bản); phần thực hành sẽ soạn hợp đồng cho chính thương vụ vừa đàm phán hôm nay.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Vì sao chuẩn bị lại quan trọng đến thế?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KẾT QUẢ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được quyết định ngay từ giai đoạn chuẩn bị, trước khi hai bên ngồi vào bàn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MỨC MỤC TIÊU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Lý tưởng – Kỳ vọng – Tối thiểu: phải viết ra giấy trước khi đàm phán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Phương án thay thế tốt nhất — nguồn sức mạnh thật sự trên bàn đàm phán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Câu để đời của chương: “Không chuẩn bị chính là chuẩn bị để nhượng bộ.”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Khái niệm và các kiểu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bản chất kép của đàm phán: vừa hợp tác vừa cạnh tranh.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Tiến trình đàm phán năm giai đoạn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Bảy mươi phần trăm kết quả được quyết định trước khi hai bên ngồi vào bàn.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Kỹ năng và chiêu trò trên bàn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Những gì cần rèn, và những gì cần nhận diện để không bị dẫn dắt.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