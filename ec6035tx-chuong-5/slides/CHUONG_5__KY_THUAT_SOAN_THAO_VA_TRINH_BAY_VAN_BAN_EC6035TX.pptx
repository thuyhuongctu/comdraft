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29" Type="http://schemas.openxmlformats.org/officeDocument/2006/relationships/slide" Target="slides/slide5.xml"/><Relationship Id="rId30" Type="http://schemas.openxmlformats.org/officeDocument/2006/relationships/slide" Target="slides/slide6.xml"/><Relationship Id="rId31" Type="http://schemas.openxmlformats.org/officeDocument/2006/relationships/slide" Target="slides/slide7.xml"/><Relationship Id="rId32" Type="http://schemas.openxmlformats.org/officeDocument/2006/relationships/slide" Target="slides/slide8.xml"/><Relationship Id="rId33" Type="http://schemas.openxmlformats.org/officeDocument/2006/relationships/slide" Target="slides/slide9.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3.xml"/><Relationship Id="rId38" Type="http://schemas.openxmlformats.org/officeDocument/2006/relationships/slide" Target="slides/slide14.xml"/><Relationship Id="rId39" Type="http://schemas.openxmlformats.org/officeDocument/2006/relationships/slide" Target="slides/slide15.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0.xml"/><Relationship Id="rId45" Type="http://schemas.openxmlformats.org/officeDocument/2006/relationships/slide" Target="slides/slide21.xml"/><Relationship Id="rId46" Type="http://schemas.openxmlformats.org/officeDocument/2006/relationships/slide" Target="slides/slide22.xml"/><Relationship Id="rId47" Type="http://schemas.openxmlformats.org/officeDocument/2006/relationships/slide" Target="slides/slide23.xml"/><Relationship Id="rId48" Type="http://schemas.openxmlformats.org/officeDocument/2006/relationships/slide" Target="slides/slide24.xml"/><Relationship Id="rId49" Type="http://schemas.openxmlformats.org/officeDocument/2006/relationships/slide" Target="slides/slide25.xml"/><Relationship Id="rId50" Type="http://schemas.openxmlformats.org/officeDocument/2006/relationships/slide" Target="slides/slide26.xml"/><Relationship Id="rId51" Type="http://schemas.openxmlformats.org/officeDocument/2006/relationships/slide" Target="slides/slide27.xml"/><Relationship Id="rId52" Type="http://schemas.openxmlformats.org/officeDocument/2006/relationships/slide" Target="slides/slide28.xml"/><Relationship Id="rId53" Type="http://schemas.openxmlformats.org/officeDocument/2006/relationships/slide" Target="slides/slide29.xml"/><Relationship Id="rId54" Type="http://schemas.openxmlformats.org/officeDocument/2006/relationships/slide" Target="slides/slide30.xml"/><Relationship Id="rId55" Type="http://schemas.openxmlformats.org/officeDocument/2006/relationships/slide" Target="slides/slide31.xml"/><Relationship Id="rId56" Type="http://schemas.openxmlformats.org/officeDocument/2006/relationships/slide" Target="slides/slide32.xml"/><Relationship Id="rId57" Type="http://schemas.openxmlformats.org/officeDocument/2006/relationships/slide" Target="slides/slide33.xml"/><Relationship Id="rId58" Type="http://schemas.openxmlformats.org/officeDocument/2006/relationships/slide" Target="slides/slide34.xml"/><Relationship Id="rId59" Type="http://schemas.openxmlformats.org/officeDocument/2006/relationships/slide" Target="slides/slide35.xml"/><Relationship Id="rId60" Type="http://schemas.openxmlformats.org/officeDocument/2006/relationships/slide" Target="slides/slide36.xml"/><Relationship Id="rId61" Type="http://schemas.openxmlformats.org/officeDocument/2006/relationships/slide" Target="slides/slide37.xml"/><Relationship Id="rId62" Type="http://schemas.openxmlformats.org/officeDocument/2006/relationships/slide" Target="slides/slide38.xml"/><Relationship Id="rId63" Type="http://schemas.openxmlformats.org/officeDocument/2006/relationships/slide" Target="slides/slide39.xml"/><Relationship Id="rId64" Type="http://schemas.openxmlformats.org/officeDocument/2006/relationships/slide" Target="slides/slide40.xml"/><Relationship Id="rId65" Type="http://schemas.openxmlformats.org/officeDocument/2006/relationships/slide" Target="slides/slide41.xml"/><Relationship Id="rId66" Type="http://schemas.openxmlformats.org/officeDocument/2006/relationships/slide" Target="slides/slide42.xml"/><Relationship Id="rId67" Type="http://schemas.openxmlformats.org/officeDocument/2006/relationships/slide" Target="slides/slide43.xml"/><Relationship Id="rId68" Type="http://schemas.openxmlformats.org/officeDocument/2006/relationships/slide" Target="slides/slide44.xml"/><Relationship Id="rId69" Type="http://schemas.openxmlformats.org/officeDocument/2006/relationships/slide" Target="slides/slide45.xml"/><Relationship Id="rId70" Type="http://schemas.openxmlformats.org/officeDocument/2006/relationships/slide" Target="slides/slide46.xml"/><Relationship Id="rId71" Type="http://schemas.openxmlformats.org/officeDocument/2006/relationships/slide" Target="slides/slide47.xml"/><Relationship Id="rId72" Type="http://schemas.openxmlformats.org/officeDocument/2006/relationships/slide" Target="slides/slide48.xml"/><Relationship Id="rId73" Type="http://schemas.openxmlformats.org/officeDocument/2006/relationships/slide" Target="slides/slide49.xml"/><Relationship Id="rId74"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5" name="Google Shape;85;p1"/>
          <p:cNvGrpSpPr/>
          <p:nvPr/>
        </p:nvGrpSpPr>
        <p:grpSpPr>
          <a:xfrm rot="5400000">
            <a:off x="17110809" y="8144837"/>
            <a:ext cx="586784" cy="1553028"/>
            <a:chOff x="0" y="-47625"/>
            <a:chExt cx="103692" cy="274439"/>
          </a:xfrm>
        </p:grpSpPr>
        <p:sp>
          <p:nvSpPr>
            <p:cNvPr id="86" name="Google Shape;86;p1"/>
            <p:cNvSpPr/>
            <p:nvPr/>
          </p:nvSpPr>
          <p:spPr>
            <a:xfrm>
              <a:off x="0" y="0"/>
              <a:ext cx="103692" cy="226814"/>
            </a:xfrm>
            <a:custGeom>
              <a:avLst/>
              <a:gdLst/>
              <a:ahLst/>
              <a:cxnLst/>
              <a:rect l="l" t="t" r="r" b="b"/>
              <a:pathLst>
                <a:path w="103692" h="226814" extrusionOk="0">
                  <a:moveTo>
                    <a:pt x="51846" y="0"/>
                  </a:moveTo>
                  <a:lnTo>
                    <a:pt x="51846" y="0"/>
                  </a:lnTo>
                  <a:cubicBezTo>
                    <a:pt x="80480" y="0"/>
                    <a:pt x="103692" y="23212"/>
                    <a:pt x="103692" y="51846"/>
                  </a:cubicBezTo>
                  <a:lnTo>
                    <a:pt x="103692" y="174968"/>
                  </a:lnTo>
                  <a:cubicBezTo>
                    <a:pt x="103692" y="188718"/>
                    <a:pt x="98229" y="201906"/>
                    <a:pt x="88507" y="211629"/>
                  </a:cubicBezTo>
                  <a:cubicBezTo>
                    <a:pt x="78784" y="221352"/>
                    <a:pt x="65596" y="226814"/>
                    <a:pt x="51846" y="226814"/>
                  </a:cubicBezTo>
                  <a:lnTo>
                    <a:pt x="51846" y="226814"/>
                  </a:lnTo>
                  <a:cubicBezTo>
                    <a:pt x="38096" y="226814"/>
                    <a:pt x="24908" y="221352"/>
                    <a:pt x="15185" y="211629"/>
                  </a:cubicBezTo>
                  <a:cubicBezTo>
                    <a:pt x="5462" y="201906"/>
                    <a:pt x="0" y="188718"/>
                    <a:pt x="0" y="174968"/>
                  </a:cubicBezTo>
                  <a:lnTo>
                    <a:pt x="0" y="51846"/>
                  </a:lnTo>
                  <a:cubicBezTo>
                    <a:pt x="0" y="38096"/>
                    <a:pt x="5462" y="24908"/>
                    <a:pt x="15185" y="15185"/>
                  </a:cubicBezTo>
                  <a:cubicBezTo>
                    <a:pt x="24908" y="5462"/>
                    <a:pt x="38096" y="0"/>
                    <a:pt x="51846" y="0"/>
                  </a:cubicBezTo>
                  <a:close/>
                </a:path>
              </a:pathLst>
            </a:custGeom>
            <a:gradFill>
              <a:gsLst>
                <a:gs pos="0">
                  <a:srgbClr val="90DF44">
                    <a:alpha val="40000"/>
                  </a:srgbClr>
                </a:gs>
                <a:gs pos="100000">
                  <a:srgbClr val="90DF44">
                    <a:alpha val="3529"/>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txBox="1"/>
            <p:nvPr/>
          </p:nvSpPr>
          <p:spPr>
            <a:xfrm>
              <a:off x="0" y="-47625"/>
              <a:ext cx="103692" cy="27443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p:nvPr/>
        </p:nvSpPr>
        <p:spPr>
          <a:xfrm>
            <a:off x="17093636" y="8765286"/>
            <a:ext cx="636457" cy="312129"/>
          </a:xfrm>
          <a:custGeom>
            <a:avLst/>
            <a:gdLst/>
            <a:ahLst/>
            <a:cxnLst/>
            <a:rect l="l" t="t" r="r" b="b"/>
            <a:pathLst>
              <a:path w="636457" h="312129" extrusionOk="0">
                <a:moveTo>
                  <a:pt x="0" y="0"/>
                </a:moveTo>
                <a:lnTo>
                  <a:pt x="636457" y="0"/>
                </a:lnTo>
                <a:lnTo>
                  <a:pt x="636457" y="312129"/>
                </a:lnTo>
                <a:lnTo>
                  <a:pt x="0" y="312129"/>
                </a:lnTo>
                <a:lnTo>
                  <a:pt x="0" y="0"/>
                </a:lnTo>
                <a:close/>
              </a:path>
            </a:pathLst>
          </a:custGeom>
          <a:blipFill rotWithShape="1">
            <a:blip r:embed="rId10">
              <a:alphaModFix/>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5" name="Google Shape;105;p1"/>
          <p:cNvSpPr/>
          <p:nvPr/>
        </p:nvSpPr>
        <p:spPr>
          <a:xfrm>
            <a:off x="13868399" y="6183888"/>
            <a:ext cx="3691585" cy="3379212"/>
          </a:xfrm>
          <a:custGeom>
            <a:avLst/>
            <a:gdLst/>
            <a:ahLst/>
            <a:cxnLst/>
            <a:rect l="l" t="t" r="r" b="b"/>
            <a:pathLst>
              <a:path w="5247142" h="5122522" extrusionOk="0">
                <a:moveTo>
                  <a:pt x="0" y="0"/>
                </a:moveTo>
                <a:lnTo>
                  <a:pt x="5247142" y="0"/>
                </a:lnTo>
                <a:lnTo>
                  <a:pt x="5247142" y="5122522"/>
                </a:lnTo>
                <a:lnTo>
                  <a:pt x="0" y="5122522"/>
                </a:lnTo>
                <a:lnTo>
                  <a:pt x="0" y="0"/>
                </a:lnTo>
                <a:close/>
              </a:path>
            </a:pathLst>
          </a:custGeom>
          <a:blipFill rotWithShape="1">
            <a:blip r:embed="rId7">
              <a:alphaModFix/>
            </a:blip>
            <a:stretch>
              <a:fillRect/>
            </a:stretch>
          </a:blipFill>
          <a:ln>
            <a:noFill/>
          </a:ln>
        </p:spPr>
        <p:txBody>
          <a:bodyPr/>
          <a:p/>
        </p:txBody>
      </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5: KỸ THUẬT SOẠN THẢO VÀ TRÌNH BÀY VĂN BẢN TRONG KINH DOANH</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Kỹ năng giao tiếp và đàm phán trong kinh doanh (EC6035TX)</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9058764"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5</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Phân biệt được các nhóm văn bản</a:t>
            </a:r>
            <a:endParaRPr/>
          </a:p>
        </p:txBody>
      </p:sp>
      <p:sp>
        <p:nvSpPr>
          <p:cNvPr id="143" name="Google Shape;143;p2"/>
          <p:cNvSpPr txBox="1"/>
          <p:nvPr/>
        </p:nvSpPr>
        <p:spPr>
          <a:xfrm>
            <a:off x="2506246" y="5473993"/>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Nắm vững thể thức theo Nghị định 30</a:t>
            </a:r>
            <a:endParaRPr/>
          </a:p>
        </p:txBody>
      </p:sp>
      <p:sp>
        <p:nvSpPr>
          <p:cNvPr id="144" name="Google Shape;144;p2"/>
          <p:cNvSpPr txBox="1"/>
          <p:nvPr/>
        </p:nvSpPr>
        <p:spPr>
          <a:xfrm>
            <a:off x="2506246" y="6445827"/>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Soạn thảo được văn bản hành chính</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5065776"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Soạn hợp đồng và dùng công cụ số</a:t>
            </a:r>
            <a:endParaRPr/>
          </a:p>
        </p:txBody>
      </p:sp>
      <p:sp>
        <p:nvSpPr>
          <p:cNvPr id="147" name="Google Shape;147;p2"/>
          <p:cNvSpPr/>
          <p:nvPr/>
        </p:nvSpPr>
        <p:spPr>
          <a:xfrm>
            <a:off x="10043901" y="4060809"/>
            <a:ext cx="7120190" cy="4930732"/>
          </a:xfrm>
          <a:custGeom>
            <a:avLst/>
            <a:gdLst/>
            <a:ahLst/>
            <a:cxnLst/>
            <a:rect l="l" t="t" r="r" b="b"/>
            <a:pathLst>
              <a:path w="7120190" h="4930732" extrusionOk="0">
                <a:moveTo>
                  <a:pt x="0" y="0"/>
                </a:moveTo>
                <a:lnTo>
                  <a:pt x="7120190" y="0"/>
                </a:lnTo>
                <a:lnTo>
                  <a:pt x="7120190" y="4930732"/>
                </a:lnTo>
                <a:lnTo>
                  <a:pt x="0" y="4930732"/>
                </a:lnTo>
                <a:lnTo>
                  <a:pt x="0" y="0"/>
                </a:lnTo>
                <a:close/>
              </a:path>
            </a:pathLst>
          </a:custGeom>
          <a:blipFill rotWithShape="1">
            <a:blip r:embed="rId4">
              <a:alphaModFix/>
            </a:blip>
            <a:stretch>
              <a:fillRect/>
            </a:stretch>
          </a:blipFill>
          <a:ln>
            <a:noFill/>
          </a:ln>
        </p:spPr>
        <p:txBody>
          <a:body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3"/>
          <p:cNvGrpSpPr/>
          <p:nvPr/>
        </p:nvGrpSpPr>
        <p:grpSpPr>
          <a:xfrm>
            <a:off x="1522086" y="7289845"/>
            <a:ext cx="688429" cy="688429"/>
            <a:chOff x="0" y="0"/>
            <a:chExt cx="812800" cy="812800"/>
          </a:xfrm>
        </p:grpSpPr>
        <p:sp>
          <p:nvSpPr>
            <p:cNvPr id="183" name="Google Shape;183;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3"/>
          <p:cNvGrpSpPr/>
          <p:nvPr/>
        </p:nvGrpSpPr>
        <p:grpSpPr>
          <a:xfrm>
            <a:off x="1522086" y="8483099"/>
            <a:ext cx="688429" cy="688429"/>
            <a:chOff x="0" y="0"/>
            <a:chExt cx="812800" cy="812800"/>
          </a:xfrm>
        </p:grpSpPr>
        <p:sp>
          <p:nvSpPr>
            <p:cNvPr id="186" name="Google Shape;186;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5</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5.1. Khái niệm và phân loại văn bản</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6" name="Google Shape;196;p3"/>
          <p:cNvSpPr txBox="1"/>
          <p:nvPr/>
        </p:nvSpPr>
        <p:spPr>
          <a:xfrm>
            <a:off x="1678551" y="730171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4</a:t>
            </a:r>
            <a:endParaRPr/>
          </a:p>
        </p:txBody>
      </p:sp>
      <p:sp>
        <p:nvSpPr>
          <p:cNvPr id="197" name="Google Shape;197;p3"/>
          <p:cNvSpPr txBox="1"/>
          <p:nvPr/>
        </p:nvSpPr>
        <p:spPr>
          <a:xfrm>
            <a:off x="1678551" y="8494965"/>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5</a:t>
            </a:r>
            <a:endParaRPr/>
          </a:p>
        </p:txBody>
      </p:sp>
      <p:sp>
        <p:nvSpPr>
          <p:cNvPr id="198" name="Google Shape;198;p3"/>
          <p:cNvSpPr txBox="1"/>
          <p:nvPr/>
        </p:nvSpPr>
        <p:spPr>
          <a:xfrm>
            <a:off x="2532103" y="5049938"/>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5.2. Yêu cầu về nội dung và thể thức</a:t>
            </a:r>
            <a:endParaRPr/>
          </a:p>
        </p:txBody>
      </p:sp>
      <p:sp>
        <p:nvSpPr>
          <p:cNvPr id="199" name="Google Shape;199;p3"/>
          <p:cNvSpPr txBox="1"/>
          <p:nvPr/>
        </p:nvSpPr>
        <p:spPr>
          <a:xfrm>
            <a:off x="2552154" y="6174105"/>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5.3. Soạn thảo văn bản hành chính thông dụng</a:t>
            </a:r>
            <a:endParaRPr/>
          </a:p>
        </p:txBody>
      </p:sp>
      <p:sp>
        <p:nvSpPr>
          <p:cNvPr id="200" name="Google Shape;200;p3"/>
          <p:cNvSpPr txBox="1"/>
          <p:nvPr/>
        </p:nvSpPr>
        <p:spPr>
          <a:xfrm>
            <a:off x="2532103" y="7329259"/>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5.4. Soạn thảo hợp đồng thương mại</a:t>
            </a:r>
            <a:endParaRPr/>
          </a:p>
        </p:txBody>
      </p:sp>
      <p:sp>
        <p:nvSpPr>
          <p:cNvPr id="201" name="Google Shape;201;p3"/>
          <p:cNvSpPr txBox="1"/>
          <p:nvPr/>
        </p:nvSpPr>
        <p:spPr>
          <a:xfrm>
            <a:off x="2532103" y="8453209"/>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Ôn tập – Tình huống – Bài tập vận dụng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5.1. KHÁI NIỆM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 chung</a:t>
            </a:r>
          </a:p>
          <a:p>
            <a:pPr>
              <a:spcBef>
                <a:spcPts val="400"/>
              </a:spcBef>
            </a:pPr>
            <a:r>
              <a:rPr sz="2200">
                <a:solidFill>
                  <a:srgbClr val="212121"/>
                </a:solidFill>
                <a:latin typeface="Roboto"/>
              </a:rPr>
              <a:t>Văn bản là phương tiện ghi lại và truyền đạt thông tin bằng ngôn ngữ hay ký hiệu nhất định, hình thành trong hoạt động của cơ quan, tổ chức, doanh nghiệp.</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Theo Nghị định 30/2020/NĐ-CP</a:t>
            </a:r>
          </a:p>
          <a:p>
            <a:pPr>
              <a:spcBef>
                <a:spcPts val="400"/>
              </a:spcBef>
            </a:pPr>
            <a:r>
              <a:rPr sz="2200">
                <a:solidFill>
                  <a:srgbClr val="212121"/>
                </a:solidFill>
                <a:latin typeface="Roboto"/>
              </a:rPr>
              <a:t>“Văn bản là thông tin thành văn được truyền đạt bằng ngôn ngữ hoặc ký hiệu, hình thành trong hoạt động của các cơ quan, tổ chức và được trình bày đúng thể thức, kỹ thuật quy định.”</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Vai trò trong kinh doanh</a:t>
            </a:r>
          </a:p>
          <a:p>
            <a:pPr>
              <a:spcBef>
                <a:spcPts val="400"/>
              </a:spcBef>
            </a:pPr>
            <a:r>
              <a:rPr sz="2200">
                <a:solidFill>
                  <a:srgbClr val="212121"/>
                </a:solidFill>
                <a:latin typeface="Roboto"/>
              </a:rPr>
              <a:t>Phương tiện quản lý, điều hành • căn cứ pháp lý cho giao dịch • lưu trữ thông tin • thể hiện hình ảnh chuyên nghiệp của doanh nghiệp.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5.1. PHÂN LOẠI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quy phạm pháp luật</a:t>
            </a:r>
          </a:p>
          <a:p>
            <a:pPr>
              <a:spcBef>
                <a:spcPts val="400"/>
              </a:spcBef>
            </a:pPr>
            <a:r>
              <a:rPr sz="2100">
                <a:solidFill>
                  <a:srgbClr val="212121"/>
                </a:solidFill>
                <a:latin typeface="Roboto"/>
              </a:rPr>
              <a:t>Chứa quy tắc xử sự chung, do cơ quan nhà nước có thẩm quyền ban hành: Luật, Nghị định, Thông tư…</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hành chính</a:t>
            </a:r>
          </a:p>
          <a:p>
            <a:pPr>
              <a:spcBef>
                <a:spcPts val="400"/>
              </a:spcBef>
            </a:pPr>
            <a:r>
              <a:rPr sz="2100">
                <a:solidFill>
                  <a:srgbClr val="212121"/>
                </a:solidFill>
                <a:latin typeface="Roboto"/>
              </a:rPr>
              <a:t>Quyết định (cá biệt), công văn, thông báo, báo cáo, tờ trình, biên bản… (29 loại theo NĐ 30/2020).</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chuyên ngành</a:t>
            </a:r>
          </a:p>
          <a:p>
            <a:pPr>
              <a:spcBef>
                <a:spcPts val="400"/>
              </a:spcBef>
            </a:pPr>
            <a:r>
              <a:rPr sz="2100">
                <a:solidFill>
                  <a:srgbClr val="212121"/>
                </a:solidFill>
                <a:latin typeface="Roboto"/>
              </a:rPr>
              <a:t>Hình thành trong nghiệp vụ chuyên môn: chứng từ kế toán, hồ sơ kỹ thuật, hồ sơ mời thầu…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thương mại</a:t>
            </a:r>
          </a:p>
          <a:p>
            <a:pPr>
              <a:spcBef>
                <a:spcPts val="400"/>
              </a:spcBef>
            </a:pPr>
            <a:r>
              <a:rPr sz="2100">
                <a:solidFill>
                  <a:srgbClr val="212121"/>
                </a:solidFill>
                <a:latin typeface="Roboto"/>
              </a:rPr>
              <a:t>Phục vụ giao dịch kinh doanh: thư tín thương mại, báo giá, đơn đặt hàng, hợp đồng…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PHÂN BIỆT BA NHÓM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quy phạm pháp luật</a:t>
            </a:r>
          </a:p>
          <a:p>
            <a:pPr>
              <a:spcBef>
                <a:spcPts val="400"/>
              </a:spcBef>
            </a:pPr>
            <a:r>
              <a:rPr sz="2100">
                <a:solidFill>
                  <a:srgbClr val="212121"/>
                </a:solidFill>
                <a:latin typeface="Roboto"/>
              </a:rPr>
              <a:t>Do cơ quan nhà nước có thẩm quyền ban hành theo trình tự luật định.</a:t>
            </a:r>
          </a:p>
          <a:p>
            <a:pPr>
              <a:spcBef>
                <a:spcPts val="400"/>
              </a:spcBef>
            </a:pPr>
            <a:r>
              <a:rPr sz="2100">
                <a:solidFill>
                  <a:srgbClr val="212121"/>
                </a:solidFill>
                <a:latin typeface="Roboto"/>
              </a:rPr>
              <a:t>Chứa quy tắc xử sự chung, áp dụng nhiều lần.</a:t>
            </a:r>
          </a:p>
          <a:p>
            <a:pPr>
              <a:spcBef>
                <a:spcPts val="400"/>
              </a:spcBef>
            </a:pPr>
            <a:r>
              <a:rPr sz="2100">
                <a:solidFill>
                  <a:srgbClr val="212121"/>
                </a:solidFill>
                <a:latin typeface="Roboto"/>
              </a:rPr>
              <a:t>Ví dụ: luật, nghị định, thông tư.</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hành chính</a:t>
            </a:r>
          </a:p>
          <a:p>
            <a:pPr>
              <a:spcBef>
                <a:spcPts val="400"/>
              </a:spcBef>
            </a:pPr>
            <a:r>
              <a:rPr sz="2100">
                <a:solidFill>
                  <a:srgbClr val="212121"/>
                </a:solidFill>
                <a:latin typeface="Roboto"/>
              </a:rPr>
              <a:t>Do mọi cơ quan, tổ chức, doanh nghiệp ban hành để điều hành công việc.</a:t>
            </a:r>
          </a:p>
          <a:p>
            <a:pPr>
              <a:spcBef>
                <a:spcPts val="400"/>
              </a:spcBef>
            </a:pPr>
            <a:r>
              <a:rPr sz="2100">
                <a:solidFill>
                  <a:srgbClr val="212121"/>
                </a:solidFill>
                <a:latin typeface="Roboto"/>
              </a:rPr>
              <a:t>Áp dụng cho một việc, một người, một nhóm cụ thể.</a:t>
            </a:r>
          </a:p>
          <a:p>
            <a:pPr>
              <a:spcBef>
                <a:spcPts val="400"/>
              </a:spcBef>
            </a:pPr>
            <a:r>
              <a:rPr sz="2100">
                <a:solidFill>
                  <a:srgbClr val="212121"/>
                </a:solidFill>
                <a:latin typeface="Roboto"/>
              </a:rPr>
              <a:t>Ví dụ: quyết định, tờ trình, công văn.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Văn bản chuyên ngành</a:t>
            </a:r>
          </a:p>
          <a:p>
            <a:pPr>
              <a:spcBef>
                <a:spcPts val="400"/>
              </a:spcBef>
            </a:pPr>
            <a:r>
              <a:rPr sz="2100">
                <a:solidFill>
                  <a:srgbClr val="212121"/>
                </a:solidFill>
                <a:latin typeface="Roboto"/>
              </a:rPr>
              <a:t>Do cơ quan quản lý ngành quy định về thể thức riêng.</a:t>
            </a:r>
          </a:p>
          <a:p>
            <a:pPr>
              <a:spcBef>
                <a:spcPts val="400"/>
              </a:spcBef>
            </a:pPr>
            <a:r>
              <a:rPr sz="2100">
                <a:solidFill>
                  <a:srgbClr val="212121"/>
                </a:solidFill>
                <a:latin typeface="Roboto"/>
              </a:rPr>
              <a:t>Ví dụ: chứng từ kế toán, hồ sơ bệnh án, văn bằng chứng chỉ.</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Vì sao phải phân biệt?</a:t>
            </a:r>
          </a:p>
          <a:p>
            <a:pPr>
              <a:spcBef>
                <a:spcPts val="400"/>
              </a:spcBef>
            </a:pPr>
            <a:r>
              <a:rPr sz="2100">
                <a:solidFill>
                  <a:srgbClr val="212121"/>
                </a:solidFill>
                <a:latin typeface="Roboto"/>
              </a:rPr>
              <a:t>Nhầm nhóm là sai thẩm quyền ban hành và sai thể thức.</a:t>
            </a:r>
          </a:p>
          <a:p>
            <a:pPr>
              <a:spcBef>
                <a:spcPts val="400"/>
              </a:spcBef>
            </a:pPr>
            <a:r>
              <a:rPr sz="2100">
                <a:solidFill>
                  <a:srgbClr val="212121"/>
                </a:solidFill>
                <a:latin typeface="Roboto"/>
              </a:rPr>
              <a:t>Chương này soạn thảo nhóm thứ hai — văn bản hành chính — và hợp đồng thương mại.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5.2. YÊU CẦU VỀ NỘI DUNG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Đúng mục đích, đúng thẩm quyền</a:t>
            </a:r>
          </a:p>
          <a:p>
            <a:pPr>
              <a:spcBef>
                <a:spcPts val="400"/>
              </a:spcBef>
            </a:pPr>
            <a:r>
              <a:rPr sz="2100">
                <a:solidFill>
                  <a:srgbClr val="212121"/>
                </a:solidFill>
                <a:latin typeface="Roboto"/>
              </a:rPr>
              <a:t>Mỗi văn bản tập trung một chủ đề; ban hành đúng chức năng, nhiệm vụ của cơ quan, tổ chức.</a:t>
            </a:r>
          </a:p>
        </p:txBody>
      </p:sp>
      <p:sp>
        <p:nvSpPr>
          <p:cNvPr id="238" name="Rounded Rectangle 237"/>
          <p:cNvSpPr/>
          <p:nvPr/>
        </p:nvSpPr>
        <p:spPr>
          <a:xfrm>
            <a:off x="685800" y="4770881"/>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Chính xác – khách quan</a:t>
            </a:r>
          </a:p>
          <a:p>
            <a:pPr>
              <a:spcBef>
                <a:spcPts val="400"/>
              </a:spcBef>
            </a:pPr>
            <a:r>
              <a:rPr sz="2100">
                <a:solidFill>
                  <a:srgbClr val="212121"/>
                </a:solidFill>
                <a:latin typeface="Roboto"/>
              </a:rPr>
              <a:t>Thông tin, số liệu trung thực, có căn cứ, được kiểm chứng trước khi ban hành.</a:t>
            </a:r>
          </a:p>
        </p:txBody>
      </p:sp>
      <p:sp>
        <p:nvSpPr>
          <p:cNvPr id="239" name="Rounded Rectangle 238"/>
          <p:cNvSpPr/>
          <p:nvPr/>
        </p:nvSpPr>
        <p:spPr>
          <a:xfrm>
            <a:off x="685800" y="6295644"/>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Rõ ràng – ngắn gọn – dễ hiểu</a:t>
            </a:r>
          </a:p>
          <a:p>
            <a:pPr>
              <a:spcBef>
                <a:spcPts val="400"/>
              </a:spcBef>
            </a:pPr>
            <a:r>
              <a:rPr sz="2100">
                <a:solidFill>
                  <a:srgbClr val="212121"/>
                </a:solidFill>
                <a:latin typeface="Roboto"/>
              </a:rPr>
              <a:t>Câu văn mạch lạc, không đa nghĩa; trình bày trực tiếp vào vấn đề.</a:t>
            </a:r>
          </a:p>
        </p:txBody>
      </p:sp>
      <p:sp>
        <p:nvSpPr>
          <p:cNvPr id="240" name="Rounded Rectangle 239"/>
          <p:cNvSpPr/>
          <p:nvPr/>
        </p:nvSpPr>
        <p:spPr>
          <a:xfrm>
            <a:off x="685800" y="7820405"/>
            <a:ext cx="12161520" cy="132359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Đúng pháp luật, đúng ngôn ngữ hành chính</a:t>
            </a:r>
          </a:p>
          <a:p>
            <a:pPr>
              <a:spcBef>
                <a:spcPts val="400"/>
              </a:spcBef>
            </a:pPr>
            <a:r>
              <a:rPr sz="2100">
                <a:solidFill>
                  <a:srgbClr val="212121"/>
                </a:solidFill>
                <a:latin typeface="Roboto"/>
              </a:rPr>
              <a:t>Phù hợp quy định hiện hành; văn phong nghiêm túc, lịch sự, không dùng khẩu ngữ.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5.2. THỂ THỨC VĂN BẢN (NĐ 30/2020)</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200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154680"/>
            <a:ext cx="11292840" cy="749808"/>
          </a:xfrm>
          <a:prstGeom prst="rect">
            <a:avLst/>
          </a:prstGeom>
          <a:noFill/>
        </p:spPr>
        <p:txBody>
          <a:bodyPr wrap="square" lIns="0" tIns="0" bIns="0">
            <a:spAutoFit/>
          </a:bodyPr>
          <a:lstStyle/>
          <a:p>
            <a:r>
              <a:rPr sz="2200">
                <a:solidFill>
                  <a:srgbClr val="212121"/>
                </a:solidFill>
                <a:latin typeface="Roboto"/>
              </a:rPr>
              <a:t>Quốc hiệu và Tiêu ngữ</a:t>
            </a:r>
          </a:p>
        </p:txBody>
      </p:sp>
      <p:sp>
        <p:nvSpPr>
          <p:cNvPr id="239" name="Oval 238"/>
          <p:cNvSpPr/>
          <p:nvPr/>
        </p:nvSpPr>
        <p:spPr>
          <a:xfrm>
            <a:off x="822960" y="375919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3713480"/>
            <a:ext cx="11292840" cy="749808"/>
          </a:xfrm>
          <a:prstGeom prst="rect">
            <a:avLst/>
          </a:prstGeom>
          <a:noFill/>
        </p:spPr>
        <p:txBody>
          <a:bodyPr wrap="square" lIns="0" tIns="0" bIns="0">
            <a:spAutoFit/>
          </a:bodyPr>
          <a:lstStyle/>
          <a:p>
            <a:r>
              <a:rPr sz="2200">
                <a:solidFill>
                  <a:srgbClr val="212121"/>
                </a:solidFill>
                <a:latin typeface="Roboto"/>
              </a:rPr>
              <a:t>Tên cơ quan, tổ chức ban hành</a:t>
            </a:r>
          </a:p>
        </p:txBody>
      </p:sp>
      <p:sp>
        <p:nvSpPr>
          <p:cNvPr id="241" name="Oval 240"/>
          <p:cNvSpPr/>
          <p:nvPr/>
        </p:nvSpPr>
        <p:spPr>
          <a:xfrm>
            <a:off x="822960" y="43180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4272280"/>
            <a:ext cx="11292840" cy="749808"/>
          </a:xfrm>
          <a:prstGeom prst="rect">
            <a:avLst/>
          </a:prstGeom>
          <a:noFill/>
        </p:spPr>
        <p:txBody>
          <a:bodyPr wrap="square" lIns="0" tIns="0" bIns="0">
            <a:spAutoFit/>
          </a:bodyPr>
          <a:lstStyle/>
          <a:p>
            <a:r>
              <a:rPr sz="2200">
                <a:solidFill>
                  <a:srgbClr val="212121"/>
                </a:solidFill>
                <a:latin typeface="Roboto"/>
              </a:rPr>
              <a:t>Số, ký hiệu của văn bản</a:t>
            </a:r>
          </a:p>
        </p:txBody>
      </p:sp>
      <p:sp>
        <p:nvSpPr>
          <p:cNvPr id="243" name="Oval 242"/>
          <p:cNvSpPr/>
          <p:nvPr/>
        </p:nvSpPr>
        <p:spPr>
          <a:xfrm>
            <a:off x="822960" y="48768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4831080"/>
            <a:ext cx="11292840" cy="749808"/>
          </a:xfrm>
          <a:prstGeom prst="rect">
            <a:avLst/>
          </a:prstGeom>
          <a:noFill/>
        </p:spPr>
        <p:txBody>
          <a:bodyPr wrap="square" lIns="0" tIns="0" bIns="0">
            <a:spAutoFit/>
          </a:bodyPr>
          <a:lstStyle/>
          <a:p>
            <a:r>
              <a:rPr sz="2200">
                <a:solidFill>
                  <a:srgbClr val="212121"/>
                </a:solidFill>
                <a:latin typeface="Roboto"/>
              </a:rPr>
              <a:t>Địa danh và thời gian ban hành</a:t>
            </a:r>
          </a:p>
        </p:txBody>
      </p:sp>
      <p:sp>
        <p:nvSpPr>
          <p:cNvPr id="245" name="Oval 244"/>
          <p:cNvSpPr/>
          <p:nvPr/>
        </p:nvSpPr>
        <p:spPr>
          <a:xfrm>
            <a:off x="822960" y="54356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5389880"/>
            <a:ext cx="11292840" cy="749808"/>
          </a:xfrm>
          <a:prstGeom prst="rect">
            <a:avLst/>
          </a:prstGeom>
          <a:noFill/>
        </p:spPr>
        <p:txBody>
          <a:bodyPr wrap="square" lIns="0" tIns="0" bIns="0">
            <a:spAutoFit/>
          </a:bodyPr>
          <a:lstStyle/>
          <a:p>
            <a:r>
              <a:rPr sz="2200">
                <a:solidFill>
                  <a:srgbClr val="212121"/>
                </a:solidFill>
                <a:latin typeface="Roboto"/>
              </a:rPr>
              <a:t>Tên loại và trích yếu nội dung</a:t>
            </a:r>
          </a:p>
        </p:txBody>
      </p:sp>
      <p:sp>
        <p:nvSpPr>
          <p:cNvPr id="247" name="Oval 246"/>
          <p:cNvSpPr/>
          <p:nvPr/>
        </p:nvSpPr>
        <p:spPr>
          <a:xfrm>
            <a:off x="822960" y="5994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5948680"/>
            <a:ext cx="11292840" cy="749808"/>
          </a:xfrm>
          <a:prstGeom prst="rect">
            <a:avLst/>
          </a:prstGeom>
          <a:noFill/>
        </p:spPr>
        <p:txBody>
          <a:bodyPr wrap="square" lIns="0" tIns="0" bIns="0">
            <a:spAutoFit/>
          </a:bodyPr>
          <a:lstStyle/>
          <a:p>
            <a:r>
              <a:rPr sz="2200">
                <a:solidFill>
                  <a:srgbClr val="212121"/>
                </a:solidFill>
                <a:latin typeface="Roboto"/>
              </a:rPr>
              <a:t>Nội dung văn bản</a:t>
            </a:r>
          </a:p>
        </p:txBody>
      </p:sp>
      <p:sp>
        <p:nvSpPr>
          <p:cNvPr id="249" name="Oval 248"/>
          <p:cNvSpPr/>
          <p:nvPr/>
        </p:nvSpPr>
        <p:spPr>
          <a:xfrm>
            <a:off x="822960" y="65532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7</a:t>
            </a:r>
          </a:p>
        </p:txBody>
      </p:sp>
      <p:sp>
        <p:nvSpPr>
          <p:cNvPr id="250" name="TextBox 249"/>
          <p:cNvSpPr txBox="1"/>
          <p:nvPr/>
        </p:nvSpPr>
        <p:spPr>
          <a:xfrm>
            <a:off x="1508760" y="6507480"/>
            <a:ext cx="11292840" cy="749808"/>
          </a:xfrm>
          <a:prstGeom prst="rect">
            <a:avLst/>
          </a:prstGeom>
          <a:noFill/>
        </p:spPr>
        <p:txBody>
          <a:bodyPr wrap="square" lIns="0" tIns="0" bIns="0">
            <a:spAutoFit/>
          </a:bodyPr>
          <a:lstStyle/>
          <a:p>
            <a:r>
              <a:rPr sz="2200">
                <a:solidFill>
                  <a:srgbClr val="212121"/>
                </a:solidFill>
                <a:latin typeface="Roboto"/>
              </a:rPr>
              <a:t>Chức vụ, họ tên và chữ ký của người có thẩm quyền</a:t>
            </a:r>
          </a:p>
        </p:txBody>
      </p:sp>
      <p:sp>
        <p:nvSpPr>
          <p:cNvPr id="251" name="Oval 250"/>
          <p:cNvSpPr/>
          <p:nvPr/>
        </p:nvSpPr>
        <p:spPr>
          <a:xfrm>
            <a:off x="822960" y="71120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8</a:t>
            </a:r>
          </a:p>
        </p:txBody>
      </p:sp>
      <p:sp>
        <p:nvSpPr>
          <p:cNvPr id="252" name="TextBox 251"/>
          <p:cNvSpPr txBox="1"/>
          <p:nvPr/>
        </p:nvSpPr>
        <p:spPr>
          <a:xfrm>
            <a:off x="1508760" y="7066280"/>
            <a:ext cx="11292840" cy="749808"/>
          </a:xfrm>
          <a:prstGeom prst="rect">
            <a:avLst/>
          </a:prstGeom>
          <a:noFill/>
        </p:spPr>
        <p:txBody>
          <a:bodyPr wrap="square" lIns="0" tIns="0" bIns="0">
            <a:spAutoFit/>
          </a:bodyPr>
          <a:lstStyle/>
          <a:p>
            <a:r>
              <a:rPr sz="2200">
                <a:solidFill>
                  <a:srgbClr val="212121"/>
                </a:solidFill>
                <a:latin typeface="Roboto"/>
              </a:rPr>
              <a:t>Dấu, chữ ký số của cơ quan</a:t>
            </a:r>
          </a:p>
        </p:txBody>
      </p:sp>
      <p:sp>
        <p:nvSpPr>
          <p:cNvPr id="253" name="Oval 252"/>
          <p:cNvSpPr/>
          <p:nvPr/>
        </p:nvSpPr>
        <p:spPr>
          <a:xfrm>
            <a:off x="822960" y="76708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9</a:t>
            </a:r>
          </a:p>
        </p:txBody>
      </p:sp>
      <p:sp>
        <p:nvSpPr>
          <p:cNvPr id="254" name="TextBox 253"/>
          <p:cNvSpPr txBox="1"/>
          <p:nvPr/>
        </p:nvSpPr>
        <p:spPr>
          <a:xfrm>
            <a:off x="1508760" y="7625080"/>
            <a:ext cx="11292840" cy="749808"/>
          </a:xfrm>
          <a:prstGeom prst="rect">
            <a:avLst/>
          </a:prstGeom>
          <a:noFill/>
        </p:spPr>
        <p:txBody>
          <a:bodyPr wrap="square" lIns="0" tIns="0" bIns="0">
            <a:spAutoFit/>
          </a:bodyPr>
          <a:lstStyle/>
          <a:p>
            <a:r>
              <a:rPr sz="2200">
                <a:solidFill>
                  <a:srgbClr val="212121"/>
                </a:solidFill>
                <a:latin typeface="Roboto"/>
              </a:rPr>
              <a:t>Nơi nhận</a:t>
            </a:r>
          </a:p>
        </p:txBody>
      </p:sp>
      <p:sp>
        <p:nvSpPr>
          <p:cNvPr id="255" name="Rounded Rectangle 254"/>
          <p:cNvSpPr/>
          <p:nvPr/>
        </p:nvSpPr>
        <p:spPr>
          <a:xfrm>
            <a:off x="685800" y="8366760"/>
            <a:ext cx="12161520" cy="77724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Thành phần bổ sung: phụ lục; dấu chỉ độ mật, mức độ khẩn; ký hiệu người soạn thảo và số lượng bản phát hành.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TRANG VĂN BẢN ĐÚNG CHUẨN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đầu trang</a:t>
            </a:r>
          </a:p>
          <a:p>
            <a:pPr>
              <a:spcBef>
                <a:spcPts val="400"/>
              </a:spcBef>
            </a:pPr>
            <a:r>
              <a:rPr sz="2100">
                <a:solidFill>
                  <a:srgbClr val="212121"/>
                </a:solidFill>
                <a:latin typeface="Roboto"/>
              </a:rPr>
              <a:t>Góc trái: tên cơ quan ban hành — số và ký hiệu văn bản. Góc phải: Quốc hiệu, Tiêu ngữ, dưới là địa danh và ngày tháng năm.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giữa trang</a:t>
            </a:r>
          </a:p>
          <a:p>
            <a:pPr>
              <a:spcBef>
                <a:spcPts val="400"/>
              </a:spcBef>
            </a:pPr>
            <a:r>
              <a:rPr sz="2100">
                <a:solidFill>
                  <a:srgbClr val="212121"/>
                </a:solidFill>
                <a:latin typeface="Roboto"/>
              </a:rPr>
              <a:t>Tên loại văn bản viết in hoa đậm, canh giữa. Ngay dưới là trích yếu nội dung — một câu ngắn cho biết văn bản nói về việc gì.</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cuối trang</a:t>
            </a:r>
          </a:p>
          <a:p>
            <a:pPr>
              <a:spcBef>
                <a:spcPts val="400"/>
              </a:spcBef>
            </a:pPr>
            <a:r>
              <a:rPr sz="2100">
                <a:solidFill>
                  <a:srgbClr val="212121"/>
                </a:solidFill>
                <a:latin typeface="Roboto"/>
              </a:rPr>
              <a:t>Bên phải: chức vụ, chữ ký, dấu và họ tên người có thẩm quyền. Bên trái: “Nơi nhận”, dòng cuối luôn là “Lưu: VT”.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Mẹo kiểm tra nhanh</a:t>
            </a:r>
          </a:p>
          <a:p>
            <a:pPr>
              <a:spcBef>
                <a:spcPts val="400"/>
              </a:spcBef>
            </a:pPr>
            <a:r>
              <a:rPr sz="2100">
                <a:solidFill>
                  <a:srgbClr val="212121"/>
                </a:solidFill>
                <a:latin typeface="Roboto"/>
              </a:rPr>
              <a:t>Che phần nội dung lại. Nếu vẫn biết ai ban hành, ngày nào, gửi cho ai và ai ký — thì thể thức đã đạt.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5.2. KỸ THUẬT TRÌNH BÀY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Khổ giấy và lề trang</a:t>
            </a:r>
          </a:p>
          <a:p>
            <a:pPr>
              <a:spcBef>
                <a:spcPts val="400"/>
              </a:spcBef>
            </a:pPr>
            <a:r>
              <a:rPr sz="2100">
                <a:solidFill>
                  <a:srgbClr val="212121"/>
                </a:solidFill>
                <a:latin typeface="Roboto"/>
              </a:rPr>
              <a:t>Khổ A4 (210 × 297 mm)</a:t>
            </a:r>
          </a:p>
          <a:p>
            <a:pPr>
              <a:spcBef>
                <a:spcPts val="400"/>
              </a:spcBef>
            </a:pPr>
            <a:r>
              <a:rPr sz="2100">
                <a:solidFill>
                  <a:srgbClr val="212121"/>
                </a:solidFill>
                <a:latin typeface="Roboto"/>
              </a:rPr>
              <a:t>Lề trên, dưới: 20 – 25 mm</a:t>
            </a:r>
          </a:p>
          <a:p>
            <a:pPr>
              <a:spcBef>
                <a:spcPts val="400"/>
              </a:spcBef>
            </a:pPr>
            <a:r>
              <a:rPr sz="2100">
                <a:solidFill>
                  <a:srgbClr val="212121"/>
                </a:solidFill>
                <a:latin typeface="Roboto"/>
              </a:rPr>
              <a:t>Lề trái: 30 – 35 mm</a:t>
            </a:r>
          </a:p>
          <a:p>
            <a:pPr>
              <a:spcBef>
                <a:spcPts val="400"/>
              </a:spcBef>
            </a:pPr>
            <a:r>
              <a:rPr sz="2100">
                <a:solidFill>
                  <a:srgbClr val="212121"/>
                </a:solidFill>
                <a:latin typeface="Roboto"/>
              </a:rPr>
              <a:t>Lề phải: 15 – 20 mm.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Phông chữ và cỡ chữ</a:t>
            </a:r>
          </a:p>
          <a:p>
            <a:pPr>
              <a:spcBef>
                <a:spcPts val="400"/>
              </a:spcBef>
            </a:pPr>
            <a:r>
              <a:rPr sz="2100">
                <a:solidFill>
                  <a:srgbClr val="212121"/>
                </a:solidFill>
                <a:latin typeface="Roboto"/>
              </a:rPr>
              <a:t>Chữ tiếng Việt Times New Roman, bộ mã Unicode, cỡ 13 – 14, màu đen.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Đánh số trang</a:t>
            </a:r>
          </a:p>
          <a:p>
            <a:pPr>
              <a:spcBef>
                <a:spcPts val="400"/>
              </a:spcBef>
            </a:pPr>
            <a:r>
              <a:rPr sz="2100">
                <a:solidFill>
                  <a:srgbClr val="212121"/>
                </a:solidFill>
                <a:latin typeface="Roboto"/>
              </a:rPr>
              <a:t>Đánh từ số 1, bằng chữ số Ả Rập, không hiển thị số trang thứ nhất; canh giữa theo lề trên.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Ngôn ngữ trình bày</a:t>
            </a:r>
          </a:p>
          <a:p>
            <a:pPr>
              <a:spcBef>
                <a:spcPts val="400"/>
              </a:spcBef>
            </a:pPr>
            <a:r>
              <a:rPr sz="2100">
                <a:solidFill>
                  <a:srgbClr val="212121"/>
                </a:solidFill>
                <a:latin typeface="Roboto"/>
              </a:rPr>
              <a:t>Tiếng Việt chuẩn mực; viết hoa, viết tắt đúng quy định; số liệu dùng chữ số Ả Rập.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NHỮNG CON SỐ PHẢI THUỘC</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Khổ giấy và lề</a:t>
            </a:r>
          </a:p>
          <a:p>
            <a:pPr>
              <a:spcBef>
                <a:spcPts val="400"/>
              </a:spcBef>
            </a:pPr>
            <a:r>
              <a:rPr sz="2100">
                <a:solidFill>
                  <a:srgbClr val="212121"/>
                </a:solidFill>
                <a:latin typeface="Roboto"/>
              </a:rPr>
              <a:t>Khổ A4 (210 × 297 mm).</a:t>
            </a:r>
          </a:p>
          <a:p>
            <a:pPr>
              <a:spcBef>
                <a:spcPts val="400"/>
              </a:spcBef>
            </a:pPr>
            <a:r>
              <a:rPr sz="2100">
                <a:solidFill>
                  <a:srgbClr val="212121"/>
                </a:solidFill>
                <a:latin typeface="Roboto"/>
              </a:rPr>
              <a:t>Lề trên 20–25 mm • lề dưới 20–25 mm</a:t>
            </a:r>
          </a:p>
          <a:p>
            <a:pPr>
              <a:spcBef>
                <a:spcPts val="400"/>
              </a:spcBef>
            </a:pPr>
            <a:r>
              <a:rPr sz="2100">
                <a:solidFill>
                  <a:srgbClr val="212121"/>
                </a:solidFill>
                <a:latin typeface="Roboto"/>
              </a:rPr>
              <a:t>Lề trái 30–35 mm • lề phải 15–20 mm.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Phông chữ và cỡ chữ</a:t>
            </a:r>
          </a:p>
          <a:p>
            <a:pPr>
              <a:spcBef>
                <a:spcPts val="400"/>
              </a:spcBef>
            </a:pPr>
            <a:r>
              <a:rPr sz="2100">
                <a:solidFill>
                  <a:srgbClr val="212121"/>
                </a:solidFill>
                <a:latin typeface="Roboto"/>
              </a:rPr>
              <a:t>Times New Roman, bộ mã Unicode.</a:t>
            </a:r>
          </a:p>
          <a:p>
            <a:pPr>
              <a:spcBef>
                <a:spcPts val="400"/>
              </a:spcBef>
            </a:pPr>
            <a:r>
              <a:rPr sz="2100">
                <a:solidFill>
                  <a:srgbClr val="212121"/>
                </a:solidFill>
                <a:latin typeface="Roboto"/>
              </a:rPr>
              <a:t>Cỡ chữ phần nội dung: 13 đến 14.</a:t>
            </a:r>
          </a:p>
          <a:p>
            <a:pPr>
              <a:spcBef>
                <a:spcPts val="400"/>
              </a:spcBef>
            </a:pPr>
            <a:r>
              <a:rPr sz="2100">
                <a:solidFill>
                  <a:srgbClr val="212121"/>
                </a:solidFill>
                <a:latin typeface="Roboto"/>
              </a:rPr>
              <a:t>Không dùng phông trang trí.</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Cách dòng và đoạn</a:t>
            </a:r>
          </a:p>
          <a:p>
            <a:pPr>
              <a:spcBef>
                <a:spcPts val="400"/>
              </a:spcBef>
            </a:pPr>
            <a:r>
              <a:rPr sz="2100">
                <a:solidFill>
                  <a:srgbClr val="212121"/>
                </a:solidFill>
                <a:latin typeface="Roboto"/>
              </a:rPr>
              <a:t>Cách dòng: tối thiểu dòng đơn, tối đa 1,5 lines.</a:t>
            </a:r>
          </a:p>
          <a:p>
            <a:pPr>
              <a:spcBef>
                <a:spcPts val="400"/>
              </a:spcBef>
            </a:pPr>
            <a:r>
              <a:rPr sz="2100">
                <a:solidFill>
                  <a:srgbClr val="212121"/>
                </a:solidFill>
                <a:latin typeface="Roboto"/>
              </a:rPr>
              <a:t>Cách đoạn: tối thiểu 6 pt.</a:t>
            </a:r>
          </a:p>
          <a:p>
            <a:pPr>
              <a:spcBef>
                <a:spcPts val="400"/>
              </a:spcBef>
            </a:pPr>
            <a:r>
              <a:rPr sz="2100">
                <a:solidFill>
                  <a:srgbClr val="212121"/>
                </a:solidFill>
                <a:latin typeface="Roboto"/>
              </a:rPr>
              <a:t>Lùi đầu dòng 1 – 1,27 cm.</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Số trang</a:t>
            </a:r>
          </a:p>
          <a:p>
            <a:pPr>
              <a:spcBef>
                <a:spcPts val="400"/>
              </a:spcBef>
            </a:pPr>
            <a:r>
              <a:rPr sz="2100">
                <a:solidFill>
                  <a:srgbClr val="212121"/>
                </a:solidFill>
                <a:latin typeface="Roboto"/>
              </a:rPr>
              <a:t>Đánh số từ số 1, chữ số Ả Rập, nhưng không hiển thị số trang thứ nhất.</a:t>
            </a:r>
          </a:p>
          <a:p>
            <a:pPr>
              <a:spcBef>
                <a:spcPts val="400"/>
              </a:spcBef>
            </a:pPr>
            <a:r>
              <a:rPr sz="2100">
                <a:solidFill>
                  <a:srgbClr val="212121"/>
                </a:solidFill>
                <a:latin typeface="Roboto"/>
              </a:rPr>
              <a:t>Canh giữa tại lề trên, cỡ 13–14.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SÁU LỖI THỂ THỨC HAY MẮC NHẤT</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3832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337560"/>
            <a:ext cx="11292840" cy="749808"/>
          </a:xfrm>
          <a:prstGeom prst="rect">
            <a:avLst/>
          </a:prstGeom>
          <a:noFill/>
        </p:spPr>
        <p:txBody>
          <a:bodyPr wrap="square" lIns="0" tIns="0" bIns="0">
            <a:spAutoFit/>
          </a:bodyPr>
          <a:lstStyle/>
          <a:p>
            <a:r>
              <a:rPr sz="2300">
                <a:solidFill>
                  <a:srgbClr val="212121"/>
                </a:solidFill>
                <a:latin typeface="Roboto"/>
              </a:rPr>
              <a:t>Thiếu trích yếu nội dung, hoặc viết trích yếu dài như một đoạn văn.</a:t>
            </a:r>
          </a:p>
        </p:txBody>
      </p:sp>
      <p:sp>
        <p:nvSpPr>
          <p:cNvPr id="239" name="Oval 238"/>
          <p:cNvSpPr/>
          <p:nvPr/>
        </p:nvSpPr>
        <p:spPr>
          <a:xfrm>
            <a:off x="822960" y="4343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297680"/>
            <a:ext cx="11292840" cy="749808"/>
          </a:xfrm>
          <a:prstGeom prst="rect">
            <a:avLst/>
          </a:prstGeom>
          <a:noFill/>
        </p:spPr>
        <p:txBody>
          <a:bodyPr wrap="square" lIns="0" tIns="0" bIns="0">
            <a:spAutoFit/>
          </a:bodyPr>
          <a:lstStyle/>
          <a:p>
            <a:r>
              <a:rPr sz="2300">
                <a:solidFill>
                  <a:srgbClr val="212121"/>
                </a:solidFill>
                <a:latin typeface="Roboto"/>
              </a:rPr>
              <a:t>Ghi sai ký hiệu văn bản — nhầm thứ tự giữa số, năm và chữ viết tắt.</a:t>
            </a:r>
          </a:p>
        </p:txBody>
      </p:sp>
      <p:sp>
        <p:nvSpPr>
          <p:cNvPr id="241" name="Oval 240"/>
          <p:cNvSpPr/>
          <p:nvPr/>
        </p:nvSpPr>
        <p:spPr>
          <a:xfrm>
            <a:off x="822960" y="530352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257800"/>
            <a:ext cx="11292840" cy="749808"/>
          </a:xfrm>
          <a:prstGeom prst="rect">
            <a:avLst/>
          </a:prstGeom>
          <a:noFill/>
        </p:spPr>
        <p:txBody>
          <a:bodyPr wrap="square" lIns="0" tIns="0" bIns="0">
            <a:spAutoFit/>
          </a:bodyPr>
          <a:lstStyle/>
          <a:p>
            <a:r>
              <a:rPr sz="2300">
                <a:solidFill>
                  <a:srgbClr val="212121"/>
                </a:solidFill>
                <a:latin typeface="Roboto"/>
              </a:rPr>
              <a:t>Đặt địa danh và ngày tháng ở bên trái thay vì bên phải, dưới Quốc hiệu.</a:t>
            </a:r>
          </a:p>
        </p:txBody>
      </p:sp>
      <p:sp>
        <p:nvSpPr>
          <p:cNvPr id="243" name="Oval 242"/>
          <p:cNvSpPr/>
          <p:nvPr/>
        </p:nvSpPr>
        <p:spPr>
          <a:xfrm>
            <a:off x="822960" y="626364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217920"/>
            <a:ext cx="11292840" cy="749808"/>
          </a:xfrm>
          <a:prstGeom prst="rect">
            <a:avLst/>
          </a:prstGeom>
          <a:noFill/>
        </p:spPr>
        <p:txBody>
          <a:bodyPr wrap="square" lIns="0" tIns="0" bIns="0">
            <a:spAutoFit/>
          </a:bodyPr>
          <a:lstStyle/>
          <a:p>
            <a:r>
              <a:rPr sz="2300">
                <a:solidFill>
                  <a:srgbClr val="212121"/>
                </a:solidFill>
                <a:latin typeface="Roboto"/>
              </a:rPr>
              <a:t>Quên mục “Nơi nhận”, hoặc có mà thiếu dòng “Lưu: VT” ở cuối.</a:t>
            </a:r>
          </a:p>
        </p:txBody>
      </p:sp>
      <p:sp>
        <p:nvSpPr>
          <p:cNvPr id="245" name="Oval 244"/>
          <p:cNvSpPr/>
          <p:nvPr/>
        </p:nvSpPr>
        <p:spPr>
          <a:xfrm>
            <a:off x="822960" y="722376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7178040"/>
            <a:ext cx="11292840" cy="749808"/>
          </a:xfrm>
          <a:prstGeom prst="rect">
            <a:avLst/>
          </a:prstGeom>
          <a:noFill/>
        </p:spPr>
        <p:txBody>
          <a:bodyPr wrap="square" lIns="0" tIns="0" bIns="0">
            <a:spAutoFit/>
          </a:bodyPr>
          <a:lstStyle/>
          <a:p>
            <a:r>
              <a:rPr sz="2300">
                <a:solidFill>
                  <a:srgbClr val="212121"/>
                </a:solidFill>
                <a:latin typeface="Roboto"/>
              </a:rPr>
              <a:t>Người ký không đúng thẩm quyền, hoặc thiếu “TM.”, “KT.”, “TL.” khi ký thay.</a:t>
            </a:r>
          </a:p>
        </p:txBody>
      </p:sp>
      <p:sp>
        <p:nvSpPr>
          <p:cNvPr id="247" name="Oval 246"/>
          <p:cNvSpPr/>
          <p:nvPr/>
        </p:nvSpPr>
        <p:spPr>
          <a:xfrm>
            <a:off x="822960" y="818387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8138159"/>
            <a:ext cx="11292840" cy="749808"/>
          </a:xfrm>
          <a:prstGeom prst="rect">
            <a:avLst/>
          </a:prstGeom>
          <a:noFill/>
        </p:spPr>
        <p:txBody>
          <a:bodyPr wrap="square" lIns="0" tIns="0" bIns="0">
            <a:spAutoFit/>
          </a:bodyPr>
          <a:lstStyle/>
          <a:p>
            <a:r>
              <a:rPr sz="2300">
                <a:solidFill>
                  <a:srgbClr val="212121"/>
                </a:solidFill>
                <a:latin typeface="Roboto"/>
              </a:rPr>
              <a:t>Dùng phông chữ tùy ý, canh lề bằng dấu cách thay vì đặt lề trong 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TÓM TẮT VIDEO 1</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1 · Văn bản là gì</a:t>
            </a:r>
          </a:p>
          <a:p>
            <a:pPr>
              <a:spcBef>
                <a:spcPts val="400"/>
              </a:spcBef>
            </a:pPr>
            <a:r>
              <a:rPr sz="2100">
                <a:solidFill>
                  <a:srgbClr val="212121"/>
                </a:solidFill>
                <a:latin typeface="Roboto"/>
              </a:rPr>
              <a:t>Thông tin thành văn, hình thành trong hoạt động của cơ quan, tổ chức, và phải được trình bày đúng thể thức theo quy định.</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2 · Chín thành phần thể thức</a:t>
            </a:r>
          </a:p>
          <a:p>
            <a:pPr>
              <a:spcBef>
                <a:spcPts val="400"/>
              </a:spcBef>
            </a:pPr>
            <a:r>
              <a:rPr sz="2100">
                <a:solidFill>
                  <a:srgbClr val="212121"/>
                </a:solidFill>
                <a:latin typeface="Roboto"/>
              </a:rPr>
              <a:t>Theo Nghị định 30/2020/NĐ-CP. Thiếu một thành phần là văn bản chưa hợp lệ, dù nội dung có đúng đến đâu.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3 · Những con số bắt buộc</a:t>
            </a:r>
          </a:p>
          <a:p>
            <a:pPr>
              <a:spcBef>
                <a:spcPts val="400"/>
              </a:spcBef>
            </a:pPr>
            <a:r>
              <a:rPr sz="2100">
                <a:solidFill>
                  <a:srgbClr val="212121"/>
                </a:solidFill>
                <a:latin typeface="Roboto"/>
              </a:rPr>
              <a:t>Khổ A4 • bốn lề • Times New Roman cỡ 13–14 • cách dòng từ dòng đơn đến 1,5 lines • cách đoạn tối thiểu 6 pt.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 — và video tiếp theo</a:t>
            </a:r>
          </a:p>
          <a:p>
            <a:pPr>
              <a:spcBef>
                <a:spcPts val="400"/>
              </a:spcBef>
            </a:pPr>
            <a:r>
              <a:rPr sz="2100">
                <a:solidFill>
                  <a:srgbClr val="212121"/>
                </a:solidFill>
                <a:latin typeface="Roboto"/>
              </a:rPr>
              <a:t>Làm Bài trắc nghiệm ôn tập số 1, gồm 18 câu.</a:t>
            </a:r>
          </a:p>
          <a:p>
            <a:pPr>
              <a:spcBef>
                <a:spcPts val="400"/>
              </a:spcBef>
            </a:pPr>
            <a:r>
              <a:rPr sz="2100">
                <a:solidFill>
                  <a:srgbClr val="212121"/>
                </a:solidFill>
                <a:latin typeface="Roboto"/>
              </a:rPr>
              <a:t>Video 2: năm loại văn bản hành chính thông dụng.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5.1</a:t>
            </a:r>
          </a:p>
          <a:p>
            <a:pPr>
              <a:spcBef>
                <a:spcPts val="400"/>
              </a:spcBef>
            </a:pPr>
            <a:r>
              <a:rPr sz="2100">
                <a:solidFill>
                  <a:srgbClr val="212121"/>
                </a:solidFill>
                <a:latin typeface="Roboto"/>
              </a:rPr>
              <a:t>Khái niệm văn bản và ba nhóm văn bản. Phân loại theo chủ thể ban hành và theo nội dung.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5.2</a:t>
            </a:r>
          </a:p>
          <a:p>
            <a:pPr>
              <a:spcBef>
                <a:spcPts val="400"/>
              </a:spcBef>
            </a:pPr>
            <a:r>
              <a:rPr sz="2100">
                <a:solidFill>
                  <a:srgbClr val="212121"/>
                </a:solidFill>
                <a:latin typeface="Roboto"/>
              </a:rPr>
              <a:t>Bốn yêu cầu về nội dung. Chín thành phần thể thức. Kỹ thuật trình bày và các con số bắt buộc.</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Mục 5.3</a:t>
            </a:r>
          </a:p>
          <a:p>
            <a:pPr>
              <a:spcBef>
                <a:spcPts val="400"/>
              </a:spcBef>
            </a:pPr>
            <a:r>
              <a:rPr sz="2100">
                <a:solidFill>
                  <a:srgbClr val="212121"/>
                </a:solidFill>
                <a:latin typeface="Roboto"/>
              </a:rPr>
              <a:t>Soạn thảo văn bản hành chính thông dụng: quyết định, tờ trình, công văn, biên bản, báo cáo.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Mục 5.4</a:t>
            </a:r>
          </a:p>
          <a:p>
            <a:pPr>
              <a:spcBef>
                <a:spcPts val="400"/>
              </a:spcBef>
            </a:pPr>
            <a:r>
              <a:rPr sz="2100">
                <a:solidFill>
                  <a:srgbClr val="212121"/>
                </a:solidFill>
                <a:latin typeface="Roboto"/>
              </a:rPr>
              <a:t>Soạn thảo hợp đồng thương mại: căn cứ pháp lý, kết cấu, các điều khoản và quy trình ký kết.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 VĂN BẢN HÀNH CHÍNH THÔNG DỤNG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600">
                <a:solidFill>
                  <a:srgbClr val="212121"/>
                </a:solidFill>
                <a:latin typeface="Roboto"/>
              </a:rPr>
              <a:t>Quyết định – giải quyết công việc cụ thể thuộc thẩm quyền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600">
                <a:solidFill>
                  <a:srgbClr val="212121"/>
                </a:solidFill>
                <a:latin typeface="Roboto"/>
              </a:rPr>
              <a:t>Tờ trình – đề xuất cấp trên phê duyệt chủ trương, phương án</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600">
                <a:solidFill>
                  <a:srgbClr val="212121"/>
                </a:solidFill>
                <a:latin typeface="Roboto"/>
              </a:rPr>
              <a:t>Công văn – trao đổi, giao dịch công việc giữa các cơ quan</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600">
                <a:solidFill>
                  <a:srgbClr val="212121"/>
                </a:solidFill>
                <a:latin typeface="Roboto"/>
              </a:rPr>
              <a:t>Biên bản – ghi nhận sự việc, cuộc họp làm căn cứ pháp lý</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600">
                <a:solidFill>
                  <a:srgbClr val="212121"/>
                </a:solidFill>
                <a:latin typeface="Roboto"/>
              </a:rPr>
              <a:t>Báo cáo – phản ánh tình hình, kết quả thực hiện công việc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CHỌN ĐÚNG LOẠI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ra một mệnh lệnh có hiệu lực thi hành</a:t>
            </a:r>
          </a:p>
          <a:p>
            <a:pPr>
              <a:spcBef>
                <a:spcPts val="400"/>
              </a:spcBef>
            </a:pPr>
            <a:r>
              <a:rPr sz="1900">
                <a:solidFill>
                  <a:srgbClr val="212121"/>
                </a:solidFill>
                <a:latin typeface="Roboto"/>
              </a:rPr>
              <a:t>→ QUYẾT ĐỊNH. Ví dụ: bổ nhiệm nhân sự, ban hành quy chế, phê duyệt mua sắm thiết bị.</a:t>
            </a:r>
          </a:p>
        </p:txBody>
      </p:sp>
      <p:sp>
        <p:nvSpPr>
          <p:cNvPr id="238" name="Rounded Rectangle 237"/>
          <p:cNvSpPr/>
          <p:nvPr/>
        </p:nvSpPr>
        <p:spPr>
          <a:xfrm>
            <a:off x="685800" y="4465929"/>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cấp trên xem xét, phê duyệt một việc</a:t>
            </a:r>
          </a:p>
          <a:p>
            <a:pPr>
              <a:spcBef>
                <a:spcPts val="400"/>
              </a:spcBef>
            </a:pPr>
            <a:r>
              <a:rPr sz="1900">
                <a:solidFill>
                  <a:srgbClr val="212121"/>
                </a:solidFill>
                <a:latin typeface="Roboto"/>
              </a:rPr>
              <a:t>→ TỜ TRÌNH. Ví dụ: trình xin kinh phí mua 10 máy tính cho phòng kế toán.</a:t>
            </a:r>
          </a:p>
        </p:txBody>
      </p:sp>
      <p:sp>
        <p:nvSpPr>
          <p:cNvPr id="239" name="Rounded Rectangle 238"/>
          <p:cNvSpPr/>
          <p:nvPr/>
        </p:nvSpPr>
        <p:spPr>
          <a:xfrm>
            <a:off x="685800" y="5685739"/>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trao đổi, đề nghị, trả lời một việc cụ thể</a:t>
            </a:r>
          </a:p>
          <a:p>
            <a:pPr>
              <a:spcBef>
                <a:spcPts val="400"/>
              </a:spcBef>
            </a:pPr>
            <a:r>
              <a:rPr sz="1900">
                <a:solidFill>
                  <a:srgbClr val="212121"/>
                </a:solidFill>
                <a:latin typeface="Roboto"/>
              </a:rPr>
              <a:t>→ CÔNG VĂN. Đây là loại văn bản duy nhất không ghi tên loại ở phần đầu.</a:t>
            </a:r>
          </a:p>
        </p:txBody>
      </p:sp>
      <p:sp>
        <p:nvSpPr>
          <p:cNvPr id="240" name="Rounded Rectangle 239"/>
          <p:cNvSpPr/>
          <p:nvPr/>
        </p:nvSpPr>
        <p:spPr>
          <a:xfrm>
            <a:off x="685800" y="6905548"/>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ghi lại diễn biến một sự việc đang xảy ra</a:t>
            </a:r>
          </a:p>
          <a:p>
            <a:pPr>
              <a:spcBef>
                <a:spcPts val="400"/>
              </a:spcBef>
            </a:pPr>
            <a:r>
              <a:rPr sz="1900">
                <a:solidFill>
                  <a:srgbClr val="212121"/>
                </a:solidFill>
                <a:latin typeface="Roboto"/>
              </a:rPr>
              <a:t>→ BIÊN BẢN. Ví dụ: biên bản họp, biên bản nghiệm thu, biên bản bàn giao.</a:t>
            </a:r>
          </a:p>
        </p:txBody>
      </p:sp>
      <p:sp>
        <p:nvSpPr>
          <p:cNvPr id="241" name="Rounded Rectangle 240"/>
          <p:cNvSpPr/>
          <p:nvPr/>
        </p:nvSpPr>
        <p:spPr>
          <a:xfrm>
            <a:off x="685800" y="8125358"/>
            <a:ext cx="12161520" cy="1018641"/>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100">
                <a:solidFill>
                  <a:srgbClr val="0E6B2D"/>
                </a:solidFill>
                <a:latin typeface="Roboto"/>
              </a:rPr>
              <a:t>Cần tổng hợp tình hình đã thực hiện</a:t>
            </a:r>
          </a:p>
          <a:p>
            <a:pPr>
              <a:spcBef>
                <a:spcPts val="400"/>
              </a:spcBef>
            </a:pPr>
            <a:r>
              <a:rPr sz="1900">
                <a:solidFill>
                  <a:srgbClr val="212121"/>
                </a:solidFill>
                <a:latin typeface="Roboto"/>
              </a:rPr>
              <a:t>→ BÁO CÁO. Ví dụ: báo cáo kết quả kinh doanh quý, báo cáo tổng kết năm.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5.3.1. SOẠN THẢO QUYẾT ĐỊNH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do người có thẩm quyền ban hành để giải quyết công việc cụ thể: bổ nhiệm, khen thưởng, kỷ luật, ban hành quy chế, mua sắm tài sản…</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a:t>
            </a:r>
          </a:p>
          <a:p>
            <a:pPr>
              <a:spcBef>
                <a:spcPts val="400"/>
              </a:spcBef>
            </a:pPr>
            <a:r>
              <a:rPr sz="2200">
                <a:solidFill>
                  <a:srgbClr val="212121"/>
                </a:solidFill>
                <a:latin typeface="Roboto"/>
              </a:rPr>
              <a:t>Phần căn cứ: căn cứ pháp lý và căn cứ thực tiễn (mỗi dòng kết thúc bằng dấu chấm phẩy).</a:t>
            </a:r>
          </a:p>
          <a:p>
            <a:pPr>
              <a:spcBef>
                <a:spcPts val="400"/>
              </a:spcBef>
            </a:pPr>
            <a:r>
              <a:rPr sz="2200">
                <a:solidFill>
                  <a:srgbClr val="212121"/>
                </a:solidFill>
                <a:latin typeface="Roboto"/>
              </a:rPr>
              <a:t>Phần nội dung: trình bày theo các Điều.</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Lưu ý khi soạn thảo</a:t>
            </a:r>
          </a:p>
          <a:p>
            <a:pPr>
              <a:spcBef>
                <a:spcPts val="400"/>
              </a:spcBef>
            </a:pPr>
            <a:r>
              <a:rPr sz="2200">
                <a:solidFill>
                  <a:srgbClr val="212121"/>
                </a:solidFill>
                <a:latin typeface="Roboto"/>
              </a:rPr>
              <a:t>Điều cuối ghi hiệu lực thi hành và đối tượng chịu trách nhiệm thi hành; nội dung không trái văn bản cấp trên.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QUYẾT ĐỊNH MẪU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Phần căn cứ — mỗi dòng một chữ “Căn cứ”</a:t>
            </a:r>
          </a:p>
          <a:p>
            <a:pPr>
              <a:spcBef>
                <a:spcPts val="400"/>
              </a:spcBef>
            </a:pPr>
            <a:r>
              <a:rPr sz="2000">
                <a:solidFill>
                  <a:srgbClr val="212121"/>
                </a:solidFill>
                <a:latin typeface="Roboto"/>
              </a:rPr>
              <a:t>Căn cứ Điều lệ Công ty TNHH An Phát;  Căn cứ Quy chế quản lý tài sản của Công ty;  Xét Tờ trình số 12/TTr-KT ngày 05/9/2026 của Trưởng phòng Kế toán.</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Phần quyết định — mỗi ý một điều</a:t>
            </a:r>
          </a:p>
          <a:p>
            <a:pPr>
              <a:spcBef>
                <a:spcPts val="400"/>
              </a:spcBef>
            </a:pPr>
            <a:r>
              <a:rPr sz="2000">
                <a:solidFill>
                  <a:srgbClr val="212121"/>
                </a:solidFill>
                <a:latin typeface="Roboto"/>
              </a:rPr>
              <a:t>Điều 1. Phê duyệt việc mua sắm 10 bộ máy tính để bàn cho Phòng Kế toán, tổng giá trị 150.000.000 đồng.</a:t>
            </a:r>
          </a:p>
          <a:p>
            <a:pPr>
              <a:spcBef>
                <a:spcPts val="400"/>
              </a:spcBef>
            </a:pPr>
            <a:r>
              <a:rPr sz="2000">
                <a:solidFill>
                  <a:srgbClr val="212121"/>
                </a:solidFill>
                <a:latin typeface="Roboto"/>
              </a:rPr>
              <a:t>Điều 2. Giao Phòng Hành chính – Nhân sự tổ chức lựa chọn nhà cung cấp.</a:t>
            </a:r>
          </a:p>
          <a:p>
            <a:pPr>
              <a:spcBef>
                <a:spcPts val="400"/>
              </a:spcBef>
            </a:pPr>
            <a:r>
              <a:rPr sz="2000">
                <a:solidFill>
                  <a:srgbClr val="212121"/>
                </a:solidFill>
                <a:latin typeface="Roboto"/>
              </a:rPr>
              <a:t>Điều 3. Quyết định có hiệu lực kể từ ngày ký.</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cuối luôn có ba nội dung</a:t>
            </a:r>
          </a:p>
          <a:p>
            <a:pPr>
              <a:spcBef>
                <a:spcPts val="400"/>
              </a:spcBef>
            </a:pPr>
            <a:r>
              <a:rPr sz="2000">
                <a:solidFill>
                  <a:srgbClr val="212121"/>
                </a:solidFill>
                <a:latin typeface="Roboto"/>
              </a:rPr>
              <a:t>Hiệu lực từ khi nào • ai chịu trách nhiệm thi hành • văn bản nào bị thay thế (nếu có).</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5.3.2. SOẠN THẢO TỜ TRÌNH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đề xuất cấp có thẩm quyền phê duyệt một chủ trương, phương án, đề án hoặc giải quyết một công việc cụ thể.</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3 phần</a:t>
            </a:r>
          </a:p>
          <a:p>
            <a:pPr>
              <a:spcBef>
                <a:spcPts val="400"/>
              </a:spcBef>
            </a:pPr>
            <a:r>
              <a:rPr sz="2200">
                <a:solidFill>
                  <a:srgbClr val="212121"/>
                </a:solidFill>
                <a:latin typeface="Roboto"/>
              </a:rPr>
              <a:t>Mở đầu: lý do, sự cần thiết • Nội dung: phương án đề xuất, phân tích lợi ích – tính khả thi • Kết thúc: kiến nghị cấp trên phê duyệt.</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Lưu ý khi soạn thảo</a:t>
            </a:r>
          </a:p>
          <a:p>
            <a:pPr>
              <a:spcBef>
                <a:spcPts val="400"/>
              </a:spcBef>
            </a:pPr>
            <a:r>
              <a:rPr sz="2200">
                <a:solidFill>
                  <a:srgbClr val="212121"/>
                </a:solidFill>
                <a:latin typeface="Roboto"/>
              </a:rPr>
              <a:t>Lập luận thuyết phục, số liệu minh chứng rõ ràng; đính kèm hồ sơ, dự toán liên quan.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TỜ TRÌNH MẪU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Mở đầu — nêu căn cứ và lý do</a:t>
            </a:r>
          </a:p>
          <a:p>
            <a:pPr>
              <a:spcBef>
                <a:spcPts val="400"/>
              </a:spcBef>
            </a:pPr>
            <a:r>
              <a:rPr sz="2000">
                <a:solidFill>
                  <a:srgbClr val="212121"/>
                </a:solidFill>
                <a:latin typeface="Roboto"/>
              </a:rPr>
              <a:t>“Thực hiện kế hoạch công tác năm 2026 của Công ty, Phòng Kế toán kính trình Ban Giám đốc xem xét, phê duyệt việc mua sắm thiết bị làm việc như sau:”</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Thân — thực trạng, phương án và kinh phí</a:t>
            </a:r>
          </a:p>
          <a:p>
            <a:pPr>
              <a:spcBef>
                <a:spcPts val="400"/>
              </a:spcBef>
            </a:pPr>
            <a:r>
              <a:rPr sz="2000">
                <a:solidFill>
                  <a:srgbClr val="212121"/>
                </a:solidFill>
                <a:latin typeface="Roboto"/>
              </a:rPr>
              <a:t>Thực trạng: 10 máy tính dùng từ năm 2018, hỏng hóc thường xuyên.</a:t>
            </a:r>
          </a:p>
          <a:p>
            <a:pPr>
              <a:spcBef>
                <a:spcPts val="400"/>
              </a:spcBef>
            </a:pPr>
            <a:r>
              <a:rPr sz="2000">
                <a:solidFill>
                  <a:srgbClr val="212121"/>
                </a:solidFill>
                <a:latin typeface="Roboto"/>
              </a:rPr>
              <a:t>Phương án: mua mới 10 bộ, cấu hình theo phụ lục kèm theo.</a:t>
            </a:r>
          </a:p>
          <a:p>
            <a:pPr>
              <a:spcBef>
                <a:spcPts val="400"/>
              </a:spcBef>
            </a:pPr>
            <a:r>
              <a:rPr sz="2000">
                <a:solidFill>
                  <a:srgbClr val="212121"/>
                </a:solidFill>
                <a:latin typeface="Roboto"/>
              </a:rPr>
              <a:t>Kinh phí: 150.000.000 đồng, từ nguồn chi thường xuyên năm 2026.</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Kết — lời đề nghị rõ ràng</a:t>
            </a:r>
          </a:p>
          <a:p>
            <a:pPr>
              <a:spcBef>
                <a:spcPts val="400"/>
              </a:spcBef>
            </a:pPr>
            <a:r>
              <a:rPr sz="2000">
                <a:solidFill>
                  <a:srgbClr val="212121"/>
                </a:solidFill>
                <a:latin typeface="Roboto"/>
              </a:rPr>
              <a:t>Tờ trình phải nêu rõ mình xin điều gì — tránh viết chung chung “kính mong quan tâm”.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5.3.3. SOẠN THẢO CÔNG VĂN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 và đặc điểm</a:t>
            </a:r>
          </a:p>
          <a:p>
            <a:pPr>
              <a:spcBef>
                <a:spcPts val="400"/>
              </a:spcBef>
            </a:pPr>
            <a:r>
              <a:rPr sz="2200">
                <a:solidFill>
                  <a:srgbClr val="212121"/>
                </a:solidFill>
                <a:latin typeface="Roboto"/>
              </a:rPr>
              <a:t>Văn bản trao đổi, giao dịch công việc giữa cơ quan, tổ chức, cá nhân; không có tên loại, chỉ có số – ký hiệu và trích yếu.</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Các loại công văn phổ biến</a:t>
            </a:r>
          </a:p>
          <a:p>
            <a:pPr>
              <a:spcBef>
                <a:spcPts val="400"/>
              </a:spcBef>
            </a:pPr>
            <a:r>
              <a:rPr sz="2200">
                <a:solidFill>
                  <a:srgbClr val="212121"/>
                </a:solidFill>
                <a:latin typeface="Roboto"/>
              </a:rPr>
              <a:t>Công văn đề nghị • trả lời (phúc đáp) • đôn đốc, nhắc nhở • hướng dẫn • giải thích • mời họp.</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và lưu ý</a:t>
            </a:r>
          </a:p>
          <a:p>
            <a:pPr>
              <a:spcBef>
                <a:spcPts val="400"/>
              </a:spcBef>
            </a:pPr>
            <a:r>
              <a:rPr sz="2200">
                <a:solidFill>
                  <a:srgbClr val="212121"/>
                </a:solidFill>
                <a:latin typeface="Roboto"/>
              </a:rPr>
              <a:t>Mở đầu nêu căn cứ, lý do; thân trình bày nội dung; kết thúc lịch sự (“Trân trọng./.”). Mỗi công văn chỉ nên một chủ đề.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CÔNG VĂN — BA KIỂU MỞ ĐẦU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văn đề nghị</a:t>
            </a:r>
          </a:p>
          <a:p>
            <a:pPr>
              <a:spcBef>
                <a:spcPts val="400"/>
              </a:spcBef>
            </a:pPr>
            <a:r>
              <a:rPr sz="2100">
                <a:solidFill>
                  <a:srgbClr val="212121"/>
                </a:solidFill>
                <a:latin typeface="Roboto"/>
              </a:rPr>
              <a:t>“Công ty TNHH An Phát trân trọng đề nghị Quý Công ty cung cấp báo giá 10 bộ máy tính để bàn theo cấu hình đính kèm, gửi về trước ngày 15/9/2026.”</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văn trả lời</a:t>
            </a:r>
          </a:p>
          <a:p>
            <a:pPr>
              <a:spcBef>
                <a:spcPts val="400"/>
              </a:spcBef>
            </a:pPr>
            <a:r>
              <a:rPr sz="2100">
                <a:solidFill>
                  <a:srgbClr val="212121"/>
                </a:solidFill>
                <a:latin typeface="Roboto"/>
              </a:rPr>
              <a:t>“Phúc đáp Công văn số 45/CV-TM ngày 08/9/2026 của Quý Công ty về việc đề nghị điều chỉnh thời hạn giao hàng, Công ty chúng tôi có ý kiến như sau:”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văn đôn đốc, nhắc nhở</a:t>
            </a:r>
          </a:p>
          <a:p>
            <a:pPr>
              <a:spcBef>
                <a:spcPts val="400"/>
              </a:spcBef>
            </a:pPr>
            <a:r>
              <a:rPr sz="2100">
                <a:solidFill>
                  <a:srgbClr val="212121"/>
                </a:solidFill>
                <a:latin typeface="Roboto"/>
              </a:rPr>
              <a:t>“Ngày 01/9/2026, Công ty đã có Công văn số 40/CV-HC về việc nộp báo cáo quý III. Đến nay Phòng Kinh doanh chưa gửi. Đề nghị hoàn thành trước ngày 20/9/2026.”</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Điểm phải nhớ</a:t>
            </a:r>
          </a:p>
          <a:p>
            <a:pPr>
              <a:spcBef>
                <a:spcPts val="400"/>
              </a:spcBef>
            </a:pPr>
            <a:r>
              <a:rPr sz="2100">
                <a:solidFill>
                  <a:srgbClr val="212121"/>
                </a:solidFill>
                <a:latin typeface="Roboto"/>
              </a:rPr>
              <a:t>Công văn không ghi tên loại. Phần trích yếu viết sau chữ “V/v” — ví dụ “V/v đề nghị báo giá thiết bị văn phòng”.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5.3.4. SOẠN THẢO BIÊN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ghi lại đầy đủ, trung thực diễn biến một sự việc, cuộc họp đang xảy ra để làm căn cứ xem xét, giải quyết.</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Các loại biên bản</a:t>
            </a:r>
          </a:p>
          <a:p>
            <a:pPr>
              <a:spcBef>
                <a:spcPts val="400"/>
              </a:spcBef>
            </a:pPr>
            <a:r>
              <a:rPr sz="2200">
                <a:solidFill>
                  <a:srgbClr val="212121"/>
                </a:solidFill>
                <a:latin typeface="Roboto"/>
              </a:rPr>
              <a:t>Biên bản hội nghị, cuộc họp • biên bản sự việc • biên bản bàn giao • biên bản nghiệm thu, thanh lý…</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và yêu cầu</a:t>
            </a:r>
          </a:p>
          <a:p>
            <a:pPr>
              <a:spcBef>
                <a:spcPts val="400"/>
              </a:spcBef>
            </a:pPr>
            <a:r>
              <a:rPr sz="2200">
                <a:solidFill>
                  <a:srgbClr val="212121"/>
                </a:solidFill>
                <a:latin typeface="Roboto"/>
              </a:rPr>
              <a:t>Thời gian, địa điểm – thành phần tham dự – diễn biến, ý kiến – kết luận – chữ ký các bên. Ghi tại chỗ, chính xác, khách quan.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BIÊN BẢN VÀ BÁO CÁO KHÁC NHAU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Biên bản — ghi tại chỗ</a:t>
            </a:r>
          </a:p>
          <a:p>
            <a:pPr>
              <a:spcBef>
                <a:spcPts val="400"/>
              </a:spcBef>
            </a:pPr>
            <a:r>
              <a:rPr sz="2100">
                <a:solidFill>
                  <a:srgbClr val="212121"/>
                </a:solidFill>
                <a:latin typeface="Roboto"/>
              </a:rPr>
              <a:t>Ghi lại sự việc ĐANG diễn ra, viết ngay tại thời điểm đó.</a:t>
            </a:r>
          </a:p>
          <a:p>
            <a:pPr>
              <a:spcBef>
                <a:spcPts val="400"/>
              </a:spcBef>
            </a:pPr>
            <a:r>
              <a:rPr sz="2100">
                <a:solidFill>
                  <a:srgbClr val="212121"/>
                </a:solidFill>
                <a:latin typeface="Roboto"/>
              </a:rPr>
              <a:t>Ghi rõ thời gian, địa điểm, thành phần có mặt.</a:t>
            </a:r>
          </a:p>
          <a:p>
            <a:pPr>
              <a:spcBef>
                <a:spcPts val="400"/>
              </a:spcBef>
            </a:pPr>
            <a:r>
              <a:rPr sz="2100">
                <a:solidFill>
                  <a:srgbClr val="212121"/>
                </a:solidFill>
                <a:latin typeface="Roboto"/>
              </a:rPr>
              <a:t>Không bình luận — chỉ ghi đúng những gì xảy ra.</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Báo cáo — tổng hợp về sau</a:t>
            </a:r>
          </a:p>
          <a:p>
            <a:pPr>
              <a:spcBef>
                <a:spcPts val="400"/>
              </a:spcBef>
            </a:pPr>
            <a:r>
              <a:rPr sz="2100">
                <a:solidFill>
                  <a:srgbClr val="212121"/>
                </a:solidFill>
                <a:latin typeface="Roboto"/>
              </a:rPr>
              <a:t>Tổng hợp việc ĐÃ làm trong một kỳ, viết sau khi sự việc kết thúc.</a:t>
            </a:r>
          </a:p>
          <a:p>
            <a:pPr>
              <a:spcBef>
                <a:spcPts val="400"/>
              </a:spcBef>
            </a:pPr>
            <a:r>
              <a:rPr sz="2100">
                <a:solidFill>
                  <a:srgbClr val="212121"/>
                </a:solidFill>
                <a:latin typeface="Roboto"/>
              </a:rPr>
              <a:t>Có số liệu, có đánh giá kết quả.</a:t>
            </a:r>
          </a:p>
          <a:p>
            <a:pPr>
              <a:spcBef>
                <a:spcPts val="400"/>
              </a:spcBef>
            </a:pPr>
            <a:r>
              <a:rPr sz="2100">
                <a:solidFill>
                  <a:srgbClr val="212121"/>
                </a:solidFill>
                <a:latin typeface="Roboto"/>
              </a:rPr>
              <a:t>Có nguyên nhân, bài học và đề xuất cho kỳ tới.</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Chữ ký khác nhau</a:t>
            </a:r>
          </a:p>
          <a:p>
            <a:pPr>
              <a:spcBef>
                <a:spcPts val="400"/>
              </a:spcBef>
            </a:pPr>
            <a:r>
              <a:rPr sz="2100">
                <a:solidFill>
                  <a:srgbClr val="212121"/>
                </a:solidFill>
                <a:latin typeface="Roboto"/>
              </a:rPr>
              <a:t>Biên bản: người lập và các bên liên quan cùng ký, xác nhận nội dung ghi là đúng sự thật.</a:t>
            </a:r>
          </a:p>
          <a:p>
            <a:pPr>
              <a:spcBef>
                <a:spcPts val="400"/>
              </a:spcBef>
            </a:pPr>
            <a:r>
              <a:rPr sz="2100">
                <a:solidFill>
                  <a:srgbClr val="212121"/>
                </a:solidFill>
                <a:latin typeface="Roboto"/>
              </a:rPr>
              <a:t>Báo cáo: thủ trưởng đơn vị ký, chịu trách nhiệm về số liệu.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Lỗi hay gặp</a:t>
            </a:r>
          </a:p>
          <a:p>
            <a:pPr>
              <a:spcBef>
                <a:spcPts val="400"/>
              </a:spcBef>
            </a:pPr>
            <a:r>
              <a:rPr sz="2100">
                <a:solidFill>
                  <a:srgbClr val="212121"/>
                </a:solidFill>
                <a:latin typeface="Roboto"/>
              </a:rPr>
              <a:t>Viết biên bản như báo cáo — thêm nhận xét chủ quan.</a:t>
            </a:r>
          </a:p>
          <a:p>
            <a:pPr>
              <a:spcBef>
                <a:spcPts val="400"/>
              </a:spcBef>
            </a:pPr>
            <a:r>
              <a:rPr sz="2100">
                <a:solidFill>
                  <a:srgbClr val="212121"/>
                </a:solidFill>
                <a:latin typeface="Roboto"/>
              </a:rPr>
              <a:t>Viết báo cáo như biên bản — chỉ liệt kê sự việc, thiếu số liệu và thiếu đề xuất.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5.3.5. SOẠN THẢO BÁO CÁO</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a:t>
            </a:r>
          </a:p>
          <a:p>
            <a:pPr>
              <a:spcBef>
                <a:spcPts val="400"/>
              </a:spcBef>
            </a:pPr>
            <a:r>
              <a:rPr sz="2200">
                <a:solidFill>
                  <a:srgbClr val="212121"/>
                </a:solidFill>
                <a:latin typeface="Roboto"/>
              </a:rPr>
              <a:t>Văn bản phản ánh tình hình, kết quả thực hiện công việc của cơ quan, đơn vị, cá nhân trong một thời gian nhất định.</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Các loại báo cáo</a:t>
            </a:r>
          </a:p>
          <a:p>
            <a:pPr>
              <a:spcBef>
                <a:spcPts val="400"/>
              </a:spcBef>
            </a:pPr>
            <a:r>
              <a:rPr sz="2200">
                <a:solidFill>
                  <a:srgbClr val="212121"/>
                </a:solidFill>
                <a:latin typeface="Roboto"/>
              </a:rPr>
              <a:t>Báo cáo định kỳ • đột xuất • chuyên đề • sơ kết, tổng kết.</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Bố cục và yêu cầu</a:t>
            </a:r>
          </a:p>
          <a:p>
            <a:pPr>
              <a:spcBef>
                <a:spcPts val="400"/>
              </a:spcBef>
            </a:pPr>
            <a:r>
              <a:rPr sz="2200">
                <a:solidFill>
                  <a:srgbClr val="212121"/>
                </a:solidFill>
                <a:latin typeface="Roboto"/>
              </a:rPr>
              <a:t>Đặc điểm tình hình → kết quả đạt được → hạn chế, nguyên nhân → phương hướng, kiến nghị. Số liệu trung thực, đánh giá khách quan.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NĂM LỖI KHI SOẠN VĂN BẢN HÀNH CHÍNH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Dùng sai loại văn bản: việc cần quyết định lại viết thành công văn đề nghị.</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Trích yếu không khớp nội dung, hoặc nói một đằng nội dung một nẻo.</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Viết dài dòng, nhiều câu cảm thán; văn bản hành chính cần ngắn, trung tính.</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Nêu yêu cầu mà không nêu thời hạn, người nhận không biết làm xong khi nào.</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Nơi nhận ghi thiếu: người cần biết không nhận được, người không liên quan lại nhận.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TÓM TẮT VIDEO 2</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Năm loại văn bản hành chính vừa học</a:t>
            </a:r>
          </a:p>
          <a:p>
            <a:pPr>
              <a:spcBef>
                <a:spcPts val="400"/>
              </a:spcBef>
            </a:pPr>
            <a:r>
              <a:rPr sz="2100">
                <a:solidFill>
                  <a:srgbClr val="212121"/>
                </a:solidFill>
                <a:latin typeface="Roboto"/>
              </a:rPr>
              <a:t>Quyết định — ra mệnh lệnh có hiệu lực thi hành. Tờ trình — xin cấp trên phê duyệt. Công văn — trao đổi, đề nghị, trả lời. Biên bản — ghi sự việc đang diễn ra. Báo cáo — tổng hợp việc đã làm.</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Hai điều dễ nhầm nhất</a:t>
            </a:r>
          </a:p>
          <a:p>
            <a:pPr>
              <a:spcBef>
                <a:spcPts val="400"/>
              </a:spcBef>
            </a:pPr>
            <a:r>
              <a:rPr sz="2100">
                <a:solidFill>
                  <a:srgbClr val="212121"/>
                </a:solidFill>
                <a:latin typeface="Roboto"/>
              </a:rPr>
              <a:t>Chọn sai loại văn bản: việc cần quyết định lại viết thành công văn đề nghị.</a:t>
            </a:r>
          </a:p>
          <a:p>
            <a:pPr>
              <a:spcBef>
                <a:spcPts val="400"/>
              </a:spcBef>
            </a:pPr>
            <a:r>
              <a:rPr sz="2100">
                <a:solidFill>
                  <a:srgbClr val="212121"/>
                </a:solidFill>
                <a:latin typeface="Roboto"/>
              </a:rPr>
              <a:t>Viết biên bản như báo cáo: thêm nhận xét, đánh giá chủ quan.</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 sau video này</a:t>
            </a:r>
          </a:p>
          <a:p>
            <a:pPr>
              <a:spcBef>
                <a:spcPts val="400"/>
              </a:spcBef>
            </a:pPr>
            <a:r>
              <a:rPr sz="2100">
                <a:solidFill>
                  <a:srgbClr val="212121"/>
                </a:solidFill>
                <a:latin typeface="Roboto"/>
              </a:rPr>
              <a:t>Hoàn thành Bài trắc nghiệm ôn tập số 2 — 18 câu. Video tiếp theo: Mục 5.4 — soạn thảo hợp đồng thương mại.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5.1 và 5.2</a:t>
            </a:r>
          </a:p>
          <a:p>
            <a:pPr>
              <a:spcBef>
                <a:spcPts val="400"/>
              </a:spcBef>
            </a:pPr>
            <a:r>
              <a:rPr sz="2100">
                <a:solidFill>
                  <a:srgbClr val="212121"/>
                </a:solidFill>
                <a:latin typeface="Roboto"/>
              </a:rPr>
              <a:t>Khái niệm và phân loại văn bản. Chín thành phần thể thức theo Nghị định 30. Kỹ thuật trình bày và các con số bắt buộc.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Mục 5.3</a:t>
            </a:r>
          </a:p>
          <a:p>
            <a:pPr>
              <a:spcBef>
                <a:spcPts val="400"/>
              </a:spcBef>
            </a:pPr>
            <a:r>
              <a:rPr sz="2100">
                <a:solidFill>
                  <a:srgbClr val="212121"/>
                </a:solidFill>
                <a:latin typeface="Roboto"/>
              </a:rPr>
              <a:t>Năm loại văn bản hành chính thông dụng: quyết định, tờ trình, công văn, biên bản, báo cáo.</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Mục 5.4</a:t>
            </a:r>
          </a:p>
          <a:p>
            <a:pPr>
              <a:spcBef>
                <a:spcPts val="400"/>
              </a:spcBef>
            </a:pPr>
            <a:r>
              <a:rPr sz="2100">
                <a:solidFill>
                  <a:srgbClr val="212121"/>
                </a:solidFill>
                <a:latin typeface="Roboto"/>
              </a:rPr>
              <a:t>Soạn thảo hợp đồng thương mại: căn cứ pháp lý, kết cấu, các nhóm điều khoản, quy trình soạn thảo và ký kết.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Khép lại chương</a:t>
            </a:r>
          </a:p>
          <a:p>
            <a:pPr>
              <a:spcBef>
                <a:spcPts val="400"/>
              </a:spcBef>
            </a:pPr>
            <a:r>
              <a:rPr sz="2100">
                <a:solidFill>
                  <a:srgbClr val="212121"/>
                </a:solidFill>
                <a:latin typeface="Roboto"/>
              </a:rPr>
              <a:t>Câu hỏi ôn tập, tình huống thực tiễn, hai bài tập vận dụng và tổng kết toàn chương.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5.4. HỢP ĐỒNG THƯƠNG MẠI LÀ GÌ</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Khái niệm</a:t>
            </a:r>
          </a:p>
          <a:p>
            <a:pPr>
              <a:spcBef>
                <a:spcPts val="400"/>
              </a:spcBef>
            </a:pPr>
            <a:r>
              <a:rPr sz="2100">
                <a:solidFill>
                  <a:srgbClr val="212121"/>
                </a:solidFill>
                <a:latin typeface="Roboto"/>
              </a:rPr>
              <a:t>Hợp đồng là sự thỏa thuận giữa các bên về việc xác lập, thay đổi hoặc chấm dứt quyền, nghĩa vụ dân sự. Hợp đồng thương mại là hợp đồng phát sinh trong hoạt động thương mại, ít nhất một bên là thương nhân.</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Đặc điểm</a:t>
            </a:r>
          </a:p>
          <a:p>
            <a:pPr>
              <a:spcBef>
                <a:spcPts val="400"/>
              </a:spcBef>
            </a:pPr>
            <a:r>
              <a:rPr sz="2100">
                <a:solidFill>
                  <a:srgbClr val="212121"/>
                </a:solidFill>
                <a:latin typeface="Roboto"/>
              </a:rPr>
              <a:t>Chủ thể chủ yếu là thương nhân • mục đích sinh lợi • nội dung do các bên tự thỏa thuận trong khuôn khổ pháp luật • hình thức có thể bằng lời nói, văn bản hoặc hành vi cụ thể.</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Vì sao phải lập thành văn bản</a:t>
            </a:r>
          </a:p>
          <a:p>
            <a:pPr>
              <a:spcBef>
                <a:spcPts val="400"/>
              </a:spcBef>
            </a:pPr>
            <a:r>
              <a:rPr sz="2100">
                <a:solidFill>
                  <a:srgbClr val="212121"/>
                </a:solidFill>
                <a:latin typeface="Roboto"/>
              </a:rPr>
              <a:t>Khi có tranh chấp, cái được đem ra đối chiếu là bản hợp đồng. Nói miệng thì không có gì để đối chiếu.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CĂN CỨ PHÁP LÝ KHI SOẠN HỢP ĐỒNG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Bộ luật Dân sự 2015</a:t>
            </a:r>
          </a:p>
          <a:p>
            <a:pPr>
              <a:spcBef>
                <a:spcPts val="400"/>
              </a:spcBef>
            </a:pPr>
            <a:r>
              <a:rPr sz="2100">
                <a:solidFill>
                  <a:srgbClr val="212121"/>
                </a:solidFill>
                <a:latin typeface="Roboto"/>
              </a:rPr>
              <a:t>Căn cứ chung của hợp đồng.</a:t>
            </a:r>
          </a:p>
        </p:txBody>
      </p:sp>
      <p:sp>
        <p:nvSpPr>
          <p:cNvPr id="238" name="Rounded Rectangle 237"/>
          <p:cNvSpPr/>
          <p:nvPr/>
        </p:nvSpPr>
        <p:spPr>
          <a:xfrm>
            <a:off x="685800" y="4943856"/>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Luật Thương mại 2005</a:t>
            </a:r>
          </a:p>
          <a:p>
            <a:pPr>
              <a:spcBef>
                <a:spcPts val="400"/>
              </a:spcBef>
            </a:pPr>
            <a:r>
              <a:rPr sz="2100">
                <a:solidFill>
                  <a:srgbClr val="212121"/>
                </a:solidFill>
                <a:latin typeface="Roboto"/>
              </a:rPr>
              <a:t>Căn cứ cho hoạt động thương mại.</a:t>
            </a:r>
          </a:p>
        </p:txBody>
      </p:sp>
      <p:sp>
        <p:nvSpPr>
          <p:cNvPr id="239" name="Rounded Rectangle 238"/>
          <p:cNvSpPr/>
          <p:nvPr/>
        </p:nvSpPr>
        <p:spPr>
          <a:xfrm>
            <a:off x="685800" y="6641592"/>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Kiểm tra trước khi dẫn</a:t>
            </a:r>
          </a:p>
          <a:p>
            <a:pPr>
              <a:spcBef>
                <a:spcPts val="400"/>
              </a:spcBef>
            </a:pPr>
            <a:r>
              <a:rPr sz="2100">
                <a:solidFill>
                  <a:srgbClr val="212121"/>
                </a:solidFill>
                <a:latin typeface="Roboto"/>
              </a:rPr>
              <a:t>Mở đúng văn bản còn hiệu lực, đối chiếu số hiệu và năm ban hành trước khi ghi vào phần Căn cứ.</a:t>
            </a:r>
          </a:p>
        </p:txBody>
      </p:sp>
      <p:sp>
        <p:nvSpPr>
          <p:cNvPr id="240" name="Rounded Rectangle 239"/>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Phần “Căn cứ” của hợp đồng chỉ nên dẫn những văn bản thực sự điều chỉnh giao dịch này. Dẫn thừa một đạo luật không liên quan là lỗi thường gặp nhất trong hợp đồng do sinh viên soạn.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800" b="1" i="0" u="none" strike="noStrike" cap="none">
                <a:solidFill>
                  <a:srgbClr val="FFFFFF"/>
                </a:solidFill>
                <a:latin typeface="Roboto"/>
                <a:ea typeface="Roboto"/>
                <a:cs typeface="Roboto"/>
                <a:sym typeface="Roboto"/>
              </a:rPr>
              <a:t>CÁC LOẠI HỢP ĐỒNG THƯƠNG MẠI THƯỜNG GẶP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mua bán hàng hóa</a:t>
            </a:r>
          </a:p>
          <a:p>
            <a:pPr>
              <a:spcBef>
                <a:spcPts val="400"/>
              </a:spcBef>
            </a:pPr>
            <a:r>
              <a:rPr sz="2100">
                <a:solidFill>
                  <a:srgbClr val="212121"/>
                </a:solidFill>
                <a:latin typeface="Roboto"/>
              </a:rPr>
              <a:t>Bên bán giao hàng và chuyển quyền sở hữu, bên mua nhận hàng và thanh toán. Loại phổ biến nhất trong doanh nghiệp.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cung ứng dịch vụ</a:t>
            </a:r>
          </a:p>
          <a:p>
            <a:pPr>
              <a:spcBef>
                <a:spcPts val="400"/>
              </a:spcBef>
            </a:pPr>
            <a:r>
              <a:rPr sz="2100">
                <a:solidFill>
                  <a:srgbClr val="212121"/>
                </a:solidFill>
                <a:latin typeface="Roboto"/>
              </a:rPr>
              <a:t>Bên cung ứng thực hiện một công việc, bên sử dụng trả thù lao. Ví dụ: vận chuyển, quảng cáo, tư vấn, bảo trì.</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đại lý, ủy thác</a:t>
            </a:r>
          </a:p>
          <a:p>
            <a:pPr>
              <a:spcBef>
                <a:spcPts val="400"/>
              </a:spcBef>
            </a:pPr>
            <a:r>
              <a:rPr sz="2100">
                <a:solidFill>
                  <a:srgbClr val="212121"/>
                </a:solidFill>
                <a:latin typeface="Roboto"/>
              </a:rPr>
              <a:t>Một bên nhân danh mình hoặc nhân danh bên kia để mua bán hàng hóa và hưởng thù lao, hoa hồng.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gia công</a:t>
            </a:r>
          </a:p>
          <a:p>
            <a:pPr>
              <a:spcBef>
                <a:spcPts val="400"/>
              </a:spcBef>
            </a:pPr>
            <a:r>
              <a:rPr sz="2100">
                <a:solidFill>
                  <a:srgbClr val="212121"/>
                </a:solidFill>
                <a:latin typeface="Roboto"/>
              </a:rPr>
              <a:t>Bên nhận gia công dùng nguyên liệu của bên đặt để làm ra sản phẩm theo yêu cầu và nhận tiền công.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KẾT CẤU MỘT BẢN HỢP ĐỒNG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3832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337560"/>
            <a:ext cx="11292840" cy="749808"/>
          </a:xfrm>
          <a:prstGeom prst="rect">
            <a:avLst/>
          </a:prstGeom>
          <a:noFill/>
        </p:spPr>
        <p:txBody>
          <a:bodyPr wrap="square" lIns="0" tIns="0" bIns="0">
            <a:spAutoFit/>
          </a:bodyPr>
          <a:lstStyle/>
          <a:p>
            <a:r>
              <a:rPr sz="2200">
                <a:solidFill>
                  <a:srgbClr val="212121"/>
                </a:solidFill>
                <a:latin typeface="Roboto"/>
              </a:rPr>
              <a:t>Quốc hiệu, tiêu ngữ • tên hợp đồng • số hiệu • ngày tháng, địa điểm ký</a:t>
            </a:r>
          </a:p>
        </p:txBody>
      </p:sp>
      <p:sp>
        <p:nvSpPr>
          <p:cNvPr id="239" name="Oval 238"/>
          <p:cNvSpPr/>
          <p:nvPr/>
        </p:nvSpPr>
        <p:spPr>
          <a:xfrm>
            <a:off x="822960" y="4343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297680"/>
            <a:ext cx="11292840" cy="749808"/>
          </a:xfrm>
          <a:prstGeom prst="rect">
            <a:avLst/>
          </a:prstGeom>
          <a:noFill/>
        </p:spPr>
        <p:txBody>
          <a:bodyPr wrap="square" lIns="0" tIns="0" bIns="0">
            <a:spAutoFit/>
          </a:bodyPr>
          <a:lstStyle/>
          <a:p>
            <a:r>
              <a:rPr sz="2200">
                <a:solidFill>
                  <a:srgbClr val="212121"/>
                </a:solidFill>
                <a:latin typeface="Roboto"/>
              </a:rPr>
              <a:t>Phần căn cứ: các văn bản pháp luật và căn cứ thực tiễn của giao dịch</a:t>
            </a:r>
          </a:p>
        </p:txBody>
      </p:sp>
      <p:sp>
        <p:nvSpPr>
          <p:cNvPr id="241" name="Oval 240"/>
          <p:cNvSpPr/>
          <p:nvPr/>
        </p:nvSpPr>
        <p:spPr>
          <a:xfrm>
            <a:off x="822960" y="530352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257800"/>
            <a:ext cx="11292840" cy="749808"/>
          </a:xfrm>
          <a:prstGeom prst="rect">
            <a:avLst/>
          </a:prstGeom>
          <a:noFill/>
        </p:spPr>
        <p:txBody>
          <a:bodyPr wrap="square" lIns="0" tIns="0" bIns="0">
            <a:spAutoFit/>
          </a:bodyPr>
          <a:lstStyle/>
          <a:p>
            <a:r>
              <a:rPr sz="2200">
                <a:solidFill>
                  <a:srgbClr val="212121"/>
                </a:solidFill>
                <a:latin typeface="Roboto"/>
              </a:rPr>
              <a:t>Thông tin các bên: tên, địa chỉ, mã số thuế, người đại diện, tài khoản</a:t>
            </a:r>
          </a:p>
        </p:txBody>
      </p:sp>
      <p:sp>
        <p:nvSpPr>
          <p:cNvPr id="243" name="Oval 242"/>
          <p:cNvSpPr/>
          <p:nvPr/>
        </p:nvSpPr>
        <p:spPr>
          <a:xfrm>
            <a:off x="822960" y="626364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217920"/>
            <a:ext cx="11292840" cy="749808"/>
          </a:xfrm>
          <a:prstGeom prst="rect">
            <a:avLst/>
          </a:prstGeom>
          <a:noFill/>
        </p:spPr>
        <p:txBody>
          <a:bodyPr wrap="square" lIns="0" tIns="0" bIns="0">
            <a:spAutoFit/>
          </a:bodyPr>
          <a:lstStyle/>
          <a:p>
            <a:r>
              <a:rPr sz="2200">
                <a:solidFill>
                  <a:srgbClr val="212121"/>
                </a:solidFill>
                <a:latin typeface="Roboto"/>
              </a:rPr>
              <a:t>Các điều khoản của hợp đồng, đánh số từ Điều 1 trở đi</a:t>
            </a:r>
          </a:p>
        </p:txBody>
      </p:sp>
      <p:sp>
        <p:nvSpPr>
          <p:cNvPr id="245" name="Oval 244"/>
          <p:cNvSpPr/>
          <p:nvPr/>
        </p:nvSpPr>
        <p:spPr>
          <a:xfrm>
            <a:off x="822960" y="722376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7178040"/>
            <a:ext cx="11292840" cy="749808"/>
          </a:xfrm>
          <a:prstGeom prst="rect">
            <a:avLst/>
          </a:prstGeom>
          <a:noFill/>
        </p:spPr>
        <p:txBody>
          <a:bodyPr wrap="square" lIns="0" tIns="0" bIns="0">
            <a:spAutoFit/>
          </a:bodyPr>
          <a:lstStyle/>
          <a:p>
            <a:r>
              <a:rPr sz="2200">
                <a:solidFill>
                  <a:srgbClr val="212121"/>
                </a:solidFill>
                <a:latin typeface="Roboto"/>
              </a:rPr>
              <a:t>Điều khoản cuối: hiệu lực, số bản, mỗi bên giữ mấy bản</a:t>
            </a:r>
          </a:p>
        </p:txBody>
      </p:sp>
      <p:sp>
        <p:nvSpPr>
          <p:cNvPr id="247" name="Oval 246"/>
          <p:cNvSpPr/>
          <p:nvPr/>
        </p:nvSpPr>
        <p:spPr>
          <a:xfrm>
            <a:off x="822960" y="818387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8138159"/>
            <a:ext cx="11292840" cy="749808"/>
          </a:xfrm>
          <a:prstGeom prst="rect">
            <a:avLst/>
          </a:prstGeom>
          <a:noFill/>
        </p:spPr>
        <p:txBody>
          <a:bodyPr wrap="square" lIns="0" tIns="0" bIns="0">
            <a:spAutoFit/>
          </a:bodyPr>
          <a:lstStyle/>
          <a:p>
            <a:r>
              <a:rPr sz="2200">
                <a:solidFill>
                  <a:srgbClr val="212121"/>
                </a:solidFill>
                <a:latin typeface="Roboto"/>
              </a:rPr>
              <a:t>Đại diện hai bên ký, ghi rõ họ tên, chức vụ và đóng dấu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NHỮNG ĐIỀU KHOẢN MỘT HỢP ĐỒNG CẦN CÓ</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Nhóm không thể thiếu</a:t>
            </a:r>
          </a:p>
          <a:p>
            <a:pPr>
              <a:spcBef>
                <a:spcPts val="400"/>
              </a:spcBef>
            </a:pPr>
            <a:r>
              <a:rPr sz="2100">
                <a:solidFill>
                  <a:srgbClr val="212121"/>
                </a:solidFill>
                <a:latin typeface="Roboto"/>
              </a:rPr>
              <a:t>Đối tượng, số lượng, chất lượng, giá và phương thức thanh toán. Thiếu một trong số này thì hai bên chưa thống nhất được điều gì cả.</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Nhóm về thực hiện</a:t>
            </a:r>
          </a:p>
          <a:p>
            <a:pPr>
              <a:spcBef>
                <a:spcPts val="400"/>
              </a:spcBef>
            </a:pPr>
            <a:r>
              <a:rPr sz="2100">
                <a:solidFill>
                  <a:srgbClr val="212121"/>
                </a:solidFill>
                <a:latin typeface="Roboto"/>
              </a:rPr>
              <a:t>Địa điểm và thời hạn giao hàng, nghiệm thu, bảo hành — viết rõ để không phải tranh cãi lúc thực hiện.</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Nhóm hai bên tự thêm</a:t>
            </a:r>
          </a:p>
          <a:p>
            <a:pPr>
              <a:spcBef>
                <a:spcPts val="400"/>
              </a:spcBef>
            </a:pPr>
            <a:r>
              <a:rPr sz="2100">
                <a:solidFill>
                  <a:srgbClr val="212121"/>
                </a:solidFill>
                <a:latin typeface="Roboto"/>
              </a:rPr>
              <a:t>Phạt vi phạm, bảo mật, bất khả kháng, chọn nơi giải quyết tranh chấp. Không ghi vào hợp đồng thì coi như không có.</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ĐỐI TƯỢNG – GIÁ – THANH TOÁN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đối tượng</a:t>
            </a:r>
          </a:p>
          <a:p>
            <a:pPr>
              <a:spcBef>
                <a:spcPts val="400"/>
              </a:spcBef>
            </a:pPr>
            <a:r>
              <a:rPr sz="2000">
                <a:solidFill>
                  <a:srgbClr val="212121"/>
                </a:solidFill>
                <a:latin typeface="Roboto"/>
              </a:rPr>
              <a:t>Mô tả hàng hóa, dịch vụ đủ rõ để không thể hiểu theo cách khác: tên, chủng loại, ký mã hiệu, xuất xứ, số lượng, đơn vị tính, tiêu chuẩn chất lượng và cách kiểm tra.</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giá</a:t>
            </a:r>
          </a:p>
          <a:p>
            <a:pPr>
              <a:spcBef>
                <a:spcPts val="400"/>
              </a:spcBef>
            </a:pPr>
            <a:r>
              <a:rPr sz="2000">
                <a:solidFill>
                  <a:srgbClr val="212121"/>
                </a:solidFill>
                <a:latin typeface="Roboto"/>
              </a:rPr>
              <a:t>Đơn giá, tổng giá trị bằng số và bằng chữ; đã bao gồm thuế GTGT hay chưa; đồng tiền thanh toán; giá cố định hay được điều chỉnh, và điều chỉnh theo căn cứ nào.</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thanh toán</a:t>
            </a:r>
          </a:p>
          <a:p>
            <a:pPr>
              <a:spcBef>
                <a:spcPts val="400"/>
              </a:spcBef>
            </a:pPr>
            <a:r>
              <a:rPr sz="2000">
                <a:solidFill>
                  <a:srgbClr val="212121"/>
                </a:solidFill>
                <a:latin typeface="Roboto"/>
              </a:rPr>
              <a:t>Trả một lần hay nhiều đợt, mỗi đợt bao nhiêu phần trăm và gắn với mốc nào; hình thức chuyển khoản; hồ sơ thanh toán; lãi suất chậm trả nếu quá hạn.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GIAO HÀNG – NGHIỆM THU – BẢO HÀNH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giao hàng</a:t>
            </a:r>
          </a:p>
          <a:p>
            <a:pPr>
              <a:spcBef>
                <a:spcPts val="400"/>
              </a:spcBef>
            </a:pPr>
            <a:r>
              <a:rPr sz="2000">
                <a:solidFill>
                  <a:srgbClr val="212121"/>
                </a:solidFill>
                <a:latin typeface="Roboto"/>
              </a:rPr>
              <a:t>Thời hạn, địa điểm giao; bên nào chịu chi phí vận chuyển, bốc xếp; giao một lần hay nhiều lần; thời điểm chuyển quyền sở hữu và chuyển rủi ro đối với hàng hóa.</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Nghiệm thu và chứng từ</a:t>
            </a:r>
          </a:p>
          <a:p>
            <a:pPr>
              <a:spcBef>
                <a:spcPts val="400"/>
              </a:spcBef>
            </a:pPr>
            <a:r>
              <a:rPr sz="2000">
                <a:solidFill>
                  <a:srgbClr val="212121"/>
                </a:solidFill>
                <a:latin typeface="Roboto"/>
              </a:rPr>
              <a:t>Cách kiểm tra hàng khi nhận; thời hạn thông báo nếu hàng không phù hợp; biên bản nghiệm thu là căn cứ để thanh toán; hóa đơn và các chứng từ kèm theo.</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Điều khoản bảo hành</a:t>
            </a:r>
          </a:p>
          <a:p>
            <a:pPr>
              <a:spcBef>
                <a:spcPts val="400"/>
              </a:spcBef>
            </a:pPr>
            <a:r>
              <a:rPr sz="2000">
                <a:solidFill>
                  <a:srgbClr val="212121"/>
                </a:solidFill>
                <a:latin typeface="Roboto"/>
              </a:rPr>
              <a:t>Thời hạn bảo hành tính từ mốc nào; phạm vi bảo hành và các trường hợp loại trừ; thời gian xử lý khi có sự cố; chi phí bảo hành do bên nào chịu.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PHẠT VI PHẠM VÀ BỒI THƯỜNG THIỆT HẠI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5270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Phạt vi phạm</a:t>
            </a:r>
          </a:p>
          <a:p>
            <a:pPr>
              <a:spcBef>
                <a:spcPts val="400"/>
              </a:spcBef>
            </a:pPr>
            <a:r>
              <a:rPr sz="2000">
                <a:solidFill>
                  <a:srgbClr val="212121"/>
                </a:solidFill>
                <a:latin typeface="Roboto"/>
              </a:rPr>
              <a:t>Chỉ được áp dụng khi các bên có thỏa thuận trong hợp đồng. Mức phạt do các bên thỏa thuận nhưng không vượt quá 8% giá trị phần nghĩa vụ hợp đồng bị vi phạm (Luật Thương mại 2005).</a:t>
            </a:r>
          </a:p>
        </p:txBody>
      </p:sp>
      <p:sp>
        <p:nvSpPr>
          <p:cNvPr id="238" name="Rounded Rectangle 237"/>
          <p:cNvSpPr/>
          <p:nvPr/>
        </p:nvSpPr>
        <p:spPr>
          <a:xfrm>
            <a:off x="685800" y="4974336"/>
            <a:ext cx="12161520" cy="15270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Bồi thường thiệt hại</a:t>
            </a:r>
          </a:p>
          <a:p>
            <a:pPr>
              <a:spcBef>
                <a:spcPts val="400"/>
              </a:spcBef>
            </a:pPr>
            <a:r>
              <a:rPr sz="2000">
                <a:solidFill>
                  <a:srgbClr val="212121"/>
                </a:solidFill>
                <a:latin typeface="Roboto"/>
              </a:rPr>
              <a:t>Áp dụng ngay cả khi hợp đồng không thỏa thuận, nhưng bên bị vi phạm phải chứng minh được thiệt hại thực tế và mối quan hệ nhân quả với hành vi vi phạm.</a:t>
            </a:r>
          </a:p>
        </p:txBody>
      </p:sp>
      <p:sp>
        <p:nvSpPr>
          <p:cNvPr id="239" name="Rounded Rectangle 238"/>
          <p:cNvSpPr/>
          <p:nvPr/>
        </p:nvSpPr>
        <p:spPr>
          <a:xfrm>
            <a:off x="685800" y="6702552"/>
            <a:ext cx="12161520" cy="15270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Bất khả kháng</a:t>
            </a:r>
          </a:p>
          <a:p>
            <a:pPr>
              <a:spcBef>
                <a:spcPts val="400"/>
              </a:spcBef>
            </a:pPr>
            <a:r>
              <a:rPr sz="2000">
                <a:solidFill>
                  <a:srgbClr val="212121"/>
                </a:solidFill>
                <a:latin typeface="Roboto"/>
              </a:rPr>
              <a:t>Sự kiện khách quan, không lường trước và không khắc phục được dù đã áp dụng mọi biện pháp cần thiết. Nên liệt kê ví dụ và quy định nghĩa vụ thông báo trong bao nhiêu ngày.</a:t>
            </a:r>
          </a:p>
        </p:txBody>
      </p:sp>
      <p:sp>
        <p:nvSpPr>
          <p:cNvPr id="240" name="Rounded Rectangle 239"/>
          <p:cNvSpPr/>
          <p:nvPr/>
        </p:nvSpPr>
        <p:spPr>
          <a:xfrm>
            <a:off x="685800" y="8412480"/>
            <a:ext cx="12161520" cy="77724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Ghi nhớ: không có thỏa thuận phạt trong hợp đồng thì không đòi phạt được — chỉ còn cách đòi bồi thường, mà thiệt hại thì rất khó chứng minh bằng số liệu.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ĐIỀU KHOẢN GIẢI QUYẾT TRANH CHẤP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Thương lượng</a:t>
            </a:r>
          </a:p>
          <a:p>
            <a:pPr>
              <a:spcBef>
                <a:spcPts val="400"/>
              </a:spcBef>
            </a:pPr>
            <a:r>
              <a:rPr sz="2100">
                <a:solidFill>
                  <a:srgbClr val="212121"/>
                </a:solidFill>
                <a:latin typeface="Roboto"/>
              </a:rPr>
              <a:t>Hai bên tự bàn bạc. Rẻ nhất, nhanh nhất, giữ được quan hệ làm ăn. Hợp đồng nên ghi rõ thời hạn thương lượng.</a:t>
            </a:r>
          </a:p>
        </p:txBody>
      </p:sp>
      <p:sp>
        <p:nvSpPr>
          <p:cNvPr id="238" name="Rounded Rectangle 237"/>
          <p:cNvSpPr/>
          <p:nvPr/>
        </p:nvSpPr>
        <p:spPr>
          <a:xfrm>
            <a:off x="685800" y="4943856"/>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Hòa giải</a:t>
            </a:r>
          </a:p>
          <a:p>
            <a:pPr>
              <a:spcBef>
                <a:spcPts val="400"/>
              </a:spcBef>
            </a:pPr>
            <a:r>
              <a:rPr sz="2100">
                <a:solidFill>
                  <a:srgbClr val="212121"/>
                </a:solidFill>
                <a:latin typeface="Roboto"/>
              </a:rPr>
              <a:t>Có bên thứ ba trung lập giúp hai bên tìm tiếng nói chung.</a:t>
            </a:r>
          </a:p>
        </p:txBody>
      </p:sp>
      <p:sp>
        <p:nvSpPr>
          <p:cNvPr id="239" name="Rounded Rectangle 238"/>
          <p:cNvSpPr/>
          <p:nvPr/>
        </p:nvSpPr>
        <p:spPr>
          <a:xfrm>
            <a:off x="685800" y="6641592"/>
            <a:ext cx="12161520" cy="149656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Trọng tài hoặc tòa án</a:t>
            </a:r>
          </a:p>
          <a:p>
            <a:pPr>
              <a:spcBef>
                <a:spcPts val="400"/>
              </a:spcBef>
            </a:pPr>
            <a:r>
              <a:rPr sz="2100">
                <a:solidFill>
                  <a:srgbClr val="212121"/>
                </a:solidFill>
                <a:latin typeface="Roboto"/>
              </a:rPr>
              <a:t>Khi hai cách trên không xong. Hợp đồng phải ghi rõ chọn nơi nào và ghi đúng tên cơ quan đó.</a:t>
            </a:r>
          </a:p>
        </p:txBody>
      </p:sp>
      <p:sp>
        <p:nvSpPr>
          <p:cNvPr id="240" name="Rounded Rectangle 239"/>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Để trống điều khoản này thì đến lúc tranh chấp lại mất thêm thời gian bàn xem đưa nhau ra đâu.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NHỮNG CHỖ HAY BỊ BỎ TRỐNG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tiêu chuẩn chất lượng</a:t>
            </a:r>
          </a:p>
          <a:p>
            <a:pPr>
              <a:spcBef>
                <a:spcPts val="400"/>
              </a:spcBef>
            </a:pPr>
            <a:r>
              <a:rPr sz="2100">
                <a:solidFill>
                  <a:srgbClr val="212121"/>
                </a:solidFill>
                <a:latin typeface="Roboto"/>
              </a:rPr>
              <a:t>Chỉ ghi tên hàng mà không ghi theo tiêu chuẩn nào, kiểm tra ra sao. Đến lúc nhận hàng mới cãi nhau thế nào là đạt.</a:t>
            </a:r>
          </a:p>
        </p:txBody>
      </p:sp>
      <p:sp>
        <p:nvSpPr>
          <p:cNvPr id="238" name="Rounded Rectangle 237"/>
          <p:cNvSpPr/>
          <p:nvPr/>
        </p:nvSpPr>
        <p:spPr>
          <a:xfrm>
            <a:off x="688086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mốc thời gian</a:t>
            </a:r>
          </a:p>
          <a:p>
            <a:pPr>
              <a:spcBef>
                <a:spcPts val="400"/>
              </a:spcBef>
            </a:pPr>
            <a:r>
              <a:rPr sz="2100">
                <a:solidFill>
                  <a:srgbClr val="212121"/>
                </a:solidFill>
                <a:latin typeface="Roboto"/>
              </a:rPr>
              <a:t>Ghi “giao sớm nhất có thể”, “thanh toán sau khi nhận hàng” — không có ngày cụ thể thì không ai trễ hạn cả.</a:t>
            </a:r>
          </a:p>
        </p:txBody>
      </p:sp>
      <p:sp>
        <p:nvSpPr>
          <p:cNvPr id="239" name="Rounded Rectangle 238"/>
          <p:cNvSpPr/>
          <p:nvPr/>
        </p:nvSpPr>
        <p:spPr>
          <a:xfrm>
            <a:off x="68580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người liên hệ</a:t>
            </a:r>
          </a:p>
          <a:p>
            <a:pPr>
              <a:spcBef>
                <a:spcPts val="400"/>
              </a:spcBef>
            </a:pPr>
            <a:r>
              <a:rPr sz="2100">
                <a:solidFill>
                  <a:srgbClr val="212121"/>
                </a:solidFill>
                <a:latin typeface="Roboto"/>
              </a:rPr>
              <a:t>Không ghi ai là đầu mối của mỗi bên, số điện thoại, thư điện tử. Có việc gấp thì không biết gọi ai.</a:t>
            </a:r>
          </a:p>
        </p:txBody>
      </p:sp>
      <p:sp>
        <p:nvSpPr>
          <p:cNvPr id="240" name="Rounded Rectangle 239"/>
          <p:cNvSpPr/>
          <p:nvPr/>
        </p:nvSpPr>
        <p:spPr>
          <a:xfrm>
            <a:off x="688086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Thiếu cách thông báo</a:t>
            </a:r>
          </a:p>
          <a:p>
            <a:pPr>
              <a:spcBef>
                <a:spcPts val="400"/>
              </a:spcBef>
            </a:pPr>
            <a:r>
              <a:rPr sz="2100">
                <a:solidFill>
                  <a:srgbClr val="212121"/>
                </a:solidFill>
                <a:latin typeface="Roboto"/>
              </a:rPr>
              <a:t>Không quy định báo cho nhau bằng cách nào, trong bao nhiêu ngày, khi có thay đổi hoặc sự cố.</a:t>
            </a:r>
          </a:p>
        </p:txBody>
      </p:sp>
      <p:sp>
        <p:nvSpPr>
          <p:cNvPr id="241" name="Rounded Rectangle 240"/>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Bốn chỗ này không phải chuyện pháp lý cao siêu — chỉ là viết cho đủ. Nhưng phần lớn rắc rối khi thực hiện hợp đồng bắt nguồn từ đây.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QUY TRÌNH SOẠN THẢO VÀ KÝ KẾT</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3832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337560"/>
            <a:ext cx="11292840" cy="749808"/>
          </a:xfrm>
          <a:prstGeom prst="rect">
            <a:avLst/>
          </a:prstGeom>
          <a:noFill/>
        </p:spPr>
        <p:txBody>
          <a:bodyPr wrap="square" lIns="0" tIns="0" bIns="0">
            <a:spAutoFit/>
          </a:bodyPr>
          <a:lstStyle/>
          <a:p>
            <a:r>
              <a:rPr sz="2200">
                <a:solidFill>
                  <a:srgbClr val="212121"/>
                </a:solidFill>
                <a:latin typeface="Roboto"/>
              </a:rPr>
              <a:t>Xác định nhu cầu và tìm hiểu đối tác: tư cách pháp nhân, năng lực, uy tín</a:t>
            </a:r>
          </a:p>
        </p:txBody>
      </p:sp>
      <p:sp>
        <p:nvSpPr>
          <p:cNvPr id="239" name="Oval 238"/>
          <p:cNvSpPr/>
          <p:nvPr/>
        </p:nvSpPr>
        <p:spPr>
          <a:xfrm>
            <a:off x="822960" y="4343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297680"/>
            <a:ext cx="11292840" cy="749808"/>
          </a:xfrm>
          <a:prstGeom prst="rect">
            <a:avLst/>
          </a:prstGeom>
          <a:noFill/>
        </p:spPr>
        <p:txBody>
          <a:bodyPr wrap="square" lIns="0" tIns="0" bIns="0">
            <a:spAutoFit/>
          </a:bodyPr>
          <a:lstStyle/>
          <a:p>
            <a:r>
              <a:rPr sz="2200">
                <a:solidFill>
                  <a:srgbClr val="212121"/>
                </a:solidFill>
                <a:latin typeface="Roboto"/>
              </a:rPr>
              <a:t>Đàm phán các nội dung chính: đối tượng, giá, tiến độ, thanh toán</a:t>
            </a:r>
          </a:p>
        </p:txBody>
      </p:sp>
      <p:sp>
        <p:nvSpPr>
          <p:cNvPr id="241" name="Oval 240"/>
          <p:cNvSpPr/>
          <p:nvPr/>
        </p:nvSpPr>
        <p:spPr>
          <a:xfrm>
            <a:off x="822960" y="530352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257800"/>
            <a:ext cx="11292840" cy="749808"/>
          </a:xfrm>
          <a:prstGeom prst="rect">
            <a:avLst/>
          </a:prstGeom>
          <a:noFill/>
        </p:spPr>
        <p:txBody>
          <a:bodyPr wrap="square" lIns="0" tIns="0" bIns="0">
            <a:spAutoFit/>
          </a:bodyPr>
          <a:lstStyle/>
          <a:p>
            <a:r>
              <a:rPr sz="2200">
                <a:solidFill>
                  <a:srgbClr val="212121"/>
                </a:solidFill>
                <a:latin typeface="Roboto"/>
              </a:rPr>
              <a:t>Soạn dự thảo hợp đồng, gửi đối tác xem và góp ý</a:t>
            </a:r>
          </a:p>
        </p:txBody>
      </p:sp>
      <p:sp>
        <p:nvSpPr>
          <p:cNvPr id="243" name="Oval 242"/>
          <p:cNvSpPr/>
          <p:nvPr/>
        </p:nvSpPr>
        <p:spPr>
          <a:xfrm>
            <a:off x="822960" y="626364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217920"/>
            <a:ext cx="11292840" cy="749808"/>
          </a:xfrm>
          <a:prstGeom prst="rect">
            <a:avLst/>
          </a:prstGeom>
          <a:noFill/>
        </p:spPr>
        <p:txBody>
          <a:bodyPr wrap="square" lIns="0" tIns="0" bIns="0">
            <a:spAutoFit/>
          </a:bodyPr>
          <a:lstStyle/>
          <a:p>
            <a:r>
              <a:rPr sz="2200">
                <a:solidFill>
                  <a:srgbClr val="212121"/>
                </a:solidFill>
                <a:latin typeface="Roboto"/>
              </a:rPr>
              <a:t>Rà soát pháp lý: đối chiếu từng điều khoản với quy định hiện hành</a:t>
            </a:r>
          </a:p>
        </p:txBody>
      </p:sp>
      <p:sp>
        <p:nvSpPr>
          <p:cNvPr id="245" name="Oval 244"/>
          <p:cNvSpPr/>
          <p:nvPr/>
        </p:nvSpPr>
        <p:spPr>
          <a:xfrm>
            <a:off x="822960" y="722376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7178040"/>
            <a:ext cx="11292840" cy="749808"/>
          </a:xfrm>
          <a:prstGeom prst="rect">
            <a:avLst/>
          </a:prstGeom>
          <a:noFill/>
        </p:spPr>
        <p:txBody>
          <a:bodyPr wrap="square" lIns="0" tIns="0" bIns="0">
            <a:spAutoFit/>
          </a:bodyPr>
          <a:lstStyle/>
          <a:p>
            <a:r>
              <a:rPr sz="2200">
                <a:solidFill>
                  <a:srgbClr val="212121"/>
                </a:solidFill>
                <a:latin typeface="Roboto"/>
              </a:rPr>
              <a:t>Ký kết: kiểm tra thẩm quyền người ký và giấy ủy quyền nếu có</a:t>
            </a:r>
          </a:p>
        </p:txBody>
      </p:sp>
      <p:sp>
        <p:nvSpPr>
          <p:cNvPr id="247" name="Oval 246"/>
          <p:cNvSpPr/>
          <p:nvPr/>
        </p:nvSpPr>
        <p:spPr>
          <a:xfrm>
            <a:off x="822960" y="818387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6</a:t>
            </a:r>
          </a:p>
        </p:txBody>
      </p:sp>
      <p:sp>
        <p:nvSpPr>
          <p:cNvPr id="248" name="TextBox 247"/>
          <p:cNvSpPr txBox="1"/>
          <p:nvPr/>
        </p:nvSpPr>
        <p:spPr>
          <a:xfrm>
            <a:off x="1508760" y="8138159"/>
            <a:ext cx="11292840" cy="749808"/>
          </a:xfrm>
          <a:prstGeom prst="rect">
            <a:avLst/>
          </a:prstGeom>
          <a:noFill/>
        </p:spPr>
        <p:txBody>
          <a:bodyPr wrap="square" lIns="0" tIns="0" bIns="0">
            <a:spAutoFit/>
          </a:bodyPr>
          <a:lstStyle/>
          <a:p>
            <a:r>
              <a:rPr sz="2200">
                <a:solidFill>
                  <a:srgbClr val="212121"/>
                </a:solidFill>
                <a:latin typeface="Roboto"/>
              </a:rPr>
              <a:t>Lưu trữ và theo dõi thực hiện: nghiệm thu, thanh toán, thanh lý</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TÁM ĐIỂM KIỂM TRA TRƯỚC KHI KÝ</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40</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1. Tư cách chủ thể</a:t>
            </a:r>
          </a:p>
          <a:p>
            <a:pPr>
              <a:spcBef>
                <a:spcPts val="400"/>
              </a:spcBef>
            </a:pPr>
            <a:r>
              <a:rPr sz="1800">
                <a:solidFill>
                  <a:srgbClr val="212121"/>
                </a:solidFill>
                <a:latin typeface="Roboto"/>
              </a:rPr>
              <a:t>Người ký có đúng thẩm quyền không? Có giấy ủy quyền hợp lệ không?</a:t>
            </a:r>
          </a:p>
        </p:txBody>
      </p:sp>
      <p:sp>
        <p:nvSpPr>
          <p:cNvPr id="238" name="Rounded Rectangle 237"/>
          <p:cNvSpPr/>
          <p:nvPr/>
        </p:nvSpPr>
        <p:spPr>
          <a:xfrm>
            <a:off x="6880860" y="324612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2. Đối tượng hợp đồng</a:t>
            </a:r>
          </a:p>
          <a:p>
            <a:pPr>
              <a:spcBef>
                <a:spcPts val="400"/>
              </a:spcBef>
            </a:pPr>
            <a:r>
              <a:rPr sz="1800">
                <a:solidFill>
                  <a:srgbClr val="212121"/>
                </a:solidFill>
                <a:latin typeface="Roboto"/>
              </a:rPr>
              <a:t>Hàng hóa, dịch vụ mô tả đủ rõ để không thể hiểu theo cách khác.</a:t>
            </a:r>
          </a:p>
        </p:txBody>
      </p:sp>
      <p:sp>
        <p:nvSpPr>
          <p:cNvPr id="239" name="Rounded Rectangle 238"/>
          <p:cNvSpPr/>
          <p:nvPr/>
        </p:nvSpPr>
        <p:spPr>
          <a:xfrm>
            <a:off x="685800" y="477774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3. Giá và thanh toán</a:t>
            </a:r>
          </a:p>
          <a:p>
            <a:pPr>
              <a:spcBef>
                <a:spcPts val="400"/>
              </a:spcBef>
            </a:pPr>
            <a:r>
              <a:rPr sz="1800">
                <a:solidFill>
                  <a:srgbClr val="212121"/>
                </a:solidFill>
                <a:latin typeface="Roboto"/>
              </a:rPr>
              <a:t>Đã gồm thuế chưa? Trả mấy đợt? Quá hạn thì lãi chậm trả bao nhiêu?</a:t>
            </a:r>
          </a:p>
        </p:txBody>
      </p:sp>
      <p:sp>
        <p:nvSpPr>
          <p:cNvPr id="240" name="Rounded Rectangle 239"/>
          <p:cNvSpPr/>
          <p:nvPr/>
        </p:nvSpPr>
        <p:spPr>
          <a:xfrm>
            <a:off x="6880860" y="477774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4. Thời hạn và địa điểm giao</a:t>
            </a:r>
          </a:p>
          <a:p>
            <a:pPr>
              <a:spcBef>
                <a:spcPts val="400"/>
              </a:spcBef>
            </a:pPr>
            <a:r>
              <a:rPr sz="1800">
                <a:solidFill>
                  <a:srgbClr val="212121"/>
                </a:solidFill>
                <a:latin typeface="Roboto"/>
              </a:rPr>
              <a:t>Giao ngày nào, tại đâu, chi phí vận chuyển bên nào chịu?</a:t>
            </a:r>
          </a:p>
        </p:txBody>
      </p:sp>
      <p:sp>
        <p:nvSpPr>
          <p:cNvPr id="241" name="Rounded Rectangle 240"/>
          <p:cNvSpPr/>
          <p:nvPr/>
        </p:nvSpPr>
        <p:spPr>
          <a:xfrm>
            <a:off x="685800" y="630936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5. Bảo hành</a:t>
            </a:r>
          </a:p>
          <a:p>
            <a:pPr>
              <a:spcBef>
                <a:spcPts val="400"/>
              </a:spcBef>
            </a:pPr>
            <a:r>
              <a:rPr sz="1800">
                <a:solidFill>
                  <a:srgbClr val="212121"/>
                </a:solidFill>
                <a:latin typeface="Roboto"/>
              </a:rPr>
              <a:t>Bao lâu, phạm vi gì, thời gian xử lý khi có sự cố?</a:t>
            </a:r>
          </a:p>
        </p:txBody>
      </p:sp>
      <p:sp>
        <p:nvSpPr>
          <p:cNvPr id="242" name="Rounded Rectangle 241"/>
          <p:cNvSpPr/>
          <p:nvPr/>
        </p:nvSpPr>
        <p:spPr>
          <a:xfrm>
            <a:off x="6880860" y="6309360"/>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6. Phạt vi phạm</a:t>
            </a:r>
          </a:p>
          <a:p>
            <a:pPr>
              <a:spcBef>
                <a:spcPts val="400"/>
              </a:spcBef>
            </a:pPr>
            <a:r>
              <a:rPr sz="1800">
                <a:solidFill>
                  <a:srgbClr val="212121"/>
                </a:solidFill>
                <a:latin typeface="Roboto"/>
              </a:rPr>
              <a:t>Đã có điều khoản phạt chưa, mức phạt có vượt trần 8% không?</a:t>
            </a:r>
          </a:p>
        </p:txBody>
      </p:sp>
      <p:sp>
        <p:nvSpPr>
          <p:cNvPr id="243" name="Rounded Rectangle 242"/>
          <p:cNvSpPr/>
          <p:nvPr/>
        </p:nvSpPr>
        <p:spPr>
          <a:xfrm>
            <a:off x="685800" y="7840979"/>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7. Giải quyết tranh chấp</a:t>
            </a:r>
          </a:p>
          <a:p>
            <a:pPr>
              <a:spcBef>
                <a:spcPts val="400"/>
              </a:spcBef>
            </a:pPr>
            <a:r>
              <a:rPr sz="1800">
                <a:solidFill>
                  <a:srgbClr val="212121"/>
                </a:solidFill>
                <a:latin typeface="Roboto"/>
              </a:rPr>
              <a:t>Thương lượng trước, sau đó tòa án hay trọng tài — ghi rõ nơi nào.</a:t>
            </a:r>
          </a:p>
        </p:txBody>
      </p:sp>
      <p:sp>
        <p:nvSpPr>
          <p:cNvPr id="244" name="Rounded Rectangle 243"/>
          <p:cNvSpPr/>
          <p:nvPr/>
        </p:nvSpPr>
        <p:spPr>
          <a:xfrm>
            <a:off x="6880860" y="7840979"/>
            <a:ext cx="5966460" cy="13030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000">
                <a:solidFill>
                  <a:srgbClr val="0E6B2D"/>
                </a:solidFill>
                <a:latin typeface="Roboto"/>
              </a:rPr>
              <a:t>8. Phụ lục và hiệu lực</a:t>
            </a:r>
          </a:p>
          <a:p>
            <a:pPr>
              <a:spcBef>
                <a:spcPts val="400"/>
              </a:spcBef>
            </a:pPr>
            <a:r>
              <a:rPr sz="1800">
                <a:solidFill>
                  <a:srgbClr val="212121"/>
                </a:solidFill>
                <a:latin typeface="Roboto"/>
              </a:rPr>
              <a:t>Phụ lục có được dẫn chiếu không? Hợp đồng lập mấy bản, mỗi bên giữ mấy bản?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THIẾU MỘT ĐIỀU KHOẢN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41</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Sự việc</a:t>
            </a:r>
          </a:p>
          <a:p>
            <a:pPr>
              <a:spcBef>
                <a:spcPts val="400"/>
              </a:spcBef>
            </a:pPr>
            <a:r>
              <a:rPr sz="2000">
                <a:solidFill>
                  <a:srgbClr val="212121"/>
                </a:solidFill>
                <a:latin typeface="Roboto"/>
              </a:rPr>
              <a:t>Công ty An Phát ký hợp đồng mua 10 máy tính, giao hàng ngày 30/9. Hợp đồng ghi đủ giá, số lượng, cấu hình, thời hạn thanh toán — nhưng không có điều khoản về chậm giao hàng.</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Diễn biến</a:t>
            </a:r>
          </a:p>
          <a:p>
            <a:pPr>
              <a:spcBef>
                <a:spcPts val="400"/>
              </a:spcBef>
            </a:pPr>
            <a:r>
              <a:rPr sz="2000">
                <a:solidFill>
                  <a:srgbClr val="212121"/>
                </a:solidFill>
                <a:latin typeface="Roboto"/>
              </a:rPr>
              <a:t>Nhà cung cấp giao trễ 20 ngày. Phòng Kế toán không kịp quyết toán quý III. An Phát muốn phạt nhưng hợp đồng không quy định mức phạt, nên chỉ có thể đòi bồi thường thiệt hại thực tế — mà thiệt hại này rất khó chứng minh bằng số liệu.</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300">
                <a:solidFill>
                  <a:srgbClr val="0E6B2D"/>
                </a:solidFill>
                <a:latin typeface="Roboto"/>
              </a:rPr>
              <a:t>Bài học</a:t>
            </a:r>
          </a:p>
          <a:p>
            <a:pPr>
              <a:spcBef>
                <a:spcPts val="400"/>
              </a:spcBef>
            </a:pPr>
            <a:r>
              <a:rPr sz="2000">
                <a:solidFill>
                  <a:srgbClr val="212121"/>
                </a:solidFill>
                <a:latin typeface="Roboto"/>
              </a:rPr>
              <a:t>Soạn hợp đồng không phải là chép mẫu, mà là hình dung trước những gì có thể hỏng rồi viết sẵn cách xử lý vào văn bản.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SOẠN THẢO VĂN BẢN TRÊN NỀN TẢNG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42</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điện tử</a:t>
            </a:r>
          </a:p>
          <a:p>
            <a:pPr>
              <a:spcBef>
                <a:spcPts val="400"/>
              </a:spcBef>
            </a:pPr>
            <a:r>
              <a:rPr sz="2100">
                <a:solidFill>
                  <a:srgbClr val="212121"/>
                </a:solidFill>
                <a:latin typeface="Roboto"/>
              </a:rPr>
              <a:t>Ngày càng phổ biến trong giao dịch thương mại. Điều kiện để một hợp đồng điện tử có giá trị thì tra trong văn bản pháp luật hiện hành trước khi dùng.</a:t>
            </a:r>
          </a:p>
        </p:txBody>
      </p:sp>
      <p:sp>
        <p:nvSpPr>
          <p:cNvPr id="238" name="Rounded Rectangle 237"/>
          <p:cNvSpPr/>
          <p:nvPr/>
        </p:nvSpPr>
        <p:spPr>
          <a:xfrm>
            <a:off x="6880860" y="324612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Chữ ký số</a:t>
            </a:r>
          </a:p>
          <a:p>
            <a:pPr>
              <a:spcBef>
                <a:spcPts val="400"/>
              </a:spcBef>
            </a:pPr>
            <a:r>
              <a:rPr sz="2100">
                <a:solidFill>
                  <a:srgbClr val="212121"/>
                </a:solidFill>
                <a:latin typeface="Roboto"/>
              </a:rPr>
              <a:t>Thay cho chữ ký tay và con dấu khi giao kết trực tuyến. Kiểm tra chứng thư còn hạn trước khi ký.</a:t>
            </a:r>
          </a:p>
        </p:txBody>
      </p:sp>
      <p:sp>
        <p:nvSpPr>
          <p:cNvPr id="239" name="Rounded Rectangle 238"/>
          <p:cNvSpPr/>
          <p:nvPr/>
        </p:nvSpPr>
        <p:spPr>
          <a:xfrm>
            <a:off x="68580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Dùng AI hỗ trợ soạn thảo</a:t>
            </a:r>
          </a:p>
          <a:p>
            <a:pPr>
              <a:spcBef>
                <a:spcPts val="400"/>
              </a:spcBef>
            </a:pPr>
            <a:r>
              <a:rPr sz="2100">
                <a:solidFill>
                  <a:srgbClr val="212121"/>
                </a:solidFill>
                <a:latin typeface="Roboto"/>
              </a:rPr>
              <a:t>Hữu ích để dựng khung, rà câu chữ, tìm điều khoản còn thiếu. Nhưng AI có thể dẫn sai điều luật, sai số hiệu văn bản — phải tự đối chiếu văn bản gốc trước khi dùng.</a:t>
            </a:r>
          </a:p>
        </p:txBody>
      </p:sp>
      <p:sp>
        <p:nvSpPr>
          <p:cNvPr id="240" name="Rounded Rectangle 239"/>
          <p:cNvSpPr/>
          <p:nvPr/>
        </p:nvSpPr>
        <p:spPr>
          <a:xfrm>
            <a:off x="6880860" y="5806440"/>
            <a:ext cx="5966460" cy="233172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Trách nhiệm vẫn là của người ký</a:t>
            </a:r>
          </a:p>
          <a:p>
            <a:pPr>
              <a:spcBef>
                <a:spcPts val="400"/>
              </a:spcBef>
            </a:pPr>
            <a:r>
              <a:rPr sz="2100">
                <a:solidFill>
                  <a:srgbClr val="212121"/>
                </a:solidFill>
                <a:latin typeface="Roboto"/>
              </a:rPr>
              <a:t>Người soạn và người ký chịu trách nhiệm về nội dung, dù văn bản được máy gợi ý. Không đưa dữ liệu khách hàng, giá, điều khoản mật lên công cụ công cộng.</a:t>
            </a:r>
          </a:p>
        </p:txBody>
      </p:sp>
      <p:sp>
        <p:nvSpPr>
          <p:cNvPr id="241" name="Rounded Rectangle 240"/>
          <p:cNvSpPr/>
          <p:nvPr/>
        </p:nvSpPr>
        <p:spPr>
          <a:xfrm>
            <a:off x="685800" y="8321040"/>
            <a:ext cx="12161520" cy="822960"/>
          </a:xfrm>
          <a:prstGeom prst="roundRect">
            <a:avLst>
              <a:gd name="adj" fmla="val 8000"/>
            </a:avLst>
          </a:prstGeom>
          <a:solidFill>
            <a:srgbClr val="FDF6E3"/>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spcBef>
                <a:spcPts val="400"/>
              </a:spcBef>
            </a:pPr>
            <a:r>
              <a:rPr sz="2000">
                <a:solidFill>
                  <a:srgbClr val="212121"/>
                </a:solidFill>
                <a:latin typeface="Roboto"/>
              </a:rPr>
              <a:t>Quy tắc làm việc: máy dựng bản nháp — người kiểm tra căn cứ pháp lý, số liệu và thẩm quyền ký. Không đảo ngược thứ tự đó.</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TÓM TẮT VIDEO 3</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43</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đồng thương mại</a:t>
            </a:r>
          </a:p>
          <a:p>
            <a:pPr>
              <a:spcBef>
                <a:spcPts val="400"/>
              </a:spcBef>
            </a:pPr>
            <a:r>
              <a:rPr sz="2100">
                <a:solidFill>
                  <a:srgbClr val="212121"/>
                </a:solidFill>
                <a:latin typeface="Roboto"/>
              </a:rPr>
              <a:t>Thỏa thuận phát sinh trong hoạt động thương mại, ít nhất một bên là thương nhân. Căn cứ: Bộ luật Dân sự 2015 và Luật Thương mại 2005.</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Các nhóm điều khoản — và công cụ số</a:t>
            </a:r>
          </a:p>
          <a:p>
            <a:pPr>
              <a:spcBef>
                <a:spcPts val="400"/>
              </a:spcBef>
            </a:pPr>
            <a:r>
              <a:rPr sz="2100">
                <a:solidFill>
                  <a:srgbClr val="212121"/>
                </a:solidFill>
                <a:latin typeface="Roboto"/>
              </a:rPr>
              <a:t>Nhóm không thể thiếu, nhóm về thực hiện, nhóm hai bên tự thêm. Hợp đồng điện tử và chữ ký số ngày càng phổ biến; AI chỉ dựng nháp, người ký vẫn chịu trách nhiệm.</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 sau video này</a:t>
            </a:r>
          </a:p>
          <a:p>
            <a:pPr>
              <a:spcBef>
                <a:spcPts val="400"/>
              </a:spcBef>
            </a:pPr>
            <a:r>
              <a:rPr sz="2100">
                <a:solidFill>
                  <a:srgbClr val="212121"/>
                </a:solidFill>
                <a:latin typeface="Roboto"/>
              </a:rPr>
              <a:t>Hoàn thành Bài trắc nghiệm ôn tập số 3 — 18 câu, tập trung vào hợp đồng thương mại. Sau đó làm hai bài tập vận dụng của chương.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400">
                <a:solidFill>
                  <a:srgbClr val="212121"/>
                </a:solidFill>
                <a:latin typeface="Roboto"/>
              </a:rPr>
              <a:t>Trình bày khái niệm văn bản và các cách phân loại văn bản?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400">
                <a:solidFill>
                  <a:srgbClr val="212121"/>
                </a:solidFill>
                <a:latin typeface="Roboto"/>
              </a:rPr>
              <a:t>Nêu các thành phần thể thức văn bản theo Nghị định 30/2020/NĐ-CP?</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400">
                <a:solidFill>
                  <a:srgbClr val="212121"/>
                </a:solidFill>
                <a:latin typeface="Roboto"/>
              </a:rPr>
              <a:t>So sánh quyết định và tờ trình; biên bản và báo cáo?</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400">
                <a:solidFill>
                  <a:srgbClr val="212121"/>
                </a:solidFill>
                <a:latin typeface="Roboto"/>
              </a:rPr>
              <a:t>Phân biệt ba nhóm điều khoản của hợp đồng thương mại?</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400">
                <a:solidFill>
                  <a:srgbClr val="212121"/>
                </a:solidFill>
                <a:latin typeface="Roboto"/>
              </a:rPr>
              <a:t>Phân biệt phạt vi phạm và bồi thường thiệt hại trong hợp đồng?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CASE STUDY – TÌNH HUỐNG THỰC TIỄN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45</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691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Tình huống</a:t>
            </a:r>
          </a:p>
          <a:p>
            <a:pPr>
              <a:spcBef>
                <a:spcPts val="400"/>
              </a:spcBef>
            </a:pPr>
            <a:r>
              <a:rPr sz="2100">
                <a:solidFill>
                  <a:srgbClr val="212121"/>
                </a:solidFill>
                <a:latin typeface="Roboto"/>
              </a:rPr>
              <a:t>Phòng Kế toán Công ty TNHH An Phát cần trang bị thêm 10 máy tính. Trưởng phòng phải đề xuất Ban Giám đốc phê duyệt, ra quyết định mua sắm, trao đổi với nhà cung cấp và ký kết hợp đồng mua bán.</a:t>
            </a:r>
          </a:p>
        </p:txBody>
      </p:sp>
      <p:sp>
        <p:nvSpPr>
          <p:cNvPr id="238" name="Oval 237"/>
          <p:cNvSpPr/>
          <p:nvPr/>
        </p:nvSpPr>
        <p:spPr>
          <a:xfrm>
            <a:off x="822960" y="54864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9" name="TextBox 238"/>
          <p:cNvSpPr txBox="1"/>
          <p:nvPr/>
        </p:nvSpPr>
        <p:spPr>
          <a:xfrm>
            <a:off x="1508760" y="5440680"/>
            <a:ext cx="11292840" cy="749808"/>
          </a:xfrm>
          <a:prstGeom prst="rect">
            <a:avLst/>
          </a:prstGeom>
          <a:noFill/>
        </p:spPr>
        <p:txBody>
          <a:bodyPr wrap="square" lIns="0" tIns="0" bIns="0">
            <a:spAutoFit/>
          </a:bodyPr>
          <a:lstStyle/>
          <a:p>
            <a:r>
              <a:rPr sz="2300">
                <a:solidFill>
                  <a:srgbClr val="212121"/>
                </a:solidFill>
                <a:latin typeface="Roboto"/>
              </a:rPr>
              <a:t>Cần soạn những loại văn bản nào, theo trình tự ra sao?</a:t>
            </a:r>
          </a:p>
        </p:txBody>
      </p:sp>
      <p:sp>
        <p:nvSpPr>
          <p:cNvPr id="240" name="Oval 239"/>
          <p:cNvSpPr/>
          <p:nvPr/>
        </p:nvSpPr>
        <p:spPr>
          <a:xfrm>
            <a:off x="822960" y="670560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1" name="TextBox 240"/>
          <p:cNvSpPr txBox="1"/>
          <p:nvPr/>
        </p:nvSpPr>
        <p:spPr>
          <a:xfrm>
            <a:off x="1508760" y="6659880"/>
            <a:ext cx="11292840" cy="749808"/>
          </a:xfrm>
          <a:prstGeom prst="rect">
            <a:avLst/>
          </a:prstGeom>
          <a:noFill/>
        </p:spPr>
        <p:txBody>
          <a:bodyPr wrap="square" lIns="0" tIns="0" bIns="0">
            <a:spAutoFit/>
          </a:bodyPr>
          <a:lstStyle/>
          <a:p>
            <a:r>
              <a:rPr sz="2300">
                <a:solidFill>
                  <a:srgbClr val="212121"/>
                </a:solidFill>
                <a:latin typeface="Roboto"/>
              </a:rPr>
              <a:t>Thể thức của từng văn bản cần lưu ý điều gì?</a:t>
            </a:r>
          </a:p>
        </p:txBody>
      </p:sp>
      <p:sp>
        <p:nvSpPr>
          <p:cNvPr id="242" name="Oval 241"/>
          <p:cNvSpPr/>
          <p:nvPr/>
        </p:nvSpPr>
        <p:spPr>
          <a:xfrm>
            <a:off x="822960" y="7924799"/>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3" name="TextBox 242"/>
          <p:cNvSpPr txBox="1"/>
          <p:nvPr/>
        </p:nvSpPr>
        <p:spPr>
          <a:xfrm>
            <a:off x="1508760" y="7879079"/>
            <a:ext cx="11292840" cy="749808"/>
          </a:xfrm>
          <a:prstGeom prst="rect">
            <a:avLst/>
          </a:prstGeom>
          <a:noFill/>
        </p:spPr>
        <p:txBody>
          <a:bodyPr wrap="square" lIns="0" tIns="0" bIns="0">
            <a:spAutoFit/>
          </a:bodyPr>
          <a:lstStyle/>
          <a:p>
            <a:r>
              <a:rPr sz="2300">
                <a:solidFill>
                  <a:srgbClr val="212121"/>
                </a:solidFill>
                <a:latin typeface="Roboto"/>
              </a:rPr>
              <a:t>Hợp đồng mua bán phải có tối thiểu những điều khoản nào?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BÀI TẬP 1: VĂN BẢN HÀNH CHÍNH</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46</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Nội dung bài tập</a:t>
            </a:r>
          </a:p>
          <a:p>
            <a:pPr>
              <a:spcBef>
                <a:spcPts val="400"/>
              </a:spcBef>
            </a:pPr>
            <a:r>
              <a:rPr sz="2200">
                <a:solidFill>
                  <a:srgbClr val="212121"/>
                </a:solidFill>
                <a:latin typeface="Roboto"/>
              </a:rPr>
              <a:t>Soạn thảo Quyết định, Tờ trình, Công văn, Biên bản và Báo cáo theo tình huống thực tế được giao trên E-learning.</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Yêu cầu</a:t>
            </a:r>
          </a:p>
          <a:p>
            <a:pPr>
              <a:spcBef>
                <a:spcPts val="400"/>
              </a:spcBef>
            </a:pPr>
            <a:r>
              <a:rPr sz="2200">
                <a:solidFill>
                  <a:srgbClr val="212121"/>
                </a:solidFill>
                <a:latin typeface="Roboto"/>
              </a:rPr>
              <a:t>Đúng thể thức Nghị định 30/2020/NĐ-CP; nội dung phù hợp tình huống; phông Times New Roman 13–14, khổ A4.</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Hướng dẫn và thời gian</a:t>
            </a:r>
          </a:p>
          <a:p>
            <a:pPr>
              <a:spcBef>
                <a:spcPts val="400"/>
              </a:spcBef>
            </a:pPr>
            <a:r>
              <a:rPr sz="2200">
                <a:solidFill>
                  <a:srgbClr val="212121"/>
                </a:solidFill>
                <a:latin typeface="Roboto"/>
              </a:rPr>
              <a:t>Bám sát bố cục từng loại, tự kiểm tra bằng bảng liệt kê thể thức. Nộp bài trên E-learning trong 01 tuần sau khi học xong mục 5.3.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BÀI TẬP 2: HỢP ĐỒNG THƯƠNG MẠI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47</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Nội dung bài tập</a:t>
            </a:r>
          </a:p>
          <a:p>
            <a:pPr>
              <a:spcBef>
                <a:spcPts val="400"/>
              </a:spcBef>
            </a:pPr>
            <a:r>
              <a:rPr sz="2200">
                <a:solidFill>
                  <a:srgbClr val="212121"/>
                </a:solidFill>
                <a:latin typeface="Roboto"/>
              </a:rPr>
              <a:t>Dự thảo một hợp đồng mua bán hàng hóa hoàn chỉnh kèm biên bản nghiệm thu và biên bản thanh lý hợp đồng theo tình huống doanh nghiệp.</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Yêu cầu</a:t>
            </a:r>
          </a:p>
          <a:p>
            <a:pPr>
              <a:spcBef>
                <a:spcPts val="400"/>
              </a:spcBef>
            </a:pPr>
            <a:r>
              <a:rPr sz="2200">
                <a:solidFill>
                  <a:srgbClr val="212121"/>
                </a:solidFill>
                <a:latin typeface="Roboto"/>
              </a:rPr>
              <a:t>Đủ các điều khoản chủ yếu; phần căn cứ dẫn đúng văn bản pháp luật; điều khoản phạt vi phạm không vượt trần 8%.</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Hướng dẫn và thời gian</a:t>
            </a:r>
          </a:p>
          <a:p>
            <a:pPr>
              <a:spcBef>
                <a:spcPts val="400"/>
              </a:spcBef>
            </a:pPr>
            <a:r>
              <a:rPr sz="2200">
                <a:solidFill>
                  <a:srgbClr val="212121"/>
                </a:solidFill>
                <a:latin typeface="Roboto"/>
              </a:rPr>
              <a:t>Vận dụng tám điểm kiểm tra ở mục 5.4 để tự rà soát trước khi nộp. Làm theo nhóm, nộp trong 01 tuần, chỉnh sửa theo phản hồi của giảng viên.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48</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5.1 · Khái niệm và phân loại</a:t>
            </a:r>
          </a:p>
          <a:p>
            <a:pPr>
              <a:spcBef>
                <a:spcPts val="400"/>
              </a:spcBef>
            </a:pPr>
            <a:r>
              <a:rPr sz="2100">
                <a:solidFill>
                  <a:srgbClr val="212121"/>
                </a:solidFill>
                <a:latin typeface="Roboto"/>
              </a:rPr>
              <a:t>Ba nhóm văn bản, phân biệt theo chủ thể ban hành và nội dung.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5.2 · Nội dung và thể thức</a:t>
            </a:r>
          </a:p>
          <a:p>
            <a:pPr>
              <a:spcBef>
                <a:spcPts val="400"/>
              </a:spcBef>
            </a:pPr>
            <a:r>
              <a:rPr sz="2100">
                <a:solidFill>
                  <a:srgbClr val="212121"/>
                </a:solidFill>
                <a:latin typeface="Roboto"/>
              </a:rPr>
              <a:t>Bốn yêu cầu nội dung, chín thành phần thể thức theo Nghị định 30.</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5.3 · Văn bản hành chính</a:t>
            </a:r>
          </a:p>
          <a:p>
            <a:pPr>
              <a:spcBef>
                <a:spcPts val="400"/>
              </a:spcBef>
            </a:pPr>
            <a:r>
              <a:rPr sz="2100">
                <a:solidFill>
                  <a:srgbClr val="212121"/>
                </a:solidFill>
                <a:latin typeface="Roboto"/>
              </a:rPr>
              <a:t>Quyết định, tờ trình, công văn, biên bản, báo cáo — chọn đúng loại trước, viết đúng bố cục sau.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5.4 · Hợp đồng thương mại</a:t>
            </a:r>
          </a:p>
          <a:p>
            <a:pPr>
              <a:spcBef>
                <a:spcPts val="400"/>
              </a:spcBef>
            </a:pPr>
            <a:r>
              <a:rPr sz="2100">
                <a:solidFill>
                  <a:srgbClr val="212121"/>
                </a:solidFill>
                <a:latin typeface="Roboto"/>
              </a:rPr>
              <a:t>Căn cứ pháp lý, kết cấu, ba nhóm điều khoản và tám điểm kiểm tra trước khi đặt bút ký.</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49</a:t>
            </a:r>
            <a:endParaRPr/>
          </a:p>
        </p:txBody>
      </p:sp>
      <p:sp>
        <p:nvSpPr>
          <p:cNvPr id="297" name="Google Shape;297;p6"/>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Hà Nam Khánh Giao (2023), Giáo trình giao tiếp kinh doanh, NXB Tài chính.</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[1] Hoàng Đức Thân (2023), Giáo trình giao dịch và đàm phán kinh doanh, NXB Đại học Kinh tế Quốc Dân.</a:t>
            </a:r>
          </a:p>
          <a:p>
            <a:pPr>
              <a:spcBef>
                <a:spcPts val="1000"/>
              </a:spcBef>
            </a:pPr>
            <a:r>
              <a:rPr sz="1700">
                <a:solidFill>
                  <a:srgbClr val="212121"/>
                </a:solidFill>
                <a:latin typeface="Roboto"/>
              </a:rPr>
              <a:t>[2] Nguyễn Văn Hùng (2023), Giáo trình kỹ năng giao tiếp, NXB Tài chính.</a:t>
            </a:r>
          </a:p>
          <a:p>
            <a:pPr>
              <a:spcBef>
                <a:spcPts val="1000"/>
              </a:spcBef>
            </a:pPr>
            <a:r>
              <a:rPr sz="1700">
                <a:solidFill>
                  <a:srgbClr val="212121"/>
                </a:solidFill>
                <a:latin typeface="Roboto"/>
              </a:rPr>
              <a:t>Tài liệu khác:</a:t>
            </a:r>
          </a:p>
          <a:p>
            <a:pPr>
              <a:spcBef>
                <a:spcPts val="1000"/>
              </a:spcBef>
            </a:pPr>
            <a:r>
              <a:rPr sz="1700">
                <a:solidFill>
                  <a:srgbClr val="212121"/>
                </a:solidFill>
                <a:latin typeface="Roboto"/>
              </a:rPr>
              <a:t>[1] Nghị định số 30/2020/NĐ-CP ngày 05/3/2020 của Chính phủ về công tác văn thư.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BẠN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FFD400"/>
                </a:solidFill>
                <a:latin typeface="Roboto"/>
                <a:ea typeface="Roboto"/>
                <a:cs typeface="Roboto"/>
                <a:sym typeface="Roboto"/>
              </a:rPr>
              <a:t>HỌC LIỆU SỐ - ĐÀO TẠO TỪ XA</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