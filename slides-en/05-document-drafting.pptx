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4" r:id="rId25"/>
    <p:sldId id="259" r:id="rId5"/>
    <p:sldId id="260" r:id="rId6"/>
    <p:sldId id="261" r:id="rId7"/>
    <p:sldId id="262" r:id="rId8"/>
    <p:sldId id="263" r:id="rId9"/>
    <p:sldId id="273" r:id="rId24"/>
    <p:sldId id="275" r:id="rId26"/>
    <p:sldId id="264" r:id="rId10"/>
    <p:sldId id="265" r:id="rId11"/>
    <p:sldId id="266" r:id="rId12"/>
    <p:sldId id="276" r:id="rId27"/>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0.xml"/><Relationship Id="rId25" Type="http://schemas.openxmlformats.org/officeDocument/2006/relationships/slide" Target="slides/slide4.xml"/><Relationship Id="rId26" Type="http://schemas.openxmlformats.org/officeDocument/2006/relationships/slide" Target="slides/slide11.xml"/><Relationship Id="rId27"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(1 phút) — nhấn: chương này gắn liền 3 buổi thực hành ở phòng máy.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LỘ TRÌNH (1 phút) — 4 mục: khái niệm, thể thức, hành chính, thương mại.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KHÁI NIỆM (3 phút)</a:t>
            </a:r>
          </a:p>
          <a:p>
            <a:r>
              <a:t>• Đọc chậm định nghĩa của NĐ 30/2020 — đây là câu SẼ RA THI.</a:t>
            </a:r>
          </a:p>
          <a:p>
            <a:r>
              <a:t>• Nhấn cụm "TRÌNH BÀY ĐÚNG THỂ THỨC, KỸ THUẬT THEO QUY ĐỊNH": nội dung hay mà sai thể thức thì vẫn bị trả lại.</a:t>
            </a:r>
          </a:p>
          <a:p>
            <a:r>
              <a:t>• Vai trò: nhấn "căn cứ pháp lý" — cho ví dụ tranh chấp hợp đồng ra tòa, cái tòa xem là VĂN BẢN.</a:t>
            </a:r>
          </a:p>
          <a:p/>
          <a:p>
            <a:r>
              <a:t>NÓI ĐỦ Ý (phần đã rút khỏi slide)</a:t>
            </a:r>
          </a:p>
          <a:p>
            <a:r>
              <a:t>• Định nghĩa pháp lý đầy đủ, Nghị định 30/2020/NĐ-CP: “Văn bản là thông tin thành văn được truyền đạt bằng ngôn ngữ hoặc ký hiệu, hình thành trong hoạt động của các cơ quan, tổ chức và được trình bày đúng thể thức, kỹ thuật theo quy định.”</a:t>
            </a:r>
          </a:p>
          <a:p>
            <a:r>
              <a:t>• Cách hiểu chung: hình thành trong hoạt động của cơ quan, tổ chức, DOANH NGHIỆP — không chỉ cơ quan nhà nước.</a:t>
            </a:r>
          </a:p>
          <a:p>
            <a:r>
              <a:t>• Bốn vai trò: phương tiện quản lý – điều hành; căn cứ pháp lý; lưu trữ thông tin; thể hiện hình ảnh chuyên nghiệp của tổ chức.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PHÂN LOẠI (3 phút)</a:t>
            </a:r>
          </a:p>
          <a:p>
            <a:r>
              <a:t>• 4 nhóm — vẽ sơ đồ cây lên bảng.</a:t>
            </a:r>
          </a:p>
          <a:p>
            <a:r>
              <a:t>• Nhấn: doanh nghiệp KHÔNG ban hành văn bản quy phạm pháp luật, nhưng phải tuân thủ.</a:t>
            </a:r>
          </a:p>
          <a:p>
            <a:r>
              <a:t>• Con số phải nhớ: 29 LOẠI văn bản hành chính theo NĐ 30/2020.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YÊU CẦU NỘI DUNG (3 phút)</a:t>
            </a:r>
          </a:p>
          <a:p>
            <a:r>
              <a:t>• Đi 4 yêu cầu, mỗi yêu cầu một ví dụ lỗi thực tế.</a:t>
            </a:r>
          </a:p>
          <a:p>
            <a:r>
              <a:t>• Nhấn yêu cầu 2: "Một con số sai trong văn bản có thể tạo hậu quả pháp lý rất lớn" — ví dụ ghi nhầm đơn giá trong hợp đồng.</a:t>
            </a:r>
          </a:p>
          <a:p>
            <a:r>
              <a:t>• Yêu cầu 4: đọc vài câu KHẨU NGỮ sai chuẩn cho lớp nhận diện ("mong anh chị thông cảm giúp em nha").</a:t>
            </a:r>
          </a:p>
          <a:p/>
          <a:p>
            <a:r>
              <a:t>NÓI ĐỦ Ý (phần đã rút khỏi slide)</a:t>
            </a:r>
          </a:p>
          <a:p>
            <a:r>
              <a:t>• Đúng mục đích: mỗi văn bản tập trung MỘT chủ đề; ban hành đúng chức năng, nhiệm vụ.</a:t>
            </a:r>
          </a:p>
          <a:p>
            <a:r>
              <a:t>• Chính xác: một con số sai có thể tạo hậu quả pháp lý lớn — nhấn mạnh chỗ này cho sinh viên.</a:t>
            </a:r>
          </a:p>
          <a:p>
            <a:r>
              <a:t>• Rõ ràng: người nhận đọc MỘT LẦN là hiểu đúng ý người soạn.</a:t>
            </a:r>
          </a:p>
          <a:p>
            <a:r>
              <a:t>• Ngôn ngữ hành chính: nghiêm túc, lịch sự, không khẩu ngữ.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SƠ ĐỒ THỂ THỨC (5 phút) — SLIDE QUAN TRỌNG NHẤT HỌC PHẦN</a:t>
            </a:r>
          </a:p>
          <a:p>
            <a:r>
              <a:t>• Yêu cầu cả lớp CHỤP LẠI SLIDE NÀY.</a:t>
            </a:r>
          </a:p>
          <a:p>
            <a:r>
              <a:t>• Chỉ từng số trên sơ đồ theo thứ tự 1 → 9, mỗi thành phần nói vị trí + một lưu ý.</a:t>
            </a:r>
          </a:p>
          <a:p>
            <a:r>
              <a:t>• Nhấn thành phần 5: CÔNG VĂN KHÔNG CÓ TÊN LOẠI, trích yếu bắt đầu bằng "V/v".</a:t>
            </a:r>
          </a:p>
          <a:p>
            <a:r>
              <a:t>• Nhấn thành phần 9: nơi nhận LUÔN có dòng cuối "Lưu: VT".</a:t>
            </a:r>
          </a:p>
          <a:p>
            <a:r>
              <a:t>• Nói rõ: 3 buổi thực hành sắp tới đều chấm theo sơ đồ này.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CON SỐ (3 phút)</a:t>
            </a:r>
          </a:p>
          <a:p>
            <a:r>
              <a:t>• Đọc chậm từng con số, cho sinh viên ghi vào vở.</a:t>
            </a:r>
          </a:p>
          <a:p>
            <a:r>
              <a:t>• Mẹo nhớ LỀ TRÁI 30–35mm: rộng nhất vì để ĐÓNG GÁY LƯU TRỮ.</a:t>
            </a:r>
          </a:p>
          <a:p>
            <a:r>
              <a:t>• Nhấn: Times New Roman, Unicode, cỡ 13–14. Không dùng Arial, không dùng TCVN3.</a:t>
            </a:r>
          </a:p>
          <a:p>
            <a:r>
              <a:t>• Số trang: TỪ TRANG THỨ HAI, canh giữa LỀ TRÊN (nhiều bạn hay đặt ở dưới — sai).</a:t>
            </a:r>
          </a:p>
          <a:p/>
          <a:p>
            <a:r>
              <a:t>NÓI ĐỦ Ý (phần đã rút khỏi slide)</a:t>
            </a:r>
          </a:p>
          <a:p>
            <a:r>
              <a:t>• Lề trái 30–35 mm rộng hơn vì phải chừa chỗ ĐÓNG GÁY.</a:t>
            </a:r>
          </a:p>
          <a:p>
            <a:r>
              <a:t>• Phông Times New Roman, bộ mã Unicode, cỡ 13–14, màu đen.</a:t>
            </a:r>
          </a:p>
          <a:p>
            <a:r>
              <a:t>• Số trang: đánh từ trang THỨ HAI, chữ số Ả Rập, canh giữa theo lề trên.</a:t>
            </a:r>
          </a:p>
          <a:p>
            <a:r>
              <a:t>• Ngôn ngữ: viết hoa và viết tắt phải đúng quy định; số liệu dùng chữ số Ả Rập.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CHUỖI VĂN BẢN (3 phút)</a:t>
            </a:r>
          </a:p>
          <a:p>
            <a:r>
              <a:t>• Chỉ vào sơ đồ chuỗi: từ tờ trình → quyết định → công văn → hợp đồng → nghiệm thu → thanh lý.</a:t>
            </a:r>
          </a:p>
          <a:p>
            <a:r>
              <a:t>• Nói rõ: bài thực hành số 2 làm phần đầu chuỗi, bài số 3 làm phần sau.</a:t>
            </a:r>
          </a:p>
          <a:p>
            <a:r>
              <a:t>• Hỏi lớp: "Nếu bỏ qua biên bản nghiệm thu thì rủi ro gì?" (không có căn cứ thanh toán).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QUYẾT ĐỊNH – TỜ TRÌNH (4 phút)</a:t>
            </a:r>
          </a:p>
          <a:p>
            <a:r>
              <a:t>• Quyết định: phần CĂN CỨ + phần các ĐIỀU. Điều cuối GHI HIỆU LỰC.</a:t>
            </a:r>
          </a:p>
          <a:p>
            <a:r>
              <a:t>• Lỗi hay gặp: dùng từ "đề nghị" trong quyết định — sai, phải dùng NGÔN NGỮ MỆNH LỆNH.</a:t>
            </a:r>
          </a:p>
          <a:p>
            <a:r>
              <a:t>• Tờ trình 3 phần: lý do → phương án → kiến nghị.</a:t>
            </a:r>
          </a:p>
          <a:p>
            <a:r>
              <a:t>• Nhấn: tờ trình phải có SỐ LIỆU và DỰ TOÁN, nếu không cấp trên không có cơ sở duyệt.</a:t>
            </a:r>
          </a:p>
          <a:p/>
          <a:p>
            <a:r>
              <a:t>NÓI ĐỦ Ý (phần đã rút khỏi slide)</a:t>
            </a:r>
          </a:p>
          <a:p>
            <a:r>
              <a:t>• Quyết định: phần căn cứ gồm căn cứ PHÁP LÝ và căn cứ THỰC TIỄN, mỗi căn cứ kết thúc bằng dấu chấm phẩy, căn cứ cuối kết thúc bằng dấu chấm. Điều cuối ghi hiệu lực và đối tượng thi hành.</a:t>
            </a:r>
          </a:p>
          <a:p>
            <a:r>
              <a:t>• Tờ trình: mở đầu nêu lý do và sự cần thiết; nội dung trình bày phương án, lợi ích, tính khả thi; kết thúc kiến nghị phê duyệt. Nhớ đính kèm hồ sơ, dự toán.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CÔNG VĂN – BIÊN BẢN – BÁO CÁO (4 phút)</a:t>
            </a:r>
          </a:p>
          <a:p>
            <a:r>
              <a:t>• Công văn: nhắc lại KHÔNG CÓ TÊN LOẠI; mỗi công văn MỘT CHỦ ĐỀ; kết thúc "Trân trọng./."</a:t>
            </a:r>
          </a:p>
          <a:p>
            <a:r>
              <a:t>• Biên bản: LẬP NGAY TẠI CHỖ; chữ ký các bên tạo GIÁ TRỊ PHÁP LÝ; người ghi KHÔNG thêm nhận xét chủ quan.</a:t>
            </a:r>
          </a:p>
          <a:p>
            <a:r>
              <a:t>• Báo cáo: mạch 4 phần. Nhấn: phải nêu cả HẠN CHẾ, đừng chỉ kể thành tích.</a:t>
            </a:r>
          </a:p>
          <a:p/>
          <a:p>
            <a:r>
              <a:t>NÓI ĐỦ Ý (phần đã rút khỏi slide)</a:t>
            </a:r>
          </a:p>
          <a:p>
            <a:r>
              <a:t>• Công văn các loại: đề nghị, phúc đáp, đôn đốc, hướng dẫn, giải thích, mời họp. Kết thúc bằng “Trân trọng./.”</a:t>
            </a:r>
          </a:p>
          <a:p>
            <a:r>
              <a:t>• Biên bản: chữ ký các bên là yếu tố TẠO GIÁ TRỊ PHÁP LÝ — thiếu chữ ký thì biên bản chỉ là tờ giấy ghi chép.</a:t>
            </a:r>
          </a:p>
          <a:p>
            <a:r>
              <a:t>• Báo cáo có bốn dạng: định kỳ, đột xuất, chuyên đề, sơ kết – tổng kết.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THƯ TÍN – BÁO GIÁ (4 phút)</a:t>
            </a:r>
          </a:p>
          <a:p>
            <a:r>
              <a:t>• Nguyên tắc 5C: viết 5 chữ C lên bảng, giải nghĩa từng chữ bằng tiếng Việt.</a:t>
            </a:r>
          </a:p>
          <a:p>
            <a:r>
              <a:t>• Email: tiêu đề rõ, chữ ký đầy đủ, PHẢN HỒI TRONG 24 GIỜ.</a:t>
            </a:r>
          </a:p>
          <a:p>
            <a:r>
              <a:t>• Báo giá: nhấn mạnh THỜI HẠN HIỆU LỰC. Hỏi lớp vì sao cần — vì giá thị trường biến động, tránh bị ràng buộc giá cũ.</a:t>
            </a:r>
          </a:p>
          <a:p/>
          <a:p>
            <a:r>
              <a:t>NÓI ĐỦ Ý (phần đã rút khỏi slide)</a:t>
            </a:r>
          </a:p>
          <a:p>
            <a:r>
              <a:t>• Nguyên tắc 5C: Clear (rõ) • Concise (gọn) • Correct (đúng) • Complete (đủ) • Courteous (lịch sự).</a:t>
            </a:r>
          </a:p>
          <a:p>
            <a:r>
              <a:t>• Kết cấu thư: mở đầu – nội dung – kết thúc.</a:t>
            </a:r>
          </a:p>
          <a:p>
            <a:r>
              <a:t>• Báo giá phải có THỜI HẠN HIỆU LỰC — thiếu là tranh chấp khi giá thị trường biến động.</a:t>
            </a:r>
          </a:p>
          <a:p>
            <a:r>
              <a:t>• Email: phản hồi trong 24 giờ, kể cả khi chỉ để báo “đã nhận, đang xử lý”.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BA VĂN BẢN (4 phút)</a:t>
            </a:r>
          </a:p>
          <a:p>
            <a:r>
              <a:t>• Căn cứ pháp lý: Bộ luật Dân sự 2015 và Luật Thương mại 2005.</a:t>
            </a:r>
          </a:p>
          <a:p>
            <a:r>
              <a:t>• Điểm qua 5 điều khoản chính, nhấn PHẠT VI PHẠM và GIẢI QUYẾT TRANH CHẤP — hai điều sinh viên hay quên.</a:t>
            </a:r>
          </a:p>
          <a:p>
            <a:r>
              <a:t>• Nghiệm thu = căn cứ THANH TOÁN. Thanh lý = CHẤM DỨT hiệu lực và quyết toán.</a:t>
            </a:r>
          </a:p>
          <a:p>
            <a:r>
              <a:t>• Câu chốt: "Đủ bộ ba này thì hồ sơ thương vụ mới trọn vẹn về pháp lý."''</a:t>
            </a:r>
          </a:p>
          <a:p/>
          <a:p>
            <a:r>
              <a:t>NÓI ĐỦ Ý (phần đã rút khỏi slide)</a:t>
            </a:r>
          </a:p>
          <a:p>
            <a:r>
              <a:t>• Hợp đồng thương mại căn cứ Bộ luật Dân sự 2015 và Luật Thương mại 2005.</a:t>
            </a:r>
          </a:p>
          <a:p>
            <a:r>
              <a:t>• Bộ ba khép kín một thương vụ: hợp đồng → biên bản nghiệm thu → biên bản thanh lý.</a:t>
            </a:r>
          </a:p>
          <a:p>
            <a:r>
              <a:t>• Nghiệm thu xác nhận khối lượng và chất lượng, là căn cứ để thanh toán.</a:t>
            </a:r>
          </a:p>
          <a:p>
            <a:r>
              <a:t>• Thanh lý xác nhận hoàn thành nghĩa vụ và quyết toán phần còn lại.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HOẠT ĐỘNG NHÓM (20 phút)</a:t>
            </a:r>
          </a:p>
          <a:p>
            <a:r>
              <a:t>• Nối tiếp thương vụ đã đàm phán ở Chương 4 — nhắc lại tình huống 1 câu.</a:t>
            </a:r>
          </a:p>
          <a:p>
            <a:r>
              <a:t>• Nhóm 4–5 bạn, 15 phút làm, 5 phút trình bày.</a:t>
            </a:r>
          </a:p>
          <a:p>
            <a:r>
              <a:t>• Yêu cầu nhóm VẼ chuỗi văn bản lên giấy A3 kèm người ký từng văn bản.</a:t>
            </a:r>
          </a:p>
          <a:p>
            <a:r>
              <a:t>• Cô chốt bằng cách so sánh với sơ đồ chuẩn trên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TỔNG KẾT (2 phút)</a:t>
            </a:r>
          </a:p>
          <a:p>
            <a:r>
              <a:t>• Nhắc 3 điều, gọi sinh viên nhắc lại 9 thành phần thể thức.</a:t>
            </a:r>
          </a:p>
          <a:p>
            <a:r>
              <a:t>• Dặn kỹ chuẩn bị buổi thực hành: MANG LAPTOP, cài Word, tải NĐ 30/2020.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ÔN TẬP (1 phút) — tự làm; nhấn câu về 9 thành phần thể thức sẽ có trong đề thi.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TÀI LIỆU (1 phút) — nhắc mở học liệu số để xem văn bản mẫu trước buổi thực hành.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CON SỐ (2 phút)</a:t>
            </a:r>
          </a:p>
          <a:p>
            <a:r>
              <a:t>• Đây là slide sinh viên phải THUỘC LÒNG — sẽ ra thi và dùng suốt 3 buổi thực hành.</a:t>
            </a:r>
          </a:p>
          <a:p>
            <a:r>
              <a:t>• Đọc chậm từng con số, yêu cầu cả lớp ghi vào vở.</a:t>
            </a:r>
          </a:p>
          <a:p>
            <a:r>
              <a:t>• Mẹo nhớ lề trái rộng nhất: để ĐÓNG GÁY.</a:t>
            </a:r>
          </a:p>
          <a:p>
            <a:r>
              <a:t>• Kiểm tra ngay: gọi 2 sinh viên nhắc lại không nhìn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 — nhắc: bài thực hành số 2 làm đúng năm loại này.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MỤC (30 giây) — nhắc: bài thực hành số 3 làm đúng bộ hồ sơ này.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2.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8"/>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DC756A"/>
          </a:solidFill>
          <a:ln/>
        </p:spPr>
        <p:txBody>
          <a:bodyPr/>
          <a:p/>
        </p:txBody>
      </p:sp>
      <p:pic>
        <p:nvPicPr>
          <p:cNvPr id="3" name="Image 0" descr="/home/user/comdraft/assets/img/dau-huong.png">    </p:cNvPr>
          <p:cNvPicPr>
            <a:picLocks noChangeAspect="1"/>
          </p:cNvPicPr>
          <p:nvPr/>
        </p:nvPicPr>
        <p:blipFill>
          <a:blip r:embed="rId1">
            <a:alphaModFix amt="18000"/>
          </a:blip>
          <a:stretch>
            <a:fillRect/>
          </a:stretch>
        </p:blipFill>
        <p:spPr>
          <a:xfrm>
            <a:off x="8549640" y="1417320"/>
            <a:ext cx="3200400" cy="3200400"/>
          </a:xfrm>
          <a:prstGeom prst="rect">
            <a:avLst/>
          </a:prstGeom>
        </p:spPr>
      </p:pic>
      <p:pic>
        <p:nvPicPr>
          <p:cNvPr id="4" name="Image 1" descr="/home/user/comdraft/assets/img/lockup-huong.png">    </p:cNvPr>
          <p:cNvPicPr>
            <a:picLocks noChangeAspect="1"/>
          </p:cNvPicPr>
          <p:nvPr/>
        </p:nvPicPr>
        <p:blipFill>
          <a:blip r:embed="rId2"/>
          <a:stretch>
            <a:fillRect/>
          </a:stretch>
        </p:blipFill>
        <p:spPr>
          <a:xfrm>
            <a:off x="777240" y="411480"/>
            <a:ext cx="2834640" cy="1188720"/>
          </a:xfrm>
          <a:prstGeom prst="rect">
            <a:avLst/>
          </a:prstGeom>
        </p:spPr>
      </p:pic>
      <p:sp>
        <p:nvSpPr>
          <p:cNvPr id="5" name="Text 1"/>
          <p:cNvSpPr/>
          <p:nvPr/>
        </p:nvSpPr>
        <p:spPr>
          <a:xfrm>
            <a:off x="822960" y="2011680"/>
            <a:ext cx="10515600" cy="457200"/>
          </a:xfrm>
          <a:prstGeom prst="rect">
            <a:avLst/>
          </a:prstGeom>
          <a:noFill/>
          <a:ln/>
        </p:spPr>
        <p:txBody>
          <a:bodyPr wrap="square" lIns="0" tIns="0" rIns="0" bIns="0" rtlCol="0" anchor="ctr"/>
          <a:lstStyle/>
          <a:p>
            <a:pPr indent="0" marL="0">
              <a:buNone/>
            </a:pPr>
            <a:r>
              <a:rPr lang="en-US" sz="1800" b="1" spc="500" kern="0" dirty="0">
                <a:solidFill>
                  <a:srgbClr val="DC756A"/>
                </a:solidFill>
                <a:latin typeface="Calibri" pitchFamily="34" charset="0"/>
                <a:ea typeface="Calibri" pitchFamily="34" charset="-122"/>
                <a:cs typeface="Calibri" pitchFamily="34" charset="-120"/>
              </a:rPr>
              <a:t>CHAPTER 5</a:t>
            </a:r>
            <a:endParaRPr lang="en-US" sz="1800" dirty="0"/>
          </a:p>
        </p:txBody>
      </p:sp>
      <p:sp>
        <p:nvSpPr>
          <p:cNvPr id="6" name="Shape 2"/>
          <p:cNvSpPr/>
          <p:nvPr/>
        </p:nvSpPr>
        <p:spPr>
          <a:xfrm>
            <a:off x="822960" y="2487168"/>
            <a:ext cx="1371600" cy="41148"/>
          </a:xfrm>
          <a:prstGeom prst="rect">
            <a:avLst/>
          </a:prstGeom>
          <a:solidFill>
            <a:srgbClr val="DC756A"/>
          </a:solidFill>
          <a:ln/>
        </p:spPr>
        <p:txBody>
          <a:bodyPr/>
          <a:p/>
        </p:txBody>
      </p:sp>
      <p:sp>
        <p:nvSpPr>
          <p:cNvPr id="7" name="Text 3"/>
          <p:cNvSpPr/>
          <p:nvPr/>
        </p:nvSpPr>
        <p:spPr>
          <a:xfrm>
            <a:off x="822960" y="2697480"/>
            <a:ext cx="7589520" cy="1645920"/>
          </a:xfrm>
          <a:prstGeom prst="rect">
            <a:avLst/>
          </a:prstGeom>
          <a:noFill/>
          <a:ln/>
        </p:spPr>
        <p:txBody>
          <a:bodyPr wrap="square" lIns="0" tIns="0" rIns="0" bIns="0" rtlCol="0" anchor="ctr"/>
          <a:lstStyle/>
          <a:p>
            <a:pPr indent="0" marL="0">
              <a:buNone/>
            </a:pPr>
            <a:r>
              <a:rPr lang="en-US" sz="3800" b="1" dirty="0">
                <a:solidFill>
                  <a:srgbClr val="AC4D33"/>
                </a:solidFill>
                <a:latin typeface="Cambria" pitchFamily="34" charset="0"/>
                <a:ea typeface="Cambria" pitchFamily="34" charset="-122"/>
                <a:cs typeface="Cambria" pitchFamily="34" charset="-120"/>
              </a:rPr>
              <a:t>Drafting and laying out</a:t>
            </a:r>
            <a:endParaRPr lang="en-US" sz="3800" dirty="0"/>
          </a:p>
          <a:p>
            <a:pPr indent="0" marL="0">
              <a:buNone/>
            </a:pPr>
            <a:r>
              <a:rPr lang="en-US" sz="3800" b="1" dirty="0">
                <a:solidFill>
                  <a:srgbClr val="AC4D33"/>
                </a:solidFill>
                <a:latin typeface="Cambria" pitchFamily="34" charset="0"/>
                <a:ea typeface="Cambria" pitchFamily="34" charset="-122"/>
                <a:cs typeface="Cambria" pitchFamily="34" charset="-120"/>
              </a:rPr>
              <a:t>documents</a:t>
            </a:r>
            <a:endParaRPr lang="en-US" sz="3800" dirty="0"/>
          </a:p>
        </p:txBody>
      </p:sp>
      <p:sp>
        <p:nvSpPr>
          <p:cNvPr id="8" name="Text 4"/>
          <p:cNvSpPr/>
          <p:nvPr/>
        </p:nvSpPr>
        <p:spPr>
          <a:xfrm>
            <a:off x="822960" y="4434840"/>
            <a:ext cx="7589520" cy="685800"/>
          </a:xfrm>
          <a:prstGeom prst="rect">
            <a:avLst/>
          </a:prstGeom>
          <a:noFill/>
          <a:ln/>
        </p:spPr>
        <p:txBody>
          <a:bodyPr wrap="square" lIns="0" tIns="0" rIns="0" bIns="0" rtlCol="0" anchor="ctr"/>
          <a:lstStyle/>
          <a:p>
            <a:pPr indent="0" marL="0">
              <a:buNone/>
            </a:pPr>
            <a:r>
              <a:rPr lang="en-US" sz="1400" i="1" dirty="0">
                <a:solidFill>
                  <a:srgbClr val="8A7A76"/>
                </a:solidFill>
                <a:latin typeface="Calibri" pitchFamily="34" charset="0"/>
                <a:ea typeface="Calibri" pitchFamily="34" charset="-122"/>
                <a:cs typeface="Calibri" pitchFamily="34" charset="-120"/>
              </a:rPr>
              <a:t>From speech to writing: turning every agreement into a properly formed document with legal force.</a:t>
            </a:r>
            <a:endParaRPr lang="en-US" sz="1400" dirty="0"/>
          </a:p>
        </p:txBody>
      </p:sp>
      <p:sp>
        <p:nvSpPr>
          <p:cNvPr id="9" name="Text 5"/>
          <p:cNvSpPr/>
          <p:nvPr/>
        </p:nvSpPr>
        <p:spPr>
          <a:xfrm>
            <a:off x="822960" y="5349240"/>
            <a:ext cx="7863840" cy="868680"/>
          </a:xfrm>
          <a:prstGeom prst="rect">
            <a:avLst/>
          </a:prstGeom>
          <a:noFill/>
          <a:ln/>
        </p:spPr>
        <p:txBody>
          <a:bodyPr wrap="square" lIns="0" tIns="0" rIns="0" bIns="0" rtlCol="0" anchor="ctr"/>
          <a:lstStyle/>
          <a:p>
            <a:pPr indent="0" marL="0">
              <a:buNone/>
            </a:pPr>
            <a:r>
              <a:rPr lang="en-US" sz="1500" b="1" dirty="0">
                <a:solidFill>
                  <a:srgbClr val="3A2B28"/>
                </a:solidFill>
                <a:latin typeface="Calibri" pitchFamily="34" charset="0"/>
                <a:ea typeface="Calibri" pitchFamily="34" charset="-122"/>
                <a:cs typeface="Calibri" pitchFamily="34" charset="-120"/>
              </a:rPr>
              <a:t>Do Thuy Huong, Lecturer</a:t>
            </a:r>
            <a:endParaRPr lang="en-US" sz="1500" dirty="0"/>
          </a:p>
          <a:p>
            <a:pPr indent="0" marL="0">
              <a:buNone/>
            </a:pPr>
            <a:r>
              <a:rPr lang="en-US" sz="1200" dirty="0">
                <a:solidFill>
                  <a:srgbClr val="8A7A76"/>
                </a:solidFill>
                <a:latin typeface="Calibri" pitchFamily="34" charset="0"/>
                <a:ea typeface="Calibri" pitchFamily="34" charset="-122"/>
                <a:cs typeface="Calibri" pitchFamily="34" charset="-120"/>
              </a:rPr>
              <a:t>EC1103 – Communication and Document Drafting Skills (2:1)  •  Class 261b, Semester 1, 2026 – 2027</a:t>
            </a:r>
            <a:endParaRPr lang="en-US" sz="1500" dirty="0"/>
          </a:p>
        </p:txBody>
      </p:sp>
      <p:sp>
        <p:nvSpPr>
          <p:cNvPr id="10" name="Text 6"/>
          <p:cNvSpPr/>
          <p:nvPr/>
        </p:nvSpPr>
        <p:spPr>
          <a:xfrm>
            <a:off x="822960" y="6355080"/>
            <a:ext cx="10515600" cy="320040"/>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 Do Thuy Huong, 2026 — Prepared for in-person teaching. Please credit the source.</a:t>
            </a:r>
            <a:endParaRPr lang="en-US" sz="900" dirty="0"/>
          </a:p>
        </p:txBody>
      </p:sp>
      <p:pic>
        <p:nvPicPr>
          <p:cNvPr id="11" name="Picture 10" descr="co-huong-doc.png"/>
          <p:cNvPicPr>
            <a:picLocks noChangeAspect="1"/>
          </p:cNvPicPr>
          <p:nvPr/>
        </p:nvPicPr>
        <p:blipFill>
          <a:blip r:embed="rId5"/>
          <a:stretch>
            <a:fillRect/>
          </a:stretch>
        </p:blipFill>
        <p:spPr>
          <a:xfrm>
            <a:off x="8641080" y="1051560"/>
            <a:ext cx="3279624"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OBJECTIVES</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By the end of this session, students can</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Explain  —  </a:t>
            </a:r>
            <a:pPr indent="0" marL="0">
              <a:buNone/>
            </a:pPr>
            <a:r>
              <a:rPr lang="en-US" sz="1350" dirty="0">
                <a:solidFill>
                  <a:srgbClr val="3A2B28"/>
                </a:solidFill>
                <a:latin typeface="Calibri" pitchFamily="34" charset="0"/>
                <a:ea typeface="Calibri" pitchFamily="34" charset="-122"/>
                <a:cs typeface="Calibri" pitchFamily="34" charset="-120"/>
              </a:rPr>
              <a:t>what a document is, and tell apart the groups of documents an organisation uses.</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Apply  —  </a:t>
            </a:r>
            <a:pPr indent="0" marL="0">
              <a:buNone/>
            </a:pPr>
            <a:r>
              <a:rPr lang="en-US" sz="1350" dirty="0">
                <a:solidFill>
                  <a:srgbClr val="3A2B28"/>
                </a:solidFill>
                <a:latin typeface="Calibri" pitchFamily="34" charset="0"/>
                <a:ea typeface="Calibri" pitchFamily="34" charset="-122"/>
                <a:cs typeface="Calibri" pitchFamily="34" charset="-120"/>
              </a:rPr>
              <a:t>the content requirements and the nine formal components under Decree 30/2020/ND-CP.</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Draft  —  </a:t>
            </a:r>
            <a:pPr indent="0" marL="0">
              <a:buNone/>
            </a:pPr>
            <a:r>
              <a:rPr lang="en-US" sz="1350" dirty="0">
                <a:solidFill>
                  <a:srgbClr val="3A2B28"/>
                </a:solidFill>
                <a:latin typeface="Calibri" pitchFamily="34" charset="0"/>
                <a:ea typeface="Calibri" pitchFamily="34" charset="-122"/>
                <a:cs typeface="Calibri" pitchFamily="34" charset="-120"/>
              </a:rPr>
              <a:t>a decision, a submission, an official letter, minutes and a report in correct layout.</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Draft  —  </a:t>
            </a:r>
            <a:pPr indent="0" marL="0">
              <a:buNone/>
            </a:pPr>
            <a:r>
              <a:rPr lang="en-US" sz="1350" dirty="0">
                <a:solidFill>
                  <a:srgbClr val="3A2B28"/>
                </a:solidFill>
                <a:latin typeface="Calibri" pitchFamily="34" charset="0"/>
                <a:ea typeface="Calibri" pitchFamily="34" charset="-122"/>
                <a:cs typeface="Calibri" pitchFamily="34" charset="-120"/>
              </a:rPr>
              <a:t>commercial letters, quotations and contracts for business dealings.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CONTENTS</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What we will go through</a:t>
            </a:r>
            <a:endParaRPr lang="en-US" sz="2700" dirty="0"/>
          </a:p>
        </p:txBody>
      </p:sp>
      <p:sp>
        <p:nvSpPr>
          <p:cNvPr id="9" name="Shape 6"/>
          <p:cNvSpPr/>
          <p:nvPr/>
        </p:nvSpPr>
        <p:spPr>
          <a:xfrm>
            <a:off x="502920" y="1618488"/>
            <a:ext cx="384048" cy="384048"/>
          </a:xfrm>
          <a:prstGeom prst="ellipse">
            <a:avLst/>
          </a:prstGeom>
          <a:solidFill>
            <a:srgbClr val="DC756A"/>
          </a:solidFill>
          <a:ln/>
        </p:spPr>
        <p:txBody>
          <a:bodyPr/>
          <a:p/>
        </p:txBody>
      </p:sp>
      <p:sp>
        <p:nvSpPr>
          <p:cNvPr id="10" name="Text 7"/>
          <p:cNvSpPr/>
          <p:nvPr/>
        </p:nvSpPr>
        <p:spPr>
          <a:xfrm>
            <a:off x="502920" y="1618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54533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5.1  —  </a:t>
            </a:r>
            <a:pPr indent="0" marL="0">
              <a:buNone/>
            </a:pPr>
            <a:r>
              <a:rPr lang="en-US" sz="1350" dirty="0">
                <a:solidFill>
                  <a:srgbClr val="3A2B28"/>
                </a:solidFill>
                <a:latin typeface="Calibri" pitchFamily="34" charset="0"/>
                <a:ea typeface="Calibri" pitchFamily="34" charset="-122"/>
                <a:cs typeface="Calibri" pitchFamily="34" charset="-120"/>
              </a:rPr>
              <a:t>What a document is, and its groups</a:t>
            </a:r>
            <a:endParaRPr lang="en-US" sz="1400" dirty="0"/>
          </a:p>
        </p:txBody>
      </p:sp>
      <p:sp>
        <p:nvSpPr>
          <p:cNvPr id="12" name="Shape 9"/>
          <p:cNvSpPr/>
          <p:nvPr/>
        </p:nvSpPr>
        <p:spPr>
          <a:xfrm>
            <a:off x="502920" y="2578608"/>
            <a:ext cx="384048" cy="384048"/>
          </a:xfrm>
          <a:prstGeom prst="ellipse">
            <a:avLst/>
          </a:prstGeom>
          <a:solidFill>
            <a:srgbClr val="DC756A"/>
          </a:solidFill>
          <a:ln/>
        </p:spPr>
        <p:txBody>
          <a:bodyPr/>
          <a:p/>
        </p:txBody>
      </p:sp>
      <p:sp>
        <p:nvSpPr>
          <p:cNvPr id="13" name="Text 10"/>
          <p:cNvSpPr/>
          <p:nvPr/>
        </p:nvSpPr>
        <p:spPr>
          <a:xfrm>
            <a:off x="502920" y="2578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50545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5.2  —  </a:t>
            </a:r>
            <a:pPr indent="0" marL="0">
              <a:buNone/>
            </a:pPr>
            <a:r>
              <a:rPr lang="en-US" sz="1350" dirty="0">
                <a:solidFill>
                  <a:srgbClr val="3A2B28"/>
                </a:solidFill>
                <a:latin typeface="Calibri" pitchFamily="34" charset="0"/>
                <a:ea typeface="Calibri" pitchFamily="34" charset="-122"/>
                <a:cs typeface="Calibri" pitchFamily="34" charset="-120"/>
              </a:rPr>
              <a:t>Requirements of content and of formal layout</a:t>
            </a:r>
            <a:endParaRPr lang="en-US" sz="1400" dirty="0"/>
          </a:p>
        </p:txBody>
      </p:sp>
      <p:sp>
        <p:nvSpPr>
          <p:cNvPr id="15" name="Shape 12"/>
          <p:cNvSpPr/>
          <p:nvPr/>
        </p:nvSpPr>
        <p:spPr>
          <a:xfrm>
            <a:off x="502920" y="3538728"/>
            <a:ext cx="384048" cy="384048"/>
          </a:xfrm>
          <a:prstGeom prst="ellipse">
            <a:avLst/>
          </a:prstGeom>
          <a:solidFill>
            <a:srgbClr val="DC756A"/>
          </a:solidFill>
          <a:ln/>
        </p:spPr>
        <p:txBody>
          <a:bodyPr/>
          <a:p/>
        </p:txBody>
      </p:sp>
      <p:sp>
        <p:nvSpPr>
          <p:cNvPr id="16" name="Text 13"/>
          <p:cNvSpPr/>
          <p:nvPr/>
        </p:nvSpPr>
        <p:spPr>
          <a:xfrm>
            <a:off x="502920" y="3538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46557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5.3  —  </a:t>
            </a:r>
            <a:pPr indent="0" marL="0">
              <a:buNone/>
            </a:pPr>
            <a:r>
              <a:rPr lang="en-US" sz="1350" dirty="0">
                <a:solidFill>
                  <a:srgbClr val="3A2B28"/>
                </a:solidFill>
                <a:latin typeface="Calibri" pitchFamily="34" charset="0"/>
                <a:ea typeface="Calibri" pitchFamily="34" charset="-122"/>
                <a:cs typeface="Calibri" pitchFamily="34" charset="-120"/>
              </a:rPr>
              <a:t>Drafting the common administrative documents</a:t>
            </a:r>
            <a:endParaRPr lang="en-US" sz="1400" dirty="0"/>
          </a:p>
        </p:txBody>
      </p:sp>
      <p:sp>
        <p:nvSpPr>
          <p:cNvPr id="18" name="Shape 15"/>
          <p:cNvSpPr/>
          <p:nvPr/>
        </p:nvSpPr>
        <p:spPr>
          <a:xfrm>
            <a:off x="502920" y="4498848"/>
            <a:ext cx="384048" cy="384048"/>
          </a:xfrm>
          <a:prstGeom prst="ellipse">
            <a:avLst/>
          </a:prstGeom>
          <a:solidFill>
            <a:srgbClr val="DC756A"/>
          </a:solidFill>
          <a:ln/>
        </p:spPr>
        <p:txBody>
          <a:bodyPr/>
          <a:p/>
        </p:txBody>
      </p:sp>
      <p:sp>
        <p:nvSpPr>
          <p:cNvPr id="19" name="Text 16"/>
          <p:cNvSpPr/>
          <p:nvPr/>
        </p:nvSpPr>
        <p:spPr>
          <a:xfrm>
            <a:off x="502920" y="4498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4425696"/>
            <a:ext cx="10652760" cy="960120"/>
          </a:xfrm>
          <a:prstGeom prst="rect">
            <a:avLst/>
          </a:prstGeom>
          <a:noFill/>
          <a:ln/>
        </p:spPr>
        <p:txBody>
          <a:bodyPr wrap="square" lIns="0" tIns="0" rIns="0" bIns="0" rtlCol="0" anchor="t"/>
          <a:lstStyle/>
          <a:p>
            <a:pPr indent="0" marL="0">
              <a:buNone/>
            </a:pPr>
            <a:r>
              <a:rPr lang="en-US" sz="1400" b="1" dirty="0">
                <a:solidFill>
                  <a:srgbClr val="AC4D33"/>
                </a:solidFill>
                <a:latin typeface="Calibri" pitchFamily="34" charset="0"/>
                <a:ea typeface="Calibri" pitchFamily="34" charset="-122"/>
                <a:cs typeface="Calibri" pitchFamily="34" charset="-120"/>
              </a:rPr>
              <a:t>5.4  —  </a:t>
            </a:r>
            <a:pPr indent="0" marL="0">
              <a:buNone/>
            </a:pPr>
            <a:r>
              <a:rPr lang="en-US" sz="1350" dirty="0">
                <a:solidFill>
                  <a:srgbClr val="3A2B28"/>
                </a:solidFill>
                <a:latin typeface="Calibri" pitchFamily="34" charset="0"/>
                <a:ea typeface="Calibri" pitchFamily="34" charset="-122"/>
                <a:cs typeface="Calibri" pitchFamily="34" charset="-120"/>
              </a:rPr>
              <a:t>Drafting commercial documents</a:t>
            </a:r>
            <a:endParaRPr lang="en-US" sz="14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SECTIONS 5.1 – 5.2</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Definition, groups and formal layout</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The legal and technical ground: what a document is, and what a correct page looks like.</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Do Thuy Huong, Lecturer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What is a document?</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The general sense</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A means of recording and conveying information in language or signs</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The legal definition — Decree 30/2020/ND-CP</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“Information put into writing… laid out in the prescribed form and technique.”</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What it does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Management • legal basis • record-keeping • the organisation's image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5.1</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Groups of documents</a:t>
            </a:r>
            <a:endParaRPr lang="en-US" sz="2700" dirty="0"/>
          </a:p>
        </p:txBody>
      </p:sp>
      <p:pic>
        <p:nvPicPr>
          <p:cNvPr id="9" name="Picture 8" descr="c5-phan-loai-van-ban-nt.png"/>
          <p:cNvPicPr>
            <a:picLocks noChangeAspect="1"/>
          </p:cNvPicPr>
          <p:nvPr/>
        </p:nvPicPr>
        <p:blipFill>
          <a:blip r:embed="rId4"/>
          <a:stretch>
            <a:fillRect/>
          </a:stretch>
        </p:blipFill>
        <p:spPr>
          <a:xfrm>
            <a:off x="841173" y="1751850"/>
            <a:ext cx="10509347" cy="4168114"/>
          </a:xfrm>
          <a:prstGeom prst="rect">
            <a:avLst/>
          </a:prstGeom>
        </p:spPr>
      </p:pic>
      <p:sp>
        <p:nvSpPr>
          <p:cNvPr id="10" name="TextBox 9"/>
          <p:cNvSpPr txBox="1"/>
          <p:nvPr/>
        </p:nvSpPr>
        <p:spPr>
          <a:xfrm>
            <a:off x="548640" y="5993117"/>
            <a:ext cx="11109960" cy="310896"/>
          </a:xfrm>
          <a:prstGeom prst="rect">
            <a:avLst/>
          </a:prstGeom>
          <a:noFill/>
        </p:spPr>
        <p:txBody>
          <a:bodyPr wrap="square">
            <a:spAutoFit/>
          </a:bodyPr>
          <a:lstStyle/>
          <a:p>
            <a:pPr algn="ctr"/>
            <a:r>
              <a:rPr sz="1150" i="1">
                <a:solidFill>
                  <a:srgbClr val="8A7A76"/>
                </a:solidFill>
                <a:latin typeface="Calibri"/>
              </a:rPr>
              <a:t>Only once you know the group do you know which template to use and who may sign.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Four requirements of content</a:t>
            </a:r>
            <a:endParaRPr lang="en-US" sz="2700" dirty="0"/>
          </a:p>
        </p:txBody>
      </p:sp>
      <p:sp>
        <p:nvSpPr>
          <p:cNvPr id="9" name="Shape 6"/>
          <p:cNvSpPr/>
          <p:nvPr/>
        </p:nvSpPr>
        <p:spPr>
          <a:xfrm>
            <a:off x="502920" y="1417320"/>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Right purpose, right authority</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One subject per document, issued within your function</a:t>
            </a:r>
            <a:endParaRPr lang="en-US" sz="1450" dirty="0"/>
          </a:p>
        </p:txBody>
      </p:sp>
      <p:sp>
        <p:nvSpPr>
          <p:cNvPr id="11" name="Shape 8"/>
          <p:cNvSpPr/>
          <p:nvPr/>
        </p:nvSpPr>
        <p:spPr>
          <a:xfrm>
            <a:off x="502920" y="2658618"/>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2" name="Text 9"/>
          <p:cNvSpPr/>
          <p:nvPr/>
        </p:nvSpPr>
        <p:spPr>
          <a:xfrm>
            <a:off x="722376" y="2713482"/>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Accurate and objective</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Figures with grounds, verifiable — one wrong number carries legal consequences</a:t>
            </a:r>
            <a:endParaRPr lang="en-US" sz="1450" dirty="0"/>
          </a:p>
        </p:txBody>
      </p:sp>
      <p:sp>
        <p:nvSpPr>
          <p:cNvPr id="13" name="Shape 10"/>
          <p:cNvSpPr/>
          <p:nvPr/>
        </p:nvSpPr>
        <p:spPr>
          <a:xfrm>
            <a:off x="502920" y="3899916"/>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4" name="Text 11"/>
          <p:cNvSpPr/>
          <p:nvPr/>
        </p:nvSpPr>
        <p:spPr>
          <a:xfrm>
            <a:off x="722376" y="3954780"/>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Clear, brief, easy to follow</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One reading is enough to get the drafter's meaning</a:t>
            </a:r>
            <a:endParaRPr lang="en-US" sz="1450" dirty="0"/>
          </a:p>
        </p:txBody>
      </p:sp>
      <p:sp>
        <p:nvSpPr>
          <p:cNvPr id="15" name="Shape 12"/>
          <p:cNvSpPr/>
          <p:nvPr/>
        </p:nvSpPr>
        <p:spPr>
          <a:xfrm>
            <a:off x="502920" y="5141214"/>
            <a:ext cx="11201400" cy="1076706"/>
          </a:xfrm>
          <a:prstGeom prst="roundRect">
            <a:avLst>
              <a:gd name="adj" fmla="val 7643"/>
            </a:avLst>
          </a:prstGeom>
          <a:solidFill>
            <a:srgbClr val="FDF1EF"/>
          </a:solidFill>
          <a:ln w="15875">
            <a:solidFill>
              <a:srgbClr val="FBCEC9"/>
            </a:solidFill>
            <a:prstDash val="solid"/>
          </a:ln>
        </p:spPr>
        <p:txBody>
          <a:bodyPr/>
          <a:p/>
        </p:txBody>
      </p:sp>
      <p:sp>
        <p:nvSpPr>
          <p:cNvPr id="16" name="Text 13"/>
          <p:cNvSpPr/>
          <p:nvPr/>
        </p:nvSpPr>
        <p:spPr>
          <a:xfrm>
            <a:off x="722376" y="5196078"/>
            <a:ext cx="10762488" cy="966978"/>
          </a:xfrm>
          <a:prstGeom prst="rect">
            <a:avLst/>
          </a:prstGeom>
          <a:noFill/>
          <a:ln/>
        </p:spPr>
        <p:txBody>
          <a:bodyPr wrap="square" lIns="0" tIns="0" rIns="0" bIns="0" rtlCol="0" anchor="ctr"/>
          <a:lstStyle/>
          <a:p>
            <a:pPr indent="0" marL="0">
              <a:buNone/>
            </a:pPr>
            <a:r>
              <a:rPr lang="en-US" sz="1450" b="1" dirty="0">
                <a:solidFill>
                  <a:srgbClr val="AC4D33"/>
                </a:solidFill>
                <a:latin typeface="Calibri" pitchFamily="34" charset="0"/>
                <a:ea typeface="Calibri" pitchFamily="34" charset="-122"/>
                <a:cs typeface="Calibri" pitchFamily="34" charset="-120"/>
              </a:rPr>
              <a:t>Lawful, in administrative register</a:t>
            </a:r>
            <a:endParaRPr lang="en-US" sz="1450" dirty="0"/>
          </a:p>
          <a:p>
            <a:pPr indent="0" marL="0">
              <a:buNone/>
            </a:pPr>
            <a:r>
              <a:rPr lang="en-US" sz="1250" dirty="0">
                <a:solidFill>
                  <a:srgbClr val="3A2B28"/>
                </a:solidFill>
                <a:latin typeface="Calibri" pitchFamily="34" charset="0"/>
                <a:ea typeface="Calibri" pitchFamily="34" charset="-122"/>
                <a:cs typeface="Calibri" pitchFamily="34" charset="-120"/>
              </a:rPr>
              <a:t>In line with current rules; formal register, no colloquialisms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The nine formal components — Decree 30/2020/ND-CP</a:t>
            </a:r>
            <a:endParaRPr lang="en-US" sz="2700" dirty="0"/>
          </a:p>
        </p:txBody>
      </p:sp>
      <p:pic>
        <p:nvPicPr>
          <p:cNvPr id="9" name="Picture 8" descr="c5-the-thuc-a4-nt.png"/>
          <p:cNvPicPr>
            <a:picLocks noChangeAspect="1"/>
          </p:cNvPicPr>
          <p:nvPr/>
        </p:nvPicPr>
        <p:blipFill>
          <a:blip r:embed="rId4"/>
          <a:stretch>
            <a:fillRect/>
          </a:stretch>
        </p:blipFill>
        <p:spPr>
          <a:xfrm>
            <a:off x="472287" y="1595135"/>
            <a:ext cx="11247120" cy="44815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5.2</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Layout technique — the numbers you must know by heart</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Paper size and margins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A4 • top and bottom 20–25 mm • left 30–35 mm • right 15–20 mm</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Typeface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Times New Roman, Unicode, 13 – 14 pt, black.</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Page numbers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From the second page, Arabic numerals, centred on the top margin.</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Language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Standard Vietnamese; capitals and abbreviations per the rules</a:t>
            </a:r>
            <a:endParaRPr lang="en-US" sz="15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292608"/>
          </a:xfrm>
          <a:prstGeom prst="rect">
            <a:avLst/>
          </a:prstGeom>
          <a:noFill/>
        </p:spPr>
        <p:txBody>
          <a:bodyPr wrap="none">
            <a:spAutoFit/>
          </a:bodyPr>
          <a:lstStyle/>
          <a:p>
            <a:r>
              <a:rPr sz="1100" b="1">
                <a:solidFill>
                  <a:srgbClr val="DC756A"/>
                </a:solidFill>
                <a:latin typeface="Calibri"/>
              </a:rPr>
              <a:t>THE NUMBER TO REMEMBER</a:t>
            </a:r>
          </a:p>
        </p:txBody>
      </p:sp>
      <p:sp>
        <p:nvSpPr>
          <p:cNvPr id="4" name="TextBox 3"/>
          <p:cNvSpPr txBox="1"/>
          <p:nvPr/>
        </p:nvSpPr>
        <p:spPr>
          <a:xfrm>
            <a:off x="502920" y="603504"/>
            <a:ext cx="11155680" cy="731520"/>
          </a:xfrm>
          <a:prstGeom prst="rect">
            <a:avLst/>
          </a:prstGeom>
          <a:noFill/>
        </p:spPr>
        <p:txBody>
          <a:bodyPr wrap="square">
            <a:spAutoFit/>
          </a:bodyPr>
          <a:lstStyle/>
          <a:p>
            <a:r>
              <a:rPr sz="2700" b="1">
                <a:solidFill>
                  <a:srgbClr val="3A2B28"/>
                </a:solidFill>
                <a:latin typeface="Cambria"/>
              </a:rPr>
              <a:t>Four numbers that make a page correct</a:t>
            </a:r>
          </a:p>
        </p:txBody>
      </p:sp>
      <p:sp>
        <p:nvSpPr>
          <p:cNvPr id="5" name="Rounded Rectangle 4"/>
          <p:cNvSpPr/>
          <p:nvPr/>
        </p:nvSpPr>
        <p:spPr>
          <a:xfrm>
            <a:off x="502920"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A4</a:t>
            </a:r>
          </a:p>
          <a:p>
            <a:pPr algn="ctr"/>
            <a:r>
              <a:rPr sz="1400" b="1">
                <a:solidFill>
                  <a:srgbClr val="AC4D33"/>
                </a:solidFill>
                <a:latin typeface="Calibri"/>
              </a:rPr>
              <a:t>PAPER</a:t>
            </a:r>
          </a:p>
          <a:p>
            <a:pPr algn="ctr">
              <a:spcBef>
                <a:spcPts val="1200"/>
              </a:spcBef>
            </a:pPr>
            <a:r>
              <a:rPr sz="1250">
                <a:solidFill>
                  <a:srgbClr val="3A2B28"/>
                </a:solidFill>
                <a:latin typeface="Calibri"/>
              </a:rPr>
              <a:t>210 × 297 mm — never Letter</a:t>
            </a:r>
          </a:p>
        </p:txBody>
      </p:sp>
      <p:sp>
        <p:nvSpPr>
          <p:cNvPr id="6" name="Rounded Rectangle 5"/>
          <p:cNvSpPr/>
          <p:nvPr/>
        </p:nvSpPr>
        <p:spPr>
          <a:xfrm>
            <a:off x="3362706"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30–35</a:t>
            </a:r>
          </a:p>
          <a:p>
            <a:pPr algn="ctr"/>
            <a:r>
              <a:rPr sz="1400" b="1">
                <a:solidFill>
                  <a:srgbClr val="AC4D33"/>
                </a:solidFill>
                <a:latin typeface="Calibri"/>
              </a:rPr>
              <a:t>MILLIMETRES</a:t>
            </a:r>
          </a:p>
          <a:p>
            <a:pPr algn="ctr">
              <a:spcBef>
                <a:spcPts val="1200"/>
              </a:spcBef>
            </a:pPr>
            <a:r>
              <a:rPr sz="1250">
                <a:solidFill>
                  <a:srgbClr val="3A2B28"/>
                </a:solidFill>
                <a:latin typeface="Calibri"/>
              </a:rPr>
              <a:t>The left margin, widest because the file is bound there</a:t>
            </a:r>
          </a:p>
        </p:txBody>
      </p:sp>
      <p:sp>
        <p:nvSpPr>
          <p:cNvPr id="7" name="Rounded Rectangle 6"/>
          <p:cNvSpPr/>
          <p:nvPr/>
        </p:nvSpPr>
        <p:spPr>
          <a:xfrm>
            <a:off x="6222492"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13–14</a:t>
            </a:r>
          </a:p>
          <a:p>
            <a:pPr algn="ctr"/>
            <a:r>
              <a:rPr sz="1400" b="1">
                <a:solidFill>
                  <a:srgbClr val="AC4D33"/>
                </a:solidFill>
                <a:latin typeface="Calibri"/>
              </a:rPr>
              <a:t>POINT SIZE</a:t>
            </a:r>
          </a:p>
          <a:p>
            <a:pPr algn="ctr">
              <a:spcBef>
                <a:spcPts val="1200"/>
              </a:spcBef>
            </a:pPr>
            <a:r>
              <a:rPr sz="1250">
                <a:solidFill>
                  <a:srgbClr val="3A2B28"/>
                </a:solidFill>
                <a:latin typeface="Calibri"/>
              </a:rPr>
              <a:t>Times New Roman, Unicode, black</a:t>
            </a:r>
          </a:p>
        </p:txBody>
      </p:sp>
      <p:sp>
        <p:nvSpPr>
          <p:cNvPr id="8" name="Rounded Rectangle 7"/>
          <p:cNvSpPr/>
          <p:nvPr/>
        </p:nvSpPr>
        <p:spPr>
          <a:xfrm>
            <a:off x="9082278" y="1783080"/>
            <a:ext cx="2622042" cy="3429000"/>
          </a:xfrm>
          <a:prstGeom prst="roundRect">
            <a:avLst>
              <a:gd name="adj" fmla="val 7000"/>
            </a:avLst>
          </a:prstGeom>
          <a:solidFill>
            <a:srgbClr val="FFFFFF"/>
          </a:solidFill>
          <a:ln w="15875">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0" bIns="182880"/>
          <a:lstStyle/>
          <a:p>
            <a:pPr algn="ctr"/>
            <a:r>
              <a:rPr sz="5800" b="1">
                <a:solidFill>
                  <a:srgbClr val="DC756A"/>
                </a:solidFill>
                <a:latin typeface="Cambria"/>
              </a:rPr>
              <a:t>9</a:t>
            </a:r>
          </a:p>
          <a:p>
            <a:pPr algn="ctr"/>
            <a:r>
              <a:rPr sz="1400" b="1">
                <a:solidFill>
                  <a:srgbClr val="AC4D33"/>
                </a:solidFill>
                <a:latin typeface="Calibri"/>
              </a:rPr>
              <a:t>COMPONENTS</a:t>
            </a:r>
          </a:p>
          <a:p>
            <a:pPr algn="ctr">
              <a:spcBef>
                <a:spcPts val="1200"/>
              </a:spcBef>
            </a:pPr>
            <a:r>
              <a:rPr sz="1250">
                <a:solidFill>
                  <a:srgbClr val="3A2B28"/>
                </a:solidFill>
                <a:latin typeface="Calibri"/>
              </a:rPr>
              <a:t>The formal components required by Decree 30/2020</a:t>
            </a:r>
          </a:p>
        </p:txBody>
      </p:sp>
      <p:sp>
        <p:nvSpPr>
          <p:cNvPr id="9" name="Rounded Rectangle 8"/>
          <p:cNvSpPr/>
          <p:nvPr/>
        </p:nvSpPr>
        <p:spPr>
          <a:xfrm>
            <a:off x="502920" y="5440680"/>
            <a:ext cx="11201400" cy="685800"/>
          </a:xfrm>
          <a:prstGeom prst="roundRect">
            <a:avLst>
              <a:gd name="adj" fmla="val 12000"/>
            </a:avLst>
          </a:prstGeom>
          <a:solidFill>
            <a:srgbClr val="FDF1EF"/>
          </a:solidFill>
          <a:ln w="12700">
            <a:solidFill>
              <a:srgbClr val="FBCEC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r>
              <a:rPr sz="1300">
                <a:solidFill>
                  <a:srgbClr val="3A2B28"/>
                </a:solidFill>
                <a:latin typeface="Calibri"/>
              </a:rPr>
              <a:t>Top and bottom margins 20 – 25 mm • right margin 15 – 20 mm • page numbers from the second page, centred on the top margin.</a:t>
            </a:r>
          </a:p>
        </p:txBody>
      </p:sp>
      <p:sp>
        <p:nvSpPr>
          <p:cNvPr id="10" name="TextBox 9"/>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Do Thuy Huong, Lecturer  •  EC1103</a:t>
            </a:r>
          </a:p>
        </p:txBody>
      </p:sp>
      <p:sp>
        <p:nvSpPr>
          <p:cNvPr id="11" name="TextBox 10"/>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 5.3</a:t>
            </a:r>
          </a:p>
        </p:txBody>
      </p:sp>
      <p:sp>
        <p:nvSpPr>
          <p:cNvPr id="6" name="TextBox 5"/>
          <p:cNvSpPr txBox="1"/>
          <p:nvPr/>
        </p:nvSpPr>
        <p:spPr>
          <a:xfrm>
            <a:off x="1280160" y="2788920"/>
            <a:ext cx="9601200" cy="1371600"/>
          </a:xfrm>
          <a:prstGeom prst="rect">
            <a:avLst/>
          </a:prstGeom>
          <a:noFill/>
        </p:spPr>
        <p:txBody>
          <a:bodyPr wrap="square">
            <a:spAutoFit/>
          </a:bodyPr>
          <a:lstStyle/>
          <a:p>
            <a:r>
              <a:rPr sz="3300" b="1">
                <a:solidFill>
                  <a:srgbClr val="AC4D33"/>
                </a:solidFill>
                <a:latin typeface="Cambria"/>
              </a:rPr>
              <a:t>Drafting the common administrative documents</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Five documents used every day in every organisation.</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Do Thuy Huong, Lecturer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Five common administrative documents</a:t>
            </a:r>
            <a:endParaRPr lang="en-US" sz="2700" dirty="0"/>
          </a:p>
        </p:txBody>
      </p:sp>
      <p:pic>
        <p:nvPicPr>
          <p:cNvPr id="9" name="Picture 8" descr="c5-chuoi-van-ban-nt.png"/>
          <p:cNvPicPr>
            <a:picLocks noChangeAspect="1"/>
          </p:cNvPicPr>
          <p:nvPr/>
        </p:nvPicPr>
        <p:blipFill>
          <a:blip r:embed="rId4"/>
          <a:stretch>
            <a:fillRect/>
          </a:stretch>
        </p:blipFill>
        <p:spPr>
          <a:xfrm>
            <a:off x="981171" y="2365438"/>
            <a:ext cx="10229353" cy="2940939"/>
          </a:xfrm>
          <a:prstGeom prst="rect">
            <a:avLst/>
          </a:prstGeom>
        </p:spPr>
      </p:pic>
      <p:sp>
        <p:nvSpPr>
          <p:cNvPr id="10" name="TextBox 9"/>
          <p:cNvSpPr txBox="1"/>
          <p:nvPr/>
        </p:nvSpPr>
        <p:spPr>
          <a:xfrm>
            <a:off x="548640" y="5379529"/>
            <a:ext cx="11109960" cy="310896"/>
          </a:xfrm>
          <a:prstGeom prst="rect">
            <a:avLst/>
          </a:prstGeom>
          <a:noFill/>
        </p:spPr>
        <p:txBody>
          <a:bodyPr wrap="square">
            <a:spAutoFit/>
          </a:bodyPr>
          <a:lstStyle/>
          <a:p>
            <a:pPr algn="ctr"/>
            <a:r>
              <a:rPr sz="1150" i="1">
                <a:solidFill>
                  <a:srgbClr val="8A7A76"/>
                </a:solidFill>
                <a:latin typeface="Calibri"/>
              </a:rPr>
              <a:t>The chain of documents behind one deal — students will draft this same chain in the lab.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Decision and Submission</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Decision — what it is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 document issued by an authorised person to settle one specific matter.</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Decision — layout</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The grounds → the substance in Articles → the last Article states when it takes effect</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Submission — what it is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Asking the competent level to approve a policy or a plan</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Submission — three parts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The reason → the plan and its benefits → the request for approval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5.3</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Official letter, Minutes and Report</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Official letter (công văn)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No document-type heading — only number, reference and subject line. One subject each</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Minutes (biên bản)</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Written on the spot. Time – those present – proceedings – conclusion – signatures</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Report (báo cáo)</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The situation → results → shortcomings and causes → the way forward</a:t>
            </a:r>
            <a:endParaRPr lang="en-US" sz="15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03120"/>
            <a:ext cx="12191695" cy="2743200"/>
          </a:xfrm>
          <a:prstGeom prst="rect">
            <a:avLst/>
          </a:prstGeom>
          <a:solidFill>
            <a:srgbClr val="FD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DC7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377440"/>
            <a:ext cx="9692640" cy="411480"/>
          </a:xfrm>
          <a:prstGeom prst="rect">
            <a:avLst/>
          </a:prstGeom>
          <a:noFill/>
        </p:spPr>
        <p:txBody>
          <a:bodyPr wrap="none">
            <a:spAutoFit/>
          </a:bodyPr>
          <a:lstStyle/>
          <a:p>
            <a:r>
              <a:rPr sz="1500" b="1">
                <a:solidFill>
                  <a:srgbClr val="DC756A"/>
                </a:solidFill>
                <a:latin typeface="Calibri"/>
              </a:rPr>
              <a:t>SECTION 5.4</a:t>
            </a:r>
          </a:p>
        </p:txBody>
      </p:sp>
      <p:sp>
        <p:nvSpPr>
          <p:cNvPr id="6" name="TextBox 5"/>
          <p:cNvSpPr txBox="1"/>
          <p:nvPr/>
        </p:nvSpPr>
        <p:spPr>
          <a:xfrm>
            <a:off x="1280160" y="2788920"/>
            <a:ext cx="9601200" cy="1371600"/>
          </a:xfrm>
          <a:prstGeom prst="rect">
            <a:avLst/>
          </a:prstGeom>
          <a:noFill/>
        </p:spPr>
        <p:txBody>
          <a:bodyPr wrap="square">
            <a:spAutoFit/>
          </a:bodyPr>
          <a:lstStyle/>
          <a:p>
            <a:r>
              <a:rPr sz="3800" b="1">
                <a:solidFill>
                  <a:srgbClr val="AC4D33"/>
                </a:solidFill>
                <a:latin typeface="Cambria"/>
              </a:rPr>
              <a:t>Drafting commercial documents</a:t>
            </a:r>
          </a:p>
        </p:txBody>
      </p:sp>
      <p:sp>
        <p:nvSpPr>
          <p:cNvPr id="7" name="TextBox 6"/>
          <p:cNvSpPr txBox="1"/>
          <p:nvPr/>
        </p:nvSpPr>
        <p:spPr>
          <a:xfrm>
            <a:off x="1280160" y="4224528"/>
            <a:ext cx="9418320" cy="640080"/>
          </a:xfrm>
          <a:prstGeom prst="rect">
            <a:avLst/>
          </a:prstGeom>
          <a:noFill/>
        </p:spPr>
        <p:txBody>
          <a:bodyPr wrap="square">
            <a:spAutoFit/>
          </a:bodyPr>
          <a:lstStyle/>
          <a:p>
            <a:r>
              <a:rPr sz="1450" i="1">
                <a:solidFill>
                  <a:srgbClr val="8A7A76"/>
                </a:solidFill>
                <a:latin typeface="Calibri"/>
              </a:rPr>
              <a:t>Letters, quotations and contracts — the paperwork that carries a deal to the finish.</a:t>
            </a:r>
          </a:p>
        </p:txBody>
      </p:sp>
      <p:sp>
        <p:nvSpPr>
          <p:cNvPr id="8" name="TextBox 7"/>
          <p:cNvSpPr txBox="1"/>
          <p:nvPr/>
        </p:nvSpPr>
        <p:spPr>
          <a:xfrm>
            <a:off x="502920" y="6419088"/>
            <a:ext cx="7772400" cy="292608"/>
          </a:xfrm>
          <a:prstGeom prst="rect">
            <a:avLst/>
          </a:prstGeom>
          <a:noFill/>
        </p:spPr>
        <p:txBody>
          <a:bodyPr wrap="none">
            <a:spAutoFit/>
          </a:bodyPr>
          <a:lstStyle/>
          <a:p>
            <a:r>
              <a:rPr sz="900">
                <a:solidFill>
                  <a:srgbClr val="8A7A76"/>
                </a:solidFill>
                <a:latin typeface="Calibri"/>
              </a:rPr>
              <a:t>Je m'appelle Huong  •  Do Thuy Huong, Lecturer  •  EC1103</a:t>
            </a:r>
          </a:p>
        </p:txBody>
      </p:sp>
      <p:sp>
        <p:nvSpPr>
          <p:cNvPr id="9" name="TextBox 8"/>
          <p:cNvSpPr txBox="1"/>
          <p:nvPr/>
        </p:nvSpPr>
        <p:spPr>
          <a:xfrm>
            <a:off x="9326880" y="6419088"/>
            <a:ext cx="1920240" cy="292608"/>
          </a:xfrm>
          <a:prstGeom prst="rect">
            <a:avLst/>
          </a:prstGeom>
          <a:noFill/>
        </p:spPr>
        <p:txBody>
          <a:bodyPr wrap="none">
            <a:spAutoFit/>
          </a:bodyPr>
          <a:lstStyle/>
          <a:p>
            <a:pPr algn="r"/>
            <a:r>
              <a:rPr sz="900">
                <a:solidFill>
                  <a:srgbClr val="8A7A76"/>
                </a:solidFill>
                <a:latin typeface="Calibri"/>
              </a:rPr>
              <a:t>Chapter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5.4</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Commercial letters and quotations</a:t>
            </a:r>
            <a:endParaRPr lang="en-US" sz="2700" dirty="0"/>
          </a:p>
        </p:txBody>
      </p:sp>
      <p:sp>
        <p:nvSpPr>
          <p:cNvPr id="9" name="Shape 6"/>
          <p:cNvSpPr/>
          <p:nvPr/>
        </p:nvSpPr>
        <p:spPr>
          <a:xfrm>
            <a:off x="50292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0" name="Text 7"/>
          <p:cNvSpPr/>
          <p:nvPr/>
        </p:nvSpPr>
        <p:spPr>
          <a:xfrm>
            <a:off x="72237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Commercial letters</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Enquiry • offer • order • confirmation • complaint • thanks</a:t>
            </a:r>
            <a:endParaRPr lang="en-US" sz="1500" dirty="0"/>
          </a:p>
        </p:txBody>
      </p:sp>
      <p:sp>
        <p:nvSpPr>
          <p:cNvPr id="11" name="Shape 8"/>
          <p:cNvSpPr/>
          <p:nvPr/>
        </p:nvSpPr>
        <p:spPr>
          <a:xfrm>
            <a:off x="6195060" y="141732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2" name="Text 9"/>
          <p:cNvSpPr/>
          <p:nvPr/>
        </p:nvSpPr>
        <p:spPr>
          <a:xfrm>
            <a:off x="6414516" y="149047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The 5C rule</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Clear • Concise • Correct • Complete • Courteous.</a:t>
            </a:r>
            <a:endParaRPr lang="en-US" sz="1500" dirty="0"/>
          </a:p>
        </p:txBody>
      </p:sp>
      <p:sp>
        <p:nvSpPr>
          <p:cNvPr id="13" name="Shape 10"/>
          <p:cNvSpPr/>
          <p:nvPr/>
        </p:nvSpPr>
        <p:spPr>
          <a:xfrm>
            <a:off x="50292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4" name="Text 11"/>
          <p:cNvSpPr/>
          <p:nvPr/>
        </p:nvSpPr>
        <p:spPr>
          <a:xfrm>
            <a:off x="72237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Business email</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A subject line that matches • a full signature block • reply within 24 hours</a:t>
            </a:r>
            <a:endParaRPr lang="en-US" sz="1500" dirty="0"/>
          </a:p>
        </p:txBody>
      </p:sp>
      <p:sp>
        <p:nvSpPr>
          <p:cNvPr id="15" name="Shape 12"/>
          <p:cNvSpPr/>
          <p:nvPr/>
        </p:nvSpPr>
        <p:spPr>
          <a:xfrm>
            <a:off x="6195060" y="3909060"/>
            <a:ext cx="5509260" cy="2308860"/>
          </a:xfrm>
          <a:prstGeom prst="roundRect">
            <a:avLst>
              <a:gd name="adj" fmla="val 3564"/>
            </a:avLst>
          </a:prstGeom>
          <a:solidFill>
            <a:srgbClr val="FDF1EF"/>
          </a:solidFill>
          <a:ln w="15875">
            <a:solidFill>
              <a:srgbClr val="FBCEC9"/>
            </a:solidFill>
            <a:prstDash val="solid"/>
          </a:ln>
        </p:spPr>
        <p:txBody>
          <a:bodyPr/>
          <a:p/>
        </p:txBody>
      </p:sp>
      <p:sp>
        <p:nvSpPr>
          <p:cNvPr id="16" name="Text 13"/>
          <p:cNvSpPr/>
          <p:nvPr/>
        </p:nvSpPr>
        <p:spPr>
          <a:xfrm>
            <a:off x="6414516" y="3982212"/>
            <a:ext cx="5070348" cy="2162556"/>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Quotation</a:t>
            </a:r>
            <a:endParaRPr lang="en-US" sz="1500" dirty="0"/>
          </a:p>
          <a:p>
            <a:pPr indent="0" marL="0">
              <a:buNone/>
            </a:pPr>
            <a:r>
              <a:rPr lang="en-US" sz="1250" dirty="0">
                <a:solidFill>
                  <a:srgbClr val="3A2B28"/>
                </a:solidFill>
                <a:latin typeface="Calibri" pitchFamily="34" charset="0"/>
                <a:ea typeface="Calibri" pitchFamily="34" charset="-122"/>
                <a:cs typeface="Calibri" pitchFamily="34" charset="-120"/>
              </a:rPr>
              <a:t>The goods • quantity, unit price, tax • delivery, payment • validity period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5.4</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Contract — acceptance — closure</a:t>
            </a:r>
            <a:endParaRPr lang="en-US" sz="2700" dirty="0"/>
          </a:p>
        </p:txBody>
      </p:sp>
      <p:sp>
        <p:nvSpPr>
          <p:cNvPr id="9" name="Shape 6"/>
          <p:cNvSpPr/>
          <p:nvPr/>
        </p:nvSpPr>
        <p:spPr>
          <a:xfrm>
            <a:off x="502920" y="1417320"/>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0" name="Text 7"/>
          <p:cNvSpPr/>
          <p:nvPr/>
        </p:nvSpPr>
        <p:spPr>
          <a:xfrm>
            <a:off x="722376" y="1472184"/>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Commercial contract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Subject matter • price and payment • rights and obligations • penalties • disputes</a:t>
            </a:r>
            <a:endParaRPr lang="en-US" sz="1500" dirty="0"/>
          </a:p>
        </p:txBody>
      </p:sp>
      <p:sp>
        <p:nvSpPr>
          <p:cNvPr id="11" name="Shape 8"/>
          <p:cNvSpPr/>
          <p:nvPr/>
        </p:nvSpPr>
        <p:spPr>
          <a:xfrm>
            <a:off x="502920" y="3072384"/>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2" name="Text 9"/>
          <p:cNvSpPr/>
          <p:nvPr/>
        </p:nvSpPr>
        <p:spPr>
          <a:xfrm>
            <a:off x="722376" y="3127248"/>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Acceptance record</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Confirms quantity and quality — the basis for payment</a:t>
            </a:r>
            <a:endParaRPr lang="en-US" sz="1500" dirty="0"/>
          </a:p>
        </p:txBody>
      </p:sp>
      <p:sp>
        <p:nvSpPr>
          <p:cNvPr id="13" name="Shape 10"/>
          <p:cNvSpPr/>
          <p:nvPr/>
        </p:nvSpPr>
        <p:spPr>
          <a:xfrm>
            <a:off x="502920" y="4727448"/>
            <a:ext cx="11201400" cy="1490472"/>
          </a:xfrm>
          <a:prstGeom prst="roundRect">
            <a:avLst>
              <a:gd name="adj" fmla="val 5521"/>
            </a:avLst>
          </a:prstGeom>
          <a:solidFill>
            <a:srgbClr val="FDF1EF"/>
          </a:solidFill>
          <a:ln w="15875">
            <a:solidFill>
              <a:srgbClr val="FBCEC9"/>
            </a:solidFill>
            <a:prstDash val="solid"/>
          </a:ln>
        </p:spPr>
        <p:txBody>
          <a:bodyPr/>
          <a:p/>
        </p:txBody>
      </p:sp>
      <p:sp>
        <p:nvSpPr>
          <p:cNvPr id="14" name="Text 11"/>
          <p:cNvSpPr/>
          <p:nvPr/>
        </p:nvSpPr>
        <p:spPr>
          <a:xfrm>
            <a:off x="722376" y="4782312"/>
            <a:ext cx="10762488" cy="138074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Contract closure record</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Obligations discharged, the contract ended, the remainder settled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GROUP WORK</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From negotiation to contract</a:t>
            </a:r>
            <a:endParaRPr lang="en-US" sz="2700" dirty="0"/>
          </a:p>
        </p:txBody>
      </p:sp>
      <p:sp>
        <p:nvSpPr>
          <p:cNvPr id="9" name="Shape 6"/>
          <p:cNvSpPr/>
          <p:nvPr/>
        </p:nvSpPr>
        <p:spPr>
          <a:xfrm>
            <a:off x="502920" y="1417320"/>
            <a:ext cx="11201400" cy="2103120"/>
          </a:xfrm>
          <a:prstGeom prst="roundRect">
            <a:avLst>
              <a:gd name="adj" fmla="val 4348"/>
            </a:avLst>
          </a:prstGeom>
          <a:solidFill>
            <a:srgbClr val="FBEDE0"/>
          </a:solidFill>
          <a:ln w="15875">
            <a:solidFill>
              <a:srgbClr val="C9A227"/>
            </a:solidFill>
            <a:prstDash val="solid"/>
          </a:ln>
        </p:spPr>
        <p:txBody>
          <a:bodyPr/>
          <a:p/>
        </p:txBody>
      </p:sp>
      <p:sp>
        <p:nvSpPr>
          <p:cNvPr id="10" name="Text 7"/>
          <p:cNvSpPr/>
          <p:nvPr/>
        </p:nvSpPr>
        <p:spPr>
          <a:xfrm>
            <a:off x="749808" y="1508760"/>
            <a:ext cx="10698480" cy="1920240"/>
          </a:xfrm>
          <a:prstGeom prst="rect">
            <a:avLst/>
          </a:prstGeom>
          <a:noFill/>
          <a:ln/>
        </p:spPr>
        <p:txBody>
          <a:bodyPr wrap="square" lIns="0" tIns="0" rIns="0" bIns="0" rtlCol="0" anchor="ctr"/>
          <a:lstStyle/>
          <a:p>
            <a:pPr indent="0" marL="0">
              <a:buNone/>
            </a:pPr>
            <a:r>
              <a:rPr lang="en-US" sz="1500" b="1" dirty="0">
                <a:solidFill>
                  <a:srgbClr val="8A6510"/>
                </a:solidFill>
                <a:latin typeface="Calibri" pitchFamily="34" charset="0"/>
                <a:ea typeface="Calibri" pitchFamily="34" charset="-122"/>
                <a:cs typeface="Calibri" pitchFamily="34" charset="-120"/>
              </a:rPr>
              <a:t>THE CASE (groups of 4–5, 20 minutes)</a:t>
            </a:r>
            <a:endParaRPr lang="en-US" sz="1500" dirty="0"/>
          </a:p>
          <a:p>
            <a:pPr indent="0" marL="0">
              <a:buNone/>
            </a:pPr>
            <a:r>
              <a:rPr lang="en-US" sz="1350" i="1" dirty="0">
                <a:solidFill>
                  <a:srgbClr val="3A2B28"/>
                </a:solidFill>
                <a:latin typeface="Calibri" pitchFamily="34" charset="0"/>
                <a:ea typeface="Calibri" pitchFamily="34" charset="-122"/>
                <a:cs typeface="Calibri" pitchFamily="34" charset="-120"/>
              </a:rPr>
              <a:t>Continuing the purchase of 20 computers negotiated in Chapter 4: the Administration Office of Company X must complete the whole paper trail, from the purchase request to final payment.</a:t>
            </a:r>
            <a:endParaRPr lang="en-US" sz="1500" dirty="0"/>
          </a:p>
        </p:txBody>
      </p:sp>
      <p:sp>
        <p:nvSpPr>
          <p:cNvPr id="11" name="Text 8"/>
          <p:cNvSpPr/>
          <p:nvPr/>
        </p:nvSpPr>
        <p:spPr>
          <a:xfrm>
            <a:off x="502920" y="3749040"/>
            <a:ext cx="11201400" cy="320040"/>
          </a:xfrm>
          <a:prstGeom prst="rect">
            <a:avLst/>
          </a:prstGeom>
          <a:noFill/>
          <a:ln/>
        </p:spPr>
        <p:txBody>
          <a:bodyPr wrap="square" lIns="0" tIns="0" rIns="0" bIns="0" rtlCol="0" anchor="ctr"/>
          <a:lstStyle/>
          <a:p>
            <a:pPr indent="0" marL="0">
              <a:buNone/>
            </a:pPr>
            <a:r>
              <a:rPr lang="en-US" sz="1300" b="1" spc="100" kern="0" dirty="0">
                <a:solidFill>
                  <a:srgbClr val="AC4D33"/>
                </a:solidFill>
                <a:latin typeface="Calibri" pitchFamily="34" charset="0"/>
                <a:ea typeface="Calibri" pitchFamily="34" charset="-122"/>
                <a:cs typeface="Calibri" pitchFamily="34" charset="-120"/>
              </a:rPr>
              <a:t>THE GROUP'S TASK</a:t>
            </a:r>
            <a:endParaRPr lang="en-US" sz="1300" dirty="0"/>
          </a:p>
        </p:txBody>
      </p:sp>
      <p:sp>
        <p:nvSpPr>
          <p:cNvPr id="12" name="Shape 9"/>
          <p:cNvSpPr/>
          <p:nvPr/>
        </p:nvSpPr>
        <p:spPr>
          <a:xfrm>
            <a:off x="502920" y="4178808"/>
            <a:ext cx="384048" cy="384048"/>
          </a:xfrm>
          <a:prstGeom prst="ellipse">
            <a:avLst/>
          </a:prstGeom>
          <a:solidFill>
            <a:srgbClr val="DC756A"/>
          </a:solidFill>
          <a:ln/>
        </p:spPr>
        <p:txBody>
          <a:bodyPr/>
          <a:p/>
        </p:txBody>
      </p:sp>
      <p:sp>
        <p:nvSpPr>
          <p:cNvPr id="13" name="Text 10"/>
          <p:cNvSpPr/>
          <p:nvPr/>
        </p:nvSpPr>
        <p:spPr>
          <a:xfrm>
            <a:off x="50292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p:nvPr/>
        </p:nvSpPr>
        <p:spPr>
          <a:xfrm>
            <a:off x="1051560" y="41056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List the full chain of documents in chronological order and say who signs each one.</a:t>
            </a:r>
            <a:endParaRPr lang="en-US" sz="1400" dirty="0"/>
          </a:p>
        </p:txBody>
      </p:sp>
      <p:sp>
        <p:nvSpPr>
          <p:cNvPr id="15" name="Shape 12"/>
          <p:cNvSpPr/>
          <p:nvPr/>
        </p:nvSpPr>
        <p:spPr>
          <a:xfrm>
            <a:off x="502920" y="4864608"/>
            <a:ext cx="384048" cy="384048"/>
          </a:xfrm>
          <a:prstGeom prst="ellipse">
            <a:avLst/>
          </a:prstGeom>
          <a:solidFill>
            <a:srgbClr val="DC756A"/>
          </a:solidFill>
          <a:ln/>
        </p:spPr>
        <p:txBody>
          <a:bodyPr/>
          <a:p/>
        </p:txBody>
      </p:sp>
      <p:sp>
        <p:nvSpPr>
          <p:cNvPr id="16" name="Text 13"/>
          <p:cNvSpPr/>
          <p:nvPr/>
        </p:nvSpPr>
        <p:spPr>
          <a:xfrm>
            <a:off x="50292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p:nvPr/>
        </p:nvSpPr>
        <p:spPr>
          <a:xfrm>
            <a:off x="1051560" y="47914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Pick one document from the chain and sketch its full nine-component layout on A4.</a:t>
            </a:r>
            <a:endParaRPr lang="en-US" sz="1400" dirty="0"/>
          </a:p>
        </p:txBody>
      </p:sp>
      <p:sp>
        <p:nvSpPr>
          <p:cNvPr id="18" name="Shape 15"/>
          <p:cNvSpPr/>
          <p:nvPr/>
        </p:nvSpPr>
        <p:spPr>
          <a:xfrm>
            <a:off x="502920" y="5550408"/>
            <a:ext cx="384048" cy="384048"/>
          </a:xfrm>
          <a:prstGeom prst="ellipse">
            <a:avLst/>
          </a:prstGeom>
          <a:solidFill>
            <a:srgbClr val="DC756A"/>
          </a:solidFill>
          <a:ln/>
        </p:spPr>
        <p:txBody>
          <a:bodyPr/>
          <a:p/>
        </p:txBody>
      </p:sp>
      <p:sp>
        <p:nvSpPr>
          <p:cNvPr id="19" name="Text 16"/>
          <p:cNvSpPr/>
          <p:nvPr/>
        </p:nvSpPr>
        <p:spPr>
          <a:xfrm>
            <a:off x="502920" y="5550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051560" y="5477256"/>
            <a:ext cx="10652760" cy="68580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Name the three formatting mistakes your group expects students to make most often on it.</a:t>
            </a:r>
            <a:endParaRPr lang="en-US" sz="1400" dirty="0"/>
          </a:p>
        </p:txBody>
      </p:sp>
      <p:pic>
        <p:nvPicPr>
          <p:cNvPr id="21" name="Picture 20" descr="co-huong-tron.png"/>
          <p:cNvPicPr>
            <a:picLocks noChangeAspect="1"/>
          </p:cNvPicPr>
          <p:nvPr/>
        </p:nvPicPr>
        <p:blipFill>
          <a:blip r:embed="rId4"/>
          <a:stretch>
            <a:fillRect/>
          </a:stretch>
        </p:blipFill>
        <p:spPr>
          <a:xfrm>
            <a:off x="10378440" y="384048"/>
            <a:ext cx="960120" cy="9601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SUMMARY</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Things to remember</a:t>
            </a:r>
            <a:endParaRPr lang="en-US" sz="2700" dirty="0"/>
          </a:p>
        </p:txBody>
      </p:sp>
      <p:sp>
        <p:nvSpPr>
          <p:cNvPr id="9" name="Shape 6"/>
          <p:cNvSpPr/>
          <p:nvPr/>
        </p:nvSpPr>
        <p:spPr>
          <a:xfrm>
            <a:off x="502920" y="1463040"/>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Correct form is a document's passport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However good the content, wrong form gets it sent back — learn the nine components and the layout numbers.</a:t>
            </a:r>
            <a:endParaRPr lang="en-US" sz="1500" dirty="0"/>
          </a:p>
        </p:txBody>
      </p:sp>
      <p:sp>
        <p:nvSpPr>
          <p:cNvPr id="11" name="Shape 8"/>
          <p:cNvSpPr/>
          <p:nvPr/>
        </p:nvSpPr>
        <p:spPr>
          <a:xfrm>
            <a:off x="502920" y="3102864"/>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2" name="Text 9"/>
          <p:cNvSpPr/>
          <p:nvPr/>
        </p:nvSpPr>
        <p:spPr>
          <a:xfrm>
            <a:off x="722376" y="3157728"/>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Each type has its own layout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A decision runs in Articles; a submission has three parts; an official letter has no type heading; minutes are written on the spot; a report follows four parts.</a:t>
            </a:r>
            <a:endParaRPr lang="en-US" sz="1500" dirty="0"/>
          </a:p>
        </p:txBody>
      </p:sp>
      <p:sp>
        <p:nvSpPr>
          <p:cNvPr id="13" name="Shape 10"/>
          <p:cNvSpPr/>
          <p:nvPr/>
        </p:nvSpPr>
        <p:spPr>
          <a:xfrm>
            <a:off x="502920" y="4742688"/>
            <a:ext cx="11201400" cy="1475232"/>
          </a:xfrm>
          <a:prstGeom prst="roundRect">
            <a:avLst>
              <a:gd name="adj" fmla="val 5579"/>
            </a:avLst>
          </a:prstGeom>
          <a:solidFill>
            <a:srgbClr val="FDF1EF"/>
          </a:solidFill>
          <a:ln w="15875">
            <a:solidFill>
              <a:srgbClr val="FBCEC9"/>
            </a:solidFill>
            <a:prstDash val="solid"/>
          </a:ln>
        </p:spPr>
        <p:txBody>
          <a:bodyPr/>
          <a:p/>
        </p:txBody>
      </p:sp>
      <p:sp>
        <p:nvSpPr>
          <p:cNvPr id="14" name="Text 11"/>
          <p:cNvSpPr/>
          <p:nvPr/>
        </p:nvSpPr>
        <p:spPr>
          <a:xfrm>
            <a:off x="722376" y="4797552"/>
            <a:ext cx="10762488" cy="13655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Commercial documents carry the firm's standing</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Letters that meet the 5C, a quotation with a clear validity, a contract with all its clauses — contract, acceptance and closure together seal the deal.</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REVIEW &amp; PREPARATION</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Review questions</a:t>
            </a:r>
            <a:endParaRPr lang="en-US" sz="2700" dirty="0"/>
          </a:p>
        </p:txBody>
      </p:sp>
      <p:sp>
        <p:nvSpPr>
          <p:cNvPr id="9" name="Shape 6"/>
          <p:cNvSpPr/>
          <p:nvPr/>
        </p:nvSpPr>
        <p:spPr>
          <a:xfrm>
            <a:off x="502920" y="1572768"/>
            <a:ext cx="384048" cy="384048"/>
          </a:xfrm>
          <a:prstGeom prst="ellipse">
            <a:avLst/>
          </a:prstGeom>
          <a:solidFill>
            <a:srgbClr val="DC756A"/>
          </a:solidFill>
          <a:ln/>
        </p:spPr>
        <p:txBody>
          <a:bodyPr/>
          <a:p/>
        </p:txBody>
      </p:sp>
      <p:sp>
        <p:nvSpPr>
          <p:cNvPr id="10" name="Text 7"/>
          <p:cNvSpPr/>
          <p:nvPr/>
        </p:nvSpPr>
        <p:spPr>
          <a:xfrm>
            <a:off x="50292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051560" y="149961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Explain what a document is and the groups of documents an organisation uses.</a:t>
            </a:r>
            <a:endParaRPr lang="en-US" sz="1400" dirty="0"/>
          </a:p>
        </p:txBody>
      </p:sp>
      <p:sp>
        <p:nvSpPr>
          <p:cNvPr id="12" name="Shape 9"/>
          <p:cNvSpPr/>
          <p:nvPr/>
        </p:nvSpPr>
        <p:spPr>
          <a:xfrm>
            <a:off x="502920" y="2395728"/>
            <a:ext cx="384048" cy="384048"/>
          </a:xfrm>
          <a:prstGeom prst="ellipse">
            <a:avLst/>
          </a:prstGeom>
          <a:solidFill>
            <a:srgbClr val="DC756A"/>
          </a:solidFill>
          <a:ln/>
        </p:spPr>
        <p:txBody>
          <a:bodyPr/>
          <a:p/>
        </p:txBody>
      </p:sp>
      <p:sp>
        <p:nvSpPr>
          <p:cNvPr id="13" name="Text 10"/>
          <p:cNvSpPr/>
          <p:nvPr/>
        </p:nvSpPr>
        <p:spPr>
          <a:xfrm>
            <a:off x="50292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051560" y="232257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State the nine formal components of an administrative document and the rules on margins and typeface.</a:t>
            </a:r>
            <a:endParaRPr lang="en-US" sz="1400" dirty="0"/>
          </a:p>
        </p:txBody>
      </p:sp>
      <p:sp>
        <p:nvSpPr>
          <p:cNvPr id="15" name="Shape 12"/>
          <p:cNvSpPr/>
          <p:nvPr/>
        </p:nvSpPr>
        <p:spPr>
          <a:xfrm>
            <a:off x="502920" y="3218688"/>
            <a:ext cx="384048" cy="384048"/>
          </a:xfrm>
          <a:prstGeom prst="ellipse">
            <a:avLst/>
          </a:prstGeom>
          <a:solidFill>
            <a:srgbClr val="DC756A"/>
          </a:solidFill>
          <a:ln/>
        </p:spPr>
        <p:txBody>
          <a:bodyPr/>
          <a:p/>
        </p:txBody>
      </p:sp>
      <p:sp>
        <p:nvSpPr>
          <p:cNvPr id="16" name="Text 13"/>
          <p:cNvSpPr/>
          <p:nvPr/>
        </p:nvSpPr>
        <p:spPr>
          <a:xfrm>
            <a:off x="502920" y="32186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051560" y="314553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Compare the layouts of a decision, a submission and an official letter.</a:t>
            </a:r>
            <a:endParaRPr lang="en-US" sz="1400" dirty="0"/>
          </a:p>
        </p:txBody>
      </p:sp>
      <p:sp>
        <p:nvSpPr>
          <p:cNvPr id="18" name="Shape 15"/>
          <p:cNvSpPr/>
          <p:nvPr/>
        </p:nvSpPr>
        <p:spPr>
          <a:xfrm>
            <a:off x="502920" y="4041648"/>
            <a:ext cx="384048" cy="384048"/>
          </a:xfrm>
          <a:prstGeom prst="ellipse">
            <a:avLst/>
          </a:prstGeom>
          <a:solidFill>
            <a:srgbClr val="DC756A"/>
          </a:solidFill>
          <a:ln/>
        </p:spPr>
        <p:txBody>
          <a:bodyPr/>
          <a:p/>
        </p:txBody>
      </p:sp>
      <p:sp>
        <p:nvSpPr>
          <p:cNvPr id="19" name="Text 16"/>
          <p:cNvSpPr/>
          <p:nvPr/>
        </p:nvSpPr>
        <p:spPr>
          <a:xfrm>
            <a:off x="502920" y="4041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051560" y="3968496"/>
            <a:ext cx="10652760" cy="822960"/>
          </a:xfrm>
          <a:prstGeom prst="rect">
            <a:avLst/>
          </a:prstGeom>
          <a:noFill/>
          <a:ln/>
        </p:spPr>
        <p:txBody>
          <a:bodyPr wrap="square" lIns="0" tIns="0" rIns="0" bIns="0" rtlCol="0" anchor="t"/>
          <a:lstStyle/>
          <a:p>
            <a:pPr indent="0" marL="0">
              <a:buNone/>
            </a:pPr>
            <a:r>
              <a:rPr lang="en-US" sz="1400" dirty="0">
                <a:solidFill>
                  <a:srgbClr val="3A2B28"/>
                </a:solidFill>
                <a:latin typeface="Calibri" pitchFamily="34" charset="0"/>
                <a:ea typeface="Calibri" pitchFamily="34" charset="-122"/>
                <a:cs typeface="Calibri" pitchFamily="34" charset="-120"/>
              </a:rPr>
              <a:t>State the 5C rule and the basic clauses of a commercial contract.</a:t>
            </a:r>
            <a:endParaRPr lang="en-US" sz="1400" dirty="0"/>
          </a:p>
        </p:txBody>
      </p:sp>
      <p:sp>
        <p:nvSpPr>
          <p:cNvPr id="21" name="Shape 18"/>
          <p:cNvSpPr/>
          <p:nvPr/>
        </p:nvSpPr>
        <p:spPr>
          <a:xfrm>
            <a:off x="502920" y="5074920"/>
            <a:ext cx="11201400" cy="1097280"/>
          </a:xfrm>
          <a:prstGeom prst="roundRect">
            <a:avLst>
              <a:gd name="adj" fmla="val 7500"/>
            </a:avLst>
          </a:prstGeom>
          <a:solidFill>
            <a:srgbClr val="FBEDE0"/>
          </a:solidFill>
          <a:ln w="12700">
            <a:solidFill>
              <a:srgbClr val="C9A227"/>
            </a:solidFill>
            <a:prstDash val="solid"/>
          </a:ln>
        </p:spPr>
        <p:txBody>
          <a:bodyPr/>
          <a:p/>
        </p:txBody>
      </p:sp>
      <p:sp>
        <p:nvSpPr>
          <p:cNvPr id="22" name="Text 19"/>
          <p:cNvSpPr/>
          <p:nvPr/>
        </p:nvSpPr>
        <p:spPr>
          <a:xfrm>
            <a:off x="777240" y="5120640"/>
            <a:ext cx="10698480" cy="1005840"/>
          </a:xfrm>
          <a:prstGeom prst="rect">
            <a:avLst/>
          </a:prstGeom>
          <a:noFill/>
          <a:ln/>
        </p:spPr>
        <p:txBody>
          <a:bodyPr wrap="square" lIns="0" tIns="0" rIns="0" bIns="0" rtlCol="0" anchor="ctr"/>
          <a:lstStyle/>
          <a:p>
            <a:pPr indent="0" marL="0">
              <a:buNone/>
            </a:pPr>
            <a:r>
              <a:rPr lang="en-US" sz="1300" b="1" dirty="0">
                <a:solidFill>
                  <a:srgbClr val="8A6510"/>
                </a:solidFill>
                <a:latin typeface="Calibri" pitchFamily="34" charset="0"/>
                <a:ea typeface="Calibri" pitchFamily="34" charset="-122"/>
                <a:cs typeface="Calibri" pitchFamily="34" charset="-120"/>
              </a:rPr>
              <a:t>PREPARING FOR THE NEXT SESSION:  </a:t>
            </a:r>
            <a:pPr indent="0" marL="0">
              <a:buNone/>
            </a:pPr>
            <a:r>
              <a:rPr lang="en-US" sz="1300" dirty="0">
                <a:solidFill>
                  <a:srgbClr val="3A2B28"/>
                </a:solidFill>
                <a:latin typeface="Calibri" pitchFamily="34" charset="0"/>
                <a:ea typeface="Calibri" pitchFamily="34" charset="-122"/>
                <a:cs typeface="Calibri" pitchFamily="34" charset="-120"/>
              </a:rPr>
              <a:t>Lab in room A0105 — Session 1: document format. Bring a laptop with Microsoft Word installed and Decree 30/2020/ND-CP downloaded.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DFBF8"/>
        </a:solidFill>
      </p:bgPr>
    </p:bg>
    <p:spTree>
      <p:nvGrpSpPr>
        <p:cNvPr id="1" name=""/>
        <p:cNvGrpSpPr/>
        <p:nvPr/>
      </p:nvGrpSpPr>
      <p:grpSpPr>
        <a:xfrm>
          <a:off x="0" y="0"/>
          <a:ext cx="0" cy="0"/>
          <a:chOff x="0" y="0"/>
          <a:chExt cx="0" cy="0"/>
        </a:xfrm>
      </p:grpSpPr>
      <p:pic>
        <p:nvPicPr>
          <p:cNvPr id="2" name="Image 0" descr="/home/user/comdraft/assets/img/dau-huong.png">    </p:cNvPr>
          <p:cNvPicPr>
            <a:picLocks noChangeAspect="1"/>
          </p:cNvPicPr>
          <p:nvPr/>
        </p:nvPicPr>
        <p:blipFill>
          <a:blip r:embed="rId1"/>
          <a:stretch>
            <a:fillRect/>
          </a:stretch>
        </p:blipFill>
        <p:spPr>
          <a:xfrm>
            <a:off x="411480" y="6327648"/>
            <a:ext cx="384048" cy="384048"/>
          </a:xfrm>
          <a:prstGeom prst="rect">
            <a:avLst/>
          </a:prstGeom>
        </p:spPr>
      </p:pic>
      <p:sp>
        <p:nvSpPr>
          <p:cNvPr id="3" name="Text 0"/>
          <p:cNvSpPr/>
          <p:nvPr/>
        </p:nvSpPr>
        <p:spPr>
          <a:xfrm>
            <a:off x="868680" y="6355080"/>
            <a:ext cx="7498080" cy="310896"/>
          </a:xfrm>
          <a:prstGeom prst="rect">
            <a:avLst/>
          </a:prstGeom>
          <a:noFill/>
          <a:ln/>
        </p:spPr>
        <p:txBody>
          <a:bodyPr wrap="square" lIns="0" tIns="0" rIns="0" bIns="0" rtlCol="0" anchor="ctr"/>
          <a:lstStyle/>
          <a:p>
            <a:pPr indent="0" marL="0">
              <a:buNone/>
            </a:pPr>
            <a:r>
              <a:rPr lang="en-US" sz="900" dirty="0">
                <a:solidFill>
                  <a:srgbClr val="8A7A76"/>
                </a:solidFill>
                <a:latin typeface="Calibri" pitchFamily="34" charset="0"/>
                <a:ea typeface="Calibri" pitchFamily="34" charset="-122"/>
                <a:cs typeface="Calibri" pitchFamily="34" charset="-120"/>
              </a:rPr>
              <a:t>Je m'appelle Huong  •  Do Thuy Huong, Lecturer  •  EC1103</a:t>
            </a:r>
            <a:endParaRPr lang="en-US" sz="900" dirty="0"/>
          </a:p>
        </p:txBody>
      </p:sp>
      <p:sp>
        <p:nvSpPr>
          <p:cNvPr id="4" name="Text 1"/>
          <p:cNvSpPr/>
          <p:nvPr/>
        </p:nvSpPr>
        <p:spPr>
          <a:xfrm>
            <a:off x="8503920" y="6355080"/>
            <a:ext cx="2743200" cy="310896"/>
          </a:xfrm>
          <a:prstGeom prst="rect">
            <a:avLst/>
          </a:prstGeom>
          <a:noFill/>
          <a:ln/>
        </p:spPr>
        <p:txBody>
          <a:bodyPr wrap="square" lIns="0" tIns="0" rIns="0" bIns="0" rtlCol="0" anchor="ctr"/>
          <a:lstStyle/>
          <a:p>
            <a:pPr algn="r" indent="0" marL="0">
              <a:buNone/>
            </a:pPr>
            <a:r>
              <a:rPr lang="en-US" sz="900" dirty="0">
                <a:solidFill>
                  <a:srgbClr val="8A7A76"/>
                </a:solidFill>
                <a:latin typeface="Calibri" pitchFamily="34" charset="0"/>
                <a:ea typeface="Calibri" pitchFamily="34" charset="-122"/>
                <a:cs typeface="Calibri" pitchFamily="34" charset="-120"/>
              </a:rPr>
              <a:t>Chapter 5</a:t>
            </a:r>
            <a:endParaRPr lang="en-US" sz="900" dirty="0"/>
          </a:p>
        </p:txBody>
      </p:sp>
      <p:sp>
        <p:nvSpPr>
          <p:cNvPr id="5" name="Shape 2"/>
          <p:cNvSpPr/>
          <p:nvPr/>
        </p:nvSpPr>
        <p:spPr>
          <a:xfrm>
            <a:off x="11430000" y="6327648"/>
            <a:ext cx="365760" cy="365760"/>
          </a:xfrm>
          <a:prstGeom prst="ellipse">
            <a:avLst/>
          </a:prstGeom>
          <a:solidFill>
            <a:srgbClr val="DC756A"/>
          </a:solidFill>
          <a:ln/>
        </p:spPr>
        <p:txBody>
          <a:bodyPr/>
          <a:p/>
        </p:txBody>
      </p:sp>
      <p:sp>
        <p:nvSpPr>
          <p:cNvPr id="6" name="Text 3"/>
          <p:cNvSpPr/>
          <p:nvPr/>
        </p:nvSpPr>
        <p:spPr>
          <a:xfrm>
            <a:off x="11430000" y="632764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7" name="Text 4"/>
          <p:cNvSpPr/>
          <p:nvPr/>
        </p:nvSpPr>
        <p:spPr>
          <a:xfrm>
            <a:off x="502920" y="310896"/>
            <a:ext cx="11155680" cy="274320"/>
          </a:xfrm>
          <a:prstGeom prst="rect">
            <a:avLst/>
          </a:prstGeom>
          <a:noFill/>
          <a:ln/>
        </p:spPr>
        <p:txBody>
          <a:bodyPr wrap="square" lIns="0" tIns="0" rIns="0" bIns="0" rtlCol="0" anchor="ctr"/>
          <a:lstStyle/>
          <a:p>
            <a:pPr indent="0" marL="0">
              <a:buNone/>
            </a:pPr>
            <a:r>
              <a:rPr lang="en-US" sz="1100" b="1" spc="300" kern="0" dirty="0">
                <a:solidFill>
                  <a:srgbClr val="DC756A"/>
                </a:solidFill>
                <a:latin typeface="Calibri" pitchFamily="34" charset="0"/>
                <a:ea typeface="Calibri" pitchFamily="34" charset="-122"/>
                <a:cs typeface="Calibri" pitchFamily="34" charset="-120"/>
              </a:rPr>
              <a:t>READING</a:t>
            </a:r>
            <a:endParaRPr lang="en-US" sz="1100" dirty="0"/>
          </a:p>
        </p:txBody>
      </p:sp>
      <p:sp>
        <p:nvSpPr>
          <p:cNvPr id="8" name="Text 5"/>
          <p:cNvSpPr/>
          <p:nvPr/>
        </p:nvSpPr>
        <p:spPr>
          <a:xfrm>
            <a:off x="502920" y="576072"/>
            <a:ext cx="11155680" cy="713232"/>
          </a:xfrm>
          <a:prstGeom prst="rect">
            <a:avLst/>
          </a:prstGeom>
          <a:noFill/>
          <a:ln/>
        </p:spPr>
        <p:txBody>
          <a:bodyPr wrap="square" lIns="0" tIns="0" rIns="0" bIns="0" rtlCol="0" anchor="ctr"/>
          <a:lstStyle/>
          <a:p>
            <a:pPr indent="0" marL="0">
              <a:buNone/>
            </a:pPr>
            <a:r>
              <a:rPr lang="en-US" sz="2700" b="1" dirty="0">
                <a:solidFill>
                  <a:srgbClr val="AC4D33"/>
                </a:solidFill>
                <a:latin typeface="Cambria" pitchFamily="34" charset="0"/>
                <a:ea typeface="Cambria" pitchFamily="34" charset="-122"/>
                <a:cs typeface="Cambria" pitchFamily="34" charset="-120"/>
              </a:rPr>
              <a:t>Course materials</a:t>
            </a:r>
            <a:endParaRPr lang="en-US" sz="2700" dirty="0"/>
          </a:p>
        </p:txBody>
      </p:sp>
      <p:sp>
        <p:nvSpPr>
          <p:cNvPr id="9" name="Shape 6"/>
          <p:cNvSpPr/>
          <p:nvPr/>
        </p:nvSpPr>
        <p:spPr>
          <a:xfrm>
            <a:off x="502920" y="1463040"/>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0" name="Text 7"/>
          <p:cNvSpPr/>
          <p:nvPr/>
        </p:nvSpPr>
        <p:spPr>
          <a:xfrm>
            <a:off x="722376" y="1517904"/>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Main textbook</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Ha Nam Khanh Giao (2023), Business Communication, Finance Publishing House.</a:t>
            </a:r>
            <a:endParaRPr lang="en-US" sz="1500" dirty="0"/>
          </a:p>
        </p:txBody>
      </p:sp>
      <p:sp>
        <p:nvSpPr>
          <p:cNvPr id="11" name="Shape 8"/>
          <p:cNvSpPr/>
          <p:nvPr/>
        </p:nvSpPr>
        <p:spPr>
          <a:xfrm>
            <a:off x="502920" y="2950464"/>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2" name="Text 9"/>
          <p:cNvSpPr/>
          <p:nvPr/>
        </p:nvSpPr>
        <p:spPr>
          <a:xfrm>
            <a:off x="722376" y="3005328"/>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Required legal text</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Decree 30/2020/ND-CP of 5 March 2020 on records management — the rules on format and layout of administrative documents.</a:t>
            </a:r>
            <a:endParaRPr lang="en-US" sz="1500" dirty="0"/>
          </a:p>
        </p:txBody>
      </p:sp>
      <p:sp>
        <p:nvSpPr>
          <p:cNvPr id="13" name="Shape 10"/>
          <p:cNvSpPr/>
          <p:nvPr/>
        </p:nvSpPr>
        <p:spPr>
          <a:xfrm>
            <a:off x="502920" y="4437888"/>
            <a:ext cx="11201400" cy="1322832"/>
          </a:xfrm>
          <a:prstGeom prst="roundRect">
            <a:avLst>
              <a:gd name="adj" fmla="val 6221"/>
            </a:avLst>
          </a:prstGeom>
          <a:solidFill>
            <a:srgbClr val="FDF1EF"/>
          </a:solidFill>
          <a:ln w="15875">
            <a:solidFill>
              <a:srgbClr val="FBCEC9"/>
            </a:solidFill>
            <a:prstDash val="solid"/>
          </a:ln>
        </p:spPr>
        <p:txBody>
          <a:bodyPr/>
          <a:p/>
        </p:txBody>
      </p:sp>
      <p:sp>
        <p:nvSpPr>
          <p:cNvPr id="14" name="Text 11"/>
          <p:cNvSpPr/>
          <p:nvPr/>
        </p:nvSpPr>
        <p:spPr>
          <a:xfrm>
            <a:off x="722376" y="4492752"/>
            <a:ext cx="10762488" cy="1213104"/>
          </a:xfrm>
          <a:prstGeom prst="rect">
            <a:avLst/>
          </a:prstGeom>
          <a:noFill/>
          <a:ln/>
        </p:spPr>
        <p:txBody>
          <a:bodyPr wrap="square" lIns="0" tIns="0" rIns="0" bIns="0" rtlCol="0" anchor="ctr"/>
          <a:lstStyle/>
          <a:p>
            <a:pPr indent="0" marL="0">
              <a:buNone/>
            </a:pPr>
            <a:r>
              <a:rPr lang="en-US" sz="1500" b="1" dirty="0">
                <a:solidFill>
                  <a:srgbClr val="AC4D33"/>
                </a:solidFill>
                <a:latin typeface="Calibri" pitchFamily="34" charset="0"/>
                <a:ea typeface="Calibri" pitchFamily="34" charset="-122"/>
                <a:cs typeface="Calibri" pitchFamily="34" charset="-120"/>
              </a:rPr>
              <a:t>Lecturer's own materials</a:t>
            </a:r>
            <a:endParaRPr lang="en-US" sz="1500" dirty="0"/>
          </a:p>
          <a:p>
            <a:pPr indent="0" marL="0">
              <a:buNone/>
            </a:pPr>
            <a:r>
              <a:rPr lang="en-US" sz="1300" dirty="0">
                <a:solidFill>
                  <a:srgbClr val="3A2B28"/>
                </a:solidFill>
                <a:latin typeface="Calibri" pitchFamily="34" charset="0"/>
                <a:ea typeface="Calibri" pitchFamily="34" charset="-122"/>
                <a:cs typeface="Calibri" pitchFamily="34" charset="-120"/>
              </a:rPr>
              <a:t>Slides, document templates, cases and exercises written by Do Thuy Huong; provided after each session.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Je m’appelle Huong — Lecturer and Researcher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Đỗ Thùy Hương</dc:creator>
  <cp:lastModifiedBy>Đỗ Thùy Hương</cp:lastModifiedBy>
  <cp:revision>1</cp:revision>
  <dcterms:created xsi:type="dcterms:W3CDTF">2026-08-23T05:42:54Z</dcterms:created>
  <dcterms:modified xsi:type="dcterms:W3CDTF">2026-08-23T05:42:54Z</dcterms:modified>
</cp:coreProperties>
</file>