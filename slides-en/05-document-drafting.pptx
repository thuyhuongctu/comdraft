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 Id="rId25" Type="http://schemas.openxmlformats.org/officeDocument/2006/relationships/slide" Target="slides/slide4.xml"/><Relationship Id="rId26" Type="http://schemas.openxmlformats.org/officeDocument/2006/relationships/slide" Target="slides/slide11.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a:p/>
          <a:p>
            <a:r>
              <a:t>NÓI ĐỦ Ý (phần đã rút khỏi slide)</a:t>
            </a:r>
          </a:p>
          <a:p>
            <a:r>
              <a:t>• Định nghĩa pháp lý đầy đủ, Nghị định 30/2020/NĐ-CP: “Văn bản là thông tin thành văn được truyền đạt bằng ngôn ngữ hoặc ký hiệu, hình thành trong hoạt động của các cơ quan, tổ chức và được trình bày đúng thể thức, kỹ thuật theo quy định.”</a:t>
            </a:r>
          </a:p>
          <a:p>
            <a:r>
              <a:t>• Cách hiểu chung: hình thành trong hoạt động của cơ quan, tổ chức, DOANH NGHIỆP — không chỉ cơ quan nhà nước.</a:t>
            </a:r>
          </a:p>
          <a:p>
            <a:r>
              <a:t>• Bốn vai trò: phương tiện quản lý – điều hành; căn cứ pháp lý; lưu trữ thông tin; thể hiện hình ảnh chuyên nghiệp của tổ chức.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a:p/>
          <a:p>
            <a:r>
              <a:t>NÓI ĐỦ Ý (phần đã rút khỏi slide)</a:t>
            </a:r>
          </a:p>
          <a:p>
            <a:r>
              <a:t>• Đúng mục đích: mỗi văn bản tập trung MỘT chủ đề; ban hành đúng chức năng, nhiệm vụ.</a:t>
            </a:r>
          </a:p>
          <a:p>
            <a:r>
              <a:t>• Chính xác: một con số sai có thể tạo hậu quả pháp lý lớn — nhấn mạnh chỗ này cho sinh viên.</a:t>
            </a:r>
          </a:p>
          <a:p>
            <a:r>
              <a:t>• Rõ ràng: người nhận đọc MỘT LẦN là hiểu đúng ý người soạn.</a:t>
            </a:r>
          </a:p>
          <a:p>
            <a:r>
              <a:t>• Ngôn ngữ hành chính: nghiêm túc, lịch sự, không khẩu ngữ.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a:p/>
          <a:p>
            <a:r>
              <a:t>NÓI ĐỦ Ý (phần đã rút khỏi slide)</a:t>
            </a:r>
          </a:p>
          <a:p>
            <a:r>
              <a:t>• Lề trái 30–35 mm rộng hơn vì phải chừa chỗ ĐÓNG GÁY.</a:t>
            </a:r>
          </a:p>
          <a:p>
            <a:r>
              <a:t>• Phông Times New Roman, bộ mã Unicode, cỡ 13–14, màu đen.</a:t>
            </a:r>
          </a:p>
          <a:p>
            <a:r>
              <a:t>• Số trang: đánh từ trang THỨ HAI, chữ số Ả Rập, canh giữa theo lề trên.</a:t>
            </a:r>
          </a:p>
          <a:p>
            <a:r>
              <a:t>• Ngôn ngữ: viết hoa và viết tắt phải đúng quy định; số liệu dùng chữ số Ả Rập.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a:p/>
          <a:p>
            <a:r>
              <a:t>NÓI ĐỦ Ý (phần đã rút khỏi slide)</a:t>
            </a:r>
          </a:p>
          <a:p>
            <a:r>
              <a:t>• Quyết định: phần căn cứ gồm căn cứ PHÁP LÝ và căn cứ THỰC TIỄN, mỗi căn cứ kết thúc bằng dấu chấm phẩy, căn cứ cuối kết thúc bằng dấu chấm. Điều cuối ghi hiệu lực và đối tượng thi hành.</a:t>
            </a:r>
          </a:p>
          <a:p>
            <a:r>
              <a:t>• Tờ trình: mở đầu nêu lý do và sự cần thiết; nội dung trình bày phương án, lợi ích, tính khả thi; kết thúc kiến nghị phê duyệt. Nhớ đính kèm hồ sơ, dự toán.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a:p/>
          <a:p>
            <a:r>
              <a:t>NÓI ĐỦ Ý (phần đã rút khỏi slide)</a:t>
            </a:r>
          </a:p>
          <a:p>
            <a:r>
              <a:t>• Công văn các loại: đề nghị, phúc đáp, đôn đốc, hướng dẫn, giải thích, mời họp. Kết thúc bằng “Trân trọng./.”</a:t>
            </a:r>
          </a:p>
          <a:p>
            <a:r>
              <a:t>• Biên bản: chữ ký các bên là yếu tố TẠO GIÁ TRỊ PHÁP LÝ — thiếu chữ ký thì biên bản chỉ là tờ giấy ghi chép.</a:t>
            </a:r>
          </a:p>
          <a:p>
            <a:r>
              <a:t>• Báo cáo có bốn dạng: định kỳ, đột xuất, chuyên đề, sơ kết – tổng kết.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a:p/>
          <a:p>
            <a:r>
              <a:t>NÓI ĐỦ Ý (phần đã rút khỏi slide)</a:t>
            </a:r>
          </a:p>
          <a:p>
            <a:r>
              <a:t>• Nguyên tắc 5C: Clear (rõ) • Concise (gọn) • Correct (đúng) • Complete (đủ) • Courteous (lịch sự).</a:t>
            </a:r>
          </a:p>
          <a:p>
            <a:r>
              <a:t>• Kết cấu thư: mở đầu – nội dung – kết thúc.</a:t>
            </a:r>
          </a:p>
          <a:p>
            <a:r>
              <a:t>• Báo giá phải có THỜI HẠN HIỆU LỰC — thiếu là tranh chấp khi giá thị trường biến động.</a:t>
            </a:r>
          </a:p>
          <a:p>
            <a:r>
              <a:t>• Email: phản hồi trong 24 giờ, kể cả khi chỉ để báo “đã nhận, đang xử lý”.</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a:p/>
          <a:p>
            <a:r>
              <a:t>NÓI ĐỦ Ý (phần đã rút khỏi slide)</a:t>
            </a:r>
          </a:p>
          <a:p>
            <a:r>
              <a:t>• Hợp đồng thương mại căn cứ Bộ luật Dân sự 2015 và Luật Thương mại 2005.</a:t>
            </a:r>
          </a:p>
          <a:p>
            <a:r>
              <a:t>• Bộ ba khép kín một thương vụ: hợp đồng → biên bản nghiệm thu → biên bản thanh lý.</a:t>
            </a:r>
          </a:p>
          <a:p>
            <a:r>
              <a:t>• Nghiệm thu xác nhận khối lượng và chất lượng, là căn cứ để thanh toán.</a:t>
            </a:r>
          </a:p>
          <a:p>
            <a:r>
              <a:t>• Thanh lý xác nhận hoàn thành nghĩa vụ và quyết toán phần còn lại.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CHAPTER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Drafting and laying out</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documents</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From speech to writing: turning every agreement into a properly formed document with legal force.</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Do Thuy Huong, Lecturer</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Communication and Document Drafting Skills (2:1)  •  Class 261b, Semester 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Do Thuy Huong, 2026 — Prepared for in-person teaching. Please credit the source.</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OBJECTIVES</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By the end of this session, students can</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Explain  —  </a:t>
            </a:r>
            <a:pPr indent="0" marL="0">
              <a:buNone/>
            </a:pPr>
            <a:r>
              <a:rPr lang="en-US" sz="1350" dirty="0">
                <a:solidFill>
                  <a:srgbClr val="3A2B28"/>
                </a:solidFill>
                <a:latin typeface="Calibri" pitchFamily="34" charset="0"/>
                <a:ea typeface="Calibri" pitchFamily="34" charset="-122"/>
                <a:cs typeface="Calibri" pitchFamily="34" charset="-120"/>
              </a:rPr>
              <a:t>what a document is, and tell apart the groups of documents an organisation uses.</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Apply  —  </a:t>
            </a:r>
            <a:pPr indent="0" marL="0">
              <a:buNone/>
            </a:pPr>
            <a:r>
              <a:rPr lang="en-US" sz="1350" dirty="0">
                <a:solidFill>
                  <a:srgbClr val="3A2B28"/>
                </a:solidFill>
                <a:latin typeface="Calibri" pitchFamily="34" charset="0"/>
                <a:ea typeface="Calibri" pitchFamily="34" charset="-122"/>
                <a:cs typeface="Calibri" pitchFamily="34" charset="-120"/>
              </a:rPr>
              <a:t>the content requirements and the nine formal components under Decree 30/2020/ND-CP.</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Draft  —  </a:t>
            </a:r>
            <a:pPr indent="0" marL="0">
              <a:buNone/>
            </a:pPr>
            <a:r>
              <a:rPr lang="en-US" sz="1350" dirty="0">
                <a:solidFill>
                  <a:srgbClr val="3A2B28"/>
                </a:solidFill>
                <a:latin typeface="Calibri" pitchFamily="34" charset="0"/>
                <a:ea typeface="Calibri" pitchFamily="34" charset="-122"/>
                <a:cs typeface="Calibri" pitchFamily="34" charset="-120"/>
              </a:rPr>
              <a:t>a decision, a submission, an official letter, minutes and a report in correct layout.</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Draft  —  </a:t>
            </a:r>
            <a:pPr indent="0" marL="0">
              <a:buNone/>
            </a:pPr>
            <a:r>
              <a:rPr lang="en-US" sz="1350" dirty="0">
                <a:solidFill>
                  <a:srgbClr val="3A2B28"/>
                </a:solidFill>
                <a:latin typeface="Calibri" pitchFamily="34" charset="0"/>
                <a:ea typeface="Calibri" pitchFamily="34" charset="-122"/>
                <a:cs typeface="Calibri" pitchFamily="34" charset="-120"/>
              </a:rPr>
              <a:t>commercial letters, quotations and contracts for business dealings.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CONTENTS</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What we will go through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What a document is, and its groups</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Requirements of content and of formal layout</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Drafting the common administrative documents</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Drafting commercial documents</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SECTIONS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Definition, groups and formal layout</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The legal and technical ground: what a document is, and what a correct page looks like.</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What is a document?</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The general sense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A means of recording and conveying information in language or signs</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The legal definition — Decree 30/2020/ND-CP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“Information put into writing… laid out in the prescribed form and technique.”</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What it does</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Management • legal basis • record-keeping • the organisation's image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Groups of documents</a:t>
            </a:r>
            <a:endParaRPr lang="en-US" sz="2700" dirty="0"/>
          </a:p>
        </p:txBody>
      </p:sp>
      <p:pic>
        <p:nvPicPr>
          <p:cNvPr id="9" name="Picture 8" descr="c5-phan-loai-van-ban-nt.png"/>
          <p:cNvPicPr>
            <a:picLocks noChangeAspect="1"/>
          </p:cNvPicPr>
          <p:nvPr/>
        </p:nvPicPr>
        <p:blipFill>
          <a:blip r:embed="rId4"/>
          <a:stretch>
            <a:fillRect/>
          </a:stretch>
        </p:blipFill>
        <p:spPr>
          <a:xfrm>
            <a:off x="841173" y="1751850"/>
            <a:ext cx="10509347" cy="4168114"/>
          </a:xfrm>
          <a:prstGeom prst="rect">
            <a:avLst/>
          </a:prstGeom>
        </p:spPr>
      </p:pic>
      <p:sp>
        <p:nvSpPr>
          <p:cNvPr id="10" name="TextBox 9"/>
          <p:cNvSpPr txBox="1"/>
          <p:nvPr/>
        </p:nvSpPr>
        <p:spPr>
          <a:xfrm>
            <a:off x="548640" y="5993117"/>
            <a:ext cx="11109960" cy="310896"/>
          </a:xfrm>
          <a:prstGeom prst="rect">
            <a:avLst/>
          </a:prstGeom>
          <a:noFill/>
        </p:spPr>
        <p:txBody>
          <a:bodyPr wrap="square">
            <a:spAutoFit/>
          </a:bodyPr>
          <a:lstStyle/>
          <a:p>
            <a:pPr algn="ctr"/>
            <a:r>
              <a:rPr sz="1150" i="1">
                <a:solidFill>
                  <a:srgbClr val="8A7A76"/>
                </a:solidFill>
                <a:latin typeface="Calibri"/>
              </a:rPr>
              <a:t>Only once you know the group do you know which template to use and who may sign.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Four requirements of content</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Right purpose, right authority</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One subject per document, issued within your function</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Accurate and objective</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Figures with grounds, verifiable — one wrong number carries legal consequences</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Clear, brief, easy to follow</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One reading is enough to get the drafter's meaning</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Lawful, in administrative register</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In line with current rules; formal register, no colloquialisms</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The nine formal components — Decree 30/2020/ND-CP</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Layout technique — the numbers you must know by heart</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Paper size and margins</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A4 • top and bottom 20–25 mm • left 30–35 mm • right 15–20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Typeface</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Unicode, 13 – 14 pt, black.</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Page numbers</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From the second page, Arabic numerals, centred on the top margin.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Language</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Standard Vietnamese; capitals and abbreviations per the rules</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THE NUMBER TO REMEMBER</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Four numbers that make a page correct</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PAPER</a:t>
            </a:r>
          </a:p>
          <a:p>
            <a:pPr algn="ctr">
              <a:spcBef>
                <a:spcPts val="1200"/>
              </a:spcBef>
            </a:pPr>
            <a:r>
              <a:rPr sz="1250">
                <a:solidFill>
                  <a:srgbClr val="3A2B28"/>
                </a:solidFill>
                <a:latin typeface="Calibri"/>
              </a:rPr>
              <a:t>210 × 297 mm — never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MILLIMETRES</a:t>
            </a:r>
          </a:p>
          <a:p>
            <a:pPr algn="ctr">
              <a:spcBef>
                <a:spcPts val="1200"/>
              </a:spcBef>
            </a:pPr>
            <a:r>
              <a:rPr sz="1250">
                <a:solidFill>
                  <a:srgbClr val="3A2B28"/>
                </a:solidFill>
                <a:latin typeface="Calibri"/>
              </a:rPr>
              <a:t>The left margin, widest because the file is bound there</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POINT SIZE</a:t>
            </a:r>
          </a:p>
          <a:p>
            <a:pPr algn="ctr">
              <a:spcBef>
                <a:spcPts val="1200"/>
              </a:spcBef>
            </a:pPr>
            <a:r>
              <a:rPr sz="1250">
                <a:solidFill>
                  <a:srgbClr val="3A2B28"/>
                </a:solidFill>
                <a:latin typeface="Calibri"/>
              </a:rPr>
              <a:t>Times New Roman, Unicode, black</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COMPONENTS</a:t>
            </a:r>
          </a:p>
          <a:p>
            <a:pPr algn="ctr">
              <a:spcBef>
                <a:spcPts val="1200"/>
              </a:spcBef>
            </a:pPr>
            <a:r>
              <a:rPr sz="1250">
                <a:solidFill>
                  <a:srgbClr val="3A2B28"/>
                </a:solidFill>
                <a:latin typeface="Calibri"/>
              </a:rPr>
              <a:t>The formal components required by Decree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Top and bottom margins 20 – 25 mm • right margin 15 – 20 mm • page numbers from the second page, centred on the top margin.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SECTION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Drafting the common administrative documents</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Five documents used every day in every organisation.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Five common administrative documents</a:t>
            </a:r>
            <a:endParaRPr lang="en-US" sz="2700" dirty="0"/>
          </a:p>
        </p:txBody>
      </p:sp>
      <p:pic>
        <p:nvPicPr>
          <p:cNvPr id="9" name="Picture 8" descr="c5-chuoi-van-ban-nt.png"/>
          <p:cNvPicPr>
            <a:picLocks noChangeAspect="1"/>
          </p:cNvPicPr>
          <p:nvPr/>
        </p:nvPicPr>
        <p:blipFill>
          <a:blip r:embed="rId4"/>
          <a:stretch>
            <a:fillRect/>
          </a:stretch>
        </p:blipFill>
        <p:spPr>
          <a:xfrm>
            <a:off x="981171" y="2365438"/>
            <a:ext cx="10229353" cy="2940939"/>
          </a:xfrm>
          <a:prstGeom prst="rect">
            <a:avLst/>
          </a:prstGeom>
        </p:spPr>
      </p:pic>
      <p:sp>
        <p:nvSpPr>
          <p:cNvPr id="10" name="TextBox 9"/>
          <p:cNvSpPr txBox="1"/>
          <p:nvPr/>
        </p:nvSpPr>
        <p:spPr>
          <a:xfrm>
            <a:off x="548640" y="5379529"/>
            <a:ext cx="11109960" cy="310896"/>
          </a:xfrm>
          <a:prstGeom prst="rect">
            <a:avLst/>
          </a:prstGeom>
          <a:noFill/>
        </p:spPr>
        <p:txBody>
          <a:bodyPr wrap="square">
            <a:spAutoFit/>
          </a:bodyPr>
          <a:lstStyle/>
          <a:p>
            <a:pPr algn="ctr"/>
            <a:r>
              <a:rPr sz="1150" i="1">
                <a:solidFill>
                  <a:srgbClr val="8A7A76"/>
                </a:solidFill>
                <a:latin typeface="Calibri"/>
              </a:rPr>
              <a:t>The chain of documents behind one deal — students will draft this same chain in the lab.</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Decision and Submission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Decision — what it is</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A document issued by an authorised person to settle one specific matter.</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Decision — layout</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The grounds → the substance in Articles → the last Article states when it takes effect</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Submission — what it is</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Asking the competent level to approve a policy or a plan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Submission — three parts</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The reason → the plan and its benefits → the request for approval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Official letter, Minutes and Report</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Official letter (công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No document-type heading — only number, reference and subject line. One subject each</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Minutes (biên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Written on the spot. Time – those present – proceedings – conclusion – signatures</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Report (báo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The situation → results → shortcomings and causes → the way forward</a:t>
            </a:r>
            <a:endParaRPr lang="en-US" sz="15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SECTION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Drafting commercial documents</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Letters, quotations and contracts — the paperwork that carries a deal to the finish.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Do Thuy Huong, Lecturer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Chapter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Commercial letters and quotations</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Commercial letters</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Enquiry • offer • order • confirmation • complaint • thanks</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The 5C rule</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 Concise • Correct • Complete • Courteous.</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Business email</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A subject line that matches • a full signature block • reply within 24 hours</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Quotation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The goods • quantity, unit price, tax • delivery, payment • validity period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Contract — acceptance — closure</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Commercial contract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Subject matter • price and payment • rights and obligations • penalties • disputes</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Acceptance record</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Confirms quantity and quality — the basis for payment</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Contract closure record</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Obligations discharged, the contract ended, the remainder settled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GROUP WORK</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From negotiation to contract</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THE CASE (groups of 4–5, 20 minutes)</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Continuing the purchase of 20 computers negotiated in Chapter 4: the Administration Office of Company X must complete the whole paper trail, from the purchase request to final payment.</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THE GROUP'S TASK</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List the full chain of documents in chronological order and say who signs each one.</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Pick one document from the chain and sketch its full nine-component layout on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Name the three formatting mistakes your group expects students to make most often on it.</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SUMMARY</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Things to remember</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Correct form is a document's passport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However good the content, wrong form gets it sent back — learn the nine components and the layout numbers.</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Each type has its own layout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A decision runs in Articles; a submission has three parts; an official letter has no type heading; minutes are written on the spot; a report follows four parts.</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Commercial documents carry the firm's standing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Letters that meet the 5C, a quotation with a clear validity, a contract with all its clauses — contract, acceptance and closure together seal the deal.</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REVIEW &amp; PREPARATION</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Review questions</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Explain what a document is and the groups of documents an organisation uses.</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State the nine formal components of an administrative document and the rules on margins and typeface.</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Compare the layouts of a decision, a submission and an official letter.</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State the 5C rule and the basic clauses of a commercial contract.</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PREPARING FOR THE NEXT SESSION:  </a:t>
            </a:r>
            <a:pPr indent="0" marL="0">
              <a:buNone/>
            </a:pPr>
            <a:r>
              <a:rPr lang="en-US" sz="1300" dirty="0">
                <a:solidFill>
                  <a:srgbClr val="3A2B28"/>
                </a:solidFill>
                <a:latin typeface="Calibri" pitchFamily="34" charset="0"/>
                <a:ea typeface="Calibri" pitchFamily="34" charset="-122"/>
                <a:cs typeface="Calibri" pitchFamily="34" charset="-120"/>
              </a:rPr>
              <a:t>Lab in room A0105 — Session 1: document format. Bring a laptop with Microsoft Word installed and Decree 30/2020/ND-CP downloaded.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Do Thuy Huong, Lecturer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Chapter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READING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Course materials</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Main textbook</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Ha Nam Khanh Giao (2023), Business Communication, Finance Publishing House.</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Required legal text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Decree 30/2020/ND-CP of 5 March 2020 on records management — the rules on format and layout of administrative documents.</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Lecturer's own materials</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Slides, document templates, cases and exercises written by Do Thuy Huong; provided after each session.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2026-08-23T05:42:54Z</dcterms:created>
  <dcterms:modified xsi:type="dcterms:W3CDTF">2026-08-23T05:42:54Z</dcterms:modified>
</cp:coreProperties>
</file>