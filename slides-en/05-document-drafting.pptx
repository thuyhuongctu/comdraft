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4" r:id="rId25"/>
    <p:sldId id="259" r:id="rId5"/>
    <p:sldId id="260" r:id="rId6"/>
    <p:sldId id="261" r:id="rId7"/>
    <p:sldId id="262" r:id="rId8"/>
    <p:sldId id="263" r:id="rId9"/>
    <p:sldId id="273" r:id="rId24"/>
    <p:sldId id="275" r:id="rId26"/>
    <p:sldId id="264" r:id="rId10"/>
    <p:sldId id="265" r:id="rId11"/>
    <p:sldId id="266" r:id="rId12"/>
    <p:sldId id="276" r:id="rId27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0.xml"/><Relationship Id="rId25" Type="http://schemas.openxmlformats.org/officeDocument/2006/relationships/slide" Target="slides/slide4.xml"/><Relationship Id="rId26" Type="http://schemas.openxmlformats.org/officeDocument/2006/relationships/slide" Target="slides/slide11.xml"/><Relationship Id="rId27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 (2 minutes)</a:t>
            </a:r>
          </a:p>
          <a:p>
            <a:r>
              <a:t>• The way in: "Chapter 4 taught you to reach an agreement in speech. Chapter 5 teaches you to turn speech into a document with legal force."</a:t>
            </a:r>
          </a:p>
          <a:p>
            <a:r>
              <a:t>• Ask the class: "Who has written a letter asking for leave from class? Was it in the correct format?"''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 (1 minute) — press it: this chapter runs straight into the three computer-lab 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MAP (1 minute) — four parts: the concept, the format, administrative documents, commercial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CONCEPT (3 minutes)</a:t>
            </a:r>
          </a:p>
          <a:p>
            <a:r>
              <a:t>• Read the Decree 30/2020 definition slowly — this sentence WILL BE ON THE EXAM.</a:t>
            </a:r>
          </a:p>
          <a:p>
            <a:r>
              <a:t>• Press the phrase "SET OUT IN THE FORMAT AND TO THE TECHNICAL STANDARD PRESCRIBED": good content in the wrong format still comes back rejected.</a:t>
            </a:r>
          </a:p>
          <a:p>
            <a:r>
              <a:t>• Its roles: press "legal basis" — give the example of a contract dispute in court, where what the court looks at is THE DOCUMENT.</a:t>
            </a:r>
          </a:p>
          <a:p/>
          <a:p>
            <a:r>
              <a:t>THE FULL VERSION (moved off the slide)</a:t>
            </a:r>
          </a:p>
          <a:p>
            <a:r>
              <a:t>• The full legal definition, Decree 30/2020/NĐ-CP: “A document is written information conveyed in language or symbols, arising in the work of an agency or organisation and set out in the format and to the technical standard prescribed.”</a:t>
            </a:r>
          </a:p>
          <a:p>
            <a:r>
              <a:t>• The everyday reading: arising in the work of an agency, an organisation, a BUSINESS — not only state bodies.</a:t>
            </a:r>
          </a:p>
          <a:p>
            <a:r>
              <a:t>• Four roles: an instrument of management; a legal basis; a record; and a display of the organisation's professionalism.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CLASSIFICATION (3 minutes)</a:t>
            </a:r>
          </a:p>
          <a:p>
            <a:r>
              <a:t>• Four groups — draw the tree on the board.</a:t>
            </a:r>
          </a:p>
          <a:p>
            <a:r>
              <a:t>• Press: a business does NOT issue legal instruments, but must comply with them.</a:t>
            </a:r>
          </a:p>
          <a:p>
            <a:r>
              <a:t>• A number to remember: 29 TYPES of administrative document under Decree 30/2020.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REQUIREMENTS OF CONTENT (3 minutes)</a:t>
            </a:r>
          </a:p>
          <a:p>
            <a:r>
              <a:t>• Four requirements, one real mistake as an example for each.</a:t>
            </a:r>
          </a:p>
          <a:p>
            <a:r>
              <a:t>• Press requirement 2: "One wrong figure in a document can carry very large legal consequences" — for example a unit price mistyped in a contract.</a:t>
            </a:r>
          </a:p>
          <a:p>
            <a:r>
              <a:t>• Requirement 4: read out a few sub-standard COLLOQUIAL lines for the class to spot ("hope you'll be nice and understanding about it").</a:t>
            </a:r>
          </a:p>
          <a:p/>
          <a:p>
            <a:r>
              <a:t>THE FULL VERSION (moved off the slide)</a:t>
            </a:r>
          </a:p>
          <a:p>
            <a:r>
              <a:t>• Right purpose: each document covers ONE subject; issued within the issuer's proper function.</a:t>
            </a:r>
          </a:p>
          <a:p>
            <a:r>
              <a:t>• Accuracy: one wrong figure can carry large legal consequences — press this hard with students.</a:t>
            </a:r>
          </a:p>
          <a:p>
            <a:r>
              <a:t>• Clarity: the recipient reads it ONCE and takes the intended meaning.</a:t>
            </a:r>
          </a:p>
          <a:p>
            <a:r>
              <a:t>• Administrative register: serious, courteous, no colloquialism.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FORMAT DIAGRAM (5 minutes) — THE MOST IMPORTANT SLIDE OF THE COURSE</a:t>
            </a:r>
          </a:p>
          <a:p>
            <a:r>
              <a:t>• Tell the whole class to PHOTOGRAPH THIS SLIDE.</a:t>
            </a:r>
          </a:p>
          <a:p>
            <a:r>
              <a:t>• Point at each number on the diagram in order 1 → 9; for each, give the position plus one thing to watch.</a:t>
            </a:r>
          </a:p>
          <a:p>
            <a:r>
              <a:t>• Press component 5: AN OFFICIAL LETTER (công văn) HAS NO DOCUMENT-TYPE NAME, and its subject line starts with "V/v" (re:).</a:t>
            </a:r>
          </a:p>
          <a:p>
            <a:r>
              <a:t>• Press component 9: the distribution list ALWAYS ends with the line "Filed: Registry".</a:t>
            </a:r>
          </a:p>
          <a:p>
            <a:r>
              <a:t>• Say it plainly: all three lab sessions ahead are marked against this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NUMBERS (3 minutes)</a:t>
            </a:r>
          </a:p>
          <a:p>
            <a:r>
              <a:t>• Read each figure slowly and have students write it down.</a:t>
            </a:r>
          </a:p>
          <a:p>
            <a:r>
              <a:t>• How to remember the 30–35 mm LEFT MARGIN: it is the widest because it takes the BINDING for the archive.</a:t>
            </a:r>
          </a:p>
          <a:p>
            <a:r>
              <a:t>• Press: Times New Roman, Unicode, 13–14 pt. Not Arial, not the old TCVN3 encoding.</a:t>
            </a:r>
          </a:p>
          <a:p>
            <a:r>
              <a:t>• Page numbers: FROM THE SECOND PAGE, centred in the TOP margin (many students put them at the bottom — wrong).</a:t>
            </a:r>
          </a:p>
          <a:p/>
          <a:p>
            <a:r>
              <a:t>THE FULL VERSION (moved off the slide)</a:t>
            </a:r>
          </a:p>
          <a:p>
            <a:r>
              <a:t>• The left margin of 30–35 mm is wider because it has to leave room for BINDING.</a:t>
            </a:r>
          </a:p>
          <a:p>
            <a:r>
              <a:t>• Font Times New Roman, Unicode encoding, 13–14 pt, black.</a:t>
            </a:r>
          </a:p>
          <a:p>
            <a:r>
              <a:t>• Page numbers: from the SECOND page, Arabic numerals, centred on the top margin.</a:t>
            </a:r>
          </a:p>
          <a:p>
            <a:r>
              <a:t>• Language: capitalisation and abbreviation as prescribed; figures in Arabic numerals.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DOCUMENT CHAIN (3 minutes)</a:t>
            </a:r>
          </a:p>
          <a:p>
            <a:r>
              <a:t>• Point along the chain: submission (tờ trình) → decision (quyết định) → official letter (công văn) → contract → acceptance record → liquidation record.</a:t>
            </a:r>
          </a:p>
          <a:p>
            <a:r>
              <a:t>• Say it plainly: lab session 2 covers the front of the chain, session 3 the back.</a:t>
            </a:r>
          </a:p>
          <a:p>
            <a:r>
              <a:t>• Ask the class: "What is the risk of skipping the acceptance record?" (no basis for payment).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DECISION AND SUBMISSION (4 minutes)</a:t>
            </a:r>
          </a:p>
          <a:p>
            <a:r>
              <a:t>• A decision (quyết định): the RECITALS, then the ARTICLES. The last article STATES WHEN IT TAKES EFFECT.</a:t>
            </a:r>
          </a:p>
          <a:p>
            <a:r>
              <a:t>• A common mistake: using the word "request" in a decision — wrong; a decision uses THE LANGUAGE OF COMMAND.</a:t>
            </a:r>
          </a:p>
          <a:p>
            <a:r>
              <a:t>• A submission (tờ trình) has three parts: the reason → the proposal → the request for approval.</a:t>
            </a:r>
          </a:p>
          <a:p>
            <a:r>
              <a:t>• Press: a submission must carry FIGURES and a COST ESTIMATE, or the person above has nothing to approve on.</a:t>
            </a:r>
          </a:p>
          <a:p/>
          <a:p>
            <a:r>
              <a:t>THE FULL VERSION (moved off the slide)</a:t>
            </a:r>
          </a:p>
          <a:p>
            <a:r>
              <a:t>• A decision: the recitals cover both the LEGAL and the FACTUAL basis, each ending in a semicolon and the last in a full stop. The final article states the effective date and who must carry it out.</a:t>
            </a:r>
          </a:p>
          <a:p>
            <a:r>
              <a:t>• A submission: the opening gives the reason and the need; the body sets out the proposal, the benefit and the feasibility; the close asks for approval. Remember to attach the file and the cost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OFFICIAL LETTER, MINUTES, REPORT (4 minutes)</a:t>
            </a:r>
          </a:p>
          <a:p>
            <a:r>
              <a:t>• The official letter (công văn): say again it has NO DOCUMENT-TYPE NAME; ONE subject each; it closes with "Yours faithfully./."</a:t>
            </a:r>
          </a:p>
          <a:p>
            <a:r>
              <a:t>• Minutes (biên bản): WRITTEN ON THE SPOT; the parties' signatures are what give them LEGAL FORCE; the note-taker adds NO opinion of their own.</a:t>
            </a:r>
          </a:p>
          <a:p>
            <a:r>
              <a:t>• A report: four parts in sequence. Press: it must state the SHORTCOMINGS too, not just the achievements.</a:t>
            </a:r>
          </a:p>
          <a:p/>
          <a:p>
            <a:r>
              <a:t>THE FULL VERSION (moved off the slide)</a:t>
            </a:r>
          </a:p>
          <a:p>
            <a:r>
              <a:t>• Kinds of official letter: requesting, replying, chasing, giving guidance, explaining, inviting to a meeting. Closes with “Yours faithfully./.”</a:t>
            </a:r>
          </a:p>
          <a:p>
            <a:r>
              <a:t>• Minutes: the parties' signatures are what CREATE THE LEGAL FORCE — unsigned, minutes are just a sheet of notes.</a:t>
            </a:r>
          </a:p>
          <a:p>
            <a:r>
              <a:t>• Reports come in four kinds: periodic, ad hoc, thematic, and interim or final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LETTERS AND QUOTATIONS (4 minutes)</a:t>
            </a:r>
          </a:p>
          <a:p>
            <a:r>
              <a:t>• The 5C rule: write the five Cs on the board and gloss each one.</a:t>
            </a:r>
          </a:p>
          <a:p>
            <a:r>
              <a:t>• Email: a clear subject line, a full signature block, A REPLY WITHIN 24 HOURS.</a:t>
            </a:r>
          </a:p>
          <a:p>
            <a:r>
              <a:t>• A quotation: press the VALIDITY PERIOD. Ask the class why it is needed — because market prices move, and you don't want to be held to yesterday's.</a:t>
            </a:r>
          </a:p>
          <a:p/>
          <a:p>
            <a:r>
              <a:t>THE FULL VERSION (moved off the slide)</a:t>
            </a:r>
          </a:p>
          <a:p>
            <a:r>
              <a:t>• The 5C rule: Clear • Concise • Correct • Complete • Courteous.</a:t>
            </a:r>
          </a:p>
          <a:p>
            <a:r>
              <a:t>• Letter structure: opening – body – close.</a:t>
            </a:r>
          </a:p>
          <a:p>
            <a:r>
              <a:t>• A quotation must carry a VALIDITY PERIOD — without one you get a dispute the moment prices move.</a:t>
            </a:r>
          </a:p>
          <a:p>
            <a:r>
              <a:t>• Email: reply within 24 hours, even if only to say “received, in hand”.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SET OF THREE (4 minutes)</a:t>
            </a:r>
          </a:p>
          <a:p>
            <a:r>
              <a:t>• The legal basis: the Civil Code 2015 and the Commercial Law 2005.</a:t>
            </a:r>
          </a:p>
          <a:p>
            <a:r>
              <a:t>• Run through the five main clauses, pressing PENALTIES FOR BREACH and DISPUTE RESOLUTION — the two students forget.</a:t>
            </a:r>
          </a:p>
          <a:p>
            <a:r>
              <a:t>• The acceptance record is the basis for PAYMENT. The liquidation record ENDS the contract and settles the account.</a:t>
            </a:r>
          </a:p>
          <a:p>
            <a:r>
              <a:t>• The closing line: "Only with all three is the file for a deal legally complete."''</a:t>
            </a:r>
          </a:p>
          <a:p/>
          <a:p>
            <a:r>
              <a:t>THE FULL VERSION (moved off the slide)</a:t>
            </a:r>
          </a:p>
          <a:p>
            <a:r>
              <a:t>• A commercial contract rests on the Civil Code 2015 and the Commercial Law 2005.</a:t>
            </a:r>
          </a:p>
          <a:p>
            <a:r>
              <a:t>• The set of three closes a deal: contract → acceptance record → liquidation record.</a:t>
            </a:r>
          </a:p>
          <a:p>
            <a:r>
              <a:t>• The acceptance record confirms quantity and quality, and is the basis for payment.</a:t>
            </a:r>
          </a:p>
          <a:p>
            <a:r>
              <a:t>• The liquidation record confirms the obligations are discharged and settles what remains.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 WORK (20 minutes)</a:t>
            </a:r>
          </a:p>
          <a:p>
            <a:r>
              <a:t>• Continue the deal negotiated in Chapter 4 — restate the situation in one sentence.</a:t>
            </a:r>
          </a:p>
          <a:p>
            <a:r>
              <a:t>• Groups of 4–5, 15 minutes to work, 5 minutes to present.</a:t>
            </a:r>
          </a:p>
          <a:p>
            <a:r>
              <a:t>• Require each group to DRAW the document chain on an A3 sheet, naming who signs each document.</a:t>
            </a:r>
          </a:p>
          <a:p>
            <a:r>
              <a:t>• Land it by comparing their chains with the standard diagram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SUMMARY (2 minutes)</a:t>
            </a:r>
          </a:p>
          <a:p>
            <a:r>
              <a:t>• Three points; call on a student to name the nine components of the format.</a:t>
            </a:r>
          </a:p>
          <a:p>
            <a:r>
              <a:t>• Be firm about preparing for the lab: BRING A LAPTOP, install Word, download Decree 30/2020.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REVISION (1 minute) — at home; flag that the question on the nine format components will be on the exam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READING (1 minute) — remind them to open the digital materials and look at the specimen documents before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NUMBERS (2 minutes)</a:t>
            </a:r>
          </a:p>
          <a:p>
            <a:r>
              <a:t>• This is the slide students must KNOW BY HEART — it is on the exam and used throughout the three lab sessions.</a:t>
            </a:r>
          </a:p>
          <a:p>
            <a:r>
              <a:t>• Read each figure slowly; have the whole class write them down.</a:t>
            </a:r>
          </a:p>
          <a:p>
            <a:r>
              <a:t>• How to remember that the left margin is widest: it is for BINDING.</a:t>
            </a:r>
          </a:p>
          <a:p>
            <a:r>
              <a:t>• Test it at once: call on two students to recite them without looking at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 — remind them lab session 2 uses exactly these five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 — remind them lab session 3 produces exactly this set of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and laying out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speech to writing: turning every agreement into a properly formed document with legal force.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session,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document is, and tell apart the groups of documents an organisation uses.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requirements and the nine formal components under Decree 30/2020/ND-CP.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decision, a submission, an official letter, minutes and a report in correct layout.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letters, quotations and contracts for business dealings.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document is, and its groups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of content and of formal layout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the common administrative documents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commercial documents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5.1 – 5.2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Definition, groups and formal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The legal and technical ground: what a document is, and what a correct page looks like.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document?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sense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means of recording and conveying information in language or signs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legal definition — Decree 30/2020/ND-CP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“Information put into writing… laid out in the prescribed form and technique.”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• legal basis • record-keeping • the organisation's image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Groups of documents</a:t>
            </a:r>
            <a:endParaRPr lang="en-US" sz="2700" dirty="0"/>
          </a:p>
        </p:txBody>
      </p:sp>
      <p:pic>
        <p:nvPicPr>
          <p:cNvPr id="9" name="Picture 8" descr="c5-phan-loa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173" y="1751850"/>
            <a:ext cx="10509347" cy="41681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3117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Only once you know the group do you know which template to use and who may sign.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requirements of content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purpose, right authority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subject per document, issued within your function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and objective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with grounds, verifiable — one wrong number carries legal consequences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brief, easy to follow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reading is enough to get the drafter's meaning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Lawful, in administrative register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line with current rules; formal register, no colloquialisms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nine formal components — Decree 30/2020/ND-CP</a:t>
            </a:r>
            <a:endParaRPr lang="en-US" sz="2700" dirty="0"/>
          </a:p>
        </p:txBody>
      </p:sp>
      <p:pic>
        <p:nvPicPr>
          <p:cNvPr id="9" name="Picture 8" descr="c5-the-thuc-a4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595135"/>
            <a:ext cx="11247120" cy="44815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Layout technique — the numbers you must know by heart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size and margins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• top and bottom 20–25 mm • left 30–35 mm • right 15–20 mm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Typeface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New Roman, Unicode, 13 – 14 pt, black.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numbers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second page, Arabic numerals, centred on the top margin.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Vietnamese; capitals and abbreviations per the rules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Four numbers that make a page correct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A4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PAPER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210 × 297 mm — never Letter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706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30–35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MILLIMETRES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left margin, widest because the file is bound there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2492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13–14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POINT SIZE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Times New Roman, Unicode, black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82278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9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COMPONENTS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formal components required by Decree 30/2020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Top and bottom margins 20 – 25 mm • right margin 15 – 20 mm • page numbers from the second page, centred on the top margin.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5.3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Drafting the common administrative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Five documents used every day in every organisation.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common administrative documents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236543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7952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The chain of documents behind one deal — students will draft this same chain in the lab.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and Submission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what it is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issued by an authorised person to settle one specific matter.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layout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grounds → the substance in Articles → the last Article states when it takes effect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— what it is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 competent level to approve a policy or a plan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— three parts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→ the plan and its benefits → the request for approval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letter, Minutes and Report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letter (công văn)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document-type heading — only number, reference and subject line. One subject each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(biên bản)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on the spot. Time – those present – proceedings – conclusion – signatures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(báo cáo)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→ results → shortcomings and causes → the way forward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5.4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Drafting commercial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Letters, quotations and contracts — the paperwork that carries a deal to the finish.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letters and quotations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letters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 • offer • order • confirmation • complaint • thanks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5C rule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• Concise • Correct • Complete • Courteous.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email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subject line that matches • a full signature block • reply within 24 hours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goods • quantity, unit price, tax • delivery, payment • validity period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— acceptance — closure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contract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matter • price and payment • rights and obligations • penalties • disputes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record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quantity and quality — the basis for payment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closure record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Obligations discharged, the contract ended, the remainder settled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negotiation to contract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(groups of 4–5, 20 minutes)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the purchase of 20 computers negotiated in Chapter 4: the Administration Office of Company X must complete the whole paper trail, from the purchase request to final payment.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full chain of documents in chronological order and say who signs each one.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document from the chain and sketch its full nine-component layout on A4.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three formatting mistakes your group expects students to make most often on it.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form is a document's passport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good the content, wrong form gets it sent back — learn the nine components and the layout numbers.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type has its own layout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runs in Articles; a submission has three parts; an official letter has no type heading; minutes are written on the spot; a report follows four parts.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documents carry the firm's standing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 that meet the 5C, a quotation with a clear validity, a contract with all its clauses — contract, acceptance and closure together seal the deal.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document is and the groups of documents an organisation uses.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nine formal components of an administrative document and the rules on margins and typeface.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layouts of a decision, a submission and an official letter.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5C rule and the basic clauses of a commercial contract.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097280"/>
          </a:xfrm>
          <a:prstGeom prst="roundRect">
            <a:avLst>
              <a:gd name="adj" fmla="val 7500"/>
            </a:avLst>
          </a:prstGeom>
          <a:solidFill>
            <a:srgbClr val="FBEDE0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in room A0105 — Session 1: document format. Bring a laptop with Microsoft Word installed and Decree 30/2020/ND-CP downloaded.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legal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Decree 30/2020/ND-CP of 5 March 2020 on records management — the rules on format and layout of administrative documents.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document templates, cases and exercises written by Do Thuy Huong; provided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2026-08-23T10:31:57Z</dcterms:created>
  <dcterms:modified xsi:type="dcterms:W3CDTF">2026-08-23T10:31:57Z</dcterms:modified>
</cp:coreProperties>
</file>