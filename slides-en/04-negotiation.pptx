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73" r:id="rId24"/>
    <p:sldId id="259" r:id="rId5"/>
    <p:sldId id="260" r:id="rId6"/>
    <p:sldId id="261" r:id="rId7"/>
    <p:sldId id="274" r:id="rId25"/>
    <p:sldId id="262" r:id="rId8"/>
    <p:sldId id="263" r:id="rId9"/>
    <p:sldId id="272" r:id="rId23"/>
    <p:sldId id="264" r:id="rId10"/>
    <p:sldId id="265" r:id="rId11"/>
    <p:sldId id="275" r:id="rId26"/>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9.xml"/><Relationship Id="rId9" Type="http://schemas.openxmlformats.org/officeDocument/2006/relationships/slide" Target="slides/slide10.xml"/><Relationship Id="rId10" Type="http://schemas.openxmlformats.org/officeDocument/2006/relationships/slide" Target="slides/slide12.xml"/><Relationship Id="rId11" Type="http://schemas.openxmlformats.org/officeDocument/2006/relationships/slide" Target="slides/slide13.xml"/><Relationship Id="rId12" Type="http://schemas.openxmlformats.org/officeDocument/2006/relationships/slide" Target="slides/slide15.xml"/><Relationship Id="rId13" Type="http://schemas.openxmlformats.org/officeDocument/2006/relationships/slide" Target="slides/slide16.xml"/><Relationship Id="rId14" Type="http://schemas.openxmlformats.org/officeDocument/2006/relationships/slide" Target="slides/slide17.xml"/><Relationship Id="rId15" Type="http://schemas.openxmlformats.org/officeDocument/2006/relationships/slide" Target="slides/slide18.xml"/><Relationship Id="rId16" Type="http://schemas.openxmlformats.org/officeDocument/2006/relationships/slide" Target="slides/slide19.xml"/><Relationship Id="rId17" Type="http://schemas.openxmlformats.org/officeDocument/2006/relationships/slide" Target="slides/slide20.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slide" Target="slides/slide11.xml"/><Relationship Id="rId24" Type="http://schemas.openxmlformats.org/officeDocument/2006/relationships/slide" Target="slides/slide4.xml"/><Relationship Id="rId25" Type="http://schemas.openxmlformats.org/officeDocument/2006/relationships/slide" Target="slides/slide8.xml"/><Relationship Id="rId26"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(1 phút) — nhấn: cuối chương có role-play chấm điểm.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LỘ TRÌNH (1 phút) — khái niệm, tiến trình 5 giai đoạn, kỹ năng.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KHÁI NIỆM (3 phút)</a:t>
            </a:r>
          </a:p>
          <a:p>
            <a:r>
              <a:t>• Nhấn BẢN CHẤT KÉP: vừa hợp tác (để chiếc bánh tồn tại) vừa cạnh tranh (khi chia bánh).</a:t>
            </a:r>
          </a:p>
          <a:p>
            <a:r>
              <a:t>• Ba nguồn sức mạnh: THÔNG TIN – THỜI GIAN – THẾ LỰC (số lựa chọn thay thế).</a:t>
            </a:r>
          </a:p>
          <a:p>
            <a:r>
              <a:t>• Ví dụ: người đang cần bán gấp luôn ở thế yếu — vì sao? (sức mạnh thời gian).</a:t>
            </a:r>
          </a:p>
          <a:p/>
          <a:p>
            <a:r>
              <a:t>NÓI ĐỦ Ý (phần đã rút khỏi slide)</a:t>
            </a:r>
          </a:p>
          <a:p>
            <a:r>
              <a:t>• Định nghĩa đủ: đàm phán là quá trình các bên vừa có lợi ích chung, vừa có lợi ích xung đột, cùng trao đổi và thuyết phục để đi đến một thỏa thuận mà các bên chấp nhận được.</a:t>
            </a:r>
          </a:p>
          <a:p>
            <a:r>
              <a:t>• Bản chất kép: quên vế hợp tác thì mất đối tác, quên vế cạnh tranh thì chịu thiệt.</a:t>
            </a:r>
          </a:p>
          <a:p>
            <a:r>
              <a:t>• Ba nguồn sức mạnh: THÔNG TIN — ai hiểu đối phương hơn; THỜI GIAN — ai ít bị ép tiến độ hơn; THẾ LỰC — ai có nhiều lựa chọn thay thế hơn.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ĐẶC ĐIỂM (2 phút)</a:t>
            </a:r>
          </a:p>
          <a:p>
            <a:r>
              <a:t>• 5 đặc điểm, đi nhanh.</a:t>
            </a:r>
          </a:p>
          <a:p>
            <a:r>
              <a:t>• Nhấn đặc điểm THỎA THUẬN PHẢI ĐƯỢC VĂN BẢN HÓA — nối thẳng sang Chương 5.</a:t>
            </a:r>
          </a:p>
          <a:p/>
          <a:p>
            <a:r>
              <a:t>NÓI ĐỦ Ý (phần đã rút khỏi slide)</a:t>
            </a:r>
          </a:p>
          <a:p>
            <a:r>
              <a:t>• Nhà đàm phán giỏi biết rõ giới hạn của MÌNH và ước lượng được giới hạn của ĐỐI PHƯƠNG.</a:t>
            </a:r>
          </a:p>
          <a:p>
            <a:r>
              <a:t>• Phong cách đàm phán Á – Âu khác nhau; thương vụ một lần khác hẳn quan hệ hợp tác lâu dài.</a:t>
            </a:r>
          </a:p>
          <a:p>
            <a:r>
              <a:t>• Kết quả chỉ an toàn khi thành hợp đồng đúng thể thức — cầu nối sang Chương 5.</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CÁC KIỂU ĐÀM PHÁN (4 phút)</a:t>
            </a:r>
          </a:p>
          <a:p>
            <a:r>
              <a:t>• Kiểu MỀM – CỨNG – NGUYÊN TẮC. Vẽ bảng so sánh 3 cột lên bảng.</a:t>
            </a:r>
          </a:p>
          <a:p>
            <a:r>
              <a:t>• Hỏi lớp: "Người Việt mình hay đàm phán theo kiểu nào?" (thường là mềm — ngại mất lòng).</a:t>
            </a:r>
          </a:p>
          <a:p>
            <a:r>
              <a:t>• Nhấn kiểu NGUYÊN TẮC (Harvard): TÁCH CON NGƯỜI KHỎI VẤN ĐỀ; tập trung LỢI ÍCH chứ không cố thủ LẬP TRƯỜNG.</a:t>
            </a:r>
          </a:p>
          <a:p>
            <a:r>
              <a:t>• Ví dụ kinh điển: hai chị em tranh quả cam — một người cần vỏ làm bánh, một người cần ruột vắt nước. Cắt đôi là giải pháp tồi. Hỏi lợi ích mới ra giải pháp tốt.</a:t>
            </a:r>
          </a:p>
          <a:p>
            <a:r>
              <a:t>• Phân bổ ↔ tích hợp: làm chiếc bánh LỚN HƠN nhờ khác biệt về ưu tiên.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CHUẨN BỊ: BATNA – ZOPA (5 phút) — PHẦN KHÓ NHẤT CHƯƠNG</a:t>
            </a:r>
          </a:p>
          <a:p>
            <a:r>
              <a:t>• Mục tiêu 3 mức: LÝ TƯỞNG – KỲ VỌNG – TỐI THIỂU. Bắt sinh viên VIẾT RA GIẤY trước khi vào bàn.</a:t>
            </a:r>
          </a:p>
          <a:p>
            <a:r>
              <a:t>• BATNA: giải thích chậm bằng ví dụ xin việc — bạn có sẵn một lời mời khác thì bạn tự tin hơn hẳn.</a:t>
            </a:r>
          </a:p>
          <a:p>
            <a:r>
              <a:t>• Nhấn: BATNA MẠNH thì thế đàm phán vững; BATNA YẾU thì ĐỪNG ĐỂ LỘ.</a:t>
            </a:r>
          </a:p>
          <a:p>
            <a:r>
              <a:t>• ZOPA: chỉ vào sơ đồ trên slide, đi theo trục tiền từ trái sang phải.</a:t>
            </a:r>
          </a:p>
          <a:p>
            <a:r>
              <a:t>• Câu hỏi cho lớp: "Nếu không có ZOPA thì làm gì?" — đáp: mở rộng chiếc bánh (đổi số lượng, tiến độ, dịch vụ kèm), đừng ép giá.</a:t>
            </a:r>
          </a:p>
          <a:p/>
          <a:p>
            <a:r>
              <a:t>NÓI ĐỦ Ý (phần đã rút khỏi slide)</a:t>
            </a:r>
          </a:p>
          <a:p>
            <a:r>
              <a:t>• Ba mức mục tiêu: lý tưởng (mong muốn nhất) – kỳ vọng (hợp lý) – tối thiểu (ranh giới rút lui).</a:t>
            </a:r>
          </a:p>
          <a:p>
            <a:r>
              <a:t>• BATNA = Best Alternative To a Negotiated Agreement. BATNA càng mạnh thế càng vững — và ĐỪNG ĐỂ LỘ khi BATNA yếu.</a:t>
            </a:r>
          </a:p>
          <a:p>
            <a:r>
              <a:t>• ZOPA: ước lượng để biết đề nghị nào khả thi, đề nghị nào làm vỡ bàn đàm phán.</a:t>
            </a:r>
          </a:p>
          <a:p>
            <a:r>
              <a:t>• Hiểu đối tác: nhu cầu thật đằng sau yêu cầu; ai là người có thẩm quyền quyết định.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THƯƠNG LƯỢNG (4 phút)</a:t>
            </a:r>
          </a:p>
          <a:p>
            <a:r>
              <a:t>• Neo tâm lý: đề nghị đầu tiên CÓ CĂN CỨ sẽ định hình cả cuộc đàm phán.</a:t>
            </a:r>
          </a:p>
          <a:p>
            <a:r>
              <a:t>• Khi bị neo: phản hồi bằng câu hỏi "Dựa trên cơ sở nào ạ?" — cho lớp tập nói câu này.</a:t>
            </a:r>
          </a:p>
          <a:p>
            <a:r>
              <a:t>• NHƯỢNG BỘ CÓ ĐIỀU KIỆN: "Nếu anh tăng số lượng lên 500, chúng tôi giảm 3%." Không bao giờ cho không.</a:t>
            </a:r>
          </a:p>
          <a:p>
            <a:r>
              <a:t>• Nhượng bộ NHỎ DẦN để phát tín hiệu đã chạm giới hạn.</a:t>
            </a:r>
          </a:p>
          <a:p>
            <a:r>
              <a:t>• Bế tắc: tạm nghỉ – đổi người/vấn đề/cách tiếp cận – quay về lợi ích gốc – đưa tiêu chí khách quan.</a:t>
            </a:r>
          </a:p>
          <a:p/>
          <a:p>
            <a:r>
              <a:t>NÓI ĐỦ Ý (phần đã rút khỏi slide)</a:t>
            </a:r>
          </a:p>
          <a:p>
            <a:r>
              <a:t>• Vài phút xã giao đúng mực, vừa tạo không khí vừa quan sát thái độ.</a:t>
            </a:r>
          </a:p>
          <a:p>
            <a:r>
              <a:t>• Đề nghị đầu tiên là cái neo tâm lý — nên phải có căn cứ.</a:t>
            </a:r>
          </a:p>
          <a:p>
            <a:r>
              <a:t>• Nhượng bộ có điều kiện, ví dụ: “Nếu anh tăng số lượng lên 500, chúng tôi sẽ giảm 3%.” Nhượng bộ nhỏ dần để phát tín hiệu đã chạm giới hạn.</a:t>
            </a:r>
          </a:p>
          <a:p>
            <a:r>
              <a:t>• Bế tắc: tạm nghỉ; đổi người, đổi vấn đề, đổi cách tiếp cận; quay về lợi ích gốc.</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KẾT THÚC (3 phút)</a:t>
            </a:r>
          </a:p>
          <a:p>
            <a:r>
              <a:t>• Tín hiệu chốt: đối phương hỏi chi tiết TRIỂN KHAI, thanh toán, thời gian giao hàng.</a:t>
            </a:r>
          </a:p>
          <a:p>
            <a:r>
              <a:t>• Nhấn: TÓM TẮT VÀ VĂN BẢN HÓA NGAY — biên bản ghi nhớ hoặc hợp đồng.</a:t>
            </a:r>
          </a:p>
          <a:p>
            <a:r>
              <a:t>• Sau đàm phán: thực hiện đúng cam kết, giữ quan hệ, rút kinh nghiệm.</a:t>
            </a:r>
          </a:p>
          <a:p>
            <a:r>
              <a:t>• Câu chốt: "Đàm phán xong mà không có giấy tờ thì coi như chưa xong."''</a:t>
            </a:r>
          </a:p>
          <a:p/>
          <a:p>
            <a:r>
              <a:t>NÓI ĐỦ Ý (phần đã rút khỏi slide)</a:t>
            </a:r>
          </a:p>
          <a:p>
            <a:r>
              <a:t>• Tín hiệu sẵn sàng chốt: đối phương hỏi chi tiết triển khai, điều khoản thanh toán, thời gian giao hàng.</a:t>
            </a:r>
          </a:p>
          <a:p>
            <a:r>
              <a:t>• Văn bản hóa ngay: biên bản ghi nhớ, rồi hợp đồng đủ điều khoản cơ bản — kỹ thuật soạn thảo học ở Chương 5.</a:t>
            </a:r>
          </a:p>
          <a:p>
            <a:r>
              <a:t>• Sau đàm phán: thực hiện đúng cam kết chính là vốn cho lần đàm phán sau.</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KỸ NĂNG (3 phút)</a:t>
            </a:r>
          </a:p>
          <a:p>
            <a:r>
              <a:t>• Nghe nhiều hơn nói; IM LẶNG ĐÚNG LÚC là vũ khí.</a:t>
            </a:r>
          </a:p>
          <a:p>
            <a:r>
              <a:t>• Thuyết phục bằng NGÔN NGỮ LỢI ÍCH CỦA ĐỐI PHƯƠNG, kèm số liệu và tiền lệ.</a:t>
            </a:r>
          </a:p>
          <a:p>
            <a:r>
              <a:t>• Kiểm soát cảm xúc: "tức giận là nhượng quyền kiểm soát cho đối phương".</a:t>
            </a:r>
          </a:p>
          <a:p>
            <a:r>
              <a:t>• Êkíp: phân vai trưởng đoàn – chuyên môn – ghi chép; TUYỆT ĐỐI không mâu thuẫn nội bộ trước mặt đối tác.</a:t>
            </a:r>
          </a:p>
          <a:p/>
          <a:p>
            <a:r>
              <a:t>NÓI ĐỦ Ý (phần đã rút khỏi slide)</a:t>
            </a:r>
          </a:p>
          <a:p>
            <a:r>
              <a:t>• Im lặng đúng lúc: nhiều nhượng bộ xuất hiện chỉ vì đối phương không chịu được khoảng lặng.</a:t>
            </a:r>
          </a:p>
          <a:p>
            <a:r>
              <a:t>• Thuyết phục bằng số liệu, tiền lệ, quy định khách quan — không tranh cãi cảm tính.</a:t>
            </a:r>
          </a:p>
          <a:p>
            <a:r>
              <a:t>• Tách con người khỏi vấn đề; giữ bình tĩnh trước khiêu khích.</a:t>
            </a:r>
          </a:p>
          <a:p>
            <a:r>
              <a:t>• Êkíp: phân vai trưởng đoàn – chuyên môn – ghi chép; thống nhất tín hiệu nội bộ trước.</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CHIÊU TRÒ (4 phút) — SINH VIÊN RẤT HỨNG THÚ</a:t>
            </a:r>
          </a:p>
          <a:p>
            <a:r>
              <a:t>• Điểm qua 5 chiêu: neo giá sốc, người tốt – kẻ xấu, thời hạn chót giả, CẮT LÁT SALAMI, đòi hỏi phút chót.</a:t>
            </a:r>
          </a:p>
          <a:p>
            <a:r>
              <a:t>• Salami: giải thích kỹ vì hay gặp nhất — đòi thêm từng chút sau khi đã thỏa thuận. Ứng phó: GÓI TOÀN BỘ điều khoản lại.</a:t>
            </a:r>
          </a:p>
          <a:p>
            <a:r>
              <a:t>• Đòi hỏi phút chót: ĐỊNH GIÁ yêu cầu đó và đòi đối ứng tương xứng, đừng chiều để cho xong.</a:t>
            </a:r>
          </a:p>
          <a:p>
            <a:r>
              <a:t>• Hỏi lớp: ai từng bị "chốt gấp trong hôm nay" khi mua hàng online?</a:t>
            </a:r>
          </a:p>
          <a:p/>
          <a:p>
            <a:r>
              <a:t>NÓI ĐỦ Ý (phần đã rút khỏi slide)</a:t>
            </a:r>
          </a:p>
          <a:p>
            <a:r>
              <a:t>• Neo giá sốc: bám vào tiêu chí khách quan, đừng vội điều chỉnh mục tiêu của mình.</a:t>
            </a:r>
          </a:p>
          <a:p>
            <a:r>
              <a:t>• Người tốt – kẻ xấu: nhận diện rồi chỉ đàm phán trên nội dung.</a:t>
            </a:r>
          </a:p>
          <a:p>
            <a:r>
              <a:t>• Thời hạn chót giả: kiểm chứng thực hư; có BATNA thì sẵn sàng rời bàn.</a:t>
            </a:r>
          </a:p>
          <a:p>
            <a:r>
              <a:t>• Cắt lát salami: gói toàn bộ điều khoản lại — “điểm này mở thì cả gói mở”.</a:t>
            </a:r>
          </a:p>
          <a:p>
            <a:r>
              <a:t>• Đòi hỏi phút chót: bình tĩnh định giá yêu cầu đó và đòi đối ứng tương xứng.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ROLE-PLAY (20 phút) — HOẠT ĐỘNG CHÍNH CỦA BUỔI</a:t>
            </a:r>
          </a:p>
          <a:p>
            <a:r>
              <a:t>• Chia cặp mua – bán, phát phiếu thông tin riêng cho mỗi bên (có ngân sách và giá sàn khác nhau).</a:t>
            </a:r>
          </a:p>
          <a:p>
            <a:r>
              <a:t>• 5 phút chuẩn bị: bắt buộc viết ra mục tiêu 3 mức và BATNA.</a:t>
            </a:r>
          </a:p>
          <a:p>
            <a:r>
              <a:t>• 10 phút đàm phán, 5 phút chốt và rút kinh nghiệm.</a:t>
            </a:r>
          </a:p>
          <a:p>
            <a:r>
              <a:t>• Cô đi quanh lớp quan sát, ghi lại 2–3 tình huống hay để phân tích chung.</a:t>
            </a:r>
          </a:p>
          <a:p>
            <a:r>
              <a:t>• Chốt: hỏi các cặp đạt thỏa thuận xem họ đã mở rộng chiếc bánh bằng cách nào.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TỔNG KẾT (2 phút)</a:t>
            </a:r>
          </a:p>
          <a:p>
            <a:r>
              <a:t>• Nhấn lại: thắng từ trước khi ngồi vào bàn; đàm phán về LỢI ÍCH; văn bản hóa kết quả.</a:t>
            </a:r>
          </a:p>
          <a:p>
            <a:r>
              <a:t>• Giao việc: 40 câu trắc nghiệm Chương 4; đọc trước Chương 5.</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ÔN TẬP (1 phút) — tự làm ở nhà.</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TÀI LIỆU (1 phút) — nhắc tải Nghị định 30/2020 cho buổi sau.</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SỐ CHUẨN BỊ (2 phút)</a:t>
            </a:r>
          </a:p>
          <a:p>
            <a:r>
              <a:t>• Nhấn 70% — đây là con số sinh viên hay bất ngờ.</a:t>
            </a:r>
          </a:p>
          <a:p>
            <a:r>
              <a:t>• Liên hệ: bài role-play cuối buổi sẽ chấm phần chuẩn bị (mục tiêu 3 mức + BATNA viết ra giấy).</a:t>
            </a:r>
          </a:p>
          <a:p>
            <a:r>
              <a:t>• Câu chốt đọc chậm: "Không chuẩn bị chính là chuẩn bị để nhượng bộ."''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CHUYỂN MỤC (30 giây).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TIẾN TRÌNH 5 GIAI ĐOẠN (2 phút)</a:t>
            </a:r>
          </a:p>
          <a:p>
            <a:r>
              <a:t>• Đi lướt 5 giai đoạn, dừng lại ở giai đoạn 1.</a:t>
            </a:r>
          </a:p>
          <a:p>
            <a:r>
              <a:t>• Nói con số: CHUẨN BỊ QUYẾT ĐỊNH 70% KẾT QUẢ.</a:t>
            </a:r>
          </a:p>
          <a:p>
            <a:r>
              <a:t>• Câu chốt: "Không chuẩn bị chính là chuẩn bị để nhượng bộ."''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CHUYỂN MỤC (30 giây).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5.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9.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2.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15.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DFBF8"/>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DC756A"/>
          </a:solidFill>
          <a:ln/>
        </p:spPr>
        <p:txBody>
          <a:bodyPr/>
          <a:p/>
        </p:txBody>
      </p:sp>
      <p:pic>
        <p:nvPicPr>
          <p:cNvPr id="3" name="Image 0" descr="/home/user/comdraft/assets/img/dau-huong.png">    </p:cNvPr>
          <p:cNvPicPr>
            <a:picLocks noChangeAspect="1"/>
          </p:cNvPicPr>
          <p:nvPr/>
        </p:nvPicPr>
        <p:blipFill>
          <a:blip r:embed="rId1">
            <a:alphaModFix amt="18000"/>
          </a:blip>
          <a:stretch>
            <a:fillRect/>
          </a:stretch>
        </p:blipFill>
        <p:spPr>
          <a:xfrm>
            <a:off x="8549640" y="1417320"/>
            <a:ext cx="3200400" cy="3200400"/>
          </a:xfrm>
          <a:prstGeom prst="rect">
            <a:avLst/>
          </a:prstGeom>
        </p:spPr>
      </p:pic>
      <p:pic>
        <p:nvPicPr>
          <p:cNvPr id="4" name="Image 1" descr="/home/user/comdraft/assets/img/lockup-huong.png">    </p:cNvPr>
          <p:cNvPicPr>
            <a:picLocks noChangeAspect="1"/>
          </p:cNvPicPr>
          <p:nvPr/>
        </p:nvPicPr>
        <p:blipFill>
          <a:blip r:embed="rId2"/>
          <a:stretch>
            <a:fillRect/>
          </a:stretch>
        </p:blipFill>
        <p:spPr>
          <a:xfrm>
            <a:off x="777240" y="411480"/>
            <a:ext cx="2834640" cy="1188720"/>
          </a:xfrm>
          <a:prstGeom prst="rect">
            <a:avLst/>
          </a:prstGeom>
        </p:spPr>
      </p:pic>
      <p:sp>
        <p:nvSpPr>
          <p:cNvPr id="5" name="Text 1"/>
          <p:cNvSpPr/>
          <p:nvPr/>
        </p:nvSpPr>
        <p:spPr>
          <a:xfrm>
            <a:off x="822960" y="2011680"/>
            <a:ext cx="10515600" cy="457200"/>
          </a:xfrm>
          <a:prstGeom prst="rect">
            <a:avLst/>
          </a:prstGeom>
          <a:noFill/>
          <a:ln/>
        </p:spPr>
        <p:txBody>
          <a:bodyPr wrap="square" lIns="0" tIns="0" rIns="0" bIns="0" rtlCol="0" anchor="ctr"/>
          <a:lstStyle/>
          <a:p>
            <a:pPr indent="0" marL="0">
              <a:buNone/>
            </a:pPr>
            <a:r>
              <a:rPr lang="en-US" sz="1800" b="1" spc="500" kern="0" dirty="0">
                <a:solidFill>
                  <a:srgbClr val="DC756A"/>
                </a:solidFill>
                <a:latin typeface="Calibri" pitchFamily="34" charset="0"/>
                <a:ea typeface="Calibri" pitchFamily="34" charset="-122"/>
                <a:cs typeface="Calibri" pitchFamily="34" charset="-120"/>
              </a:rPr>
              <a:t>CHAPTER 4</a:t>
            </a:r>
            <a:endParaRPr lang="en-US" sz="1800" dirty="0"/>
          </a:p>
        </p:txBody>
      </p:sp>
      <p:sp>
        <p:nvSpPr>
          <p:cNvPr id="6" name="Shape 2"/>
          <p:cNvSpPr/>
          <p:nvPr/>
        </p:nvSpPr>
        <p:spPr>
          <a:xfrm>
            <a:off x="822960" y="2487168"/>
            <a:ext cx="1371600" cy="41148"/>
          </a:xfrm>
          <a:prstGeom prst="rect">
            <a:avLst/>
          </a:prstGeom>
          <a:solidFill>
            <a:srgbClr val="DC756A"/>
          </a:solidFill>
          <a:ln/>
        </p:spPr>
        <p:txBody>
          <a:bodyPr/>
          <a:p/>
        </p:txBody>
      </p:sp>
      <p:sp>
        <p:nvSpPr>
          <p:cNvPr id="7" name="Text 3"/>
          <p:cNvSpPr/>
          <p:nvPr/>
        </p:nvSpPr>
        <p:spPr>
          <a:xfrm>
            <a:off x="822960" y="2697480"/>
            <a:ext cx="7589520" cy="1645920"/>
          </a:xfrm>
          <a:prstGeom prst="rect">
            <a:avLst/>
          </a:prstGeom>
          <a:noFill/>
          <a:ln/>
        </p:spPr>
        <p:txBody>
          <a:bodyPr wrap="square" lIns="0" tIns="0" rIns="0" bIns="0" rtlCol="0" anchor="ctr"/>
          <a:lstStyle/>
          <a:p>
            <a:pPr indent="0" marL="0">
              <a:buNone/>
            </a:pPr>
            <a:r>
              <a:rPr lang="en-US" sz="3800" b="1" dirty="0">
                <a:solidFill>
                  <a:srgbClr val="AC4D33"/>
                </a:solidFill>
                <a:latin typeface="Cambria" pitchFamily="34" charset="0"/>
                <a:ea typeface="Cambria" pitchFamily="34" charset="-122"/>
                <a:cs typeface="Cambria" pitchFamily="34" charset="-120"/>
              </a:rPr>
              <a:t>Negotiation</a:t>
            </a:r>
            <a:endParaRPr lang="en-US" sz="3800" dirty="0"/>
          </a:p>
          <a:p>
            <a:pPr indent="0" marL="0">
              <a:buNone/>
            </a:pPr>
            <a:r>
              <a:rPr lang="en-US" sz="3800" b="1" dirty="0">
                <a:solidFill>
                  <a:srgbClr val="AC4D33"/>
                </a:solidFill>
                <a:latin typeface="Cambria" pitchFamily="34" charset="0"/>
                <a:ea typeface="Cambria" pitchFamily="34" charset="-122"/>
                <a:cs typeface="Cambria" pitchFamily="34" charset="-120"/>
              </a:rPr>
              <a:t>in business</a:t>
            </a:r>
            <a:endParaRPr lang="en-US" sz="3800" dirty="0"/>
          </a:p>
        </p:txBody>
      </p:sp>
      <p:sp>
        <p:nvSpPr>
          <p:cNvPr id="8" name="Text 4"/>
          <p:cNvSpPr/>
          <p:nvPr/>
        </p:nvSpPr>
        <p:spPr>
          <a:xfrm>
            <a:off x="822960" y="4434840"/>
            <a:ext cx="7589520" cy="685800"/>
          </a:xfrm>
          <a:prstGeom prst="rect">
            <a:avLst/>
          </a:prstGeom>
          <a:noFill/>
          <a:ln/>
        </p:spPr>
        <p:txBody>
          <a:bodyPr wrap="square" lIns="0" tIns="0" rIns="0" bIns="0" rtlCol="0" anchor="ctr"/>
          <a:lstStyle/>
          <a:p>
            <a:pPr indent="0" marL="0">
              <a:buNone/>
            </a:pPr>
            <a:r>
              <a:rPr lang="en-US" sz="1400" i="1" dirty="0">
                <a:solidFill>
                  <a:srgbClr val="8A7A76"/>
                </a:solidFill>
                <a:latin typeface="Calibri" pitchFamily="34" charset="0"/>
                <a:ea typeface="Calibri" pitchFamily="34" charset="-122"/>
                <a:cs typeface="Calibri" pitchFamily="34" charset="-120"/>
              </a:rPr>
              <a:t>The art of reaching agreement without losing the relationship — the most directly profitable skill in business.</a:t>
            </a:r>
            <a:endParaRPr lang="en-US" sz="1400" dirty="0"/>
          </a:p>
        </p:txBody>
      </p:sp>
      <p:sp>
        <p:nvSpPr>
          <p:cNvPr id="9" name="Text 5"/>
          <p:cNvSpPr/>
          <p:nvPr/>
        </p:nvSpPr>
        <p:spPr>
          <a:xfrm>
            <a:off x="822960" y="5349240"/>
            <a:ext cx="7863840" cy="868680"/>
          </a:xfrm>
          <a:prstGeom prst="rect">
            <a:avLst/>
          </a:prstGeom>
          <a:noFill/>
          <a:ln/>
        </p:spPr>
        <p:txBody>
          <a:bodyPr wrap="square" lIns="0" tIns="0" rIns="0" bIns="0" rtlCol="0" anchor="ctr"/>
          <a:lstStyle/>
          <a:p>
            <a:pPr indent="0" marL="0">
              <a:buNone/>
            </a:pPr>
            <a:r>
              <a:rPr lang="en-US" sz="1500" b="1" dirty="0">
                <a:solidFill>
                  <a:srgbClr val="3A2B28"/>
                </a:solidFill>
                <a:latin typeface="Calibri" pitchFamily="34" charset="0"/>
                <a:ea typeface="Calibri" pitchFamily="34" charset="-122"/>
                <a:cs typeface="Calibri" pitchFamily="34" charset="-120"/>
              </a:rPr>
              <a:t>Do Thuy Huong, Lecturer</a:t>
            </a:r>
            <a:endParaRPr lang="en-US" sz="1500" dirty="0"/>
          </a:p>
          <a:p>
            <a:pPr indent="0" marL="0">
              <a:buNone/>
            </a:pPr>
            <a:r>
              <a:rPr lang="en-US" sz="1200" dirty="0">
                <a:solidFill>
                  <a:srgbClr val="8A7A76"/>
                </a:solidFill>
                <a:latin typeface="Calibri" pitchFamily="34" charset="0"/>
                <a:ea typeface="Calibri" pitchFamily="34" charset="-122"/>
                <a:cs typeface="Calibri" pitchFamily="34" charset="-120"/>
              </a:rPr>
              <a:t>EC1103 – Communication and Document Drafting Skills (2:1)  •  Class 261b, Semester 1, 2026 – 2027</a:t>
            </a:r>
            <a:endParaRPr lang="en-US" sz="1500" dirty="0"/>
          </a:p>
        </p:txBody>
      </p:sp>
      <p:sp>
        <p:nvSpPr>
          <p:cNvPr id="10" name="Text 6"/>
          <p:cNvSpPr/>
          <p:nvPr/>
        </p:nvSpPr>
        <p:spPr>
          <a:xfrm>
            <a:off x="822960" y="6355080"/>
            <a:ext cx="10515600" cy="320040"/>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 Do Thuy Huong, 2026 — Prepared for in-person teaching. Please credit the source.</a:t>
            </a:r>
            <a:endParaRPr lang="en-US" sz="900" dirty="0"/>
          </a:p>
        </p:txBody>
      </p:sp>
      <p:pic>
        <p:nvPicPr>
          <p:cNvPr id="11" name="Picture 10" descr="co-huong-doc.png"/>
          <p:cNvPicPr>
            <a:picLocks noChangeAspect="1"/>
          </p:cNvPicPr>
          <p:nvPr/>
        </p:nvPicPr>
        <p:blipFill>
          <a:blip r:embed="rId5"/>
          <a:stretch>
            <a:fillRect/>
          </a:stretch>
        </p:blipFill>
        <p:spPr>
          <a:xfrm>
            <a:off x="8641080" y="1051560"/>
            <a:ext cx="3279624" cy="51206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Do Thuy Huong, Lecturer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Chapter 4</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OBJECTIVES</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By the end of this chapter, students can</a:t>
            </a:r>
            <a:endParaRPr lang="en-US" sz="2700" dirty="0"/>
          </a:p>
        </p:txBody>
      </p:sp>
      <p:sp>
        <p:nvSpPr>
          <p:cNvPr id="9" name="Shape 6"/>
          <p:cNvSpPr/>
          <p:nvPr/>
        </p:nvSpPr>
        <p:spPr>
          <a:xfrm>
            <a:off x="502920" y="1618488"/>
            <a:ext cx="384048" cy="384048"/>
          </a:xfrm>
          <a:prstGeom prst="ellipse">
            <a:avLst/>
          </a:prstGeom>
          <a:solidFill>
            <a:srgbClr val="DC756A"/>
          </a:solidFill>
          <a:ln/>
        </p:spPr>
        <p:txBody>
          <a:bodyPr/>
          <a:p/>
        </p:txBody>
      </p:sp>
      <p:sp>
        <p:nvSpPr>
          <p:cNvPr id="10" name="Text 7"/>
          <p:cNvSpPr/>
          <p:nvPr/>
        </p:nvSpPr>
        <p:spPr>
          <a:xfrm>
            <a:off x="502920" y="16184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8"/>
          <p:cNvSpPr/>
          <p:nvPr/>
        </p:nvSpPr>
        <p:spPr>
          <a:xfrm>
            <a:off x="1051560" y="1545336"/>
            <a:ext cx="10652760" cy="960120"/>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Explain  —  </a:t>
            </a:r>
            <a:pPr indent="0" marL="0">
              <a:buNone/>
            </a:pPr>
            <a:r>
              <a:rPr lang="en-US" sz="1350" dirty="0">
                <a:solidFill>
                  <a:srgbClr val="3A2B28"/>
                </a:solidFill>
                <a:latin typeface="Calibri" pitchFamily="34" charset="0"/>
                <a:ea typeface="Calibri" pitchFamily="34" charset="-122"/>
                <a:cs typeface="Calibri" pitchFamily="34" charset="-120"/>
              </a:rPr>
              <a:t>what negotiation is, what marks it out, and the three styles of it.</a:t>
            </a:r>
            <a:endParaRPr lang="en-US" sz="1400" dirty="0"/>
          </a:p>
        </p:txBody>
      </p:sp>
      <p:sp>
        <p:nvSpPr>
          <p:cNvPr id="12" name="Shape 9"/>
          <p:cNvSpPr/>
          <p:nvPr/>
        </p:nvSpPr>
        <p:spPr>
          <a:xfrm>
            <a:off x="502920" y="2578608"/>
            <a:ext cx="384048" cy="384048"/>
          </a:xfrm>
          <a:prstGeom prst="ellipse">
            <a:avLst/>
          </a:prstGeom>
          <a:solidFill>
            <a:srgbClr val="DC756A"/>
          </a:solidFill>
          <a:ln/>
        </p:spPr>
        <p:txBody>
          <a:bodyPr/>
          <a:p/>
        </p:txBody>
      </p:sp>
      <p:sp>
        <p:nvSpPr>
          <p:cNvPr id="13" name="Text 10"/>
          <p:cNvSpPr/>
          <p:nvPr/>
        </p:nvSpPr>
        <p:spPr>
          <a:xfrm>
            <a:off x="502920" y="2578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1"/>
          <p:cNvSpPr/>
          <p:nvPr/>
        </p:nvSpPr>
        <p:spPr>
          <a:xfrm>
            <a:off x="1051560" y="2505456"/>
            <a:ext cx="10652760" cy="960120"/>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Describe  —  </a:t>
            </a:r>
            <a:pPr indent="0" marL="0">
              <a:buNone/>
            </a:pPr>
            <a:r>
              <a:rPr lang="en-US" sz="1350" dirty="0">
                <a:solidFill>
                  <a:srgbClr val="3A2B28"/>
                </a:solidFill>
                <a:latin typeface="Calibri" pitchFamily="34" charset="0"/>
                <a:ea typeface="Calibri" pitchFamily="34" charset="-122"/>
                <a:cs typeface="Calibri" pitchFamily="34" charset="-120"/>
              </a:rPr>
              <a:t>the five stages of a negotiation and the key task of each.</a:t>
            </a:r>
            <a:endParaRPr lang="en-US" sz="1400" dirty="0"/>
          </a:p>
        </p:txBody>
      </p:sp>
      <p:sp>
        <p:nvSpPr>
          <p:cNvPr id="15" name="Shape 12"/>
          <p:cNvSpPr/>
          <p:nvPr/>
        </p:nvSpPr>
        <p:spPr>
          <a:xfrm>
            <a:off x="502920" y="3538728"/>
            <a:ext cx="384048" cy="384048"/>
          </a:xfrm>
          <a:prstGeom prst="ellipse">
            <a:avLst/>
          </a:prstGeom>
          <a:solidFill>
            <a:srgbClr val="DC756A"/>
          </a:solidFill>
          <a:ln/>
        </p:spPr>
        <p:txBody>
          <a:bodyPr/>
          <a:p/>
        </p:txBody>
      </p:sp>
      <p:sp>
        <p:nvSpPr>
          <p:cNvPr id="16" name="Text 13"/>
          <p:cNvSpPr/>
          <p:nvPr/>
        </p:nvSpPr>
        <p:spPr>
          <a:xfrm>
            <a:off x="502920" y="35387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4"/>
          <p:cNvSpPr/>
          <p:nvPr/>
        </p:nvSpPr>
        <p:spPr>
          <a:xfrm>
            <a:off x="1051560" y="3465576"/>
            <a:ext cx="10652760" cy="960120"/>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Apply  —  </a:t>
            </a:r>
            <a:pPr indent="0" marL="0">
              <a:buNone/>
            </a:pPr>
            <a:r>
              <a:rPr lang="en-US" sz="1350" dirty="0">
                <a:solidFill>
                  <a:srgbClr val="3A2B28"/>
                </a:solidFill>
                <a:latin typeface="Calibri" pitchFamily="34" charset="0"/>
                <a:ea typeface="Calibri" pitchFamily="34" charset="-122"/>
                <a:cs typeface="Calibri" pitchFamily="34" charset="-120"/>
              </a:rPr>
              <a:t>the core skills: preparing a BATNA, questioning, conceding on condition.</a:t>
            </a:r>
            <a:endParaRPr lang="en-US" sz="1400" dirty="0"/>
          </a:p>
        </p:txBody>
      </p:sp>
      <p:sp>
        <p:nvSpPr>
          <p:cNvPr id="18" name="Shape 15"/>
          <p:cNvSpPr/>
          <p:nvPr/>
        </p:nvSpPr>
        <p:spPr>
          <a:xfrm>
            <a:off x="502920" y="4498848"/>
            <a:ext cx="384048" cy="384048"/>
          </a:xfrm>
          <a:prstGeom prst="ellipse">
            <a:avLst/>
          </a:prstGeom>
          <a:solidFill>
            <a:srgbClr val="DC756A"/>
          </a:solidFill>
          <a:ln/>
        </p:spPr>
        <p:txBody>
          <a:bodyPr/>
          <a:p/>
        </p:txBody>
      </p:sp>
      <p:sp>
        <p:nvSpPr>
          <p:cNvPr id="19" name="Text 16"/>
          <p:cNvSpPr/>
          <p:nvPr/>
        </p:nvSpPr>
        <p:spPr>
          <a:xfrm>
            <a:off x="502920" y="44988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0" name="Text 17"/>
          <p:cNvSpPr/>
          <p:nvPr/>
        </p:nvSpPr>
        <p:spPr>
          <a:xfrm>
            <a:off x="1051560" y="4425696"/>
            <a:ext cx="10652760" cy="960120"/>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Recognise  —  </a:t>
            </a:r>
            <a:pPr indent="0" marL="0">
              <a:buNone/>
            </a:pPr>
            <a:r>
              <a:rPr lang="en-US" sz="1350" dirty="0">
                <a:solidFill>
                  <a:srgbClr val="3A2B28"/>
                </a:solidFill>
                <a:latin typeface="Calibri" pitchFamily="34" charset="0"/>
                <a:ea typeface="Calibri" pitchFamily="34" charset="-122"/>
                <a:cs typeface="Calibri" pitchFamily="34" charset="-120"/>
              </a:rPr>
              <a:t>the common tactics used at the table, and how to answer them professionally.</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Do Thuy Huong, Lecturer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Chapter 4</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CONTENTS</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What we will go through</a:t>
            </a:r>
            <a:endParaRPr lang="en-US" sz="2700" dirty="0"/>
          </a:p>
        </p:txBody>
      </p:sp>
      <p:sp>
        <p:nvSpPr>
          <p:cNvPr id="9" name="Shape 6"/>
          <p:cNvSpPr/>
          <p:nvPr/>
        </p:nvSpPr>
        <p:spPr>
          <a:xfrm>
            <a:off x="502920" y="1618488"/>
            <a:ext cx="384048" cy="384048"/>
          </a:xfrm>
          <a:prstGeom prst="ellipse">
            <a:avLst/>
          </a:prstGeom>
          <a:solidFill>
            <a:srgbClr val="DC756A"/>
          </a:solidFill>
          <a:ln/>
        </p:spPr>
        <p:txBody>
          <a:bodyPr/>
          <a:p/>
        </p:txBody>
      </p:sp>
      <p:sp>
        <p:nvSpPr>
          <p:cNvPr id="10" name="Text 7"/>
          <p:cNvSpPr/>
          <p:nvPr/>
        </p:nvSpPr>
        <p:spPr>
          <a:xfrm>
            <a:off x="502920" y="16184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8"/>
          <p:cNvSpPr/>
          <p:nvPr/>
        </p:nvSpPr>
        <p:spPr>
          <a:xfrm>
            <a:off x="1051560" y="1545336"/>
            <a:ext cx="10652760" cy="1280160"/>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4.1  —  </a:t>
            </a:r>
            <a:pPr indent="0" marL="0">
              <a:buNone/>
            </a:pPr>
            <a:r>
              <a:rPr lang="en-US" sz="1350" dirty="0">
                <a:solidFill>
                  <a:srgbClr val="3A2B28"/>
                </a:solidFill>
                <a:latin typeface="Calibri" pitchFamily="34" charset="0"/>
                <a:ea typeface="Calibri" pitchFamily="34" charset="-122"/>
                <a:cs typeface="Calibri" pitchFamily="34" charset="-120"/>
              </a:rPr>
              <a:t>What negotiation is, what marks it out, and its three styles</a:t>
            </a:r>
            <a:endParaRPr lang="en-US" sz="1400" dirty="0"/>
          </a:p>
        </p:txBody>
      </p:sp>
      <p:sp>
        <p:nvSpPr>
          <p:cNvPr id="12" name="Shape 9"/>
          <p:cNvSpPr/>
          <p:nvPr/>
        </p:nvSpPr>
        <p:spPr>
          <a:xfrm>
            <a:off x="502920" y="2898648"/>
            <a:ext cx="384048" cy="384048"/>
          </a:xfrm>
          <a:prstGeom prst="ellipse">
            <a:avLst/>
          </a:prstGeom>
          <a:solidFill>
            <a:srgbClr val="DC756A"/>
          </a:solidFill>
          <a:ln/>
        </p:spPr>
        <p:txBody>
          <a:bodyPr/>
          <a:p/>
        </p:txBody>
      </p:sp>
      <p:sp>
        <p:nvSpPr>
          <p:cNvPr id="13" name="Text 10"/>
          <p:cNvSpPr/>
          <p:nvPr/>
        </p:nvSpPr>
        <p:spPr>
          <a:xfrm>
            <a:off x="502920" y="28986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1"/>
          <p:cNvSpPr/>
          <p:nvPr/>
        </p:nvSpPr>
        <p:spPr>
          <a:xfrm>
            <a:off x="1051560" y="2825496"/>
            <a:ext cx="10652760" cy="1280160"/>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4.2  —  </a:t>
            </a:r>
            <a:pPr indent="0" marL="0">
              <a:buNone/>
            </a:pPr>
            <a:r>
              <a:rPr lang="en-US" sz="1350" dirty="0">
                <a:solidFill>
                  <a:srgbClr val="3A2B28"/>
                </a:solidFill>
                <a:latin typeface="Calibri" pitchFamily="34" charset="0"/>
                <a:ea typeface="Calibri" pitchFamily="34" charset="-122"/>
                <a:cs typeface="Calibri" pitchFamily="34" charset="-120"/>
              </a:rPr>
              <a:t>The five stages, from preparation to what follows the deal</a:t>
            </a:r>
            <a:endParaRPr lang="en-US" sz="1400" dirty="0"/>
          </a:p>
        </p:txBody>
      </p:sp>
      <p:sp>
        <p:nvSpPr>
          <p:cNvPr id="15" name="Shape 12"/>
          <p:cNvSpPr/>
          <p:nvPr/>
        </p:nvSpPr>
        <p:spPr>
          <a:xfrm>
            <a:off x="502920" y="4178808"/>
            <a:ext cx="384048" cy="384048"/>
          </a:xfrm>
          <a:prstGeom prst="ellipse">
            <a:avLst/>
          </a:prstGeom>
          <a:solidFill>
            <a:srgbClr val="DC756A"/>
          </a:solidFill>
          <a:ln/>
        </p:spPr>
        <p:txBody>
          <a:bodyPr/>
          <a:p/>
        </p:txBody>
      </p:sp>
      <p:sp>
        <p:nvSpPr>
          <p:cNvPr id="16" name="Text 13"/>
          <p:cNvSpPr/>
          <p:nvPr/>
        </p:nvSpPr>
        <p:spPr>
          <a:xfrm>
            <a:off x="502920" y="41788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4"/>
          <p:cNvSpPr/>
          <p:nvPr/>
        </p:nvSpPr>
        <p:spPr>
          <a:xfrm>
            <a:off x="1051560" y="4105656"/>
            <a:ext cx="10652760" cy="1280160"/>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4.3  —  </a:t>
            </a:r>
            <a:pPr indent="0" marL="0">
              <a:buNone/>
            </a:pPr>
            <a:r>
              <a:rPr lang="en-US" sz="1350" dirty="0">
                <a:solidFill>
                  <a:srgbClr val="3A2B28"/>
                </a:solidFill>
                <a:latin typeface="Calibri" pitchFamily="34" charset="0"/>
                <a:ea typeface="Calibri" pitchFamily="34" charset="-122"/>
                <a:cs typeface="Calibri" pitchFamily="34" charset="-120"/>
              </a:rPr>
              <a:t>Negotiation skills, and how to spot the common tactics</a:t>
            </a:r>
            <a:endParaRPr lang="en-US" sz="1400"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03120"/>
            <a:ext cx="12191695" cy="2743200"/>
          </a:xfrm>
          <a:prstGeom prst="rect">
            <a:avLst/>
          </a:prstGeom>
          <a:solidFill>
            <a:srgbClr val="FD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74320" cy="6858000"/>
          </a:xfrm>
          <a:prstGeom prst="rect">
            <a:avLst/>
          </a:prstGeom>
          <a:solidFill>
            <a:srgbClr val="DC75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2377440"/>
            <a:ext cx="9692640" cy="411480"/>
          </a:xfrm>
          <a:prstGeom prst="rect">
            <a:avLst/>
          </a:prstGeom>
          <a:noFill/>
        </p:spPr>
        <p:txBody>
          <a:bodyPr wrap="none">
            <a:spAutoFit/>
          </a:bodyPr>
          <a:lstStyle/>
          <a:p>
            <a:r>
              <a:rPr sz="1500" b="1">
                <a:solidFill>
                  <a:srgbClr val="DC756A"/>
                </a:solidFill>
                <a:latin typeface="Calibri"/>
              </a:rPr>
              <a:t>SECTION 4.1</a:t>
            </a:r>
          </a:p>
        </p:txBody>
      </p:sp>
      <p:sp>
        <p:nvSpPr>
          <p:cNvPr id="6" name="TextBox 5"/>
          <p:cNvSpPr txBox="1"/>
          <p:nvPr/>
        </p:nvSpPr>
        <p:spPr>
          <a:xfrm>
            <a:off x="1280160" y="2788920"/>
            <a:ext cx="9601200" cy="1371600"/>
          </a:xfrm>
          <a:prstGeom prst="rect">
            <a:avLst/>
          </a:prstGeom>
          <a:noFill/>
        </p:spPr>
        <p:txBody>
          <a:bodyPr wrap="square">
            <a:spAutoFit/>
          </a:bodyPr>
          <a:lstStyle/>
          <a:p>
            <a:r>
              <a:rPr sz="3800" b="1">
                <a:solidFill>
                  <a:srgbClr val="AC4D33"/>
                </a:solidFill>
                <a:latin typeface="Cambria"/>
              </a:rPr>
              <a:t>What negotiation is, and its styles</a:t>
            </a:r>
          </a:p>
        </p:txBody>
      </p:sp>
      <p:sp>
        <p:nvSpPr>
          <p:cNvPr id="7" name="TextBox 6"/>
          <p:cNvSpPr txBox="1"/>
          <p:nvPr/>
        </p:nvSpPr>
        <p:spPr>
          <a:xfrm>
            <a:off x="1280160" y="4224528"/>
            <a:ext cx="9418320" cy="640080"/>
          </a:xfrm>
          <a:prstGeom prst="rect">
            <a:avLst/>
          </a:prstGeom>
          <a:noFill/>
        </p:spPr>
        <p:txBody>
          <a:bodyPr wrap="square">
            <a:spAutoFit/>
          </a:bodyPr>
          <a:lstStyle/>
          <a:p>
            <a:r>
              <a:rPr sz="1450" i="1">
                <a:solidFill>
                  <a:srgbClr val="8A7A76"/>
                </a:solidFill>
                <a:latin typeface="Calibri"/>
              </a:rPr>
              <a:t>Understand its double nature: cooperative and competitive at once.</a:t>
            </a:r>
          </a:p>
        </p:txBody>
      </p:sp>
      <p:sp>
        <p:nvSpPr>
          <p:cNvPr id="8" name="TextBox 7"/>
          <p:cNvSpPr txBox="1"/>
          <p:nvPr/>
        </p:nvSpPr>
        <p:spPr>
          <a:xfrm>
            <a:off x="502920" y="6419088"/>
            <a:ext cx="7772400" cy="292608"/>
          </a:xfrm>
          <a:prstGeom prst="rect">
            <a:avLst/>
          </a:prstGeom>
          <a:noFill/>
        </p:spPr>
        <p:txBody>
          <a:bodyPr wrap="none">
            <a:spAutoFit/>
          </a:bodyPr>
          <a:lstStyle/>
          <a:p>
            <a:r>
              <a:rPr sz="900">
                <a:solidFill>
                  <a:srgbClr val="8A7A76"/>
                </a:solidFill>
                <a:latin typeface="Calibri"/>
              </a:rPr>
              <a:t>Je m'appelle Huong  •  Do Thuy Huong, Lecturer  •  EC1103</a:t>
            </a:r>
          </a:p>
        </p:txBody>
      </p:sp>
      <p:sp>
        <p:nvSpPr>
          <p:cNvPr id="9" name="TextBox 8"/>
          <p:cNvSpPr txBox="1"/>
          <p:nvPr/>
        </p:nvSpPr>
        <p:spPr>
          <a:xfrm>
            <a:off x="9326880" y="6419088"/>
            <a:ext cx="1920240" cy="292608"/>
          </a:xfrm>
          <a:prstGeom prst="rect">
            <a:avLst/>
          </a:prstGeom>
          <a:noFill/>
        </p:spPr>
        <p:txBody>
          <a:bodyPr wrap="none">
            <a:spAutoFit/>
          </a:bodyPr>
          <a:lstStyle/>
          <a:p>
            <a:pPr algn="r"/>
            <a:r>
              <a:rPr sz="900">
                <a:solidFill>
                  <a:srgbClr val="8A7A76"/>
                </a:solidFill>
                <a:latin typeface="Calibri"/>
              </a:rPr>
              <a:t>Chapter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Do Thuy Huong, Lecturer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Chapter 4</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4.1</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What is negotiation?</a:t>
            </a:r>
            <a:endParaRPr lang="en-US" sz="2700" dirty="0"/>
          </a:p>
        </p:txBody>
      </p:sp>
      <p:sp>
        <p:nvSpPr>
          <p:cNvPr id="9" name="Shape 6"/>
          <p:cNvSpPr/>
          <p:nvPr/>
        </p:nvSpPr>
        <p:spPr>
          <a:xfrm>
            <a:off x="502920" y="1417320"/>
            <a:ext cx="11201400" cy="1490472"/>
          </a:xfrm>
          <a:prstGeom prst="roundRect">
            <a:avLst>
              <a:gd name="adj" fmla="val 5521"/>
            </a:avLst>
          </a:prstGeom>
          <a:solidFill>
            <a:srgbClr val="FDF1EF"/>
          </a:solidFill>
          <a:ln w="15875">
            <a:solidFill>
              <a:srgbClr val="FBCEC9"/>
            </a:solidFill>
            <a:prstDash val="solid"/>
          </a:ln>
        </p:spPr>
        <p:txBody>
          <a:bodyPr/>
          <a:p/>
        </p:txBody>
      </p:sp>
      <p:sp>
        <p:nvSpPr>
          <p:cNvPr id="10" name="Text 7"/>
          <p:cNvSpPr/>
          <p:nvPr/>
        </p:nvSpPr>
        <p:spPr>
          <a:xfrm>
            <a:off x="722376" y="1472184"/>
            <a:ext cx="10762488" cy="138074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The idea</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Parties with both shared and conflicting interests working towards an agreement</a:t>
            </a:r>
            <a:endParaRPr lang="en-US" sz="1500" dirty="0"/>
          </a:p>
        </p:txBody>
      </p:sp>
      <p:sp>
        <p:nvSpPr>
          <p:cNvPr id="11" name="Shape 8"/>
          <p:cNvSpPr/>
          <p:nvPr/>
        </p:nvSpPr>
        <p:spPr>
          <a:xfrm>
            <a:off x="502920" y="3072384"/>
            <a:ext cx="11201400" cy="1490472"/>
          </a:xfrm>
          <a:prstGeom prst="roundRect">
            <a:avLst>
              <a:gd name="adj" fmla="val 5521"/>
            </a:avLst>
          </a:prstGeom>
          <a:solidFill>
            <a:srgbClr val="FDF1EF"/>
          </a:solidFill>
          <a:ln w="15875">
            <a:solidFill>
              <a:srgbClr val="FBCEC9"/>
            </a:solidFill>
            <a:prstDash val="solid"/>
          </a:ln>
        </p:spPr>
        <p:txBody>
          <a:bodyPr/>
          <a:p/>
        </p:txBody>
      </p:sp>
      <p:sp>
        <p:nvSpPr>
          <p:cNvPr id="12" name="Text 9"/>
          <p:cNvSpPr/>
          <p:nvPr/>
        </p:nvSpPr>
        <p:spPr>
          <a:xfrm>
            <a:off x="722376" y="3127248"/>
            <a:ext cx="10762488" cy="138074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A double nature: cooperation + competition</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Cooperate to grow the pie • compete when dividing it</a:t>
            </a:r>
            <a:endParaRPr lang="en-US" sz="1500" dirty="0"/>
          </a:p>
        </p:txBody>
      </p:sp>
      <p:sp>
        <p:nvSpPr>
          <p:cNvPr id="13" name="Shape 10"/>
          <p:cNvSpPr/>
          <p:nvPr/>
        </p:nvSpPr>
        <p:spPr>
          <a:xfrm>
            <a:off x="502920" y="4727448"/>
            <a:ext cx="11201400" cy="1490472"/>
          </a:xfrm>
          <a:prstGeom prst="roundRect">
            <a:avLst>
              <a:gd name="adj" fmla="val 5521"/>
            </a:avLst>
          </a:prstGeom>
          <a:solidFill>
            <a:srgbClr val="FDF1EF"/>
          </a:solidFill>
          <a:ln w="15875">
            <a:solidFill>
              <a:srgbClr val="FBCEC9"/>
            </a:solidFill>
            <a:prstDash val="solid"/>
          </a:ln>
        </p:spPr>
        <p:txBody>
          <a:bodyPr/>
          <a:p/>
        </p:txBody>
      </p:sp>
      <p:sp>
        <p:nvSpPr>
          <p:cNvPr id="14" name="Text 11"/>
          <p:cNvSpPr/>
          <p:nvPr/>
        </p:nvSpPr>
        <p:spPr>
          <a:xfrm>
            <a:off x="722376" y="4782312"/>
            <a:ext cx="10762488" cy="138074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Three sources of power at the table</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Information • Time • Leverage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Do Thuy Huong, Lecturer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Chapter 4</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4.1</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What marks out business negotiation</a:t>
            </a:r>
            <a:endParaRPr lang="en-US" sz="2700" dirty="0"/>
          </a:p>
        </p:txBody>
      </p:sp>
      <p:sp>
        <p:nvSpPr>
          <p:cNvPr id="9" name="Shape 6"/>
          <p:cNvSpPr/>
          <p:nvPr/>
        </p:nvSpPr>
        <p:spPr>
          <a:xfrm>
            <a:off x="502920" y="1572768"/>
            <a:ext cx="384048" cy="384048"/>
          </a:xfrm>
          <a:prstGeom prst="ellipse">
            <a:avLst/>
          </a:prstGeom>
          <a:solidFill>
            <a:srgbClr val="DC756A"/>
          </a:solidFill>
          <a:ln/>
        </p:spPr>
        <p:txBody>
          <a:bodyPr/>
          <a:p/>
        </p:txBody>
      </p:sp>
      <p:sp>
        <p:nvSpPr>
          <p:cNvPr id="10" name="Text 7"/>
          <p:cNvSpPr/>
          <p:nvPr/>
        </p:nvSpPr>
        <p:spPr>
          <a:xfrm>
            <a:off x="502920" y="15727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8"/>
          <p:cNvSpPr/>
          <p:nvPr/>
        </p:nvSpPr>
        <p:spPr>
          <a:xfrm>
            <a:off x="1051560" y="1499616"/>
            <a:ext cx="10652760" cy="941832"/>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Economic interest at the centre  —  </a:t>
            </a:r>
            <a:pPr indent="0" marL="0">
              <a:buNone/>
            </a:pPr>
            <a:r>
              <a:rPr lang="en-US" sz="1350" dirty="0">
                <a:solidFill>
                  <a:srgbClr val="3A2B28"/>
                </a:solidFill>
                <a:latin typeface="Calibri" pitchFamily="34" charset="0"/>
                <a:ea typeface="Calibri" pitchFamily="34" charset="-122"/>
                <a:cs typeface="Calibri" pitchFamily="34" charset="-120"/>
              </a:rPr>
              <a:t>every clause comes back to value, cost and risk</a:t>
            </a:r>
            <a:endParaRPr lang="en-US" sz="1400" dirty="0"/>
          </a:p>
        </p:txBody>
      </p:sp>
      <p:sp>
        <p:nvSpPr>
          <p:cNvPr id="12" name="Shape 9"/>
          <p:cNvSpPr/>
          <p:nvPr/>
        </p:nvSpPr>
        <p:spPr>
          <a:xfrm>
            <a:off x="502920" y="2514600"/>
            <a:ext cx="384048" cy="384048"/>
          </a:xfrm>
          <a:prstGeom prst="ellipse">
            <a:avLst/>
          </a:prstGeom>
          <a:solidFill>
            <a:srgbClr val="DC756A"/>
          </a:solidFill>
          <a:ln/>
        </p:spPr>
        <p:txBody>
          <a:bodyPr/>
          <a:p/>
        </p:txBody>
      </p:sp>
      <p:sp>
        <p:nvSpPr>
          <p:cNvPr id="13" name="Text 10"/>
          <p:cNvSpPr/>
          <p:nvPr/>
        </p:nvSpPr>
        <p:spPr>
          <a:xfrm>
            <a:off x="502920" y="25146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1"/>
          <p:cNvSpPr/>
          <p:nvPr/>
        </p:nvSpPr>
        <p:spPr>
          <a:xfrm>
            <a:off x="1051560" y="2441448"/>
            <a:ext cx="10652760" cy="941832"/>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Parties both dependent and independent  —  </a:t>
            </a:r>
            <a:pPr indent="0" marL="0">
              <a:buNone/>
            </a:pPr>
            <a:r>
              <a:rPr lang="en-US" sz="1350" dirty="0">
                <a:solidFill>
                  <a:srgbClr val="3A2B28"/>
                </a:solidFill>
                <a:latin typeface="Calibri" pitchFamily="34" charset="0"/>
                <a:ea typeface="Calibri" pitchFamily="34" charset="-122"/>
                <a:cs typeface="Calibri" pitchFamily="34" charset="-120"/>
              </a:rPr>
              <a:t>they need each other, yet each has an alternative</a:t>
            </a:r>
            <a:endParaRPr lang="en-US" sz="1400" dirty="0"/>
          </a:p>
        </p:txBody>
      </p:sp>
      <p:sp>
        <p:nvSpPr>
          <p:cNvPr id="15" name="Shape 12"/>
          <p:cNvSpPr/>
          <p:nvPr/>
        </p:nvSpPr>
        <p:spPr>
          <a:xfrm>
            <a:off x="502920" y="3456432"/>
            <a:ext cx="384048" cy="384048"/>
          </a:xfrm>
          <a:prstGeom prst="ellipse">
            <a:avLst/>
          </a:prstGeom>
          <a:solidFill>
            <a:srgbClr val="DC756A"/>
          </a:solidFill>
          <a:ln/>
        </p:spPr>
        <p:txBody>
          <a:bodyPr/>
          <a:p/>
        </p:txBody>
      </p:sp>
      <p:sp>
        <p:nvSpPr>
          <p:cNvPr id="16" name="Text 13"/>
          <p:cNvSpPr/>
          <p:nvPr/>
        </p:nvSpPr>
        <p:spPr>
          <a:xfrm>
            <a:off x="502920" y="34564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4"/>
          <p:cNvSpPr/>
          <p:nvPr/>
        </p:nvSpPr>
        <p:spPr>
          <a:xfrm>
            <a:off x="1051560" y="3383280"/>
            <a:ext cx="10652760" cy="941832"/>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The agreement must be put in writing  —  </a:t>
            </a:r>
            <a:pPr indent="0" marL="0">
              <a:buNone/>
            </a:pPr>
            <a:r>
              <a:rPr lang="en-US" sz="1350" dirty="0">
                <a:solidFill>
                  <a:srgbClr val="3A2B28"/>
                </a:solidFill>
                <a:latin typeface="Calibri" pitchFamily="34" charset="0"/>
                <a:ea typeface="Calibri" pitchFamily="34" charset="-122"/>
                <a:cs typeface="Calibri" pitchFamily="34" charset="-120"/>
              </a:rPr>
              <a:t>it is safe only as a contract in correct form</a:t>
            </a:r>
            <a:endParaRPr lang="en-US" sz="1400" dirty="0"/>
          </a:p>
        </p:txBody>
      </p:sp>
      <p:sp>
        <p:nvSpPr>
          <p:cNvPr id="18" name="Shape 15"/>
          <p:cNvSpPr/>
          <p:nvPr/>
        </p:nvSpPr>
        <p:spPr>
          <a:xfrm>
            <a:off x="502920" y="4398264"/>
            <a:ext cx="384048" cy="384048"/>
          </a:xfrm>
          <a:prstGeom prst="ellipse">
            <a:avLst/>
          </a:prstGeom>
          <a:solidFill>
            <a:srgbClr val="DC756A"/>
          </a:solidFill>
          <a:ln/>
        </p:spPr>
        <p:txBody>
          <a:bodyPr/>
          <a:p/>
        </p:txBody>
      </p:sp>
      <p:sp>
        <p:nvSpPr>
          <p:cNvPr id="19" name="Text 16"/>
          <p:cNvSpPr/>
          <p:nvPr/>
        </p:nvSpPr>
        <p:spPr>
          <a:xfrm>
            <a:off x="502920" y="43982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0" name="Text 17"/>
          <p:cNvSpPr/>
          <p:nvPr/>
        </p:nvSpPr>
        <p:spPr>
          <a:xfrm>
            <a:off x="1051560" y="4325112"/>
            <a:ext cx="10652760" cy="941832"/>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It runs inside limits  —  </a:t>
            </a:r>
            <a:pPr indent="0" marL="0">
              <a:buNone/>
            </a:pPr>
            <a:r>
              <a:rPr lang="en-US" sz="1350" dirty="0">
                <a:solidFill>
                  <a:srgbClr val="3A2B28"/>
                </a:solidFill>
                <a:latin typeface="Calibri" pitchFamily="34" charset="0"/>
                <a:ea typeface="Calibri" pitchFamily="34" charset="-122"/>
                <a:cs typeface="Calibri" pitchFamily="34" charset="-120"/>
              </a:rPr>
              <a:t>time, authority and budget — on both sides</a:t>
            </a:r>
            <a:endParaRPr lang="en-US" sz="1400" dirty="0"/>
          </a:p>
        </p:txBody>
      </p:sp>
      <p:sp>
        <p:nvSpPr>
          <p:cNvPr id="21" name="Shape 18"/>
          <p:cNvSpPr/>
          <p:nvPr/>
        </p:nvSpPr>
        <p:spPr>
          <a:xfrm>
            <a:off x="502920" y="5340096"/>
            <a:ext cx="384048" cy="384048"/>
          </a:xfrm>
          <a:prstGeom prst="ellipse">
            <a:avLst/>
          </a:prstGeom>
          <a:solidFill>
            <a:srgbClr val="DC756A"/>
          </a:solidFill>
          <a:ln/>
        </p:spPr>
        <p:txBody>
          <a:bodyPr/>
          <a:p/>
        </p:txBody>
      </p:sp>
      <p:sp>
        <p:nvSpPr>
          <p:cNvPr id="22" name="Text 19"/>
          <p:cNvSpPr/>
          <p:nvPr/>
        </p:nvSpPr>
        <p:spPr>
          <a:xfrm>
            <a:off x="502920" y="534009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3" name="Text 20"/>
          <p:cNvSpPr/>
          <p:nvPr/>
        </p:nvSpPr>
        <p:spPr>
          <a:xfrm>
            <a:off x="1051560" y="5266944"/>
            <a:ext cx="10652760" cy="941832"/>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Shaped by culture and relationship  —  </a:t>
            </a:r>
            <a:pPr indent="0" marL="0">
              <a:buNone/>
            </a:pPr>
            <a:r>
              <a:rPr lang="en-US" sz="1350" dirty="0">
                <a:solidFill>
                  <a:srgbClr val="3A2B28"/>
                </a:solidFill>
                <a:latin typeface="Calibri" pitchFamily="34" charset="0"/>
                <a:ea typeface="Calibri" pitchFamily="34" charset="-122"/>
                <a:cs typeface="Calibri" pitchFamily="34" charset="-120"/>
              </a:rPr>
              <a:t>a one-off deal is nothing like a long partnership</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Do Thuy Huong, Lecturer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Chapter 4</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4.1</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Styles of negotiation</a:t>
            </a:r>
            <a:endParaRPr lang="en-US" sz="2700" dirty="0"/>
          </a:p>
        </p:txBody>
      </p:sp>
      <p:pic>
        <p:nvPicPr>
          <p:cNvPr id="9" name="Picture 8" descr="c4-ba-kieu-dam-phan-nt.png"/>
          <p:cNvPicPr>
            <a:picLocks noChangeAspect="1"/>
          </p:cNvPicPr>
          <p:nvPr/>
        </p:nvPicPr>
        <p:blipFill>
          <a:blip r:embed="rId4"/>
          <a:stretch>
            <a:fillRect/>
          </a:stretch>
        </p:blipFill>
        <p:spPr>
          <a:xfrm>
            <a:off x="847426" y="1789023"/>
            <a:ext cx="10496843" cy="4093768"/>
          </a:xfrm>
          <a:prstGeom prst="rect">
            <a:avLst/>
          </a:prstGeom>
        </p:spPr>
      </p:pic>
      <p:sp>
        <p:nvSpPr>
          <p:cNvPr id="10" name="TextBox 9"/>
          <p:cNvSpPr txBox="1"/>
          <p:nvPr/>
        </p:nvSpPr>
        <p:spPr>
          <a:xfrm>
            <a:off x="548640" y="5955944"/>
            <a:ext cx="11109960" cy="310896"/>
          </a:xfrm>
          <a:prstGeom prst="rect">
            <a:avLst/>
          </a:prstGeom>
          <a:noFill/>
        </p:spPr>
        <p:txBody>
          <a:bodyPr wrap="square">
            <a:spAutoFit/>
          </a:bodyPr>
          <a:lstStyle/>
          <a:p>
            <a:pPr algn="ctr"/>
            <a:r>
              <a:rPr sz="1150" i="1">
                <a:solidFill>
                  <a:srgbClr val="8A7A76"/>
                </a:solidFill>
                <a:latin typeface="Calibri"/>
              </a:rPr>
              <a:t>The three styles differ on just four points — the table shows all four at a glance.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03120"/>
            <a:ext cx="12191695" cy="2743200"/>
          </a:xfrm>
          <a:prstGeom prst="rect">
            <a:avLst/>
          </a:prstGeom>
          <a:solidFill>
            <a:srgbClr val="FD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74320" cy="6858000"/>
          </a:xfrm>
          <a:prstGeom prst="rect">
            <a:avLst/>
          </a:prstGeom>
          <a:solidFill>
            <a:srgbClr val="DC75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2377440"/>
            <a:ext cx="9692640" cy="411480"/>
          </a:xfrm>
          <a:prstGeom prst="rect">
            <a:avLst/>
          </a:prstGeom>
          <a:noFill/>
        </p:spPr>
        <p:txBody>
          <a:bodyPr wrap="none">
            <a:spAutoFit/>
          </a:bodyPr>
          <a:lstStyle/>
          <a:p>
            <a:r>
              <a:rPr sz="1500" b="1">
                <a:solidFill>
                  <a:srgbClr val="DC756A"/>
                </a:solidFill>
                <a:latin typeface="Calibri"/>
              </a:rPr>
              <a:t>SECTION 4.2</a:t>
            </a:r>
          </a:p>
        </p:txBody>
      </p:sp>
      <p:sp>
        <p:nvSpPr>
          <p:cNvPr id="6" name="TextBox 5"/>
          <p:cNvSpPr txBox="1"/>
          <p:nvPr/>
        </p:nvSpPr>
        <p:spPr>
          <a:xfrm>
            <a:off x="1280160" y="2788920"/>
            <a:ext cx="9601200" cy="1371600"/>
          </a:xfrm>
          <a:prstGeom prst="rect">
            <a:avLst/>
          </a:prstGeom>
          <a:noFill/>
        </p:spPr>
        <p:txBody>
          <a:bodyPr wrap="square">
            <a:spAutoFit/>
          </a:bodyPr>
          <a:lstStyle/>
          <a:p>
            <a:r>
              <a:rPr sz="3800" b="1">
                <a:solidFill>
                  <a:srgbClr val="AC4D33"/>
                </a:solidFill>
                <a:latin typeface="Cambria"/>
              </a:rPr>
              <a:t>The five stages of a negotiation</a:t>
            </a:r>
          </a:p>
        </p:txBody>
      </p:sp>
      <p:sp>
        <p:nvSpPr>
          <p:cNvPr id="7" name="TextBox 6"/>
          <p:cNvSpPr txBox="1"/>
          <p:nvPr/>
        </p:nvSpPr>
        <p:spPr>
          <a:xfrm>
            <a:off x="1280160" y="4224528"/>
            <a:ext cx="9418320" cy="640080"/>
          </a:xfrm>
          <a:prstGeom prst="rect">
            <a:avLst/>
          </a:prstGeom>
          <a:noFill/>
        </p:spPr>
        <p:txBody>
          <a:bodyPr wrap="square">
            <a:spAutoFit/>
          </a:bodyPr>
          <a:lstStyle/>
          <a:p>
            <a:r>
              <a:rPr sz="1450" i="1">
                <a:solidFill>
                  <a:srgbClr val="8A7A76"/>
                </a:solidFill>
                <a:latin typeface="Calibri"/>
              </a:rPr>
              <a:t>Seventy per cent of the result is settled before either side sits down.</a:t>
            </a:r>
          </a:p>
        </p:txBody>
      </p:sp>
      <p:sp>
        <p:nvSpPr>
          <p:cNvPr id="8" name="TextBox 7"/>
          <p:cNvSpPr txBox="1"/>
          <p:nvPr/>
        </p:nvSpPr>
        <p:spPr>
          <a:xfrm>
            <a:off x="502920" y="6419088"/>
            <a:ext cx="7772400" cy="292608"/>
          </a:xfrm>
          <a:prstGeom prst="rect">
            <a:avLst/>
          </a:prstGeom>
          <a:noFill/>
        </p:spPr>
        <p:txBody>
          <a:bodyPr wrap="none">
            <a:spAutoFit/>
          </a:bodyPr>
          <a:lstStyle/>
          <a:p>
            <a:r>
              <a:rPr sz="900">
                <a:solidFill>
                  <a:srgbClr val="8A7A76"/>
                </a:solidFill>
                <a:latin typeface="Calibri"/>
              </a:rPr>
              <a:t>Je m'appelle Huong  •  Do Thuy Huong, Lecturer  •  EC1103</a:t>
            </a:r>
          </a:p>
        </p:txBody>
      </p:sp>
      <p:sp>
        <p:nvSpPr>
          <p:cNvPr id="9" name="TextBox 8"/>
          <p:cNvSpPr txBox="1"/>
          <p:nvPr/>
        </p:nvSpPr>
        <p:spPr>
          <a:xfrm>
            <a:off x="9326880" y="6419088"/>
            <a:ext cx="1920240" cy="292608"/>
          </a:xfrm>
          <a:prstGeom prst="rect">
            <a:avLst/>
          </a:prstGeom>
          <a:noFill/>
        </p:spPr>
        <p:txBody>
          <a:bodyPr wrap="none">
            <a:spAutoFit/>
          </a:bodyPr>
          <a:lstStyle/>
          <a:p>
            <a:pPr algn="r"/>
            <a:r>
              <a:rPr sz="900">
                <a:solidFill>
                  <a:srgbClr val="8A7A76"/>
                </a:solidFill>
                <a:latin typeface="Calibri"/>
              </a:rPr>
              <a:t>Chapter 4</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Do Thuy Huong, Lecturer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Chapter 4</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4.2</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The negotiation process: five stages</a:t>
            </a:r>
            <a:endParaRPr lang="en-US" sz="2700" dirty="0"/>
          </a:p>
        </p:txBody>
      </p:sp>
      <p:pic>
        <p:nvPicPr>
          <p:cNvPr id="9" name="Picture 8" descr="c4-tien-trinh-dam-phan-nt.png"/>
          <p:cNvPicPr>
            <a:picLocks noChangeAspect="1"/>
          </p:cNvPicPr>
          <p:nvPr/>
        </p:nvPicPr>
        <p:blipFill>
          <a:blip r:embed="rId4"/>
          <a:stretch>
            <a:fillRect/>
          </a:stretch>
        </p:blipFill>
        <p:spPr>
          <a:xfrm>
            <a:off x="472287" y="1781494"/>
            <a:ext cx="11247120" cy="410882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Do Thuy Huong, Lecturer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Chapter 4</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4.2</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Preparation — the strongest weapon you have</a:t>
            </a:r>
            <a:endParaRPr lang="en-US" sz="2700" dirty="0"/>
          </a:p>
        </p:txBody>
      </p:sp>
      <p:pic>
        <p:nvPicPr>
          <p:cNvPr id="9" name="Picture 8" descr="c4-batna-zopa-nt.png"/>
          <p:cNvPicPr>
            <a:picLocks noChangeAspect="1"/>
          </p:cNvPicPr>
          <p:nvPr/>
        </p:nvPicPr>
        <p:blipFill>
          <a:blip r:embed="rId4"/>
          <a:stretch>
            <a:fillRect/>
          </a:stretch>
        </p:blipFill>
        <p:spPr>
          <a:xfrm>
            <a:off x="875649" y="1942480"/>
            <a:ext cx="10440397" cy="3786855"/>
          </a:xfrm>
          <a:prstGeom prst="rect">
            <a:avLst/>
          </a:prstGeom>
        </p:spPr>
      </p:pic>
      <p:sp>
        <p:nvSpPr>
          <p:cNvPr id="10" name="TextBox 9"/>
          <p:cNvSpPr txBox="1"/>
          <p:nvPr/>
        </p:nvSpPr>
        <p:spPr>
          <a:xfrm>
            <a:off x="548640" y="5802487"/>
            <a:ext cx="11109960" cy="310896"/>
          </a:xfrm>
          <a:prstGeom prst="rect">
            <a:avLst/>
          </a:prstGeom>
          <a:noFill/>
        </p:spPr>
        <p:txBody>
          <a:bodyPr wrap="square">
            <a:spAutoFit/>
          </a:bodyPr>
          <a:lstStyle/>
          <a:p>
            <a:pPr algn="ctr"/>
            <a:r>
              <a:rPr sz="1150" i="1">
                <a:solidFill>
                  <a:srgbClr val="8A7A76"/>
                </a:solidFill>
                <a:latin typeface="Calibri"/>
              </a:rPr>
              <a:t>Whether the ZOPA is narrow or wide depends on both sides' real limits — prepare well enough to know where you stand on 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292608"/>
          </a:xfrm>
          <a:prstGeom prst="rect">
            <a:avLst/>
          </a:prstGeom>
          <a:noFill/>
        </p:spPr>
        <p:txBody>
          <a:bodyPr wrap="none">
            <a:spAutoFit/>
          </a:bodyPr>
          <a:lstStyle/>
          <a:p>
            <a:r>
              <a:rPr sz="1100" b="1">
                <a:solidFill>
                  <a:srgbClr val="DC756A"/>
                </a:solidFill>
                <a:latin typeface="Calibri"/>
              </a:rPr>
              <a:t>THE NUMBER TO REMEMBER</a:t>
            </a:r>
          </a:p>
        </p:txBody>
      </p:sp>
      <p:sp>
        <p:nvSpPr>
          <p:cNvPr id="4" name="TextBox 3"/>
          <p:cNvSpPr txBox="1"/>
          <p:nvPr/>
        </p:nvSpPr>
        <p:spPr>
          <a:xfrm>
            <a:off x="502920" y="603504"/>
            <a:ext cx="11155680" cy="731520"/>
          </a:xfrm>
          <a:prstGeom prst="rect">
            <a:avLst/>
          </a:prstGeom>
          <a:noFill/>
        </p:spPr>
        <p:txBody>
          <a:bodyPr wrap="square">
            <a:spAutoFit/>
          </a:bodyPr>
          <a:lstStyle/>
          <a:p>
            <a:r>
              <a:rPr sz="2700" b="1">
                <a:solidFill>
                  <a:srgbClr val="3A2B28"/>
                </a:solidFill>
                <a:latin typeface="Cambria"/>
              </a:rPr>
              <a:t>Why does preparation matter so much?</a:t>
            </a:r>
          </a:p>
        </p:txBody>
      </p:sp>
      <p:sp>
        <p:nvSpPr>
          <p:cNvPr id="5" name="Rounded Rectangle 4"/>
          <p:cNvSpPr/>
          <p:nvPr/>
        </p:nvSpPr>
        <p:spPr>
          <a:xfrm>
            <a:off x="502920" y="1783080"/>
            <a:ext cx="3575304" cy="3429000"/>
          </a:xfrm>
          <a:prstGeom prst="roundRect">
            <a:avLst>
              <a:gd name="adj" fmla="val 7000"/>
            </a:avLst>
          </a:prstGeom>
          <a:solidFill>
            <a:srgbClr val="FFFFFF"/>
          </a:solidFill>
          <a:ln w="15875">
            <a:solidFill>
              <a:srgbClr val="FBCEC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0" bIns="182880"/>
          <a:lstStyle/>
          <a:p>
            <a:pPr algn="ctr"/>
            <a:r>
              <a:rPr sz="5800" b="1">
                <a:solidFill>
                  <a:srgbClr val="DC756A"/>
                </a:solidFill>
                <a:latin typeface="Cambria"/>
              </a:rPr>
              <a:t>70%</a:t>
            </a:r>
          </a:p>
          <a:p>
            <a:pPr algn="ctr"/>
            <a:r>
              <a:rPr sz="1400" b="1">
                <a:solidFill>
                  <a:srgbClr val="AC4D33"/>
                </a:solidFill>
                <a:latin typeface="Calibri"/>
              </a:rPr>
              <a:t>OF THE RESULT</a:t>
            </a:r>
          </a:p>
          <a:p>
            <a:pPr algn="ctr">
              <a:spcBef>
                <a:spcPts val="1200"/>
              </a:spcBef>
            </a:pPr>
            <a:r>
              <a:rPr sz="1250">
                <a:solidFill>
                  <a:srgbClr val="3A2B28"/>
                </a:solidFill>
                <a:latin typeface="Calibri"/>
              </a:rPr>
              <a:t>is settled during preparation, before either side sits down</a:t>
            </a:r>
          </a:p>
        </p:txBody>
      </p:sp>
      <p:sp>
        <p:nvSpPr>
          <p:cNvPr id="6" name="Rounded Rectangle 5"/>
          <p:cNvSpPr/>
          <p:nvPr/>
        </p:nvSpPr>
        <p:spPr>
          <a:xfrm>
            <a:off x="4315968" y="1783080"/>
            <a:ext cx="3575304" cy="3429000"/>
          </a:xfrm>
          <a:prstGeom prst="roundRect">
            <a:avLst>
              <a:gd name="adj" fmla="val 7000"/>
            </a:avLst>
          </a:prstGeom>
          <a:solidFill>
            <a:srgbClr val="FFFFFF"/>
          </a:solidFill>
          <a:ln w="15875">
            <a:solidFill>
              <a:srgbClr val="FBCEC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0" bIns="182880"/>
          <a:lstStyle/>
          <a:p>
            <a:pPr algn="ctr"/>
            <a:r>
              <a:rPr sz="5800" b="1">
                <a:solidFill>
                  <a:srgbClr val="DC756A"/>
                </a:solidFill>
                <a:latin typeface="Cambria"/>
              </a:rPr>
              <a:t>3</a:t>
            </a:r>
          </a:p>
          <a:p>
            <a:pPr algn="ctr"/>
            <a:r>
              <a:rPr sz="1400" b="1">
                <a:solidFill>
                  <a:srgbClr val="AC4D33"/>
                </a:solidFill>
                <a:latin typeface="Calibri"/>
              </a:rPr>
              <a:t>TARGET LEVELS</a:t>
            </a:r>
          </a:p>
          <a:p>
            <a:pPr algn="ctr">
              <a:spcBef>
                <a:spcPts val="1200"/>
              </a:spcBef>
            </a:pPr>
            <a:r>
              <a:rPr sz="1250">
                <a:solidFill>
                  <a:srgbClr val="3A2B28"/>
                </a:solidFill>
                <a:latin typeface="Calibri"/>
              </a:rPr>
              <a:t>Ideal – Expected – Minimum: write them down before you negotiate</a:t>
            </a:r>
          </a:p>
        </p:txBody>
      </p:sp>
      <p:sp>
        <p:nvSpPr>
          <p:cNvPr id="7" name="Rounded Rectangle 6"/>
          <p:cNvSpPr/>
          <p:nvPr/>
        </p:nvSpPr>
        <p:spPr>
          <a:xfrm>
            <a:off x="8129016" y="1783080"/>
            <a:ext cx="3575304" cy="3429000"/>
          </a:xfrm>
          <a:prstGeom prst="roundRect">
            <a:avLst>
              <a:gd name="adj" fmla="val 7000"/>
            </a:avLst>
          </a:prstGeom>
          <a:solidFill>
            <a:srgbClr val="FFFFFF"/>
          </a:solidFill>
          <a:ln w="15875">
            <a:solidFill>
              <a:srgbClr val="FBCEC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0" bIns="182880"/>
          <a:lstStyle/>
          <a:p>
            <a:pPr algn="ctr"/>
            <a:r>
              <a:rPr sz="5800" b="1">
                <a:solidFill>
                  <a:srgbClr val="DC756A"/>
                </a:solidFill>
                <a:latin typeface="Cambria"/>
              </a:rPr>
              <a:t>1</a:t>
            </a:r>
          </a:p>
          <a:p>
            <a:pPr algn="ctr"/>
            <a:r>
              <a:rPr sz="1400" b="1">
                <a:solidFill>
                  <a:srgbClr val="AC4D33"/>
                </a:solidFill>
                <a:latin typeface="Calibri"/>
              </a:rPr>
              <a:t>BATNA</a:t>
            </a:r>
          </a:p>
          <a:p>
            <a:pPr algn="ctr">
              <a:spcBef>
                <a:spcPts val="1200"/>
              </a:spcBef>
            </a:pPr>
            <a:r>
              <a:rPr sz="1250">
                <a:solidFill>
                  <a:srgbClr val="3A2B28"/>
                </a:solidFill>
                <a:latin typeface="Calibri"/>
              </a:rPr>
              <a:t>Best Alternative To a Negotiated Agreement — the real source of power at the table</a:t>
            </a:r>
          </a:p>
        </p:txBody>
      </p:sp>
      <p:sp>
        <p:nvSpPr>
          <p:cNvPr id="8" name="Rounded Rectangle 7"/>
          <p:cNvSpPr/>
          <p:nvPr/>
        </p:nvSpPr>
        <p:spPr>
          <a:xfrm>
            <a:off x="502920" y="5440680"/>
            <a:ext cx="11201400" cy="685800"/>
          </a:xfrm>
          <a:prstGeom prst="roundRect">
            <a:avLst>
              <a:gd name="adj" fmla="val 12000"/>
            </a:avLst>
          </a:prstGeom>
          <a:solidFill>
            <a:srgbClr val="FDF1EF"/>
          </a:solidFill>
          <a:ln w="12700">
            <a:solidFill>
              <a:srgbClr val="FBCEC9"/>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a:lstStyle/>
          <a:p>
            <a:pPr algn="ctr"/>
            <a:r>
              <a:rPr sz="1300">
                <a:solidFill>
                  <a:srgbClr val="3A2B28"/>
                </a:solidFill>
                <a:latin typeface="Calibri"/>
              </a:rPr>
              <a:t>The line to remember: “Failing to prepare is preparing to concede.”</a:t>
            </a:r>
          </a:p>
        </p:txBody>
      </p:sp>
      <p:sp>
        <p:nvSpPr>
          <p:cNvPr id="9" name="TextBox 8"/>
          <p:cNvSpPr txBox="1"/>
          <p:nvPr/>
        </p:nvSpPr>
        <p:spPr>
          <a:xfrm>
            <a:off x="502920" y="6419088"/>
            <a:ext cx="7772400" cy="292608"/>
          </a:xfrm>
          <a:prstGeom prst="rect">
            <a:avLst/>
          </a:prstGeom>
          <a:noFill/>
        </p:spPr>
        <p:txBody>
          <a:bodyPr wrap="none">
            <a:spAutoFit/>
          </a:bodyPr>
          <a:lstStyle/>
          <a:p>
            <a:r>
              <a:rPr sz="900">
                <a:solidFill>
                  <a:srgbClr val="8A7A76"/>
                </a:solidFill>
                <a:latin typeface="Calibri"/>
              </a:rPr>
              <a:t>Je m'appelle Huong  •  Do Thuy Huong, Lecturer  •  EC1103</a:t>
            </a:r>
          </a:p>
        </p:txBody>
      </p:sp>
      <p:sp>
        <p:nvSpPr>
          <p:cNvPr id="10" name="TextBox 9"/>
          <p:cNvSpPr txBox="1"/>
          <p:nvPr/>
        </p:nvSpPr>
        <p:spPr>
          <a:xfrm>
            <a:off x="9326880" y="6419088"/>
            <a:ext cx="1920240" cy="292608"/>
          </a:xfrm>
          <a:prstGeom prst="rect">
            <a:avLst/>
          </a:prstGeom>
          <a:noFill/>
        </p:spPr>
        <p:txBody>
          <a:bodyPr wrap="none">
            <a:spAutoFit/>
          </a:bodyPr>
          <a:lstStyle/>
          <a:p>
            <a:pPr algn="r"/>
            <a:r>
              <a:rPr sz="900">
                <a:solidFill>
                  <a:srgbClr val="8A7A76"/>
                </a:solidFill>
                <a:latin typeface="Calibri"/>
              </a:rPr>
              <a:t>Chapter 4</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Do Thuy Huong, Lecturer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Chapter 4</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9</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4.2</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Opening and bargaining</a:t>
            </a:r>
            <a:endParaRPr lang="en-US" sz="2700" dirty="0"/>
          </a:p>
        </p:txBody>
      </p:sp>
      <p:sp>
        <p:nvSpPr>
          <p:cNvPr id="9" name="Shape 6"/>
          <p:cNvSpPr/>
          <p:nvPr/>
        </p:nvSpPr>
        <p:spPr>
          <a:xfrm>
            <a:off x="502920" y="1417320"/>
            <a:ext cx="11201400" cy="1076706"/>
          </a:xfrm>
          <a:prstGeom prst="roundRect">
            <a:avLst>
              <a:gd name="adj" fmla="val 7643"/>
            </a:avLst>
          </a:prstGeom>
          <a:solidFill>
            <a:srgbClr val="FDF1EF"/>
          </a:solidFill>
          <a:ln w="15875">
            <a:solidFill>
              <a:srgbClr val="FBCEC9"/>
            </a:solidFill>
            <a:prstDash val="solid"/>
          </a:ln>
        </p:spPr>
        <p:txBody>
          <a:bodyPr/>
          <a:p/>
        </p:txBody>
      </p:sp>
      <p:sp>
        <p:nvSpPr>
          <p:cNvPr id="10" name="Text 7"/>
          <p:cNvSpPr/>
          <p:nvPr/>
        </p:nvSpPr>
        <p:spPr>
          <a:xfrm>
            <a:off x="722376" y="1472184"/>
            <a:ext cx="10762488" cy="966978"/>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Set the tone, and probe</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Open questions, so they show their need before you name a price</a:t>
            </a:r>
            <a:endParaRPr lang="en-US" sz="1500" dirty="0"/>
          </a:p>
        </p:txBody>
      </p:sp>
      <p:sp>
        <p:nvSpPr>
          <p:cNvPr id="11" name="Shape 8"/>
          <p:cNvSpPr/>
          <p:nvPr/>
        </p:nvSpPr>
        <p:spPr>
          <a:xfrm>
            <a:off x="502920" y="2658618"/>
            <a:ext cx="11201400" cy="1076706"/>
          </a:xfrm>
          <a:prstGeom prst="roundRect">
            <a:avLst>
              <a:gd name="adj" fmla="val 7643"/>
            </a:avLst>
          </a:prstGeom>
          <a:solidFill>
            <a:srgbClr val="FDF1EF"/>
          </a:solidFill>
          <a:ln w="15875">
            <a:solidFill>
              <a:srgbClr val="FBCEC9"/>
            </a:solidFill>
            <a:prstDash val="solid"/>
          </a:ln>
        </p:spPr>
        <p:txBody>
          <a:bodyPr/>
          <a:p/>
        </p:txBody>
      </p:sp>
      <p:sp>
        <p:nvSpPr>
          <p:cNvPr id="12" name="Text 9"/>
          <p:cNvSpPr/>
          <p:nvPr/>
        </p:nvSpPr>
        <p:spPr>
          <a:xfrm>
            <a:off x="722376" y="2713482"/>
            <a:ext cx="10762488" cy="966978"/>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Offer and haggle</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The first offer needs grounds; answer theirs with “on what basis?”</a:t>
            </a:r>
            <a:endParaRPr lang="en-US" sz="1500" dirty="0"/>
          </a:p>
        </p:txBody>
      </p:sp>
      <p:sp>
        <p:nvSpPr>
          <p:cNvPr id="13" name="Shape 10"/>
          <p:cNvSpPr/>
          <p:nvPr/>
        </p:nvSpPr>
        <p:spPr>
          <a:xfrm>
            <a:off x="502920" y="3899916"/>
            <a:ext cx="11201400" cy="1076706"/>
          </a:xfrm>
          <a:prstGeom prst="roundRect">
            <a:avLst>
              <a:gd name="adj" fmla="val 7643"/>
            </a:avLst>
          </a:prstGeom>
          <a:solidFill>
            <a:srgbClr val="FDF1EF"/>
          </a:solidFill>
          <a:ln w="15875">
            <a:solidFill>
              <a:srgbClr val="FBCEC9"/>
            </a:solidFill>
            <a:prstDash val="solid"/>
          </a:ln>
        </p:spPr>
        <p:txBody>
          <a:bodyPr/>
          <a:p/>
        </p:txBody>
      </p:sp>
      <p:sp>
        <p:nvSpPr>
          <p:cNvPr id="14" name="Text 11"/>
          <p:cNvSpPr/>
          <p:nvPr/>
        </p:nvSpPr>
        <p:spPr>
          <a:xfrm>
            <a:off x="722376" y="3954780"/>
            <a:ext cx="10762488" cy="966978"/>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Concede on condition</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Never give anything free; make each concession smaller</a:t>
            </a:r>
            <a:endParaRPr lang="en-US" sz="1500" dirty="0"/>
          </a:p>
        </p:txBody>
      </p:sp>
      <p:sp>
        <p:nvSpPr>
          <p:cNvPr id="15" name="Shape 12"/>
          <p:cNvSpPr/>
          <p:nvPr/>
        </p:nvSpPr>
        <p:spPr>
          <a:xfrm>
            <a:off x="502920" y="5141214"/>
            <a:ext cx="11201400" cy="1076706"/>
          </a:xfrm>
          <a:prstGeom prst="roundRect">
            <a:avLst>
              <a:gd name="adj" fmla="val 7643"/>
            </a:avLst>
          </a:prstGeom>
          <a:solidFill>
            <a:srgbClr val="FDF1EF"/>
          </a:solidFill>
          <a:ln w="15875">
            <a:solidFill>
              <a:srgbClr val="FBCEC9"/>
            </a:solidFill>
            <a:prstDash val="solid"/>
          </a:ln>
        </p:spPr>
        <p:txBody>
          <a:bodyPr/>
          <a:p/>
        </p:txBody>
      </p:sp>
      <p:sp>
        <p:nvSpPr>
          <p:cNvPr id="16" name="Text 13"/>
          <p:cNvSpPr/>
          <p:nvPr/>
        </p:nvSpPr>
        <p:spPr>
          <a:xfrm>
            <a:off x="722376" y="5196078"/>
            <a:ext cx="10762488" cy="966978"/>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Breaking a deadlock</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Take a break • change the person or the topic • let an objective standard arbitrate</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Do Thuy Huong, Lecturer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Chapter 4</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10</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4.2</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Closing, and afterwards</a:t>
            </a:r>
            <a:endParaRPr lang="en-US" sz="2700" dirty="0"/>
          </a:p>
        </p:txBody>
      </p:sp>
      <p:sp>
        <p:nvSpPr>
          <p:cNvPr id="9" name="Shape 6"/>
          <p:cNvSpPr/>
          <p:nvPr/>
        </p:nvSpPr>
        <p:spPr>
          <a:xfrm>
            <a:off x="502920" y="1417320"/>
            <a:ext cx="11201400" cy="1490472"/>
          </a:xfrm>
          <a:prstGeom prst="roundRect">
            <a:avLst>
              <a:gd name="adj" fmla="val 5521"/>
            </a:avLst>
          </a:prstGeom>
          <a:solidFill>
            <a:srgbClr val="FDF1EF"/>
          </a:solidFill>
          <a:ln w="15875">
            <a:solidFill>
              <a:srgbClr val="FBCEC9"/>
            </a:solidFill>
            <a:prstDash val="solid"/>
          </a:ln>
        </p:spPr>
        <p:txBody>
          <a:bodyPr/>
          <a:p/>
        </p:txBody>
      </p:sp>
      <p:sp>
        <p:nvSpPr>
          <p:cNvPr id="10" name="Text 7"/>
          <p:cNvSpPr/>
          <p:nvPr/>
        </p:nvSpPr>
        <p:spPr>
          <a:xfrm>
            <a:off x="722376" y="1472184"/>
            <a:ext cx="10762488" cy="138074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Knowing when to close</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They ask about rollout, payment, delivery — that is the signal</a:t>
            </a:r>
            <a:endParaRPr lang="en-US" sz="1500" dirty="0"/>
          </a:p>
        </p:txBody>
      </p:sp>
      <p:sp>
        <p:nvSpPr>
          <p:cNvPr id="11" name="Shape 8"/>
          <p:cNvSpPr/>
          <p:nvPr/>
        </p:nvSpPr>
        <p:spPr>
          <a:xfrm>
            <a:off x="502920" y="3072384"/>
            <a:ext cx="11201400" cy="1490472"/>
          </a:xfrm>
          <a:prstGeom prst="roundRect">
            <a:avLst>
              <a:gd name="adj" fmla="val 5521"/>
            </a:avLst>
          </a:prstGeom>
          <a:solidFill>
            <a:srgbClr val="FDF1EF"/>
          </a:solidFill>
          <a:ln w="15875">
            <a:solidFill>
              <a:srgbClr val="FBCEC9"/>
            </a:solidFill>
            <a:prstDash val="solid"/>
          </a:ln>
        </p:spPr>
        <p:txBody>
          <a:bodyPr/>
          <a:p/>
        </p:txBody>
      </p:sp>
      <p:sp>
        <p:nvSpPr>
          <p:cNvPr id="12" name="Text 9"/>
          <p:cNvSpPr/>
          <p:nvPr/>
        </p:nvSpPr>
        <p:spPr>
          <a:xfrm>
            <a:off x="722376" y="3127248"/>
            <a:ext cx="10762488" cy="138074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Put it in writing at once</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A verbal agreement is not the end — it must become a document</a:t>
            </a:r>
            <a:endParaRPr lang="en-US" sz="1500" dirty="0"/>
          </a:p>
        </p:txBody>
      </p:sp>
      <p:sp>
        <p:nvSpPr>
          <p:cNvPr id="13" name="Shape 10"/>
          <p:cNvSpPr/>
          <p:nvPr/>
        </p:nvSpPr>
        <p:spPr>
          <a:xfrm>
            <a:off x="502920" y="4727448"/>
            <a:ext cx="11201400" cy="1490472"/>
          </a:xfrm>
          <a:prstGeom prst="roundRect">
            <a:avLst>
              <a:gd name="adj" fmla="val 5521"/>
            </a:avLst>
          </a:prstGeom>
          <a:solidFill>
            <a:srgbClr val="FDF1EF"/>
          </a:solidFill>
          <a:ln w="15875">
            <a:solidFill>
              <a:srgbClr val="FBCEC9"/>
            </a:solidFill>
            <a:prstDash val="solid"/>
          </a:ln>
        </p:spPr>
        <p:txBody>
          <a:bodyPr/>
          <a:p/>
        </p:txBody>
      </p:sp>
      <p:sp>
        <p:nvSpPr>
          <p:cNvPr id="14" name="Text 11"/>
          <p:cNvSpPr/>
          <p:nvPr/>
        </p:nvSpPr>
        <p:spPr>
          <a:xfrm>
            <a:off x="722376" y="4782312"/>
            <a:ext cx="10762488" cy="138074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After the deal</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Honour the commitments • keep in touch • hold a lessons-learned meeting</a:t>
            </a:r>
            <a:endParaRPr lang="en-US" sz="1500" dirty="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03120"/>
            <a:ext cx="12191695" cy="2743200"/>
          </a:xfrm>
          <a:prstGeom prst="rect">
            <a:avLst/>
          </a:prstGeom>
          <a:solidFill>
            <a:srgbClr val="FD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74320" cy="6858000"/>
          </a:xfrm>
          <a:prstGeom prst="rect">
            <a:avLst/>
          </a:prstGeom>
          <a:solidFill>
            <a:srgbClr val="DC75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2377440"/>
            <a:ext cx="9692640" cy="411480"/>
          </a:xfrm>
          <a:prstGeom prst="rect">
            <a:avLst/>
          </a:prstGeom>
          <a:noFill/>
        </p:spPr>
        <p:txBody>
          <a:bodyPr wrap="none">
            <a:spAutoFit/>
          </a:bodyPr>
          <a:lstStyle/>
          <a:p>
            <a:r>
              <a:rPr sz="1500" b="1">
                <a:solidFill>
                  <a:srgbClr val="DC756A"/>
                </a:solidFill>
                <a:latin typeface="Calibri"/>
              </a:rPr>
              <a:t>SECTION 4.3</a:t>
            </a:r>
          </a:p>
        </p:txBody>
      </p:sp>
      <p:sp>
        <p:nvSpPr>
          <p:cNvPr id="6" name="TextBox 5"/>
          <p:cNvSpPr txBox="1"/>
          <p:nvPr/>
        </p:nvSpPr>
        <p:spPr>
          <a:xfrm>
            <a:off x="1280160" y="2788920"/>
            <a:ext cx="9601200" cy="1371600"/>
          </a:xfrm>
          <a:prstGeom prst="rect">
            <a:avLst/>
          </a:prstGeom>
          <a:noFill/>
        </p:spPr>
        <p:txBody>
          <a:bodyPr wrap="square">
            <a:spAutoFit/>
          </a:bodyPr>
          <a:lstStyle/>
          <a:p>
            <a:r>
              <a:rPr sz="3300" b="1">
                <a:solidFill>
                  <a:srgbClr val="AC4D33"/>
                </a:solidFill>
                <a:latin typeface="Cambria"/>
              </a:rPr>
              <a:t>Skills, and tactics, at the table</a:t>
            </a:r>
          </a:p>
        </p:txBody>
      </p:sp>
      <p:sp>
        <p:nvSpPr>
          <p:cNvPr id="7" name="TextBox 6"/>
          <p:cNvSpPr txBox="1"/>
          <p:nvPr/>
        </p:nvSpPr>
        <p:spPr>
          <a:xfrm>
            <a:off x="1280160" y="4224528"/>
            <a:ext cx="9418320" cy="640080"/>
          </a:xfrm>
          <a:prstGeom prst="rect">
            <a:avLst/>
          </a:prstGeom>
          <a:noFill/>
        </p:spPr>
        <p:txBody>
          <a:bodyPr wrap="square">
            <a:spAutoFit/>
          </a:bodyPr>
          <a:lstStyle/>
          <a:p>
            <a:r>
              <a:rPr sz="1450" i="1">
                <a:solidFill>
                  <a:srgbClr val="8A7A76"/>
                </a:solidFill>
                <a:latin typeface="Calibri"/>
              </a:rPr>
              <a:t>What to train, and what to recognise so you are not led.</a:t>
            </a:r>
          </a:p>
        </p:txBody>
      </p:sp>
      <p:sp>
        <p:nvSpPr>
          <p:cNvPr id="8" name="TextBox 7"/>
          <p:cNvSpPr txBox="1"/>
          <p:nvPr/>
        </p:nvSpPr>
        <p:spPr>
          <a:xfrm>
            <a:off x="502920" y="6419088"/>
            <a:ext cx="7772400" cy="292608"/>
          </a:xfrm>
          <a:prstGeom prst="rect">
            <a:avLst/>
          </a:prstGeom>
          <a:noFill/>
        </p:spPr>
        <p:txBody>
          <a:bodyPr wrap="none">
            <a:spAutoFit/>
          </a:bodyPr>
          <a:lstStyle/>
          <a:p>
            <a:r>
              <a:rPr sz="900">
                <a:solidFill>
                  <a:srgbClr val="8A7A76"/>
                </a:solidFill>
                <a:latin typeface="Calibri"/>
              </a:rPr>
              <a:t>Je m'appelle Huong  •  Do Thuy Huong, Lecturer  •  EC1103</a:t>
            </a:r>
          </a:p>
        </p:txBody>
      </p:sp>
      <p:sp>
        <p:nvSpPr>
          <p:cNvPr id="9" name="TextBox 8"/>
          <p:cNvSpPr txBox="1"/>
          <p:nvPr/>
        </p:nvSpPr>
        <p:spPr>
          <a:xfrm>
            <a:off x="9326880" y="6419088"/>
            <a:ext cx="1920240" cy="292608"/>
          </a:xfrm>
          <a:prstGeom prst="rect">
            <a:avLst/>
          </a:prstGeom>
          <a:noFill/>
        </p:spPr>
        <p:txBody>
          <a:bodyPr wrap="none">
            <a:spAutoFit/>
          </a:bodyPr>
          <a:lstStyle/>
          <a:p>
            <a:pPr algn="r"/>
            <a:r>
              <a:rPr sz="900">
                <a:solidFill>
                  <a:srgbClr val="8A7A76"/>
                </a:solidFill>
                <a:latin typeface="Calibri"/>
              </a:rPr>
              <a:t>Chapter 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Do Thuy Huong, Lecturer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Chapter 4</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11</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4.3</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The core skills at the table</a:t>
            </a:r>
            <a:endParaRPr lang="en-US" sz="2700" dirty="0"/>
          </a:p>
        </p:txBody>
      </p:sp>
      <p:sp>
        <p:nvSpPr>
          <p:cNvPr id="9" name="Shape 6"/>
          <p:cNvSpPr/>
          <p:nvPr/>
        </p:nvSpPr>
        <p:spPr>
          <a:xfrm>
            <a:off x="502920" y="1417320"/>
            <a:ext cx="5509260" cy="2308860"/>
          </a:xfrm>
          <a:prstGeom prst="roundRect">
            <a:avLst>
              <a:gd name="adj" fmla="val 3564"/>
            </a:avLst>
          </a:prstGeom>
          <a:solidFill>
            <a:srgbClr val="FDF1EF"/>
          </a:solidFill>
          <a:ln w="15875">
            <a:solidFill>
              <a:srgbClr val="FBCEC9"/>
            </a:solidFill>
            <a:prstDash val="solid"/>
          </a:ln>
        </p:spPr>
        <p:txBody>
          <a:bodyPr/>
          <a:p/>
        </p:txBody>
      </p:sp>
      <p:sp>
        <p:nvSpPr>
          <p:cNvPr id="10" name="Text 7"/>
          <p:cNvSpPr/>
          <p:nvPr/>
        </p:nvSpPr>
        <p:spPr>
          <a:xfrm>
            <a:off x="722376" y="1490472"/>
            <a:ext cx="5070348" cy="2162556"/>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Listening and questioning</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Listen more than you speak; a well-placed silence is itself a move</a:t>
            </a:r>
            <a:endParaRPr lang="en-US" sz="1500" dirty="0"/>
          </a:p>
        </p:txBody>
      </p:sp>
      <p:sp>
        <p:nvSpPr>
          <p:cNvPr id="11" name="Shape 8"/>
          <p:cNvSpPr/>
          <p:nvPr/>
        </p:nvSpPr>
        <p:spPr>
          <a:xfrm>
            <a:off x="6195060" y="1417320"/>
            <a:ext cx="5509260" cy="2308860"/>
          </a:xfrm>
          <a:prstGeom prst="roundRect">
            <a:avLst>
              <a:gd name="adj" fmla="val 3564"/>
            </a:avLst>
          </a:prstGeom>
          <a:solidFill>
            <a:srgbClr val="FDF1EF"/>
          </a:solidFill>
          <a:ln w="15875">
            <a:solidFill>
              <a:srgbClr val="FBCEC9"/>
            </a:solidFill>
            <a:prstDash val="solid"/>
          </a:ln>
        </p:spPr>
        <p:txBody>
          <a:bodyPr/>
          <a:p/>
        </p:txBody>
      </p:sp>
      <p:sp>
        <p:nvSpPr>
          <p:cNvPr id="12" name="Text 9"/>
          <p:cNvSpPr/>
          <p:nvPr/>
        </p:nvSpPr>
        <p:spPr>
          <a:xfrm>
            <a:off x="6414516" y="1490472"/>
            <a:ext cx="5070348" cy="2162556"/>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Persuade with interest and evidence</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Speak in the language of their interest, with figures and precedent</a:t>
            </a:r>
            <a:endParaRPr lang="en-US" sz="1500" dirty="0"/>
          </a:p>
        </p:txBody>
      </p:sp>
      <p:sp>
        <p:nvSpPr>
          <p:cNvPr id="13" name="Shape 10"/>
          <p:cNvSpPr/>
          <p:nvPr/>
        </p:nvSpPr>
        <p:spPr>
          <a:xfrm>
            <a:off x="502920" y="3909060"/>
            <a:ext cx="5509260" cy="2308860"/>
          </a:xfrm>
          <a:prstGeom prst="roundRect">
            <a:avLst>
              <a:gd name="adj" fmla="val 3564"/>
            </a:avLst>
          </a:prstGeom>
          <a:solidFill>
            <a:srgbClr val="FDF1EF"/>
          </a:solidFill>
          <a:ln w="15875">
            <a:solidFill>
              <a:srgbClr val="FBCEC9"/>
            </a:solidFill>
            <a:prstDash val="solid"/>
          </a:ln>
        </p:spPr>
        <p:txBody>
          <a:bodyPr/>
          <a:p/>
        </p:txBody>
      </p:sp>
      <p:sp>
        <p:nvSpPr>
          <p:cNvPr id="14" name="Text 11"/>
          <p:cNvSpPr/>
          <p:nvPr/>
        </p:nvSpPr>
        <p:spPr>
          <a:xfrm>
            <a:off x="722376" y="3982212"/>
            <a:ext cx="5070348" cy="2162556"/>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Keeping your temper</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Losing your temper hands them the controls</a:t>
            </a:r>
            <a:endParaRPr lang="en-US" sz="1500" dirty="0"/>
          </a:p>
        </p:txBody>
      </p:sp>
      <p:sp>
        <p:nvSpPr>
          <p:cNvPr id="15" name="Shape 12"/>
          <p:cNvSpPr/>
          <p:nvPr/>
        </p:nvSpPr>
        <p:spPr>
          <a:xfrm>
            <a:off x="6195060" y="3909060"/>
            <a:ext cx="5509260" cy="2308860"/>
          </a:xfrm>
          <a:prstGeom prst="roundRect">
            <a:avLst>
              <a:gd name="adj" fmla="val 3564"/>
            </a:avLst>
          </a:prstGeom>
          <a:solidFill>
            <a:srgbClr val="FDF1EF"/>
          </a:solidFill>
          <a:ln w="15875">
            <a:solidFill>
              <a:srgbClr val="FBCEC9"/>
            </a:solidFill>
            <a:prstDash val="solid"/>
          </a:ln>
        </p:spPr>
        <p:txBody>
          <a:bodyPr/>
          <a:p/>
        </p:txBody>
      </p:sp>
      <p:sp>
        <p:nvSpPr>
          <p:cNvPr id="16" name="Text 13"/>
          <p:cNvSpPr/>
          <p:nvPr/>
        </p:nvSpPr>
        <p:spPr>
          <a:xfrm>
            <a:off x="6414516" y="3982212"/>
            <a:ext cx="5070348" cy="2162556"/>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Working as a team</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Clear roles; never disagree with each other in front of the other side</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Do Thuy Huong, Lecturer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Chapter 4</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12</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4.3</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Spotting the common tactics</a:t>
            </a:r>
            <a:endParaRPr lang="en-US" sz="2700" dirty="0"/>
          </a:p>
        </p:txBody>
      </p:sp>
      <p:sp>
        <p:nvSpPr>
          <p:cNvPr id="9" name="Shape 6"/>
          <p:cNvSpPr/>
          <p:nvPr/>
        </p:nvSpPr>
        <p:spPr>
          <a:xfrm>
            <a:off x="502920" y="1572768"/>
            <a:ext cx="384048" cy="384048"/>
          </a:xfrm>
          <a:prstGeom prst="ellipse">
            <a:avLst/>
          </a:prstGeom>
          <a:solidFill>
            <a:srgbClr val="DC756A"/>
          </a:solidFill>
          <a:ln/>
        </p:spPr>
        <p:txBody>
          <a:bodyPr/>
          <a:p/>
        </p:txBody>
      </p:sp>
      <p:sp>
        <p:nvSpPr>
          <p:cNvPr id="10" name="Text 7"/>
          <p:cNvSpPr/>
          <p:nvPr/>
        </p:nvSpPr>
        <p:spPr>
          <a:xfrm>
            <a:off x="502920" y="15727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8"/>
          <p:cNvSpPr/>
          <p:nvPr/>
        </p:nvSpPr>
        <p:spPr>
          <a:xfrm>
            <a:off x="1051560" y="1499616"/>
            <a:ext cx="10652760" cy="941832"/>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The shock anchor  —  </a:t>
            </a:r>
            <a:pPr indent="0" marL="0">
              <a:buNone/>
            </a:pPr>
            <a:r>
              <a:rPr lang="en-US" sz="1350" dirty="0">
                <a:solidFill>
                  <a:srgbClr val="3A2B28"/>
                </a:solidFill>
                <a:latin typeface="Calibri" pitchFamily="34" charset="0"/>
                <a:ea typeface="Calibri" pitchFamily="34" charset="-122"/>
                <a:cs typeface="Calibri" pitchFamily="34" charset="-120"/>
              </a:rPr>
              <a:t>an outlandish offer to drag your expectations → hold to objective standards</a:t>
            </a:r>
            <a:endParaRPr lang="en-US" sz="1400" dirty="0"/>
          </a:p>
        </p:txBody>
      </p:sp>
      <p:sp>
        <p:nvSpPr>
          <p:cNvPr id="12" name="Shape 9"/>
          <p:cNvSpPr/>
          <p:nvPr/>
        </p:nvSpPr>
        <p:spPr>
          <a:xfrm>
            <a:off x="502920" y="2514600"/>
            <a:ext cx="384048" cy="384048"/>
          </a:xfrm>
          <a:prstGeom prst="ellipse">
            <a:avLst/>
          </a:prstGeom>
          <a:solidFill>
            <a:srgbClr val="DC756A"/>
          </a:solidFill>
          <a:ln/>
        </p:spPr>
        <p:txBody>
          <a:bodyPr/>
          <a:p/>
        </p:txBody>
      </p:sp>
      <p:sp>
        <p:nvSpPr>
          <p:cNvPr id="13" name="Text 10"/>
          <p:cNvSpPr/>
          <p:nvPr/>
        </p:nvSpPr>
        <p:spPr>
          <a:xfrm>
            <a:off x="502920" y="25146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1"/>
          <p:cNvSpPr/>
          <p:nvPr/>
        </p:nvSpPr>
        <p:spPr>
          <a:xfrm>
            <a:off x="1051560" y="2441448"/>
            <a:ext cx="10652760" cy="941832"/>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Good cop, bad cop  —  </a:t>
            </a:r>
            <a:pPr indent="0" marL="0">
              <a:buNone/>
            </a:pPr>
            <a:r>
              <a:rPr lang="en-US" sz="1350" dirty="0">
                <a:solidFill>
                  <a:srgbClr val="3A2B28"/>
                </a:solidFill>
                <a:latin typeface="Calibri" pitchFamily="34" charset="0"/>
                <a:ea typeface="Calibri" pitchFamily="34" charset="-122"/>
                <a:cs typeface="Calibri" pitchFamily="34" charset="-120"/>
              </a:rPr>
              <a:t>one hard, one friendly → discuss the substance only</a:t>
            </a:r>
            <a:endParaRPr lang="en-US" sz="1400" dirty="0"/>
          </a:p>
        </p:txBody>
      </p:sp>
      <p:sp>
        <p:nvSpPr>
          <p:cNvPr id="15" name="Shape 12"/>
          <p:cNvSpPr/>
          <p:nvPr/>
        </p:nvSpPr>
        <p:spPr>
          <a:xfrm>
            <a:off x="502920" y="3456432"/>
            <a:ext cx="384048" cy="384048"/>
          </a:xfrm>
          <a:prstGeom prst="ellipse">
            <a:avLst/>
          </a:prstGeom>
          <a:solidFill>
            <a:srgbClr val="DC756A"/>
          </a:solidFill>
          <a:ln/>
        </p:spPr>
        <p:txBody>
          <a:bodyPr/>
          <a:p/>
        </p:txBody>
      </p:sp>
      <p:sp>
        <p:nvSpPr>
          <p:cNvPr id="16" name="Text 13"/>
          <p:cNvSpPr/>
          <p:nvPr/>
        </p:nvSpPr>
        <p:spPr>
          <a:xfrm>
            <a:off x="502920" y="34564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4"/>
          <p:cNvSpPr/>
          <p:nvPr/>
        </p:nvSpPr>
        <p:spPr>
          <a:xfrm>
            <a:off x="1051560" y="3383280"/>
            <a:ext cx="10652760" cy="941832"/>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The fake deadline  —  </a:t>
            </a:r>
            <a:pPr indent="0" marL="0">
              <a:buNone/>
            </a:pPr>
            <a:r>
              <a:rPr lang="en-US" sz="1350" dirty="0">
                <a:solidFill>
                  <a:srgbClr val="3A2B28"/>
                </a:solidFill>
                <a:latin typeface="Calibri" pitchFamily="34" charset="0"/>
                <a:ea typeface="Calibri" pitchFamily="34" charset="-122"/>
                <a:cs typeface="Calibri" pitchFamily="34" charset="-120"/>
              </a:rPr>
              <a:t>“today only” → check it, be ready to walk</a:t>
            </a:r>
            <a:endParaRPr lang="en-US" sz="1400" dirty="0"/>
          </a:p>
        </p:txBody>
      </p:sp>
      <p:sp>
        <p:nvSpPr>
          <p:cNvPr id="18" name="Shape 15"/>
          <p:cNvSpPr/>
          <p:nvPr/>
        </p:nvSpPr>
        <p:spPr>
          <a:xfrm>
            <a:off x="502920" y="4398264"/>
            <a:ext cx="384048" cy="384048"/>
          </a:xfrm>
          <a:prstGeom prst="ellipse">
            <a:avLst/>
          </a:prstGeom>
          <a:solidFill>
            <a:srgbClr val="DC756A"/>
          </a:solidFill>
          <a:ln/>
        </p:spPr>
        <p:txBody>
          <a:bodyPr/>
          <a:p/>
        </p:txBody>
      </p:sp>
      <p:sp>
        <p:nvSpPr>
          <p:cNvPr id="19" name="Text 16"/>
          <p:cNvSpPr/>
          <p:nvPr/>
        </p:nvSpPr>
        <p:spPr>
          <a:xfrm>
            <a:off x="502920" y="43982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0" name="Text 17"/>
          <p:cNvSpPr/>
          <p:nvPr/>
        </p:nvSpPr>
        <p:spPr>
          <a:xfrm>
            <a:off x="1051560" y="4325112"/>
            <a:ext cx="10652760" cy="941832"/>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Salami slicing  —  </a:t>
            </a:r>
            <a:pPr indent="0" marL="0">
              <a:buNone/>
            </a:pPr>
            <a:r>
              <a:rPr lang="en-US" sz="1350" dirty="0">
                <a:solidFill>
                  <a:srgbClr val="3A2B28"/>
                </a:solidFill>
                <a:latin typeface="Calibri" pitchFamily="34" charset="0"/>
                <a:ea typeface="Calibri" pitchFamily="34" charset="-122"/>
                <a:cs typeface="Calibri" pitchFamily="34" charset="-120"/>
              </a:rPr>
              <a:t>asking for a little more each time → bundle the clauses together</a:t>
            </a:r>
            <a:endParaRPr lang="en-US" sz="1400" dirty="0"/>
          </a:p>
        </p:txBody>
      </p:sp>
      <p:sp>
        <p:nvSpPr>
          <p:cNvPr id="21" name="Shape 18"/>
          <p:cNvSpPr/>
          <p:nvPr/>
        </p:nvSpPr>
        <p:spPr>
          <a:xfrm>
            <a:off x="502920" y="5340096"/>
            <a:ext cx="384048" cy="384048"/>
          </a:xfrm>
          <a:prstGeom prst="ellipse">
            <a:avLst/>
          </a:prstGeom>
          <a:solidFill>
            <a:srgbClr val="DC756A"/>
          </a:solidFill>
          <a:ln/>
        </p:spPr>
        <p:txBody>
          <a:bodyPr/>
          <a:p/>
        </p:txBody>
      </p:sp>
      <p:sp>
        <p:nvSpPr>
          <p:cNvPr id="22" name="Text 19"/>
          <p:cNvSpPr/>
          <p:nvPr/>
        </p:nvSpPr>
        <p:spPr>
          <a:xfrm>
            <a:off x="502920" y="534009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3" name="Text 20"/>
          <p:cNvSpPr/>
          <p:nvPr/>
        </p:nvSpPr>
        <p:spPr>
          <a:xfrm>
            <a:off x="1051560" y="5266944"/>
            <a:ext cx="10652760" cy="941832"/>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The last-minute demand  —  </a:t>
            </a:r>
            <a:pPr indent="0" marL="0">
              <a:buNone/>
            </a:pPr>
            <a:r>
              <a:rPr lang="en-US" sz="1350" dirty="0">
                <a:solidFill>
                  <a:srgbClr val="3A2B28"/>
                </a:solidFill>
                <a:latin typeface="Calibri" pitchFamily="34" charset="0"/>
                <a:ea typeface="Calibri" pitchFamily="34" charset="-122"/>
                <a:cs typeface="Calibri" pitchFamily="34" charset="-120"/>
              </a:rPr>
              <a:t>a new request just before signing → ask for something equal in return</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Do Thuy Huong, Lecturer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Chapter 4</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13</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GROUP WORK</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Role-play: negotiating an equipment purchase</a:t>
            </a:r>
            <a:endParaRPr lang="en-US" sz="2700" dirty="0"/>
          </a:p>
        </p:txBody>
      </p:sp>
      <p:sp>
        <p:nvSpPr>
          <p:cNvPr id="9" name="Shape 6"/>
          <p:cNvSpPr/>
          <p:nvPr/>
        </p:nvSpPr>
        <p:spPr>
          <a:xfrm>
            <a:off x="502920" y="1417320"/>
            <a:ext cx="11201400" cy="2103120"/>
          </a:xfrm>
          <a:prstGeom prst="roundRect">
            <a:avLst>
              <a:gd name="adj" fmla="val 4348"/>
            </a:avLst>
          </a:prstGeom>
          <a:solidFill>
            <a:srgbClr val="FBEDE0"/>
          </a:solidFill>
          <a:ln w="15875">
            <a:solidFill>
              <a:srgbClr val="C9A227"/>
            </a:solidFill>
            <a:prstDash val="solid"/>
          </a:ln>
        </p:spPr>
        <p:txBody>
          <a:bodyPr/>
          <a:p/>
        </p:txBody>
      </p:sp>
      <p:sp>
        <p:nvSpPr>
          <p:cNvPr id="10" name="Text 7"/>
          <p:cNvSpPr/>
          <p:nvPr/>
        </p:nvSpPr>
        <p:spPr>
          <a:xfrm>
            <a:off x="749808" y="1508760"/>
            <a:ext cx="10698480" cy="1920240"/>
          </a:xfrm>
          <a:prstGeom prst="rect">
            <a:avLst/>
          </a:prstGeom>
          <a:noFill/>
          <a:ln/>
        </p:spPr>
        <p:txBody>
          <a:bodyPr wrap="square" lIns="0" tIns="0" rIns="0" bIns="0" rtlCol="0" anchor="ctr"/>
          <a:lstStyle/>
          <a:p>
            <a:pPr indent="0" marL="0">
              <a:buNone/>
            </a:pPr>
            <a:r>
              <a:rPr lang="en-US" sz="1500" b="1" dirty="0">
                <a:solidFill>
                  <a:srgbClr val="8A6510"/>
                </a:solidFill>
                <a:latin typeface="Calibri" pitchFamily="34" charset="0"/>
                <a:ea typeface="Calibri" pitchFamily="34" charset="-122"/>
                <a:cs typeface="Calibri" pitchFamily="34" charset="-120"/>
              </a:rPr>
              <a:t>THE CASE (two groups per pair, 25 minutes; each side gets its own “confidential brief” from the lecturer)</a:t>
            </a:r>
            <a:endParaRPr lang="en-US" sz="1500" dirty="0"/>
          </a:p>
          <a:p>
            <a:pPr indent="0" marL="0">
              <a:buNone/>
            </a:pPr>
            <a:r>
              <a:rPr lang="en-US" sz="1350" i="1" dirty="0">
                <a:solidFill>
                  <a:srgbClr val="3A2B28"/>
                </a:solidFill>
                <a:latin typeface="Calibri" pitchFamily="34" charset="0"/>
                <a:ea typeface="Calibri" pitchFamily="34" charset="-122"/>
                <a:cs typeface="Calibri" pitchFamily="34" charset="-120"/>
              </a:rPr>
              <a:t>Company X needs 20 computers for a new office, a budget of at most 240 million dong, delivery within 3 weeks. Supplier Y wants a good price but is holding stock of an older model and wants a long maintenance contract. Neither side knows the other's limits.</a:t>
            </a:r>
            <a:endParaRPr lang="en-US" sz="1500" dirty="0"/>
          </a:p>
        </p:txBody>
      </p:sp>
      <p:sp>
        <p:nvSpPr>
          <p:cNvPr id="11" name="Text 8"/>
          <p:cNvSpPr/>
          <p:nvPr/>
        </p:nvSpPr>
        <p:spPr>
          <a:xfrm>
            <a:off x="502920" y="3749040"/>
            <a:ext cx="11201400" cy="320040"/>
          </a:xfrm>
          <a:prstGeom prst="rect">
            <a:avLst/>
          </a:prstGeom>
          <a:noFill/>
          <a:ln/>
        </p:spPr>
        <p:txBody>
          <a:bodyPr wrap="square" lIns="0" tIns="0" rIns="0" bIns="0" rtlCol="0" anchor="ctr"/>
          <a:lstStyle/>
          <a:p>
            <a:pPr indent="0" marL="0">
              <a:buNone/>
            </a:pPr>
            <a:r>
              <a:rPr lang="en-US" sz="1300" b="1" spc="100" kern="0" dirty="0">
                <a:solidFill>
                  <a:srgbClr val="AC4D33"/>
                </a:solidFill>
                <a:latin typeface="Calibri" pitchFamily="34" charset="0"/>
                <a:ea typeface="Calibri" pitchFamily="34" charset="-122"/>
                <a:cs typeface="Calibri" pitchFamily="34" charset="-120"/>
              </a:rPr>
              <a:t>THE GROUP'S TASK</a:t>
            </a:r>
            <a:endParaRPr lang="en-US" sz="1300" dirty="0"/>
          </a:p>
        </p:txBody>
      </p:sp>
      <p:sp>
        <p:nvSpPr>
          <p:cNvPr id="12" name="Shape 9"/>
          <p:cNvSpPr/>
          <p:nvPr/>
        </p:nvSpPr>
        <p:spPr>
          <a:xfrm>
            <a:off x="502920" y="4178808"/>
            <a:ext cx="384048" cy="384048"/>
          </a:xfrm>
          <a:prstGeom prst="ellipse">
            <a:avLst/>
          </a:prstGeom>
          <a:solidFill>
            <a:srgbClr val="DC756A"/>
          </a:solidFill>
          <a:ln/>
        </p:spPr>
        <p:txBody>
          <a:bodyPr/>
          <a:p/>
        </p:txBody>
      </p:sp>
      <p:sp>
        <p:nvSpPr>
          <p:cNvPr id="13" name="Text 10"/>
          <p:cNvSpPr/>
          <p:nvPr/>
        </p:nvSpPr>
        <p:spPr>
          <a:xfrm>
            <a:off x="502920" y="41788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1"/>
          <p:cNvSpPr/>
          <p:nvPr/>
        </p:nvSpPr>
        <p:spPr>
          <a:xfrm>
            <a:off x="1051560" y="4105656"/>
            <a:ext cx="10652760" cy="685800"/>
          </a:xfrm>
          <a:prstGeom prst="rect">
            <a:avLst/>
          </a:prstGeom>
          <a:noFill/>
          <a:ln/>
        </p:spPr>
        <p:txBody>
          <a:bodyPr wrap="square" lIns="0" tIns="0" rIns="0" bIns="0" rtlCol="0" anchor="t"/>
          <a:lstStyle/>
          <a:p>
            <a:pPr indent="0" marL="0">
              <a:buNone/>
            </a:pPr>
            <a:r>
              <a:rPr lang="en-US" sz="1400" dirty="0">
                <a:solidFill>
                  <a:srgbClr val="3A2B28"/>
                </a:solidFill>
                <a:latin typeface="Calibri" pitchFamily="34" charset="0"/>
                <a:ea typeface="Calibri" pitchFamily="34" charset="-122"/>
                <a:cs typeface="Calibri" pitchFamily="34" charset="-120"/>
              </a:rPr>
              <a:t>Ten minutes to prepare: set the three target levels, the BATNA and a concession strategy from your brief.</a:t>
            </a:r>
            <a:endParaRPr lang="en-US" sz="1400" dirty="0"/>
          </a:p>
        </p:txBody>
      </p:sp>
      <p:sp>
        <p:nvSpPr>
          <p:cNvPr id="15" name="Shape 12"/>
          <p:cNvSpPr/>
          <p:nvPr/>
        </p:nvSpPr>
        <p:spPr>
          <a:xfrm>
            <a:off x="502920" y="4864608"/>
            <a:ext cx="384048" cy="384048"/>
          </a:xfrm>
          <a:prstGeom prst="ellipse">
            <a:avLst/>
          </a:prstGeom>
          <a:solidFill>
            <a:srgbClr val="DC756A"/>
          </a:solidFill>
          <a:ln/>
        </p:spPr>
        <p:txBody>
          <a:bodyPr/>
          <a:p/>
        </p:txBody>
      </p:sp>
      <p:sp>
        <p:nvSpPr>
          <p:cNvPr id="16" name="Text 13"/>
          <p:cNvSpPr/>
          <p:nvPr/>
        </p:nvSpPr>
        <p:spPr>
          <a:xfrm>
            <a:off x="502920" y="4864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4"/>
          <p:cNvSpPr/>
          <p:nvPr/>
        </p:nvSpPr>
        <p:spPr>
          <a:xfrm>
            <a:off x="1051560" y="4791456"/>
            <a:ext cx="10652760" cy="685800"/>
          </a:xfrm>
          <a:prstGeom prst="rect">
            <a:avLst/>
          </a:prstGeom>
          <a:noFill/>
          <a:ln/>
        </p:spPr>
        <p:txBody>
          <a:bodyPr wrap="square" lIns="0" tIns="0" rIns="0" bIns="0" rtlCol="0" anchor="t"/>
          <a:lstStyle/>
          <a:p>
            <a:pPr indent="0" marL="0">
              <a:buNone/>
            </a:pPr>
            <a:r>
              <a:rPr lang="en-US" sz="1400" dirty="0">
                <a:solidFill>
                  <a:srgbClr val="3A2B28"/>
                </a:solidFill>
                <a:latin typeface="Calibri" pitchFamily="34" charset="0"/>
                <a:ea typeface="Calibri" pitchFamily="34" charset="-122"/>
                <a:cs typeface="Calibri" pitchFamily="34" charset="-120"/>
              </a:rPr>
              <a:t>Negotiate for ten minutes in front of the class; observers note the anchor, the concessions, and any tactics used.</a:t>
            </a:r>
            <a:endParaRPr lang="en-US" sz="1400" dirty="0"/>
          </a:p>
        </p:txBody>
      </p:sp>
      <p:sp>
        <p:nvSpPr>
          <p:cNvPr id="18" name="Shape 15"/>
          <p:cNvSpPr/>
          <p:nvPr/>
        </p:nvSpPr>
        <p:spPr>
          <a:xfrm>
            <a:off x="502920" y="5550408"/>
            <a:ext cx="384048" cy="384048"/>
          </a:xfrm>
          <a:prstGeom prst="ellipse">
            <a:avLst/>
          </a:prstGeom>
          <a:solidFill>
            <a:srgbClr val="DC756A"/>
          </a:solidFill>
          <a:ln/>
        </p:spPr>
        <p:txBody>
          <a:bodyPr/>
          <a:p/>
        </p:txBody>
      </p:sp>
      <p:sp>
        <p:nvSpPr>
          <p:cNvPr id="19" name="Text 16"/>
          <p:cNvSpPr/>
          <p:nvPr/>
        </p:nvSpPr>
        <p:spPr>
          <a:xfrm>
            <a:off x="502920" y="55504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7"/>
          <p:cNvSpPr/>
          <p:nvPr/>
        </p:nvSpPr>
        <p:spPr>
          <a:xfrm>
            <a:off x="1051560" y="5477256"/>
            <a:ext cx="10652760" cy="685800"/>
          </a:xfrm>
          <a:prstGeom prst="rect">
            <a:avLst/>
          </a:prstGeom>
          <a:noFill/>
          <a:ln/>
        </p:spPr>
        <p:txBody>
          <a:bodyPr wrap="square" lIns="0" tIns="0" rIns="0" bIns="0" rtlCol="0" anchor="t"/>
          <a:lstStyle/>
          <a:p>
            <a:pPr indent="0" marL="0">
              <a:buNone/>
            </a:pPr>
            <a:r>
              <a:rPr lang="en-US" sz="1400" dirty="0">
                <a:solidFill>
                  <a:srgbClr val="3A2B28"/>
                </a:solidFill>
                <a:latin typeface="Calibri" pitchFamily="34" charset="0"/>
                <a:ea typeface="Calibri" pitchFamily="34" charset="-122"/>
                <a:cs typeface="Calibri" pitchFamily="34" charset="-120"/>
              </a:rPr>
              <a:t>The class analyses: where in the ZOPA did the deal land? Which side prepared better, and why?</a:t>
            </a:r>
            <a:endParaRPr lang="en-US" sz="1400" dirty="0"/>
          </a:p>
        </p:txBody>
      </p:sp>
      <p:pic>
        <p:nvPicPr>
          <p:cNvPr id="21" name="Picture 20" descr="co-huong-tron.png"/>
          <p:cNvPicPr>
            <a:picLocks noChangeAspect="1"/>
          </p:cNvPicPr>
          <p:nvPr/>
        </p:nvPicPr>
        <p:blipFill>
          <a:blip r:embed="rId4"/>
          <a:stretch>
            <a:fillRect/>
          </a:stretch>
        </p:blipFill>
        <p:spPr>
          <a:xfrm>
            <a:off x="10378440" y="384048"/>
            <a:ext cx="960120" cy="9601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Do Thuy Huong, Lecturer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Chapter 4</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14</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SUMMARY</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Three things to remember</a:t>
            </a:r>
            <a:endParaRPr lang="en-US" sz="2700" dirty="0"/>
          </a:p>
        </p:txBody>
      </p:sp>
      <p:sp>
        <p:nvSpPr>
          <p:cNvPr id="9" name="Shape 6"/>
          <p:cNvSpPr/>
          <p:nvPr/>
        </p:nvSpPr>
        <p:spPr>
          <a:xfrm>
            <a:off x="502920" y="1463040"/>
            <a:ext cx="11201400" cy="1490472"/>
          </a:xfrm>
          <a:prstGeom prst="roundRect">
            <a:avLst>
              <a:gd name="adj" fmla="val 5521"/>
            </a:avLst>
          </a:prstGeom>
          <a:solidFill>
            <a:srgbClr val="FDF1EF"/>
          </a:solidFill>
          <a:ln w="15875">
            <a:solidFill>
              <a:srgbClr val="FBCEC9"/>
            </a:solidFill>
            <a:prstDash val="solid"/>
          </a:ln>
        </p:spPr>
        <p:txBody>
          <a:bodyPr/>
          <a:p/>
        </p:txBody>
      </p:sp>
      <p:sp>
        <p:nvSpPr>
          <p:cNvPr id="10" name="Text 7"/>
          <p:cNvSpPr/>
          <p:nvPr/>
        </p:nvSpPr>
        <p:spPr>
          <a:xfrm>
            <a:off x="722376" y="1517904"/>
            <a:ext cx="10762488" cy="138074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A negotiation is won before you sit down</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Three target levels + BATNA + knowing them = 70% of the result; failing to prepare is preparing to concede.</a:t>
            </a:r>
            <a:endParaRPr lang="en-US" sz="1500" dirty="0"/>
          </a:p>
        </p:txBody>
      </p:sp>
      <p:sp>
        <p:nvSpPr>
          <p:cNvPr id="11" name="Shape 8"/>
          <p:cNvSpPr/>
          <p:nvPr/>
        </p:nvSpPr>
        <p:spPr>
          <a:xfrm>
            <a:off x="502920" y="3118104"/>
            <a:ext cx="11201400" cy="1490472"/>
          </a:xfrm>
          <a:prstGeom prst="roundRect">
            <a:avLst>
              <a:gd name="adj" fmla="val 5521"/>
            </a:avLst>
          </a:prstGeom>
          <a:solidFill>
            <a:srgbClr val="FDF1EF"/>
          </a:solidFill>
          <a:ln w="15875">
            <a:solidFill>
              <a:srgbClr val="FBCEC9"/>
            </a:solidFill>
            <a:prstDash val="solid"/>
          </a:ln>
        </p:spPr>
        <p:txBody>
          <a:bodyPr/>
          <a:p/>
        </p:txBody>
      </p:sp>
      <p:sp>
        <p:nvSpPr>
          <p:cNvPr id="12" name="Text 9"/>
          <p:cNvSpPr/>
          <p:nvPr/>
        </p:nvSpPr>
        <p:spPr>
          <a:xfrm>
            <a:off x="722376" y="3172968"/>
            <a:ext cx="10762488" cy="138074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Negotiate interests, don't dig into positions</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Ask “why” to find the real interest; every concession carries a condition; aim at a deal both sides can actually perform.</a:t>
            </a:r>
            <a:endParaRPr lang="en-US" sz="1500" dirty="0"/>
          </a:p>
        </p:txBody>
      </p:sp>
      <p:sp>
        <p:nvSpPr>
          <p:cNvPr id="13" name="Shape 10"/>
          <p:cNvSpPr/>
          <p:nvPr/>
        </p:nvSpPr>
        <p:spPr>
          <a:xfrm>
            <a:off x="502920" y="4773168"/>
            <a:ext cx="11201400" cy="1490472"/>
          </a:xfrm>
          <a:prstGeom prst="roundRect">
            <a:avLst>
              <a:gd name="adj" fmla="val 5521"/>
            </a:avLst>
          </a:prstGeom>
          <a:solidFill>
            <a:srgbClr val="FDF1EF"/>
          </a:solidFill>
          <a:ln w="15875">
            <a:solidFill>
              <a:srgbClr val="FBCEC9"/>
            </a:solidFill>
            <a:prstDash val="solid"/>
          </a:ln>
        </p:spPr>
        <p:txBody>
          <a:bodyPr/>
          <a:p/>
        </p:txBody>
      </p:sp>
      <p:sp>
        <p:nvSpPr>
          <p:cNvPr id="14" name="Text 11"/>
          <p:cNvSpPr/>
          <p:nvPr/>
        </p:nvSpPr>
        <p:spPr>
          <a:xfrm>
            <a:off x="722376" y="4828032"/>
            <a:ext cx="10762488" cy="138074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A deal is safe only in writing</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Once closed, it must become a contract in correct form — that is Chapter 5: Drafting and laying out documents.</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Do Thuy Huong, Lecturer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Chapter 4</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15</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REVIEW &amp; PREPARATION</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Review questions</a:t>
            </a:r>
            <a:endParaRPr lang="en-US" sz="2700" dirty="0"/>
          </a:p>
        </p:txBody>
      </p:sp>
      <p:sp>
        <p:nvSpPr>
          <p:cNvPr id="9" name="Shape 6"/>
          <p:cNvSpPr/>
          <p:nvPr/>
        </p:nvSpPr>
        <p:spPr>
          <a:xfrm>
            <a:off x="502920" y="1572768"/>
            <a:ext cx="384048" cy="384048"/>
          </a:xfrm>
          <a:prstGeom prst="ellipse">
            <a:avLst/>
          </a:prstGeom>
          <a:solidFill>
            <a:srgbClr val="DC756A"/>
          </a:solidFill>
          <a:ln/>
        </p:spPr>
        <p:txBody>
          <a:bodyPr/>
          <a:p/>
        </p:txBody>
      </p:sp>
      <p:sp>
        <p:nvSpPr>
          <p:cNvPr id="10" name="Text 7"/>
          <p:cNvSpPr/>
          <p:nvPr/>
        </p:nvSpPr>
        <p:spPr>
          <a:xfrm>
            <a:off x="502920" y="15727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8"/>
          <p:cNvSpPr/>
          <p:nvPr/>
        </p:nvSpPr>
        <p:spPr>
          <a:xfrm>
            <a:off x="1051560" y="1499616"/>
            <a:ext cx="10652760" cy="822960"/>
          </a:xfrm>
          <a:prstGeom prst="rect">
            <a:avLst/>
          </a:prstGeom>
          <a:noFill/>
          <a:ln/>
        </p:spPr>
        <p:txBody>
          <a:bodyPr wrap="square" lIns="0" tIns="0" rIns="0" bIns="0" rtlCol="0" anchor="t"/>
          <a:lstStyle/>
          <a:p>
            <a:pPr indent="0" marL="0">
              <a:buNone/>
            </a:pPr>
            <a:r>
              <a:rPr lang="en-US" sz="1400" dirty="0">
                <a:solidFill>
                  <a:srgbClr val="3A2B28"/>
                </a:solidFill>
                <a:latin typeface="Calibri" pitchFamily="34" charset="0"/>
                <a:ea typeface="Calibri" pitchFamily="34" charset="-122"/>
                <a:cs typeface="Calibri" pitchFamily="34" charset="-120"/>
              </a:rPr>
              <a:t>Distinguish soft, hard and principled negotiation; when should each be used?</a:t>
            </a:r>
            <a:endParaRPr lang="en-US" sz="1400" dirty="0"/>
          </a:p>
        </p:txBody>
      </p:sp>
      <p:sp>
        <p:nvSpPr>
          <p:cNvPr id="12" name="Shape 9"/>
          <p:cNvSpPr/>
          <p:nvPr/>
        </p:nvSpPr>
        <p:spPr>
          <a:xfrm>
            <a:off x="502920" y="2395728"/>
            <a:ext cx="384048" cy="384048"/>
          </a:xfrm>
          <a:prstGeom prst="ellipse">
            <a:avLst/>
          </a:prstGeom>
          <a:solidFill>
            <a:srgbClr val="DC756A"/>
          </a:solidFill>
          <a:ln/>
        </p:spPr>
        <p:txBody>
          <a:bodyPr/>
          <a:p/>
        </p:txBody>
      </p:sp>
      <p:sp>
        <p:nvSpPr>
          <p:cNvPr id="13" name="Text 10"/>
          <p:cNvSpPr/>
          <p:nvPr/>
        </p:nvSpPr>
        <p:spPr>
          <a:xfrm>
            <a:off x="502920" y="23957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1"/>
          <p:cNvSpPr/>
          <p:nvPr/>
        </p:nvSpPr>
        <p:spPr>
          <a:xfrm>
            <a:off x="1051560" y="2322576"/>
            <a:ext cx="10652760" cy="822960"/>
          </a:xfrm>
          <a:prstGeom prst="rect">
            <a:avLst/>
          </a:prstGeom>
          <a:noFill/>
          <a:ln/>
        </p:spPr>
        <p:txBody>
          <a:bodyPr wrap="square" lIns="0" tIns="0" rIns="0" bIns="0" rtlCol="0" anchor="t"/>
          <a:lstStyle/>
          <a:p>
            <a:pPr indent="0" marL="0">
              <a:buNone/>
            </a:pPr>
            <a:r>
              <a:rPr lang="en-US" sz="1400" dirty="0">
                <a:solidFill>
                  <a:srgbClr val="3A2B28"/>
                </a:solidFill>
                <a:latin typeface="Calibri" pitchFamily="34" charset="0"/>
                <a:ea typeface="Calibri" pitchFamily="34" charset="-122"/>
                <a:cs typeface="Calibri" pitchFamily="34" charset="-120"/>
              </a:rPr>
              <a:t>What are BATNA and ZOPA? Build a BATNA for a student renting a room.</a:t>
            </a:r>
            <a:endParaRPr lang="en-US" sz="1400" dirty="0"/>
          </a:p>
        </p:txBody>
      </p:sp>
      <p:sp>
        <p:nvSpPr>
          <p:cNvPr id="15" name="Shape 12"/>
          <p:cNvSpPr/>
          <p:nvPr/>
        </p:nvSpPr>
        <p:spPr>
          <a:xfrm>
            <a:off x="502920" y="3218688"/>
            <a:ext cx="384048" cy="384048"/>
          </a:xfrm>
          <a:prstGeom prst="ellipse">
            <a:avLst/>
          </a:prstGeom>
          <a:solidFill>
            <a:srgbClr val="DC756A"/>
          </a:solidFill>
          <a:ln/>
        </p:spPr>
        <p:txBody>
          <a:bodyPr/>
          <a:p/>
        </p:txBody>
      </p:sp>
      <p:sp>
        <p:nvSpPr>
          <p:cNvPr id="16" name="Text 13"/>
          <p:cNvSpPr/>
          <p:nvPr/>
        </p:nvSpPr>
        <p:spPr>
          <a:xfrm>
            <a:off x="502920" y="32186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4"/>
          <p:cNvSpPr/>
          <p:nvPr/>
        </p:nvSpPr>
        <p:spPr>
          <a:xfrm>
            <a:off x="1051560" y="3145536"/>
            <a:ext cx="10652760" cy="822960"/>
          </a:xfrm>
          <a:prstGeom prst="rect">
            <a:avLst/>
          </a:prstGeom>
          <a:noFill/>
          <a:ln/>
        </p:spPr>
        <p:txBody>
          <a:bodyPr wrap="square" lIns="0" tIns="0" rIns="0" bIns="0" rtlCol="0" anchor="t"/>
          <a:lstStyle/>
          <a:p>
            <a:pPr indent="0" marL="0">
              <a:buNone/>
            </a:pPr>
            <a:r>
              <a:rPr lang="en-US" sz="1400" dirty="0">
                <a:solidFill>
                  <a:srgbClr val="3A2B28"/>
                </a:solidFill>
                <a:latin typeface="Calibri" pitchFamily="34" charset="0"/>
                <a:ea typeface="Calibri" pitchFamily="34" charset="-122"/>
                <a:cs typeface="Calibri" pitchFamily="34" charset="-120"/>
              </a:rPr>
              <a:t>Set out the five stages of a negotiation and the main task of each.</a:t>
            </a:r>
            <a:endParaRPr lang="en-US" sz="1400" dirty="0"/>
          </a:p>
        </p:txBody>
      </p:sp>
      <p:sp>
        <p:nvSpPr>
          <p:cNvPr id="18" name="Shape 15"/>
          <p:cNvSpPr/>
          <p:nvPr/>
        </p:nvSpPr>
        <p:spPr>
          <a:xfrm>
            <a:off x="502920" y="4041648"/>
            <a:ext cx="384048" cy="384048"/>
          </a:xfrm>
          <a:prstGeom prst="ellipse">
            <a:avLst/>
          </a:prstGeom>
          <a:solidFill>
            <a:srgbClr val="DC756A"/>
          </a:solidFill>
          <a:ln/>
        </p:spPr>
        <p:txBody>
          <a:bodyPr/>
          <a:p/>
        </p:txBody>
      </p:sp>
      <p:sp>
        <p:nvSpPr>
          <p:cNvPr id="19" name="Text 16"/>
          <p:cNvSpPr/>
          <p:nvPr/>
        </p:nvSpPr>
        <p:spPr>
          <a:xfrm>
            <a:off x="502920" y="40416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0" name="Text 17"/>
          <p:cNvSpPr/>
          <p:nvPr/>
        </p:nvSpPr>
        <p:spPr>
          <a:xfrm>
            <a:off x="1051560" y="3968496"/>
            <a:ext cx="10652760" cy="822960"/>
          </a:xfrm>
          <a:prstGeom prst="rect">
            <a:avLst/>
          </a:prstGeom>
          <a:noFill/>
          <a:ln/>
        </p:spPr>
        <p:txBody>
          <a:bodyPr wrap="square" lIns="0" tIns="0" rIns="0" bIns="0" rtlCol="0" anchor="t"/>
          <a:lstStyle/>
          <a:p>
            <a:pPr indent="0" marL="0">
              <a:buNone/>
            </a:pPr>
            <a:r>
              <a:rPr lang="en-US" sz="1400" dirty="0">
                <a:solidFill>
                  <a:srgbClr val="3A2B28"/>
                </a:solidFill>
                <a:latin typeface="Calibri" pitchFamily="34" charset="0"/>
                <a:ea typeface="Calibri" pitchFamily="34" charset="-122"/>
                <a:cs typeface="Calibri" pitchFamily="34" charset="-120"/>
              </a:rPr>
              <a:t>Name three common negotiating tactics and how to answer them.</a:t>
            </a:r>
            <a:endParaRPr lang="en-US" sz="1400" dirty="0"/>
          </a:p>
        </p:txBody>
      </p:sp>
      <p:sp>
        <p:nvSpPr>
          <p:cNvPr id="21" name="Shape 18"/>
          <p:cNvSpPr/>
          <p:nvPr/>
        </p:nvSpPr>
        <p:spPr>
          <a:xfrm>
            <a:off x="502920" y="5074920"/>
            <a:ext cx="11201400" cy="1143000"/>
          </a:xfrm>
          <a:prstGeom prst="roundRect">
            <a:avLst>
              <a:gd name="adj" fmla="val 7200"/>
            </a:avLst>
          </a:prstGeom>
          <a:solidFill>
            <a:srgbClr val="FBF3E2"/>
          </a:solidFill>
          <a:ln w="12700">
            <a:solidFill>
              <a:srgbClr val="C9A227"/>
            </a:solidFill>
            <a:prstDash val="solid"/>
          </a:ln>
        </p:spPr>
        <p:txBody>
          <a:bodyPr/>
          <a:p/>
        </p:txBody>
      </p:sp>
      <p:sp>
        <p:nvSpPr>
          <p:cNvPr id="22" name="Text 19"/>
          <p:cNvSpPr/>
          <p:nvPr/>
        </p:nvSpPr>
        <p:spPr>
          <a:xfrm>
            <a:off x="777240" y="5120640"/>
            <a:ext cx="10698480" cy="1051560"/>
          </a:xfrm>
          <a:prstGeom prst="rect">
            <a:avLst/>
          </a:prstGeom>
          <a:noFill/>
          <a:ln/>
        </p:spPr>
        <p:txBody>
          <a:bodyPr wrap="square" lIns="0" tIns="0" rIns="0" bIns="0" rtlCol="0" anchor="ctr"/>
          <a:lstStyle/>
          <a:p>
            <a:pPr indent="0" marL="0">
              <a:buNone/>
            </a:pPr>
            <a:r>
              <a:rPr lang="en-US" sz="1300" b="1" dirty="0">
                <a:solidFill>
                  <a:srgbClr val="8A6510"/>
                </a:solidFill>
                <a:latin typeface="Calibri" pitchFamily="34" charset="0"/>
                <a:ea typeface="Calibri" pitchFamily="34" charset="-122"/>
                <a:cs typeface="Calibri" pitchFamily="34" charset="-120"/>
              </a:rPr>
              <a:t>PREPARING FOR THE NEXT SESSION:  </a:t>
            </a:r>
            <a:pPr indent="0" marL="0">
              <a:buNone/>
            </a:pPr>
            <a:r>
              <a:rPr lang="en-US" sz="1300" dirty="0">
                <a:solidFill>
                  <a:srgbClr val="3A2B28"/>
                </a:solidFill>
                <a:latin typeface="Calibri" pitchFamily="34" charset="0"/>
                <a:ea typeface="Calibri" pitchFamily="34" charset="-122"/>
                <a:cs typeface="Calibri" pitchFamily="34" charset="-120"/>
              </a:rPr>
              <a:t>Chapter 5 – Drafting and laying out documents: read Decree 30/2020/ND-CP beforehand (the section on document format); in the lab you will draft the contract for the very deal you negotiated today.</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6">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Do Thuy Huong, Lecturer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Chapter 4</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16</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READING</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Course materials</a:t>
            </a:r>
            <a:endParaRPr lang="en-US" sz="2700" dirty="0"/>
          </a:p>
        </p:txBody>
      </p:sp>
      <p:sp>
        <p:nvSpPr>
          <p:cNvPr id="9" name="Shape 6"/>
          <p:cNvSpPr/>
          <p:nvPr/>
        </p:nvSpPr>
        <p:spPr>
          <a:xfrm>
            <a:off x="502920" y="1463040"/>
            <a:ext cx="11201400" cy="1322832"/>
          </a:xfrm>
          <a:prstGeom prst="roundRect">
            <a:avLst>
              <a:gd name="adj" fmla="val 6221"/>
            </a:avLst>
          </a:prstGeom>
          <a:solidFill>
            <a:srgbClr val="FDF1EF"/>
          </a:solidFill>
          <a:ln w="15875">
            <a:solidFill>
              <a:srgbClr val="FBCEC9"/>
            </a:solidFill>
            <a:prstDash val="solid"/>
          </a:ln>
        </p:spPr>
        <p:txBody>
          <a:bodyPr/>
          <a:p/>
        </p:txBody>
      </p:sp>
      <p:sp>
        <p:nvSpPr>
          <p:cNvPr id="10" name="Text 7"/>
          <p:cNvSpPr/>
          <p:nvPr/>
        </p:nvSpPr>
        <p:spPr>
          <a:xfrm>
            <a:off x="722376" y="1517904"/>
            <a:ext cx="10762488" cy="121310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Main textbook</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Ha Nam Khanh Giao (2023), Business Communication, Finance Publishing House.</a:t>
            </a:r>
            <a:endParaRPr lang="en-US" sz="1500" dirty="0"/>
          </a:p>
        </p:txBody>
      </p:sp>
      <p:sp>
        <p:nvSpPr>
          <p:cNvPr id="11" name="Shape 8"/>
          <p:cNvSpPr/>
          <p:nvPr/>
        </p:nvSpPr>
        <p:spPr>
          <a:xfrm>
            <a:off x="502920" y="2950464"/>
            <a:ext cx="11201400" cy="1322832"/>
          </a:xfrm>
          <a:prstGeom prst="roundRect">
            <a:avLst>
              <a:gd name="adj" fmla="val 6221"/>
            </a:avLst>
          </a:prstGeom>
          <a:solidFill>
            <a:srgbClr val="FDF1EF"/>
          </a:solidFill>
          <a:ln w="15875">
            <a:solidFill>
              <a:srgbClr val="FBCEC9"/>
            </a:solidFill>
            <a:prstDash val="solid"/>
          </a:ln>
        </p:spPr>
        <p:txBody>
          <a:bodyPr/>
          <a:p/>
        </p:txBody>
      </p:sp>
      <p:sp>
        <p:nvSpPr>
          <p:cNvPr id="12" name="Text 9"/>
          <p:cNvSpPr/>
          <p:nvPr/>
        </p:nvSpPr>
        <p:spPr>
          <a:xfrm>
            <a:off x="722376" y="3005328"/>
            <a:ext cx="10762488" cy="121310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Further reading</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Thai Tri Dung (2012), Communication and Negotiation Skills in Business, Labour – Social Publishing House.  •  Decree 30/2020/ND-CP on records management (used in Chapter 5 and the lab sessions).</a:t>
            </a:r>
            <a:endParaRPr lang="en-US" sz="1500" dirty="0"/>
          </a:p>
        </p:txBody>
      </p:sp>
      <p:sp>
        <p:nvSpPr>
          <p:cNvPr id="13" name="Shape 10"/>
          <p:cNvSpPr/>
          <p:nvPr/>
        </p:nvSpPr>
        <p:spPr>
          <a:xfrm>
            <a:off x="502920" y="4437888"/>
            <a:ext cx="11201400" cy="1322832"/>
          </a:xfrm>
          <a:prstGeom prst="roundRect">
            <a:avLst>
              <a:gd name="adj" fmla="val 6221"/>
            </a:avLst>
          </a:prstGeom>
          <a:solidFill>
            <a:srgbClr val="FDF1EF"/>
          </a:solidFill>
          <a:ln w="15875">
            <a:solidFill>
              <a:srgbClr val="FBCEC9"/>
            </a:solidFill>
            <a:prstDash val="solid"/>
          </a:ln>
        </p:spPr>
        <p:txBody>
          <a:bodyPr/>
          <a:p/>
        </p:txBody>
      </p:sp>
      <p:sp>
        <p:nvSpPr>
          <p:cNvPr id="14" name="Text 11"/>
          <p:cNvSpPr/>
          <p:nvPr/>
        </p:nvSpPr>
        <p:spPr>
          <a:xfrm>
            <a:off x="722376" y="4492752"/>
            <a:ext cx="10762488" cy="121310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Lecturer's own materials</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Slides, cases and exercises written by Do Thuy Huong; posted to the class group after each session.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Je m’appelle Huong — Lecturer and Researcher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Đỗ Thùy Hương</dc:creator>
  <cp:lastModifiedBy>Đỗ Thùy Hương</cp:lastModifiedBy>
  <cp:revision>1</cp:revision>
  <dcterms:created xsi:type="dcterms:W3CDTF">2026-08-23T05:42:54Z</dcterms:created>
  <dcterms:modified xsi:type="dcterms:W3CDTF">2026-08-23T05:42:54Z</dcterms:modified>
</cp:coreProperties>
</file>