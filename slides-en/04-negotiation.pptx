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3" r:id="rId24"/>
    <p:sldId id="259" r:id="rId5"/>
    <p:sldId id="260" r:id="rId6"/>
    <p:sldId id="261" r:id="rId7"/>
    <p:sldId id="274" r:id="rId25"/>
    <p:sldId id="262" r:id="rId8"/>
    <p:sldId id="263" r:id="rId9"/>
    <p:sldId id="272" r:id="rId23"/>
    <p:sldId id="264" r:id="rId10"/>
    <p:sldId id="265" r:id="rId11"/>
    <p:sldId id="275" r:id="rId26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2.xml"/><Relationship Id="rId11" Type="http://schemas.openxmlformats.org/officeDocument/2006/relationships/slide" Target="slides/slide13.xml"/><Relationship Id="rId12" Type="http://schemas.openxmlformats.org/officeDocument/2006/relationships/slide" Target="slides/slide15.xml"/><Relationship Id="rId13" Type="http://schemas.openxmlformats.org/officeDocument/2006/relationships/slide" Target="slides/slide16.xml"/><Relationship Id="rId14" Type="http://schemas.openxmlformats.org/officeDocument/2006/relationships/slide" Target="slides/slide17.xml"/><Relationship Id="rId15" Type="http://schemas.openxmlformats.org/officeDocument/2006/relationships/slide" Target="slides/slide18.xml"/><Relationship Id="rId16" Type="http://schemas.openxmlformats.org/officeDocument/2006/relationships/slide" Target="slides/slide19.xml"/><Relationship Id="rId17" Type="http://schemas.openxmlformats.org/officeDocument/2006/relationships/slide" Target="slides/slide20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1.xml"/><Relationship Id="rId24" Type="http://schemas.openxmlformats.org/officeDocument/2006/relationships/slide" Target="slides/slide4.xml"/><Relationship Id="rId25" Type="http://schemas.openxmlformats.org/officeDocument/2006/relationships/slide" Target="slides/slide8.xml"/><Relationship Id="rId26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OBJECTIVES (1 minute) — press it: the chapter ends with a graded role play.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MAP (1 minute) — the concept, the five stages, the skills.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CONCEPT (3 minutes)</a:t>
            </a:r>
          </a:p>
          <a:p>
            <a:r>
              <a:t>• Press the DOUBLE NATURE: cooperative (so there is a pie at all) and competitive (when it is divided).</a:t>
            </a:r>
          </a:p>
          <a:p>
            <a:r>
              <a:t>• Three sources of strength: INFORMATION – TIME – LEVERAGE (how many alternatives you have).</a:t>
            </a:r>
          </a:p>
          <a:p>
            <a:r>
              <a:t>• An example: someone who must sell in a hurry is always in the weaker position — why? (the power of time).</a:t>
            </a:r>
          </a:p>
          <a:p/>
          <a:p>
            <a:r>
              <a:t>THE FULL VERSION (moved off the slide)</a:t>
            </a:r>
          </a:p>
          <a:p>
            <a:r>
              <a:t>• The full definition: negotiation is a process in which parties who have both shared and conflicting interests exchange and persuade their way to an agreement all of them can accept.</a:t>
            </a:r>
          </a:p>
          <a:p>
            <a:r>
              <a:t>• The double nature: forget the cooperative half and you lose the partner; forget the competitive half and you take the loss.</a:t>
            </a:r>
          </a:p>
          <a:p>
            <a:r>
              <a:t>• Three sources of strength: INFORMATION — who understands the other side better; TIME — who is under less pressure to finish; LEVERAGE — who has more alternatives.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DEFINING FEATURES (2 minutes)</a:t>
            </a:r>
          </a:p>
          <a:p>
            <a:r>
              <a:t>• Five features, move quickly.</a:t>
            </a:r>
          </a:p>
          <a:p>
            <a:r>
              <a:t>• Press AN AGREEMENT MUST BE PUT IN WRITING — this leads straight into Chapter 5.</a:t>
            </a:r>
          </a:p>
          <a:p/>
          <a:p>
            <a:r>
              <a:t>THE FULL VERSION (moved off the slide)</a:t>
            </a:r>
          </a:p>
          <a:p>
            <a:r>
              <a:t>• A good negotiator knows their OWN limit exactly and can estimate the OTHER SIDE's.</a:t>
            </a:r>
          </a:p>
          <a:p>
            <a:r>
              <a:t>• Asian and European negotiating styles differ; a one-off deal is nothing like a long partnership.</a:t>
            </a:r>
          </a:p>
          <a:p>
            <a:r>
              <a:t>• The outcome is only safe once it is a properly formed contract — the bridge to Chapter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STYLES OF NEGOTIATION (4 minutes)</a:t>
            </a:r>
          </a:p>
          <a:p>
            <a:r>
              <a:t>• SOFT – HARD – PRINCIPLED. Draw the three-column comparison on the board.</a:t>
            </a:r>
          </a:p>
          <a:p>
            <a:r>
              <a:t>• Ask the class: "Which style do Vietnamese people tend to use?" (usually soft — a reluctance to displease).</a:t>
            </a:r>
          </a:p>
          <a:p>
            <a:r>
              <a:t>• Press the PRINCIPLED style (Harvard): SEPARATE THE PEOPLE FROM THE PROBLEM; work on INTERESTS instead of digging into POSITIONS.</a:t>
            </a:r>
          </a:p>
          <a:p>
            <a:r>
              <a:t>• The classic example: two sisters fight over an orange — one wants the peel for a cake, the other the flesh for juice. Cutting it in half is the poor answer. Ask about interests and the good answer appears.</a:t>
            </a:r>
          </a:p>
          <a:p>
            <a:r>
              <a:t>• Distributive ↔ integrative: making the pie BIGGER out of differences in priority.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PREPARATION: BATNA AND ZOPA (5 minutes) — THE HARDEST PART OF THE CHAPTER</a:t>
            </a:r>
          </a:p>
          <a:p>
            <a:r>
              <a:t>• Three levels of objective: IDEAL – EXPECTED – MINIMUM. Make students WRITE THEM DOWN before they sit at the table.</a:t>
            </a:r>
          </a:p>
          <a:p>
            <a:r>
              <a:t>• BATNA: explain it slowly with the job-hunting example — hold another offer and you are visibly more confident.</a:t>
            </a:r>
          </a:p>
          <a:p>
            <a:r>
              <a:t>• Press: a STRONG BATNA makes your position solid; a WEAK BATNA is something you DON'T REVEAL.</a:t>
            </a:r>
          </a:p>
          <a:p>
            <a:r>
              <a:t>• ZOPA: point at the diagram on the slide and walk the money axis left to right.</a:t>
            </a:r>
          </a:p>
          <a:p>
            <a:r>
              <a:t>• A question for the class: "What if there is no ZOPA?" — the answer: enlarge the pie (change quantities, timing, added services) rather than squeeze the price.</a:t>
            </a:r>
          </a:p>
          <a:p/>
          <a:p>
            <a:r>
              <a:t>THE FULL VERSION (moved off the slide)</a:t>
            </a:r>
          </a:p>
          <a:p>
            <a:r>
              <a:t>• Three levels of objective: ideal (what you most want) – expected (what is reasonable) – minimum (the walk-away line).</a:t>
            </a:r>
          </a:p>
          <a:p>
            <a:r>
              <a:t>• BATNA = Best Alternative To a Negotiated Agreement. The stronger it is the firmer you stand — and DON'T REVEAL it when it is weak.</a:t>
            </a:r>
          </a:p>
          <a:p>
            <a:r>
              <a:t>• ZOPA: estimate it so you know which offers are workable and which will break the table.</a:t>
            </a:r>
          </a:p>
          <a:p>
            <a:r>
              <a:t>• Understanding your counterpart: the real need behind the demand; who actually has authority to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BARGAINING (4 minutes)</a:t>
            </a:r>
          </a:p>
          <a:p>
            <a:r>
              <a:t>• Anchoring: a first offer WITH A BASIS shapes the whole negotiation.</a:t>
            </a:r>
          </a:p>
          <a:p>
            <a:r>
              <a:t>• When you are anchored: answer with a question — "On what basis?" — and have the class practise saying it.</a:t>
            </a:r>
          </a:p>
          <a:p>
            <a:r>
              <a:t>• CONDITIONAL CONCESSIONS: "If you raise the order to 500, we'll take 3% off." Never give anything away free.</a:t>
            </a:r>
          </a:p>
          <a:p>
            <a:r>
              <a:t>• Make each concession SMALLER than the last, to signal you have reached your limit.</a:t>
            </a:r>
          </a:p>
          <a:p>
            <a:r>
              <a:t>• Deadlock: break – change the person, the issue, or the approach – go back to the underlying interests – bring in an objective standard.</a:t>
            </a:r>
          </a:p>
          <a:p/>
          <a:p>
            <a:r>
              <a:t>THE FULL VERSION (moved off the slide)</a:t>
            </a:r>
          </a:p>
          <a:p>
            <a:r>
              <a:t>• A few minutes of proper small talk — it warms the room and lets you read their mood.</a:t>
            </a:r>
          </a:p>
          <a:p>
            <a:r>
              <a:t>• The first offer is a psychological anchor — so it has to have a basis.</a:t>
            </a:r>
          </a:p>
          <a:p>
            <a:r>
              <a:t>• Conditional concessions, for example: “If you raise the order to 500, we'll take 3% off.” Make them smaller each time to signal your limit.</a:t>
            </a:r>
          </a:p>
          <a:p>
            <a:r>
              <a:t>• Deadlock: take a break; change the person, the issue, the approach; go back to the underlying interests.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CLOSING (3 minutes)</a:t>
            </a:r>
          </a:p>
          <a:p>
            <a:r>
              <a:t>• The signal to close: they start asking about IMPLEMENTATION detail, payment, delivery dates.</a:t>
            </a:r>
          </a:p>
          <a:p>
            <a:r>
              <a:t>• Press: SUMMARISE AND PUT IT IN WRITING AT ONCE — a memorandum or a contract.</a:t>
            </a:r>
          </a:p>
          <a:p>
            <a:r>
              <a:t>• Afterwards: deliver what you promised, keep the relationship, take the lesson.</a:t>
            </a:r>
          </a:p>
          <a:p>
            <a:r>
              <a:t>• The closing line: "A negotiation with no paperwork isn't finished."''</a:t>
            </a:r>
          </a:p>
          <a:p/>
          <a:p>
            <a:r>
              <a:t>THE FULL VERSION (moved off the slide)</a:t>
            </a:r>
          </a:p>
          <a:p>
            <a:r>
              <a:t>• Signs they are ready to close: questions about implementation detail, payment terms, delivery dates.</a:t>
            </a:r>
          </a:p>
          <a:p>
            <a:r>
              <a:t>• Put it in writing immediately: a memorandum, then a contract with all the basic clauses — the drafting technique is taught in Chapter 5.</a:t>
            </a:r>
          </a:p>
          <a:p>
            <a:r>
              <a:t>• Afterwards: honouring what you agreed is the capital you bring to the next negotiation.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SKILLS (3 minutes)</a:t>
            </a:r>
          </a:p>
          <a:p>
            <a:r>
              <a:t>• Listen more than you speak; SILENCE AT THE RIGHT MOMENT is a weapon.</a:t>
            </a:r>
          </a:p>
          <a:p>
            <a:r>
              <a:t>• Persuade in THE OTHER SIDE'S LANGUAGE OF INTEREST, with figures and precedent.</a:t>
            </a:r>
          </a:p>
          <a:p>
            <a:r>
              <a:t>• Emotional control: "losing your temper hands them the controls".</a:t>
            </a:r>
          </a:p>
          <a:p>
            <a:r>
              <a:t>• The team: assign a lead, a technical expert, a note-taker; NEVER disagree with each other in front of the counterpart.</a:t>
            </a:r>
          </a:p>
          <a:p/>
          <a:p>
            <a:r>
              <a:t>THE FULL VERSION (moved off the slide)</a:t>
            </a:r>
          </a:p>
          <a:p>
            <a:r>
              <a:t>• Silence at the right moment: many concessions appear simply because the other side can't bear the pause.</a:t>
            </a:r>
          </a:p>
          <a:p>
            <a:r>
              <a:t>• Persuade with figures, precedent and objective rules — not with feeling.</a:t>
            </a:r>
          </a:p>
          <a:p>
            <a:r>
              <a:t>• Separate the people from the problem; stay calm under provocation.</a:t>
            </a:r>
          </a:p>
          <a:p>
            <a:r>
              <a:t>• The team: a lead, a technical expert, a note-taker; agree your private signals beforehand.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TACTICS (4 minutes) — STUDENTS ENJOY THIS</a:t>
            </a:r>
          </a:p>
          <a:p>
            <a:r>
              <a:t>• Run through five: the shock anchor, good cop – bad cop, the false deadline, SALAMI SLICING, the last-minute demand.</a:t>
            </a:r>
          </a:p>
          <a:p>
            <a:r>
              <a:t>• Salami: explain it carefully, it is the most common — asking for a little more after the deal is done. The answer: PACKAGE ALL THE TERMS together.</a:t>
            </a:r>
          </a:p>
          <a:p>
            <a:r>
              <a:t>• The last-minute demand: PUT A PRICE on it and ask for something of equal value; don't just give in to be finished.</a:t>
            </a:r>
          </a:p>
          <a:p>
            <a:r>
              <a:t>• Ask the class: who has been told "this price is only good today" buying something online?</a:t>
            </a:r>
          </a:p>
          <a:p/>
          <a:p>
            <a:r>
              <a:t>THE FULL VERSION (moved off the slide)</a:t>
            </a:r>
          </a:p>
          <a:p>
            <a:r>
              <a:t>• The shock anchor: hold to objective criteria, don't move your own target in a hurry.</a:t>
            </a:r>
          </a:p>
          <a:p>
            <a:r>
              <a:t>• Good cop – bad cop: name it to yourself, then negotiate only on substance.</a:t>
            </a:r>
          </a:p>
          <a:p>
            <a:r>
              <a:t>• The false deadline: test whether it is real; with a BATNA in hand, be ready to leave the table.</a:t>
            </a:r>
          </a:p>
          <a:p>
            <a:r>
              <a:t>• Salami slicing: package all the terms — “if that one opens, the whole package opens”.</a:t>
            </a:r>
          </a:p>
          <a:p>
            <a:r>
              <a:t>• The last-minute demand: calmly put a price on it and ask for something of equal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ROLE PLAY (20 minutes) — THE MAIN ACTIVITY OF THE SESSION</a:t>
            </a:r>
          </a:p>
          <a:p>
            <a:r>
              <a:t>• Pairs, buyer and seller; hand each side its own briefing sheet (with different budgets and floor prices).</a:t>
            </a:r>
          </a:p>
          <a:p>
            <a:r>
              <a:t>• 5 minutes to prepare: the three levels of objective and the BATNA must be written down.</a:t>
            </a:r>
          </a:p>
          <a:p>
            <a:r>
              <a:t>• 10 minutes to negotiate, 5 minutes to close and debrief.</a:t>
            </a:r>
          </a:p>
          <a:p>
            <a:r>
              <a:t>• Walk the room and note 2–3 good moments to analyse with everyone.</a:t>
            </a:r>
          </a:p>
          <a:p>
            <a:r>
              <a:t>• To close: ask the pairs who reached agreement how they enlarged the pie.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SUMMARY (2 minutes)</a:t>
            </a:r>
          </a:p>
          <a:p>
            <a:r>
              <a:t>• Say it again: you win before you sit down; negotiate over INTERESTS; put the result in writing.</a:t>
            </a:r>
          </a:p>
          <a:p>
            <a:r>
              <a:t>• Set the work: the 40 multiple-choice questions for Chapter 4; read Chapter 5 in advance.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REVISION (1 minute) — at home.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READING (1 minute) — remind them to download Decree 30/2020 for the next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PREPARATION FIGURE (2 minutes)</a:t>
            </a:r>
          </a:p>
          <a:p>
            <a:r>
              <a:t>• Press the 70% — this is the number that surprises students.</a:t>
            </a:r>
          </a:p>
          <a:p>
            <a:r>
              <a:t>• Tie it in: the role play at the end of the session marks the preparation (the three levels plus a written BATNA).</a:t>
            </a:r>
          </a:p>
          <a:p>
            <a:r>
              <a:t>• Read the closing line slowly: "Not preparing is preparing to concede."''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CHANGE (30 seconds).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FIVE STAGES (2 minutes)</a:t>
            </a:r>
          </a:p>
          <a:p>
            <a:r>
              <a:t>• Skim the five, then stop at stage 1.</a:t>
            </a:r>
          </a:p>
          <a:p>
            <a:r>
              <a:t>• Say the figure out loud: PREPARATION DECIDES 70% OF THE OUTCOME.</a:t>
            </a:r>
          </a:p>
          <a:p>
            <a:r>
              <a:t>• The closing line: "Not preparing is preparing to concede."''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CHANGE (30 seconds).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/home/user/comdraft/assets/img/dau-huong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/home/user/comdraft/assets/img/lockup-huo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Negotiation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business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of reaching agreement without losing the relationship — the most directly profitable skill in business.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Thuy Huong, Lecturer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EC1103 – Communication and Document Drafting Skills (2:1)  •  Class 261b, Semester 1,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Do Thuy Huong, 2026 — Prepared for in-person teaching. Please credit the source.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end of this chapter, students can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negotiation is, what marks it out, and the three styles of it.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stages of a negotiation and the key task of each.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skills: preparing a BATNA, questioning, conceding on condition.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 tactics used at the table, and how to answer them professionally.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will go through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negotiation is, what marks it out, and its three styles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8986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898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825496"/>
            <a:ext cx="10652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stages, from preparation to what follows the deal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105656"/>
            <a:ext cx="10652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Negotiation skills, and how to spot the common tactics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 4.1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What negotiation is, and its styles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Understand its double nature: cooperative and competitive at once.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negotiation?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Parties with both shared and conflicting interests working towards an agreement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double nature: cooperation + competition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Cooperate to grow the pie • compete when dividing it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sources of power at the table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• Time • Leverage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marks out business negotiation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interest at the centre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clause comes back to value, cost and risk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146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41448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Parties both dependent and independent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need each other, yet each has an alternative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5643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56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83280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agreement must be put in writing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safe only as a contract in correct form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9826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98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325112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runs inside limits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time, authority and budget — on both sides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34009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266944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Shaped by culture and relationship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one-off deal is nothing like a long partnership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Styles of negotiation</a:t>
            </a:r>
            <a:endParaRPr lang="en-US" sz="2700" dirty="0"/>
          </a:p>
        </p:txBody>
      </p:sp>
      <p:pic>
        <p:nvPicPr>
          <p:cNvPr id="9" name="Picture 8" descr="c4-ba-kieu-dam-phan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426" y="1789023"/>
            <a:ext cx="10496843" cy="4093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955944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The three styles differ on just four points — the table shows all four at a glance.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 4.2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The five stages of a negotiation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Seventy per cent of the result is settled before either side sits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negotiation process: five stages</a:t>
            </a:r>
            <a:endParaRPr lang="en-US" sz="2700" dirty="0"/>
          </a:p>
        </p:txBody>
      </p:sp>
      <p:pic>
        <p:nvPicPr>
          <p:cNvPr id="9" name="Picture 8" descr="c4-tien-trinh-dam-phan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87" y="1781494"/>
            <a:ext cx="11247120" cy="410882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Preparation — the strongest weapon you have</a:t>
            </a:r>
            <a:endParaRPr lang="en-US" sz="2700" dirty="0"/>
          </a:p>
        </p:txBody>
      </p:sp>
      <p:pic>
        <p:nvPicPr>
          <p:cNvPr id="9" name="Picture 8" descr="c4-batna-zopa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649" y="1942480"/>
            <a:ext cx="10440397" cy="37868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802487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Whether the ZOPA is narrow or wide depends on both sides' real limits — prepare well enough to know where you stand on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C756A"/>
                </a:solidFill>
                <a:latin typeface="Calibri"/>
              </a:rPr>
              <a:t>THE NUMBER TO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A2B28"/>
                </a:solidFill>
                <a:latin typeface="Cambria"/>
              </a:rPr>
              <a:t>Why does preparation matter so much?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70%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OF THE RESULT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is settled during preparation, before either side sits down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15968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3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TARGET LEVELS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Ideal – Expected – Minimum: write them down before you negotiate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9016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1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BATNA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Best Alternative To a Negotiated Agreement — the real source of power at the 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44068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FDF1EF"/>
          </a:solidFill>
          <a:ln w="12700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/>
            <a:r>
              <a:rPr sz="1300">
                <a:solidFill>
                  <a:srgbClr val="3A2B28"/>
                </a:solidFill>
                <a:latin typeface="Calibri"/>
              </a:rPr>
              <a:t>The line to remember: “Failing to prepare is preparing to concede.”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Opening and bargaining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tone, and probe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questions, so they show their need before you name a price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658618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2713482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and haggle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offer needs grounds; answer theirs with “on what basis?”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899916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54780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Concede on condition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give anything free; make each concession smaller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02920" y="5141214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22376" y="5196078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a deadlock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 break • change the person or the topic • let an objective standard arbitrate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Closing, and afterwards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when to close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ask about rollout, payment, delivery — that is the signal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it in writing at once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verbal agreement is not the end — it must become a document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deal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Honour the commitments • keep in touch • hold a lessons-learned meeting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 4.3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AC4D33"/>
                </a:solidFill>
                <a:latin typeface="Cambria"/>
              </a:rPr>
              <a:t>Skills, and tactics, at the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What to train, and what to recognise so you are not led.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skills at the table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Listening and questioning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more than you speak; a well-placed silence is itself a move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Persuade with interest and evidence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in the language of their interest, with figures and precedent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your temper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Losing your temper hands them the controls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as a team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roles; never disagree with each other in front of the other side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Spotting the common tactics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shock anchor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outlandish offer to drag your expectations → hold to objective standards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146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41448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cop, bad cop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hard, one friendly → discuss the substance only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5643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56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83280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fake deadline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“today only” → check it, be ready to walk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9826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98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325112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Salami slicing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asking for a little more each time → bundle the clauses together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34009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266944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last-minute demand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request just before signing → ask for something equal in return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WORK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Role-play: negotiating an equipment purchase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(two groups per pair, 25 minutes; each side gets its own “confidential brief” from the lecturer)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X needs 20 computers for a new office, a budget of at most 240 million dong, delivery within 3 weeks. Supplier Y wants a good price but is holding stock of an older model and wants a long maintenance contract. Neither side knows the other's limits.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GROUP'S TASK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minutes to prepare: set the three target levels, the BATNA and a concession strategy from your brief.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Negotiate for ten minutes in front of the class; observers note the anchor, the concessions, and any tactics used.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analyses: where in the ZOPA did the deal land? Which side prepared better, and why?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to remember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negotiation is won before you sit down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target levels + BATNA + knowing them = 70% of the result; failing to prepare is preparing to concede.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1810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7296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Negotiate interests, don't dig into positions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“why” to find the real interest; every concession carries a condition; aim at a deal both sides can actually perform.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7316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82803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deal is safe only in writing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closed, it must become a contract in correct form — that is Chapter 5: Drafting and laying out documents.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PREPARATION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questions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soft, hard and principled negotiation; when should each be used?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395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32257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BATNA and ZOPA? Build a BATNA for a student renting a room.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2186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14553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out the five stages of a negotiation and the main task of each.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0416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396849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three common negotiating tactics and how to answer them.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074920"/>
            <a:ext cx="11201400" cy="1143000"/>
          </a:xfrm>
          <a:prstGeom prst="roundRect">
            <a:avLst>
              <a:gd name="adj" fmla="val 7200"/>
            </a:avLst>
          </a:prstGeom>
          <a:solidFill>
            <a:srgbClr val="FBF3E2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PREPARING FOR THE NEXT SESSION:  </a:t>
            </a:r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 – Drafting and laying out documents: read Decree 30/2020/ND-CP beforehand (the section on document format); in the lab you will draft the contract for the very deal you negotiated today.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materials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textbook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Nam Khanh Giao (2023), Business Communication, Finance Publishing House.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reading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 Tri Dung (2012), Communication and Negotiation Skills in Business, Labour – Social Publishing House.  •  Decree 30/2020/ND-CP on records management (used in Chapter 5 and the lab sessions).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Lecturer's own materials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cases and exercises written by Do Thuy Huong; posted to the class group after each session.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2026-08-23T05:42:54Z</dcterms:created>
  <dcterms:modified xsi:type="dcterms:W3CDTF">2026-08-23T05:42:54Z</dcterms:modified>
</cp:coreProperties>
</file>