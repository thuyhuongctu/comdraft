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60" r:id="rId6"/>
    <p:sldId id="261" r:id="rId7"/>
    <p:sldId id="274" r:id="rId25"/>
    <p:sldId id="262" r:id="rId8"/>
    <p:sldId id="263" r:id="rId9"/>
    <p:sldId id="272" r:id="rId23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(2 minutes)</a:t>
            </a:r>
          </a:p>
          <a:p>
            <a:r>
              <a:t>• A strong way in: "In business you don't get what you deserve — you get what you NEGOTIATE."</a:t>
            </a:r>
          </a:p>
          <a:p>
            <a:r>
              <a:t>• Ask the class: "Who has haggled over a price? That was already a negotiation."''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(1 minute) — press it: the chapter ends with a graded role 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MAP (1 minute) — the concept, the five stages, the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CONCEPT (3 minutes)</a:t>
            </a:r>
          </a:p>
          <a:p>
            <a:r>
              <a:t>• Press the DOUBLE NATURE: cooperative (so there is a pie at all) and competitive (when it is divided).</a:t>
            </a:r>
          </a:p>
          <a:p>
            <a:r>
              <a:t>• Three sources of strength: INFORMATION – TIME – LEVERAGE (how many alternatives you have).</a:t>
            </a:r>
          </a:p>
          <a:p>
            <a:r>
              <a:t>• An example: someone who must sell in a hurry is always in the weaker position — why? (the power of time).</a:t>
            </a:r>
          </a:p>
          <a:p/>
          <a:p>
            <a:r>
              <a:t>THE FULL VERSION (moved off the slide)</a:t>
            </a:r>
          </a:p>
          <a:p>
            <a:r>
              <a:t>• The full definition: negotiation is a process in which parties who have both shared and conflicting interests exchange and persuade their way to an agreement all of them can accept.</a:t>
            </a:r>
          </a:p>
          <a:p>
            <a:r>
              <a:t>• The double nature: forget the cooperative half and you lose the partner; forget the competitive half and you take the loss.</a:t>
            </a:r>
          </a:p>
          <a:p>
            <a:r>
              <a:t>• Three sources of strength: INFORMATION — who understands the other side better; TIME — who is under less pressure to finish; LEVERAGE — who has more alternatives.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DEFINING FEATURES (2 minutes)</a:t>
            </a:r>
          </a:p>
          <a:p>
            <a:r>
              <a:t>• Five features, move quickly.</a:t>
            </a:r>
          </a:p>
          <a:p>
            <a:r>
              <a:t>• Press AN AGREEMENT MUST BE PUT IN WRITING — this leads straight into Chapter 5.</a:t>
            </a:r>
          </a:p>
          <a:p/>
          <a:p>
            <a:r>
              <a:t>THE FULL VERSION (moved off the slide)</a:t>
            </a:r>
          </a:p>
          <a:p>
            <a:r>
              <a:t>• A good negotiator knows their OWN limit exactly and can estimate the OTHER SIDE's.</a:t>
            </a:r>
          </a:p>
          <a:p>
            <a:r>
              <a:t>• Asian and European negotiating styles differ; a one-off deal is nothing like a long partnership.</a:t>
            </a:r>
          </a:p>
          <a:p>
            <a:r>
              <a:t>• The outcome is only safe once it is a properly formed contract — the bridge to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STYLES OF NEGOTIATION (4 minutes)</a:t>
            </a:r>
          </a:p>
          <a:p>
            <a:r>
              <a:t>• SOFT – HARD – PRINCIPLED. Draw the three-column comparison on the board.</a:t>
            </a:r>
          </a:p>
          <a:p>
            <a:r>
              <a:t>• Ask the class: "Which style do Vietnamese people tend to use?" (usually soft — a reluctance to displease).</a:t>
            </a:r>
          </a:p>
          <a:p>
            <a:r>
              <a:t>• Press the PRINCIPLED style (Harvard): SEPARATE THE PEOPLE FROM THE PROBLEM; work on INTERESTS instead of digging into POSITIONS.</a:t>
            </a:r>
          </a:p>
          <a:p>
            <a:r>
              <a:t>• The classic example: two sisters fight over an orange — one wants the peel for a cake, the other the flesh for juice. Cutting it in half is the poor answer. Ask about interests and the good answer appears.</a:t>
            </a:r>
          </a:p>
          <a:p>
            <a:r>
              <a:t>• Distributive ↔ integrative: making the pie BIGGER out of differences in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FIVE STAGES (2 minutes)</a:t>
            </a:r>
          </a:p>
          <a:p>
            <a:r>
              <a:t>• Skim the five, then stop at stage 1.</a:t>
            </a:r>
          </a:p>
          <a:p>
            <a:r>
              <a:t>• Say the figure out loud: PREPARATION DECIDES 70% OF THE OUTCOME.</a:t>
            </a:r>
          </a:p>
          <a:p>
            <a:r>
              <a:t>• The closing line: "Not preparing is preparing to concede."''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PREPARATION: BATNA AND ZOPA (5 minutes) — THE HARDEST PART OF THE CHAPTER</a:t>
            </a:r>
          </a:p>
          <a:p>
            <a:r>
              <a:t>• Three levels of objective: IDEAL – EXPECTED – MINIMUM. Make students WRITE THEM DOWN before they sit at the table.</a:t>
            </a:r>
          </a:p>
          <a:p>
            <a:r>
              <a:t>• BATNA: explain it slowly with the job-hunting example — hold another offer and you are visibly more confident.</a:t>
            </a:r>
          </a:p>
          <a:p>
            <a:r>
              <a:t>• Press: a STRONG BATNA makes your position solid; a WEAK BATNA is something you DON'T REVEAL.</a:t>
            </a:r>
          </a:p>
          <a:p>
            <a:r>
              <a:t>• ZOPA: point at the diagram on the slide and walk the money axis left to right.</a:t>
            </a:r>
          </a:p>
          <a:p>
            <a:r>
              <a:t>• A question for the class: "What if there is no ZOPA?" — the answer: enlarge the pie (change quantities, timing, added services) rather than squeeze the price.</a:t>
            </a:r>
          </a:p>
          <a:p/>
          <a:p>
            <a:r>
              <a:t>THE FULL VERSION (moved off the slide)</a:t>
            </a:r>
          </a:p>
          <a:p>
            <a:r>
              <a:t>• Three levels of objective: ideal (what you most want) – expected (what is reasonable) – minimum (the walk-away line).</a:t>
            </a:r>
          </a:p>
          <a:p>
            <a:r>
              <a:t>• BATNA = Best Alternative To a Negotiated Agreement. The stronger it is the firmer you stand — and DON'T REVEAL it when it is weak.</a:t>
            </a:r>
          </a:p>
          <a:p>
            <a:r>
              <a:t>• ZOPA: estimate it so you know which offers are workable and which will break the table.</a:t>
            </a:r>
          </a:p>
          <a:p>
            <a:r>
              <a:t>• Understanding your counterpart: the real need behind the demand; who actually has authority to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BARGAINING (4 minutes)</a:t>
            </a:r>
          </a:p>
          <a:p>
            <a:r>
              <a:t>• Anchoring: a first offer WITH A BASIS shapes the whole negotiation.</a:t>
            </a:r>
          </a:p>
          <a:p>
            <a:r>
              <a:t>• When you are anchored: answer with a question — "On what basis?" — and have the class practise saying it.</a:t>
            </a:r>
          </a:p>
          <a:p>
            <a:r>
              <a:t>• CONDITIONAL CONCESSIONS: "If you raise the order to 500, we'll take 3% off." Never give anything away free.</a:t>
            </a:r>
          </a:p>
          <a:p>
            <a:r>
              <a:t>• Make each concession SMALLER than the last, to signal you have reached your limit.</a:t>
            </a:r>
          </a:p>
          <a:p>
            <a:r>
              <a:t>• Deadlock: break – change the person, the issue, or the approach – go back to the underlying interests – bring in an objective standard.</a:t>
            </a:r>
          </a:p>
          <a:p/>
          <a:p>
            <a:r>
              <a:t>THE FULL VERSION (moved off the slide)</a:t>
            </a:r>
          </a:p>
          <a:p>
            <a:r>
              <a:t>• A few minutes of proper small talk — it warms the room and lets you read their mood.</a:t>
            </a:r>
          </a:p>
          <a:p>
            <a:r>
              <a:t>• The first offer is a psychological anchor — so it has to have a basis.</a:t>
            </a:r>
          </a:p>
          <a:p>
            <a:r>
              <a:t>• Conditional concessions, for example: “If you raise the order to 500, we'll take 3% off.” Make them smaller each time to signal your limit.</a:t>
            </a:r>
          </a:p>
          <a:p>
            <a:r>
              <a:t>• Deadlock: take a break; change the person, the issue, the approach; go back to the underlying interests.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 (3 minutes)</a:t>
            </a:r>
          </a:p>
          <a:p>
            <a:r>
              <a:t>• The signal to close: they start asking about IMPLEMENTATION detail, payment, delivery dates.</a:t>
            </a:r>
          </a:p>
          <a:p>
            <a:r>
              <a:t>• Press: SUMMARISE AND PUT IT IN WRITING AT ONCE — a memorandum or a contract.</a:t>
            </a:r>
          </a:p>
          <a:p>
            <a:r>
              <a:t>• Afterwards: deliver what you promised, keep the relationship, take the lesson.</a:t>
            </a:r>
          </a:p>
          <a:p>
            <a:r>
              <a:t>• The closing line: "A negotiation with no paperwork isn't finished."''</a:t>
            </a:r>
          </a:p>
          <a:p/>
          <a:p>
            <a:r>
              <a:t>THE FULL VERSION (moved off the slide)</a:t>
            </a:r>
          </a:p>
          <a:p>
            <a:r>
              <a:t>• Signs they are ready to close: questions about implementation detail, payment terms, delivery dates.</a:t>
            </a:r>
          </a:p>
          <a:p>
            <a:r>
              <a:t>• Put it in writing immediately: a memorandum, then a contract with all the basic clauses — the drafting technique is taught in Chapter 5.</a:t>
            </a:r>
          </a:p>
          <a:p>
            <a:r>
              <a:t>• Afterwards: honouring what you agreed is the capital you bring to the next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SKILLS (3 minutes)</a:t>
            </a:r>
          </a:p>
          <a:p>
            <a:r>
              <a:t>• Listen more than you speak; SILENCE AT THE RIGHT MOMENT is a weapon.</a:t>
            </a:r>
          </a:p>
          <a:p>
            <a:r>
              <a:t>• Persuade in THE OTHER SIDE'S LANGUAGE OF INTEREST, with figures and precedent.</a:t>
            </a:r>
          </a:p>
          <a:p>
            <a:r>
              <a:t>• Emotional control: "losing your temper hands them the controls".</a:t>
            </a:r>
          </a:p>
          <a:p>
            <a:r>
              <a:t>• The team: assign a lead, a technical expert, a note-taker; NEVER disagree with each other in front of the counterpart.</a:t>
            </a:r>
          </a:p>
          <a:p/>
          <a:p>
            <a:r>
              <a:t>THE FULL VERSION (moved off the slide)</a:t>
            </a:r>
          </a:p>
          <a:p>
            <a:r>
              <a:t>• Silence at the right moment: many concessions appear simply because the other side can't bear the pause.</a:t>
            </a:r>
          </a:p>
          <a:p>
            <a:r>
              <a:t>• Persuade with figures, precedent and objective rules — not with feeling.</a:t>
            </a:r>
          </a:p>
          <a:p>
            <a:r>
              <a:t>• Separate the people from the problem; stay calm under provocation.</a:t>
            </a:r>
          </a:p>
          <a:p>
            <a:r>
              <a:t>• The team: a lead, a technical expert, a note-taker; agree your private signals beforehand.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TACTICS (4 minutes) — STUDENTS ENJOY THIS</a:t>
            </a:r>
          </a:p>
          <a:p>
            <a:r>
              <a:t>• Run through five: the shock anchor, good cop – bad cop, the false deadline, SALAMI SLICING, the last-minute demand.</a:t>
            </a:r>
          </a:p>
          <a:p>
            <a:r>
              <a:t>• Salami: explain it carefully, it is the most common — asking for a little more after the deal is done. The answer: PACKAGE ALL THE TERMS together.</a:t>
            </a:r>
          </a:p>
          <a:p>
            <a:r>
              <a:t>• The last-minute demand: PUT A PRICE on it and ask for something of equal value; don't just give in to be finished.</a:t>
            </a:r>
          </a:p>
          <a:p>
            <a:r>
              <a:t>• Ask the class: who has been told "this price is only good today" buying something online?</a:t>
            </a:r>
          </a:p>
          <a:p/>
          <a:p>
            <a:r>
              <a:t>THE FULL VERSION (moved off the slide)</a:t>
            </a:r>
          </a:p>
          <a:p>
            <a:r>
              <a:t>• The shock anchor: hold to objective criteria, don't move your own target in a hurry.</a:t>
            </a:r>
          </a:p>
          <a:p>
            <a:r>
              <a:t>• Good cop – bad cop: name it to yourself, then negotiate only on substance.</a:t>
            </a:r>
          </a:p>
          <a:p>
            <a:r>
              <a:t>• The false deadline: test whether it is real; with a BATNA in hand, be ready to leave the table.</a:t>
            </a:r>
          </a:p>
          <a:p>
            <a:r>
              <a:t>• Salami slicing: package all the terms — “if that one opens, the whole package opens”.</a:t>
            </a:r>
          </a:p>
          <a:p>
            <a:r>
              <a:t>• The last-minute demand: calmly put a price on it and ask for something of equal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ROLE PLAY (20 minutes) — THE MAIN ACTIVITY OF THE SESSION</a:t>
            </a:r>
          </a:p>
          <a:p>
            <a:r>
              <a:t>• Pairs, buyer and seller; hand each side its own briefing sheet (with different budgets and floor prices).</a:t>
            </a:r>
          </a:p>
          <a:p>
            <a:r>
              <a:t>• 5 minutes to prepare: the three levels of objective and the BATNA must be written down.</a:t>
            </a:r>
          </a:p>
          <a:p>
            <a:r>
              <a:t>• 10 minutes to negotiate, 5 minutes to close and debrief.</a:t>
            </a:r>
          </a:p>
          <a:p>
            <a:r>
              <a:t>• Walk the room and note 2–3 good moments to analyse with everyone.</a:t>
            </a:r>
          </a:p>
          <a:p>
            <a:r>
              <a:t>• To close: ask the pairs who reached agreement how they enlarged the pie.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Say it again: you win before you sit down; negotiate over INTERESTS; put the result in writing.</a:t>
            </a:r>
          </a:p>
          <a:p>
            <a:r>
              <a:t>• Set the work: the 40 multiple-choice questions for Chapter 4; read Chapter 5 in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REVISION (1 minute) —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 — remind them to download Decree 30/2020 for the next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PREPARATION FIGURE (2 minutes)</a:t>
            </a:r>
          </a:p>
          <a:p>
            <a:r>
              <a:t>• Press the 70% — this is the number that surprises students.</a:t>
            </a:r>
          </a:p>
          <a:p>
            <a:r>
              <a:t>• Tie it in: the role play at the end of the session marks the preparation (the three levels plus a written BATNA).</a:t>
            </a:r>
          </a:p>
          <a:p>
            <a:r>
              <a:t>• Read the closing line slowly: "Not preparing is preparing to concede."''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press the 70% figure right here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Negotiation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business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of reaching agreement without losing the relationship — the most directly profitable skill in business.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negotiation is, what marks it out, and the three styles of it.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stages of a negotiation and the key task of each.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skills: preparing a BATNA, questioning, conceding on condition.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tactics used at the table, and how to answer them professionally.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negotiation is, what marks it out, and its three styles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898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stages, from preparation to what follows the deal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10565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skills, and how to spot the common tactics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What negotiation is, and its styles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Understand its double nature: cooperative and competitive at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negotiation?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with both shared and conflicting interests working towards an agreement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nature: cooperation + competition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Cooperate to grow the pie • compete when dividing it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 of power at the table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• Time • Leverage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marks out business negotiation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interest at the centre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clause comes back to value, cost and risk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both dependent and independent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each other, yet each has an alternative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agreement must be put in writing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safe only as a contract in correct form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inside limits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authority and budget — on both sides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by culture and relationship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deal is nothing like a long partnership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Styles of negotiation</a:t>
            </a:r>
            <a:endParaRPr lang="en-US" sz="2700" dirty="0"/>
          </a:p>
        </p:txBody>
      </p:sp>
      <p:pic>
        <p:nvPicPr>
          <p:cNvPr id="9" name="Picture 8" descr="c4-ba-kieu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26" y="1789023"/>
            <a:ext cx="10496843" cy="4093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55944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 three styles differ on just four points — the table shows all four at a glance.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five stages of a negotiation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Seventy per cent of the result is settled before either side sits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negotiation process: five stages</a:t>
            </a:r>
            <a:endParaRPr lang="en-US" sz="2700" dirty="0"/>
          </a:p>
        </p:txBody>
      </p:sp>
      <p:pic>
        <p:nvPicPr>
          <p:cNvPr id="9" name="Picture 8" descr="c4-tien-trinh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781494"/>
            <a:ext cx="11247120" cy="4108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Preparation — the strongest weapon you have</a:t>
            </a:r>
            <a:endParaRPr lang="en-US" sz="2700" dirty="0"/>
          </a:p>
        </p:txBody>
      </p:sp>
      <p:pic>
        <p:nvPicPr>
          <p:cNvPr id="9" name="Picture 8" descr="c4-batna-zop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49" y="1942480"/>
            <a:ext cx="10440397" cy="3786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248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Whether the ZOPA is narrow or wide depends on both sides' real limits — prepare well enough to know where you stand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Why does preparation matter so much?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70%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OF THE RESULT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is settled during preparation, before either side sits 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TARGET LEVELS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Ideal – Expected – Minimum: write them down before you negotiate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BATNA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Best Alternative To a Negotiated Agreement — the real source of power at the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The line to remember: “Failing to prepare is preparing to concede.”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and bargaining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tone, and probe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questions, so they show their need before you name a price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and haggle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offer needs grounds; answer theirs with “on what basis?”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Concede on condition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give anything free; make each concession smaller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 deadlock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break • change the person or the topic • let an objective standard arbitrate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Closing, and afterwards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to close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ask about rollout, payment, delivery — that is the signal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writing at once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verbal agreement is not the end — it must become a document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deal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Honour the commitments • keep in touch • hold a lessons-learned meeting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Skills, and tactics, at the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What to train, and what to recognise so you are not 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skills at the table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more than you speak; a well-placed silence is itself a move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Persuade with interest and evidence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in the language of their interest, with figures and precedent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your temper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your temper hands them the controls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as a team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roles; never disagree with each other in front of the other side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Spotting the common tactics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shock anchor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outlandish offer to drag your expectations → hold to objective standards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cop, bad cop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hard, one friendly → discuss the substance only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fake deadline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“today only” → check it, be ready to walk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Salami slicing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for a little more each time → bundle the clauses together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last-minute demand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request just before signing → ask for something equal in return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Role-play: negotiating an equipment purchase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(two groups per pair, 25 minutes; each side gets its own “confidential brief” from the lecturer)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X needs 20 computers for a new office, a budget of at most 240 million dong, delivery within 3 weeks. Supplier Y wants a good price but is holding stock of an older model and wants a long maintenance contract. Neither side knows the other's limits.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 to prepare: set the three target levels, the BATNA and a concession strategy from your brief.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for ten minutes in front of the class; observers note the anchor, the concessions, and any tactics used.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analyses: where in the ZOPA did the deal land? Which side prepared better, and why?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negotiation is won before you sit down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target levels + BATNA + knowing them = 70% of the result; failing to prepare is preparing to concede.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interests, don't dig into positions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“why” to find the real interest; every concession carries a condition; aim at a deal both sides can actually perform.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deal is safe only in writing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closed, it must become a contract in correct form — that is Chapter 5: Drafting and laying out documents.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soft, hard and principled negotiation; when should each be used?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BATNA and ZOPA? Build a BATNA for a student renting a room.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out the five stages of a negotiation and the main task of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three common negotiating tactics and how to answer them.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– Drafting and laying out documents: read Decree 30/2020/ND-CP beforehand (the section on document format); in the lab you will draft the contract for the very deal you negotiated today.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2026-08-23T10:31:56Z</dcterms:created>
  <dcterms:modified xsi:type="dcterms:W3CDTF">2026-08-23T10:31:56Z</dcterms:modified>
</cp:coreProperties>
</file>