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5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 THE SESSION (2 minutes)</a:t>
            </a:r>
          </a:p>
          <a:p>
            <a:r>
              <a:t>• Greet the class, introduce yourself briefly.</a:t>
            </a:r>
          </a:p>
          <a:p>
            <a:r>
              <a:t>• Open question: "What percentage of a working day do you think we spend communicating?" (For reference: 70–80%.)</a:t>
            </a:r>
          </a:p>
          <a:p>
            <a:r>
              <a:t>• Land it: this course teaches two families of skill — SPEAKING and WRITING — and both are how you will earn a living.</a:t>
            </a:r>
          </a:p>
          <a:p>
            <a:r>
              <a:t>BRIDGE: "Before we drill technique, we have to understand what communication actually is."''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CLASS CONTRACT (2 minutes)</a:t>
            </a:r>
          </a:p>
          <a:p>
            <a:r>
              <a:t>• Stress: this class is NOT just listening — every session has a case and hands-on work.</a:t>
            </a:r>
          </a:p>
          <a:p>
            <a:r>
              <a:t>• Say three things plainly: at least 80% attendance; assignments on time; phones on silent.</a:t>
            </a:r>
          </a:p>
          <a:p>
            <a:r>
              <a:t>• Invite students to say what they expect from the course (2–3 speak).</a:t>
            </a:r>
          </a:p>
          <a:p>
            <a:r>
              <a:t>BRIDGE: "Now let's start with what this chapter is for."''</a:t>
            </a:r>
          </a:p>
          <a:p/>
          <a:p>
            <a:r>
              <a:t>THE FULL VERSION (moved off the slide)</a:t>
            </a:r>
          </a:p>
          <a:p>
            <a:r>
              <a:t>• Theory: 10 Saturday and Sunday mornings, 05/12/2026 – 03/01/2027, room C0105 — Ch.1 Overview; Ch.2 Professional skills; Ch.3 Specific situations; Ch.4 Negotiation; Ch.5 Document drafting.</a:t>
            </a:r>
          </a:p>
          <a:p>
            <a:r>
              <a:t>• Lab: Saturday/Sunday afternoons, 26/12 – 24/01, room A0105 Economics Simulation — Session 1 Format; Session 2 Administrative documents; Session 3 Commercial documents.</a:t>
            </a:r>
          </a:p>
          <a:p>
            <a:r>
              <a:t>• Assessment: attendance (≥ 80% present, all assignments in); coursework (multiple choice + written + lab); a practical final examination.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CHAPTER OBJECTIVES (1 minute)</a:t>
            </a:r>
          </a:p>
          <a:p>
            <a:r>
              <a:t>• Skim the four objectives, do NOT read them out word for word.</a:t>
            </a:r>
          </a:p>
          <a:p>
            <a:r>
              <a:t>• Stress: objective 4 (applying the principles) is what the end-of-chapter case will test.</a:t>
            </a:r>
          </a:p>
          <a:p>
            <a:r>
              <a:t>• Tell students to photograph this slide so they can check themselves against it when revising.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CHAPTER MAP (1 minute)</a:t>
            </a:r>
          </a:p>
          <a:p>
            <a:r>
              <a:t>• Point down the five sections, one sentence each, quickly.</a:t>
            </a:r>
          </a:p>
          <a:p>
            <a:r>
              <a:t>• Stress: 1.2 (means) and 1.5 (principles) are the parts that tend to come up in the exam.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CONCEPT (3 minutes)</a:t>
            </a:r>
          </a:p>
          <a:p>
            <a:r>
              <a:t>• Write two words on the board: INFORMATION – PURPOSE. Communication always has both.</a:t>
            </a:r>
          </a:p>
          <a:p>
            <a:r>
              <a:t>• Draw the line: small talk ≠ business communication. Business communication is always tied to a WORK OBJECTIVE.</a:t>
            </a:r>
          </a:p>
          <a:p>
            <a:r>
              <a:t>• Quick example: a call to an old customer just to say hello — what is the real purpose? (Keeping the relationship warm for the next sale.)</a:t>
            </a:r>
          </a:p>
          <a:p>
            <a:r>
              <a:t>ASK THE CLASS: "Have you had a business conversation today?" (Buying coffee, asking the office about a form…)</a:t>
            </a:r>
          </a:p>
          <a:p/>
          <a:p>
            <a:r>
              <a:t>THE FULL VERSION (moved off the slide)</a:t>
            </a:r>
          </a:p>
          <a:p>
            <a:r>
              <a:t>• Communication: the process of exchanging information, ideas and feelings between people to reach a purpose — through speech, writing and wordless behaviour alike.</a:t>
            </a:r>
          </a:p>
          <a:p>
            <a:r>
              <a:t>• Business communication: tied to the running of a business — the firm with its customers, partners, regulators, and among its own people — aimed at a specific business objective.</a:t>
            </a:r>
          </a:p>
          <a:p>
            <a:r>
              <a:t>• Why study it: employer surveys have for years put communication among the most demanded skills — you sell the idea before you sell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DEFINING FEATURES (3 minutes)</a:t>
            </a:r>
          </a:p>
          <a:p>
            <a:r>
              <a:t>• Feature 3 (LEGALLY BINDING) is the most important — press hard on it.</a:t>
            </a:r>
          </a:p>
          <a:p>
            <a:r>
              <a:t>• A real example: a salesperson verbally promises a 20% discount to a customer → the company still has to honour it, because that was its representative speaking.</a:t>
            </a:r>
          </a:p>
          <a:p>
            <a:r>
              <a:t>• Tie it to the course: this is exactly why Chapter 5 teaches you to PUT EVERY AGREEMENT IN WRITING.</a:t>
            </a:r>
          </a:p>
          <a:p>
            <a:r>
              <a:t>BRIDGE: "So what stages does an exchange actually pass through?"''</a:t>
            </a:r>
          </a:p>
          <a:p/>
          <a:p>
            <a:r>
              <a:t>THE FULL VERSION (moved off the slide)</a:t>
            </a:r>
          </a:p>
          <a:p>
            <a:r>
              <a:t>• Purposeful: every meeting, call and email serves a work objective — a sale, a partnership, a problem solved.</a:t>
            </a:r>
          </a:p>
          <a:p>
            <a:r>
              <a:t>• Many kinds of counterpart: customers, superiors, colleagues and government bodies all at once — each with its own norms.</a:t>
            </a:r>
          </a:p>
          <a:p>
            <a:r>
              <a:t>• Binding: words and documents in business can create obligations, contracts, liability.</a:t>
            </a:r>
          </a:p>
          <a:p>
            <a:r>
              <a:t>• Science and art: there are rules and procedures to learn; applying them flexibly to the person and the moment is what makes them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CENTRAL DIAGRAM OF THE CHAPTER (4 minutes)</a:t>
            </a:r>
          </a:p>
          <a:p>
            <a:r>
              <a:t>• Redraw the diagram on the board while you talk — students remember it better when they watch it being drawn.</a:t>
            </a:r>
          </a:p>
          <a:p>
            <a:r>
              <a:t>• Walk each stage: SENDER → ENCODING → MESSAGE/CHANNEL → DECODING → FEEDBACK.</a:t>
            </a:r>
          </a:p>
          <a:p>
            <a:r>
              <a:t>• The key point: NOISE sits at EVERY stage, not just on the wire.</a:t>
            </a:r>
          </a:p>
          <a:p>
            <a:r>
              <a:t>• Oral exercise: "A manager emails a task, the employee does it wrong. Which stage broke?" — let the class guess, then unpack it: the encoding may have been poor (a vague email), the decoding may have failed (the employee misread it), or feedback may be missing (they never asked back).</a:t>
            </a:r>
          </a:p>
          <a:p>
            <a:r>
              <a:t>• LAND IT: when an exchange fails, don't apportion blame — TRACE IT BACK STAGE BY STAGE.</a:t>
            </a:r>
          </a:p>
          <a:p/>
          <a:p>
            <a:r>
              <a:t>THE FULL VERSION (moved off the slide)</a:t>
            </a:r>
          </a:p>
          <a:p>
            <a:r>
              <a:t>• Sender: forms the idea, settles what it is for.</a:t>
            </a:r>
          </a:p>
          <a:p>
            <a:r>
              <a:t>• Encoding: turning the idea into speech, writing, gesture.</a:t>
            </a:r>
          </a:p>
          <a:p>
            <a:r>
              <a:t>• Message: the content carried by a channel — in person, telephone, email…</a:t>
            </a:r>
          </a:p>
          <a:p>
            <a:r>
              <a:t>• Decoding: the receiver takes it in and interprets it.</a:t>
            </a:r>
          </a:p>
          <a:p>
            <a:r>
              <a:t>• Feedback: the receiver answers — the only evidence that it worked.</a:t>
            </a:r>
          </a:p>
          <a:p>
            <a:r>
              <a:t>• NOISE: background noise, a bad line, differences of language and culture, prejudice, bad mood… present at every stage. A good communicator cuts the noise at each step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SPOKEN AND WRITTEN (2 minutes)</a:t>
            </a:r>
          </a:p>
          <a:p>
            <a:r>
              <a:t>• Quick comparison: speech is FAST and expressive but "spoken words blow away"; writing is SLOWER but STAYS ON THE RECORD AS EVIDENCE.</a:t>
            </a:r>
          </a:p>
          <a:p>
            <a:r>
              <a:t>• The working rule: on anything important, an agreement reached in speech must be CONFIRMED BY EMAIL.</a:t>
            </a:r>
          </a:p>
          <a:p>
            <a:r>
              <a:t>• Career link: this is precisely the skill of the second half of the course.</a:t>
            </a:r>
          </a:p>
          <a:p/>
          <a:p>
            <a:r>
              <a:t>THE FULL VERSION (moved off the slide)</a:t>
            </a:r>
          </a:p>
          <a:p>
            <a:r>
              <a:t>• Speech: direct, fast, expressive, feedback at once — but "spoken words blow away", and it goes wrong easily without preparation. Mind your pronunciation, pace, volume, intonation.</a:t>
            </a:r>
          </a:p>
          <a:p>
            <a:r>
              <a:t>• Writing: precise, considered, kept as evidence — the ground for Chapter 5. Mind your spelling, format, register.</a:t>
            </a:r>
          </a:p>
          <a:p>
            <a:r>
              <a:t>• Word choice: clear, courteous, positive; avoid colloquialisms, slang and ambiguous words; prefer active, short sentences.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NON-VERBAL (4 minutes) — THE PART STUDENTS LIKE MOST</a:t>
            </a:r>
          </a:p>
          <a:p>
            <a:r>
              <a:t>• Demonstrate it live: say "Very pleased to meet you" twice — first looking at the floor in a flat voice, then meeting their eyes with a smile. Ask which one they believe.</a:t>
            </a:r>
          </a:p>
          <a:p>
            <a:r>
              <a:t>• Introduce Mehrabian's 7 – 38 – 55%, but SAY THE LIMIT OUT LOUD: it holds for EMOTIONAL messages only, not for every situation.</a:t>
            </a:r>
          </a:p>
          <a:p>
            <a:r>
              <a:t>• Distance: bring two students to the front and have them stand at three different distances for the class to watch.</a:t>
            </a:r>
          </a:p>
          <a:p>
            <a:r>
              <a:t>• LAND IT: never let your body say the opposite of your words.</a:t>
            </a:r>
          </a:p>
          <a:p/>
          <a:p>
            <a:r>
              <a:t>THE FULL VERSION (moved off the slide)</a:t>
            </a:r>
          </a:p>
          <a:p>
            <a:r>
              <a:t>• Eyes, face, smile: the strongest expressive channel; meeting someone's eyes reads as confidence and respect.</a:t>
            </a:r>
          </a:p>
          <a:p>
            <a:r>
              <a:t>• Gesture, posture, walk: upright and open earns goodwill; folded arms or a glance at your watch signal closed-off and impatient.</a:t>
            </a:r>
          </a:p>
          <a:p>
            <a:r>
              <a:t>• Distance: intimate (&lt;0.5 m) – personal – social (1.2–3.5 m) – public; the wrong one makes people uncomfortable.</a:t>
            </a:r>
          </a:p>
          <a:p>
            <a:r>
              <a:t>• Dress, tone, time: dress for the setting; tone decides how the message lands; being on time is itself a message.</a:t>
            </a:r>
          </a:p>
          <a:p>
            <a:r>
              <a:t>• The three numbers on the slide are Mehrabian's, for EMOTIONAL MESSAGES — don't generalise them to all communication. Land it: never let your body "say" the opposite of your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FORMS OF COMMUNICATION (2 minutes)</a:t>
            </a:r>
          </a:p>
          <a:p>
            <a:r>
              <a:t>• Four contrasting pairs — go quickly, don't dwell.</a:t>
            </a:r>
          </a:p>
          <a:p>
            <a:r>
              <a:t>• Press the last pair: TRADITIONAL ↔ DIGITAL. Ask the class: "What does a work email sent at 11 at night say about the sender?"</a:t>
            </a:r>
          </a:p>
          <a:p>
            <a:r>
              <a:t>• Remind them: digital communication is held to the same standards as meeting in person.</a:t>
            </a:r>
          </a:p>
          <a:p/>
          <a:p>
            <a:r>
              <a:t>THE FULL VERSION (moved off the slide)</a:t>
            </a:r>
          </a:p>
          <a:p>
            <a:r>
              <a:t>• Face to face: rich, immediate feedback. At a distance (phone, documents, email): crosses distance, leaves evidence — but is easily misread.</a:t>
            </a:r>
          </a:p>
          <a:p>
            <a:r>
              <a:t>• Formal: meetings, documents, conferences under the rules. Informal: talk on the side, rumour — a good manager uses both.</a:t>
            </a:r>
          </a:p>
          <a:p>
            <a:r>
              <a:t>• One to one: deep and private. Group: needs chairing. Audience: needs presentation skill, taught in Chapter 2.</a:t>
            </a:r>
          </a:p>
          <a:p>
            <a:r>
              <a:t>• Digital: email, online meetings, social media, group chats — the new norms are replying on time, on the right channel, and keeping a professional digital presence.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 PRINCIPLES (3 minutes)</a:t>
            </a:r>
          </a:p>
          <a:p>
            <a:r>
              <a:t>• This is the part STUDENTS MUST KNOW BY HEART — it is used again in the case that follows immediately.</a:t>
            </a:r>
          </a:p>
          <a:p>
            <a:r>
              <a:t>• RESPECT: say plainly that respect shows in concrete behaviour — being on time, not interrupting, remembering the other person's name.</a:t>
            </a:r>
          </a:p>
          <a:p>
            <a:r>
              <a:t>• KEEPING YOUR WORD: press "your word is a business asset" — one broken promise loses a customer.</a:t>
            </a:r>
          </a:p>
          <a:p>
            <a:r>
              <a:t>BRIDGE: "Now let's try applying the whole chapter to one situation."''</a:t>
            </a:r>
          </a:p>
          <a:p/>
          <a:p>
            <a:r>
              <a:t>THE FULL VERSION (moved off the slide)</a:t>
            </a:r>
          </a:p>
          <a:p>
            <a:r>
              <a:t>• Respect the person, their time, their interests and their differences.</a:t>
            </a:r>
          </a:p>
          <a:p>
            <a:r>
              <a:t>• Goodwill and cooperation: aim at both sides gaining — win the argument and you may lose the customer.</a:t>
            </a:r>
          </a:p>
          <a:p>
            <a:r>
              <a:t>• Listen and understand first: get their need right before you set out your own position.</a:t>
            </a:r>
          </a:p>
          <a:p>
            <a:r>
              <a:t>• Fit the context: right role, right moment, right place, right channel, right degree of formality.</a:t>
            </a:r>
          </a:p>
          <a:p>
            <a:r>
              <a:t>• Standards and keeping your word: speech and documents consistent; a promise made is a promise kept — your word is a business asset.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GROUP WORK (15 minutes)</a:t>
            </a:r>
          </a:p>
          <a:p>
            <a:r>
              <a:t>• Groups of 4–5, hand out A3 sheets or let them use their notebooks.</a:t>
            </a:r>
          </a:p>
          <a:p>
            <a:r>
              <a:t>• Time it: 10 minutes of discussion, 5 minutes for two groups to present.</a:t>
            </a:r>
          </a:p>
          <a:p>
            <a:r>
              <a:t>• SUGGESTED ANSWERS: arriving late without warning (breaks respect and keeping your word) • the T-shirt (noise at the non-verbal encoding stage) • talking for 20 minutes without a question (no feedback, breaks the listening principle) • taking two calls (breaks respect, creates noise).</a:t>
            </a:r>
          </a:p>
          <a:p>
            <a:r>
              <a:t>• The customer's line "let me look at it and get back to you" — ask the class: is that an appointment or a refusal? (Links forward to Chapter 3, communicating across cultures.)</a:t>
            </a:r>
          </a:p>
          <a:p>
            <a:r>
              <a:t>• LAND IT: every one of those mistakes maps back to the five stages and the five principles just taught.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SUMMARY (2 minutes)</a:t>
            </a:r>
          </a:p>
          <a:p>
            <a:r>
              <a:t>• Read the three points slowly, pausing two seconds after each.</a:t>
            </a:r>
          </a:p>
          <a:p>
            <a:r>
              <a:t>• Ask the class: "Who can name the five stages of the communication model?" — call on one student.</a:t>
            </a:r>
          </a:p>
          <a:p>
            <a:r>
              <a:t>• Set the work: do the 40 multiple-choice questions for Chapter 1 before the next session.</a:t>
            </a:r>
          </a:p>
          <a:p/>
          <a:p>
            <a:r>
              <a:t>THE FULL VERSION (moved off the slide)</a:t>
            </a:r>
          </a:p>
          <a:p>
            <a:r>
              <a:t>• Business communication is not idle conversation: every exchange serves an objective and carries norms and obligations, in interest and in law.</a:t>
            </a:r>
          </a:p>
          <a:p>
            <a:r>
              <a:t>• To fix an exchange that failed, trace back each stage: idea – encoding – channel – decoding – feedback.</a:t>
            </a:r>
          </a:p>
          <a:p>
            <a:r>
              <a:t>• Dress, eyes, tone, punctuality… "speak" first and speak louder than words — make them say the same thing you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 QUESTIONS (1 minute)</a:t>
            </a:r>
          </a:p>
          <a:p>
            <a:r>
              <a:t>• Don't work them in class — leave them for students to do at home.</a:t>
            </a:r>
          </a:p>
          <a:p>
            <a:r>
              <a:t>• Say plainly: these four are within the scope of the mid-term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READING (1 minute)</a:t>
            </a:r>
          </a:p>
          <a:p>
            <a:r>
              <a:t>• Say exactly which chapter of the main textbook to read for next time.</a:t>
            </a:r>
          </a:p>
          <a:p>
            <a:r>
              <a:t>• Remind them: your own materials go up on the class group after each session.</a:t>
            </a:r>
          </a:p>
          <a:p>
            <a:r>
              <a:t>• Close the session: thank the class, remind them of the next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MEHRABIAN NUMBERS (2 minutes)</a:t>
            </a:r>
          </a:p>
          <a:p>
            <a:r>
              <a:t>• Put the slide up, let them look for five seconds before you speak.</a:t>
            </a:r>
          </a:p>
          <a:p>
            <a:r>
              <a:t>• STATE THE LIMIT CLEARLY: these figures hold for emotional messages only — do not conclude "content is only 7%".</a:t>
            </a:r>
          </a:p>
          <a:p>
            <a:r>
              <a:t>• What it means in practice: when the words and the body disagree, the listener BELIEVES THE BODY.</a:t>
            </a:r>
          </a:p>
          <a:p>
            <a:r>
              <a:t>• Ask the class: "How do you know someone is upset even when they say 'I'm fine'?"''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BREAK (30 seconds) — one linking sentence, then move on. This is the marker that tells the class where they are in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FACTORS THAT SHAPE IT (2 minutes)</a:t>
            </a:r>
          </a:p>
          <a:p>
            <a:r>
              <a:t>• Press the PREJUDICE factor — the hardest to see and the one that wrecks the most exchanges.</a:t>
            </a:r>
          </a:p>
          <a:p>
            <a:r>
              <a:t>• Examples: hearing a regional accent and judging competence; seeing someone young and assuming inexperience.</a:t>
            </a:r>
          </a:p>
          <a:p>
            <a:r>
              <a:t>• Link to Chapter 3: the section on communicating across cultures comes back to this.</a:t>
            </a:r>
          </a:p>
          <a:p/>
          <a:p>
            <a:r>
              <a:t>THE FULL VERSION (moved off the slide)</a:t>
            </a:r>
          </a:p>
          <a:p>
            <a:r>
              <a:t>• The people: state of mind, mood, health, knowledge, skill, standing.</a:t>
            </a:r>
          </a:p>
          <a:p>
            <a:r>
              <a:t>• The message: clear or vague, sensibly structured or scattered, pitched at the listener or not.</a:t>
            </a:r>
          </a:p>
          <a:p>
            <a:r>
              <a:t>• Channel and noise: the wrong channel (something serious sent as a text), a bad line, a noisy room.</a:t>
            </a:r>
          </a:p>
          <a:p>
            <a:r>
              <a:t>• Cultural and social setting: norms, religion, region, hierarchy — what is ordinary in one place can be an offence in another.</a:t>
            </a:r>
          </a:p>
          <a:p>
            <a:r>
              <a:t>• Relationship and prejudice: an old impression, hearsay, distance of power — all bend the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overview of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of every professional skill: understand communication before drilling technique.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will work together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Theory — 10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&amp; Sun mornings  •  5 chapters  •  room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— 3 sessions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 / Sun afternoons  •  room A0105, Economics Simulation Lab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— 3 components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 •  Coursework  •  Final examination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communication is, what marks it out, and the process model behind it.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and forms of communication, and the strengths and weaknesses of each.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factors that shape how well communication works in a real situation.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 of communication to a specific business situation.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business communication is, and what marks it out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means of communication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forms of communication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factors that shape the communication process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principles of communication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nature and means of communication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the nature first: what communication is, what stages it passes through, by what means.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Communication, and communication in business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communication?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Exchanging information to reach a purpose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in business?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a work goal, and legally binding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learn it?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Employers rank it among the top requirements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marks out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purposeful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meeting serves a work objective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kinds of counterpart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comes with its own norms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on interests and in law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say can create an obligation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science and art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rules, but they need judgement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communication process model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Communication runs both ways — to fix one that failed, trace it back stage by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Means of communication: language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expressive — but spoken words blow away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language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and on the record — the ground for Chapter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your words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 •  courteous  •  positive  •  brief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Means of communication: non-verbal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Eyes and face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expressive channel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Gesture and posture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Upright and open earns goodwill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Intimate · personal · social · public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Dress, voice, punctuality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on time is itself a message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 OF VOICE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for emotional messages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How does an emotional message travel?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words themselves — the smallest share, though we usually invest the most here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TONE OF VOICE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Volume, pace, intonation, pauses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BODY LANGUAGE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Eyes, face, gesture, posture, distance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Albert Mehrabian's study — it applies to EMOTIONAL messages only, not to every situation.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forms of communication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These four pairs are not exclusive — any exchange sits somewhere on all four axes at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Influencing factors, and principles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breaks an exchange, and the five principles that keep it from breaking.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Factors that shape the communication process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Fix the factor that actually broke — don't blame it all on “poor wording”.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Principles of business communication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person, their time, their interests, their differences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Goodwill and cooperation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argument, lose the customer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first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correctly, then speak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the context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role, right moment, right channel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word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made is a promise kept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Case: a first meeting that failed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(groups of 4–5, 15 minutes)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Salesperson A meets a client for the first time: arrives 10 minutes late because of traffic but sends no warning; wears a T-shirt because “it's the weekend”; sits down and immediately pitches the product for 20 minutes straight; the phone rings twice and A takes both calls. At the end the client says “let me look at it and get back to you”, and never does.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communication mistake A made, and place each one at a stage of the process model.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principle from section 1.5 does each mistake break?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five-step “standard script” for a first client meeting and present it to the class (3 minutes).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a purpose, and it has rules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idle conversation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stage broke, go back to that stage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stages, plus noise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non-verbal carries more than we think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speaks first, and it speaks louder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parts of the communication process model using a real example of your own.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strengths and weaknesses of spoken and written communication in business.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business communication called “both a science and an art”?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and illustrate the five principles of business communication.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 – Professional communication skills. Each group prepares a 3-minute talk on a topic of its choice, to be delivered in class.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2026-08-23T05:42:53Z</dcterms:created>
  <dcterms:modified xsi:type="dcterms:W3CDTF">2026-08-23T05:42:53Z</dcterms:modified>
</cp:coreProperties>
</file>