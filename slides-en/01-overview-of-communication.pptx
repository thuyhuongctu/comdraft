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73" r:id="rId24"/>
    <p:sldId id="260" r:id="rId6"/>
    <p:sldId id="261" r:id="rId7"/>
    <p:sldId id="262" r:id="rId8"/>
    <p:sldId id="263" r:id="rId9"/>
    <p:sldId id="264" r:id="rId10"/>
    <p:sldId id="272" r:id="rId23"/>
    <p:sldId id="265" r:id="rId11"/>
    <p:sldId id="274" r:id="rId25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2.xml"/><Relationship Id="rId12" Type="http://schemas.openxmlformats.org/officeDocument/2006/relationships/slide" Target="slides/slide14.xml"/><Relationship Id="rId13" Type="http://schemas.openxmlformats.org/officeDocument/2006/relationships/slide" Target="slides/slide15.xml"/><Relationship Id="rId14" Type="http://schemas.openxmlformats.org/officeDocument/2006/relationships/slide" Target="slides/slide16.xml"/><Relationship Id="rId15" Type="http://schemas.openxmlformats.org/officeDocument/2006/relationships/slide" Target="slides/slide17.xml"/><Relationship Id="rId16" Type="http://schemas.openxmlformats.org/officeDocument/2006/relationships/slide" Target="slides/slide18.xml"/><Relationship Id="rId17" Type="http://schemas.openxmlformats.org/officeDocument/2006/relationships/slide" Target="slides/slide19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slide" Target="slides/slide11.xml"/><Relationship Id="rId24" Type="http://schemas.openxmlformats.org/officeDocument/2006/relationships/slide" Target="slides/slide5.xml"/><Relationship Id="rId25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MỞ ĐẦU BUỔI HỌC (2 phút)</a:t>
            </a:r>
          </a:p>
          <a:p>
            <a:r>
              <a:t>• Chào lớp, giới thiệu bản thân ngắn gọn.</a:t>
            </a:r>
          </a:p>
          <a:p>
            <a:r>
              <a:t>• Hỏi mở: "Theo các bạn, một ngày chúng ta dành bao nhiêu phần trăm thời gian làm việc để giao tiếp?" (Đáp án tham khảo: 70–80%).</a:t>
            </a:r>
          </a:p>
          <a:p>
            <a:r>
              <a:t>• Chốt: học phần này dạy hai nhóm kỹ năng — NÓI và VIẾT — đều là công cụ kiếm sống.</a:t>
            </a:r>
          </a:p>
          <a:p>
            <a:r>
              <a:t>CHUYỂN Ý: "Trước khi luyện kỹ năng, ta phải hiểu đúng bản chất giao tiếp đã."''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CAM KẾT LỚP HỌC (2 phút)</a:t>
            </a:r>
          </a:p>
          <a:p>
            <a:r>
              <a:t>• Nhấn mạnh: lớp này KHÔNG chỉ nghe giảng — mỗi buổi đều có tình huống và thực hành.</a:t>
            </a:r>
          </a:p>
          <a:p>
            <a:r>
              <a:t>• Nói rõ 3 điều: điểm danh tối thiểu 80%; bài tập nộp đúng hạn; điện thoại để chế độ im lặng.</a:t>
            </a:r>
          </a:p>
          <a:p>
            <a:r>
              <a:t>• Mời sinh viên nêu kỳ vọng của mình về học phần (2–3 bạn phát biểu).</a:t>
            </a:r>
          </a:p>
          <a:p>
            <a:r>
              <a:t>CHUYỂN Ý: "Giờ ta bắt đầu từ mục tiêu của chương một."''</a:t>
            </a:r>
          </a:p>
          <a:p/>
          <a:p>
            <a:r>
              <a:t>NÓI ĐỦ Ý (phần đã rút khỏi slide)</a:t>
            </a:r>
          </a:p>
          <a:p>
            <a:r>
              <a:t>• Lý thuyết: 10 buổi sáng T7 &amp; CN, 05/12/2026 – 03/01/2027, phòng C0105 — Chương 1 Tổng quan giao tiếp; Chương 2 Kỹ năng chuyên nghiệp; Chương 3 Tình huống đặc thù; Chương 4 Đàm phán; Chương 5 Soạn thảo văn bản.</a:t>
            </a:r>
          </a:p>
          <a:p>
            <a:r>
              <a:t>• Thực hành: chiều T7/CN, 26/12 – 24/01, phòng A0105 Mô phỏng Kinh tế — Bài 1 Thể thức; Bài 2 Văn bản hành chính; Bài 3 Văn bản thương mại.</a:t>
            </a:r>
          </a:p>
          <a:p>
            <a:r>
              <a:t>• Đánh giá: chuyên cần (dự lớp ≥ 80%, bài tập đầy đủ); quá trình (trắc nghiệm + tự luận + thực hành); cuối kỳ thi thực hành.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MỤC TIÊU CHƯƠNG (1 phút)</a:t>
            </a:r>
          </a:p>
          <a:p>
            <a:r>
              <a:t>• Đọc lướt 4 mục tiêu, KHÔNG đọc từng chữ.</a:t>
            </a:r>
          </a:p>
          <a:p>
            <a:r>
              <a:t>• Nhấn: mục tiêu số 4 (vận dụng nguyên tắc) sẽ được kiểm tra qua tình huống cuối chương.</a:t>
            </a:r>
          </a:p>
          <a:p>
            <a:r>
              <a:t>• Dặn sinh viên chụp lại slide này để tự đối chiếu khi ôn thi.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LỘ TRÌNH CHƯƠNG (1 phút)</a:t>
            </a:r>
          </a:p>
          <a:p>
            <a:r>
              <a:t>• Chỉ tay theo 5 mục, nói nhanh mỗi mục một câu.</a:t>
            </a:r>
          </a:p>
          <a:p>
            <a:r>
              <a:t>• Nhấn: mục 1.2 (phương tiện) và 1.5 (nguyên tắc) là phần hay ra thi.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KHÁI NIỆM (3 phút)</a:t>
            </a:r>
          </a:p>
          <a:p>
            <a:r>
              <a:t>• Viết lên bảng 2 từ: THÔNG TIN – MỤC ĐÍCH. Giao tiếp luôn có cả hai.</a:t>
            </a:r>
          </a:p>
          <a:p>
            <a:r>
              <a:t>• Phân biệt: nói chuyện phiếm ≠ giao tiếp kinh doanh. Giao tiếp KD luôn gắn với MỤC TIÊU CÔNG VIỆC.</a:t>
            </a:r>
          </a:p>
          <a:p>
            <a:r>
              <a:t>• Ví dụ nhanh: một cuộc gọi hỏi thăm khách hàng cũ — mục đích thật là gì? (giữ quan hệ để bán hàng lần sau).</a:t>
            </a:r>
          </a:p>
          <a:p>
            <a:r>
              <a:t>HỎI LỚP: "Hôm nay các bạn đã có cuộc giao tiếp kinh doanh nào chưa?" (mua cà phê, hỏi bài giáo vụ...).</a:t>
            </a:r>
          </a:p>
          <a:p/>
          <a:p>
            <a:r>
              <a:t>NÓI ĐỦ Ý (phần đã rút khỏi slide)</a:t>
            </a:r>
          </a:p>
          <a:p>
            <a:r>
              <a:t>• Giao tiếp: quá trình trao đổi thông tin, tư tưởng, tình cảm giữa người với người nhằm đạt một mục đích — bằng cả lời nói, chữ viết và hành vi không lời.</a:t>
            </a:r>
          </a:p>
          <a:p>
            <a:r>
              <a:t>• Giao tiếp kinh doanh: gắn với quá trình kinh doanh — doanh nghiệp với khách hàng, đối tác, cơ quan quản lý, và giữa các thành viên trong tổ chức — hướng tới mục tiêu kinh doanh cụ thể.</a:t>
            </a:r>
          </a:p>
          <a:p>
            <a:r>
              <a:t>• Vì sao học: khảo sát nhà tuyển dụng nhiều năm liền xếp kỹ năng giao tiếp vào nhóm được yêu cầu cao nhất — bán được ý tưởng trước khi bán được sản phẩm.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BỐN ĐẶC ĐIỂM (3 phút)</a:t>
            </a:r>
          </a:p>
          <a:p>
            <a:r>
              <a:t>• Đặc điểm 3 (RÀNG BUỘC PHÁP LÝ) là quan trọng nhất — nhấn mạnh mạnh.</a:t>
            </a:r>
          </a:p>
          <a:p>
            <a:r>
              <a:t>• Ví dụ có thật: nhân viên hứa miệng giảm giá 20% với khách → công ty vẫn phải thực hiện vì đó là lời của người đại diện.</a:t>
            </a:r>
          </a:p>
          <a:p>
            <a:r>
              <a:t>• Nối sang học phần: đó là lý do Chương 5 dạy các bạn VĂN BẢN HÓA mọi thỏa thuận.</a:t>
            </a:r>
          </a:p>
          <a:p>
            <a:r>
              <a:t>CHUYỂN Ý: "Vậy một cuộc giao tiếp diễn ra qua những khâu nào?"''</a:t>
            </a:r>
          </a:p>
          <a:p/>
          <a:p>
            <a:r>
              <a:t>NÓI ĐỦ Ý (phần đã rút khỏi slide)</a:t>
            </a:r>
          </a:p>
          <a:p>
            <a:r>
              <a:t>• Có mục đích: mỗi cuộc gặp, cuộc gọi, email đều phục vụ một mục tiêu công việc — bán hàng, hợp tác, giải quyết vấn đề.</a:t>
            </a:r>
          </a:p>
          <a:p>
            <a:r>
              <a:t>• Đa dạng chủ thể: cùng lúc giao tiếp với khách hàng, cấp trên, đồng nghiệp, cơ quan nhà nước — mỗi đối tượng một chuẩn mực riêng.</a:t>
            </a:r>
          </a:p>
          <a:p>
            <a:r>
              <a:t>• Ràng buộc: lời nói và văn bản trong kinh doanh có thể tạo ra nghĩa vụ, hợp đồng, trách nhiệm.</a:t>
            </a:r>
          </a:p>
          <a:p>
            <a:r>
              <a:t>• Khoa học và nghệ thuật: có nguyên tắc, quy trình để học; vận dụng linh hoạt theo con người và hoàn cảnh mới hiệu quả.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SƠ ĐỒ TRUNG TÂM CỦA CHƯƠNG (4 phút)</a:t>
            </a:r>
          </a:p>
          <a:p>
            <a:r>
              <a:t>• Vẽ lại sơ đồ lên bảng trong lúc giảng — sinh viên nhớ tốt hơn khi thấy nó được vẽ ra.</a:t>
            </a:r>
          </a:p>
          <a:p>
            <a:r>
              <a:t>• Đi từng khâu: NGƯỜI GỬI → MÃ HÓA → THÔNG ĐIỆP/KÊNH → GIẢI MÃ → PHẢN HỒI.</a:t>
            </a:r>
          </a:p>
          <a:p>
            <a:r>
              <a:t>• Điểm nhấn: NHIỄU có ở MỌI khâu, không chỉ ở đường truyền.</a:t>
            </a:r>
          </a:p>
          <a:p>
            <a:r>
              <a:t>• Bài tập miệng: "Sếp gửi email giao việc, nhân viên làm sai. Hỏng ở khâu nào?" — cho lớp đoán, rồi phân tích: có thể mã hóa kém (email mơ hồ), có thể giải mã sai (nhân viên hiểu nhầm), có thể thiếu phản hồi (không hỏi lại).</a:t>
            </a:r>
          </a:p>
          <a:p>
            <a:r>
              <a:t>• CHỐT: cuộc giao tiếp thất bại thì đừng đổ lỗi, hãy DÒ LẠI TỪNG KHÂU.</a:t>
            </a:r>
          </a:p>
          <a:p/>
          <a:p>
            <a:r>
              <a:t>NÓI ĐỦ Ý (phần đã rút khỏi slide)</a:t>
            </a:r>
          </a:p>
          <a:p>
            <a:r>
              <a:t>• Người gửi: hình thành ý tưởng, xác định mục đích truyền đạt.</a:t>
            </a:r>
          </a:p>
          <a:p>
            <a:r>
              <a:t>• Mã hóa: chuyển ý tưởng thành lời nói, chữ viết, cử chỉ.</a:t>
            </a:r>
          </a:p>
          <a:p>
            <a:r>
              <a:t>• Thông điệp: nội dung truyền qua kênh — trực tiếp, điện thoại, email…</a:t>
            </a:r>
          </a:p>
          <a:p>
            <a:r>
              <a:t>• Giải mã: người nhận tiếp nhận và diễn giải.</a:t>
            </a:r>
          </a:p>
          <a:p>
            <a:r>
              <a:t>• Phản hồi: người nhận đáp lại — căn cứ để biết giao tiếp có hiệu quả.</a:t>
            </a:r>
          </a:p>
          <a:p>
            <a:r>
              <a:t>• NHIỄU: tiếng ồn, đường truyền kém, khác biệt ngôn ngữ – văn hóa, định kiến, cảm xúc tiêu cực… xuất hiện ở mọi khâu. Người giao tiếp giỏi chủ động giảm nhiễu ở từng bước.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NGÔN NGỮ NÓI VÀ VIẾT (2 phút)</a:t>
            </a:r>
          </a:p>
          <a:p>
            <a:r>
              <a:t>• So sánh nhanh: nói thì NHANH và giàu cảm xúc nhưng "lời nói gió bay"; viết thì CHẬM hơn nhưng LƯU LẠI LÀM BẰNG CHỨNG.</a:t>
            </a:r>
          </a:p>
          <a:p>
            <a:r>
              <a:t>• Nguyên tắc thực hành: việc quan trọng — thỏa thuận xong bằng lời phải XÁC NHẬN LẠI BẰNG EMAIL.</a:t>
            </a:r>
          </a:p>
          <a:p>
            <a:r>
              <a:t>• Liên hệ nghề nghiệp: đây chính là kỹ năng nửa sau học phần.</a:t>
            </a:r>
          </a:p>
          <a:p/>
          <a:p>
            <a:r>
              <a:t>NÓI ĐỦ Ý (phần đã rút khỏi slide)</a:t>
            </a:r>
          </a:p>
          <a:p>
            <a:r>
              <a:t>• Nói: trực tiếp, nhanh, giàu cảm xúc, phản hồi tức thì — nhưng "lời nói gió bay", dễ sai khi thiếu chuẩn bị. Chú ý phát âm, tốc độ, âm lượng, ngữ điệu.</a:t>
            </a:r>
          </a:p>
          <a:p>
            <a:r>
              <a:t>• Viết: chính xác, cân nhắc được, lưu lại làm bằng chứng — nền tảng của Chương 5. Chú ý chính tả, thể thức, văn phong.</a:t>
            </a:r>
          </a:p>
          <a:p>
            <a:r>
              <a:t>• Dùng từ: rõ ràng, lịch sự, tích cực; tránh khẩu ngữ, tiếng lóng, từ đa nghĩa; ưu tiên câu chủ động, ngắn gọn.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PHI NGÔN NGỮ (4 phút) — PHẦN SINH VIÊN THÍCH NHẤT</a:t>
            </a:r>
          </a:p>
          <a:p>
            <a:r>
              <a:t>• Làm thử ngay tại lớp: nói câu "Rất vui được gặp bạn" hai lần — lần đầu nhìn xuống đất giọng đều, lần sau nhìn mắt và mỉm cười. Hỏi lớp tin lần nào.</a:t>
            </a:r>
          </a:p>
          <a:p>
            <a:r>
              <a:t>• Giới thiệu con số Mehrabian 7 – 38 – 55%, nhưng NÓI RÕ: chỉ đúng với thông điệp CẢM XÚC, không phải mọi tình huống.</a:t>
            </a:r>
          </a:p>
          <a:p>
            <a:r>
              <a:t>• Khoảng cách giao tiếp: mời 2 sinh viên lên đứng thử ở 3 khoảng cách khác nhau cho lớp quan sát.</a:t>
            </a:r>
          </a:p>
          <a:p>
            <a:r>
              <a:t>• CHỐT: đừng để cơ thể nói ngược lại lời của mình.</a:t>
            </a:r>
          </a:p>
          <a:p/>
          <a:p>
            <a:r>
              <a:t>NÓI ĐỦ Ý (phần đã rút khỏi slide)</a:t>
            </a:r>
          </a:p>
          <a:p>
            <a:r>
              <a:t>• Ánh mắt – nét mặt – nụ cười: kênh biểu cảm mạnh nhất; nhìn vào mắt thể hiện tự tin và tôn trọng.</a:t>
            </a:r>
          </a:p>
          <a:p>
            <a:r>
              <a:t>• Cử chỉ – tư thế – dáng đi: thẳng, cởi mở tạo thiện cảm; khoanh tay, nhìn đồng hồ phát tín hiệu khép kín, sốt ruột.</a:t>
            </a:r>
          </a:p>
          <a:p>
            <a:r>
              <a:t>• Khoảng cách: thân mật (&lt;0,5 m) – cá nhân – xã giao (1,2–3,5 m) – công cộng; chọn sai gây khó chịu.</a:t>
            </a:r>
          </a:p>
          <a:p>
            <a:r>
              <a:t>• Trang phục – giọng điệu – thời gian: ăn mặc phù hợp bối cảnh; giọng điệu quyết định cách thông điệp được đón nhận; đúng giờ cũng là thông điệp.</a:t>
            </a:r>
          </a:p>
          <a:p>
            <a:r>
              <a:t>• Ba con số trên slide là của Mehrabian, cho THÔNG ĐIỆP CẢM XÚC — đừng khái quát thành mọi loại giao tiếp. Chốt: đừng để cơ thể "nói" ngược với lời.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HÌNH THỨC GIAO TIẾP (2 phút)</a:t>
            </a:r>
          </a:p>
          <a:p>
            <a:r>
              <a:t>• 4 cặp phân loại — đi nhanh, đừng sa đà.</a:t>
            </a:r>
          </a:p>
          <a:p>
            <a:r>
              <a:t>• Nhấn cặp cuối: TRUYỀN THỐNG ↔ GIAO TIẾP SỐ. Hỏi lớp: "Một email công việc gửi lúc 11 giờ đêm nói lên điều gì về người gửi?"</a:t>
            </a:r>
          </a:p>
          <a:p>
            <a:r>
              <a:t>• Nhắc: giao tiếp số vẫn phải giữ đúng chuẩn mực như gặp mặt.</a:t>
            </a:r>
          </a:p>
          <a:p/>
          <a:p>
            <a:r>
              <a:t>NÓI ĐỦ Ý (phần đã rút khỏi slide)</a:t>
            </a:r>
          </a:p>
          <a:p>
            <a:r>
              <a:t>• Trực tiếp: giàu thông tin, phản hồi ngay. Gián tiếp (điện thoại, văn bản, email): vượt khoảng cách, có bằng chứng — nhưng dễ hiểu nhầm.</a:t>
            </a:r>
          </a:p>
          <a:p>
            <a:r>
              <a:t>• Chính thức: họp, văn bản, hội nghị theo quy định. Không chính thức: trò chuyện ngoài lề, tin đồn — người quản lý giỏi dùng cả hai.</a:t>
            </a:r>
          </a:p>
          <a:p>
            <a:r>
              <a:t>• Cá nhân 1–1: sâu, riêng tư. Nhóm: cần điều phối. Đám đông: cần kỹ năng thuyết trình, học ở Chương 2.</a:t>
            </a:r>
          </a:p>
          <a:p>
            <a:r>
              <a:t>• Giao tiếp số: email, họp trực tuyến, mạng xã hội, tin nhắn nhóm — chuẩn mực mới là trả lời đúng hạn, đúng kênh, giữ hình ảnh số chuyên nghiệp.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NĂM NGUYÊN TẮC (3 phút)</a:t>
            </a:r>
          </a:p>
          <a:p>
            <a:r>
              <a:t>• Đây là phần SINH VIÊN PHẢI THUỘC — sẽ dùng lại ở tình huống ngay sau đây.</a:t>
            </a:r>
          </a:p>
          <a:p>
            <a:r>
              <a:t>• Nguyên tắc TÔN TRỌNG: nói rõ tôn trọng thể hiện qua hành vi cụ thể — đúng giờ, không cắt lời, nhớ tên người đối diện.</a:t>
            </a:r>
          </a:p>
          <a:p>
            <a:r>
              <a:t>• Nguyên tắc GIỮ CHỮ TÍN: nhấn mạnh "chữ tín là tài sản kinh doanh" — mất khách vì thất hứa một lần.</a:t>
            </a:r>
          </a:p>
          <a:p>
            <a:r>
              <a:t>CHUYỂN Ý: "Bây giờ ta thử áp dụng cả chương vào một tình huống."''</a:t>
            </a:r>
          </a:p>
          <a:p/>
          <a:p>
            <a:r>
              <a:t>NÓI ĐỦ Ý (phần đã rút khỏi slide)</a:t>
            </a:r>
          </a:p>
          <a:p>
            <a:r>
              <a:t>• Tôn trọng nhân cách, thời gian, lợi ích và sự khác biệt của đối tượng.</a:t>
            </a:r>
          </a:p>
          <a:p>
            <a:r>
              <a:t>• Thiện chí và hợp tác: hướng tới hai bên cùng có lợi — thắng một cuộc cãi có thể thua một khách hàng.</a:t>
            </a:r>
          </a:p>
          <a:p>
            <a:r>
              <a:t>• Lắng nghe và thấu hiểu trước: hiểu đúng nhu cầu đối phương rồi mới trình bày quan điểm mình.</a:t>
            </a:r>
          </a:p>
          <a:p>
            <a:r>
              <a:t>• Phù hợp ngữ cảnh: đúng vai, đúng lúc, đúng nơi, đúng kênh, đúng mức độ trang trọng.</a:t>
            </a:r>
          </a:p>
          <a:p>
            <a:r>
              <a:t>• Chuẩn mực và giữ chữ tín: lời nói và văn bản nhất quán; đã hứa là làm — chữ tín là tài sản kinh doanh.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HOẠT ĐỘNG NHÓM (15 phút)</a:t>
            </a:r>
          </a:p>
          <a:p>
            <a:r>
              <a:t>• Chia nhóm 4–5 bạn, phát giấy A3 hoặc dùng vở.</a:t>
            </a:r>
          </a:p>
          <a:p>
            <a:r>
              <a:t>• Bấm giờ 10 phút thảo luận, 5 phút cho 2 nhóm trình bày.</a:t>
            </a:r>
          </a:p>
          <a:p>
            <a:r>
              <a:t>• GỢI Ý ĐÁP ÁN: đến trễ không báo (vi phạm tôn trọng + chữ tín) • áo thun (nhiễu ở khâu mã hóa phi ngôn ngữ) • nói 20 phút không hỏi (thiếu phản hồi, vi phạm nguyên tắc lắng nghe) • bắt máy 2 lần (vi phạm tôn trọng, tạo nhiễu).</a:t>
            </a:r>
          </a:p>
          <a:p>
            <a:r>
              <a:t>• Câu khách nói "để anh xem lại rồi báo em sau" — hỏi lớp: đây là lời hẹn hay lời từ chối? (Nối tới Chương 3 – giao tiếp đa văn hóa).</a:t>
            </a:r>
          </a:p>
          <a:p>
            <a:r>
              <a:t>• CHỐT: mọi lỗi đều quy về mô hình 5 khâu và 5 nguyên tắc vừa học.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TỔNG KẾT (2 phút)</a:t>
            </a:r>
          </a:p>
          <a:p>
            <a:r>
              <a:t>• Đọc chậm 3 điều, dừng 2 giây sau mỗi điều.</a:t>
            </a:r>
          </a:p>
          <a:p>
            <a:r>
              <a:t>• Hỏi lớp: "Ai nhắc lại được 5 khâu của mô hình giao tiếp?" — gọi 1 sinh viên.</a:t>
            </a:r>
          </a:p>
          <a:p>
            <a:r>
              <a:t>• Giao việc: làm 40 câu trắc nghiệm Chương 1 trước buổi sau.</a:t>
            </a:r>
          </a:p>
          <a:p/>
          <a:p>
            <a:r>
              <a:t>NÓI ĐỦ Ý (phần đã rút khỏi slide)</a:t>
            </a:r>
          </a:p>
          <a:p>
            <a:r>
              <a:t>• Giao tiếp kinh doanh không phải trò chuyện ngẫu nhiên: mỗi tương tác phục vụ mục tiêu, chịu chuẩn mực và ràng buộc lợi ích – pháp lý.</a:t>
            </a:r>
          </a:p>
          <a:p>
            <a:r>
              <a:t>• Muốn sửa một cuộc giao tiếp thất bại, dò lại từng khâu: ý tưởng – mã hóa – kênh – giải mã – phản hồi.</a:t>
            </a:r>
          </a:p>
          <a:p>
            <a:r>
              <a:t>• Trang phục, ánh mắt, giọng điệu, đúng giờ… "nói" trước và nói to hơn lời — hãy để chúng nói cùng một điều với bạn.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CÂU HỎI ÔN TẬP (1 phút)</a:t>
            </a:r>
          </a:p>
          <a:p>
            <a:r>
              <a:t>• Không giải trên lớp — để sinh viên tự làm ở nhà.</a:t>
            </a:r>
          </a:p>
          <a:p>
            <a:r>
              <a:t>• Nói rõ: 4 câu này nằm trong phạm vi kiểm tra giữa kỳ.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TÀI LIỆU (1 phút)</a:t>
            </a:r>
          </a:p>
          <a:p>
            <a:r>
              <a:t>• Chỉ rõ giáo trình chính đọc chương nào cho buổi sau.</a:t>
            </a:r>
          </a:p>
          <a:p>
            <a:r>
              <a:t>• Nhắc: học liệu của cô sẽ gửi lên nhóm lớp sau mỗi buổi.</a:t>
            </a:r>
          </a:p>
          <a:p>
            <a:r>
              <a:t>• Kết thúc buổi: cảm ơn lớp, nhắc lịch buổi sau.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 SỐ MEHRABIAN (2 phút)</a:t>
            </a:r>
          </a:p>
          <a:p>
            <a:r>
              <a:t>• Chiếu slide, để lớp nhìn 5 giây rồi mới nói.</a:t>
            </a:r>
          </a:p>
          <a:p>
            <a:r>
              <a:t>• NÓI RÕ GIỚI HẠN: con số này chỉ đúng với thông điệp cảm xúc — đừng suy ra "nội dung chỉ chiếm 7%".</a:t>
            </a:r>
          </a:p>
          <a:p>
            <a:r>
              <a:t>• Ý nghĩa thực hành: khi lời nói và cơ thể mâu thuẫn, người nghe TIN CƠ THỂ.</a:t>
            </a:r>
          </a:p>
          <a:p>
            <a:r>
              <a:t>• Hỏi lớp: "Bạn nhận ra ai đó đang không vui dù họ nói 'em ổn' bằng cách nào?"''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CHUYỂN MỤC (30 giây) — nói một câu dẫn rồi sang slide tiếp. Đây là mốc để lớp biết mình đang ở đâu trong bài.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YẾU TỐ ẢNH HƯỞNG (2 phút)</a:t>
            </a:r>
          </a:p>
          <a:p>
            <a:r>
              <a:t>• Nhấn yếu tố ĐỊNH KIẾN — thứ khó thấy nhất nhưng phá hỏng nhiều cuộc giao tiếp nhất.</a:t>
            </a:r>
          </a:p>
          <a:p>
            <a:r>
              <a:t>• Ví dụ: nghe giọng vùng miền rồi đánh giá năng lực; thấy người trẻ rồi cho là thiếu kinh nghiệm.</a:t>
            </a:r>
          </a:p>
          <a:p>
            <a:r>
              <a:t>• Liên hệ Chương 3: phần giao tiếp đa văn hóa sẽ quay lại điểm này.</a:t>
            </a:r>
          </a:p>
          <a:p/>
          <a:p>
            <a:r>
              <a:t>NÓI ĐỦ Ý (phần đã rút khỏi slide)</a:t>
            </a:r>
          </a:p>
          <a:p>
            <a:r>
              <a:t>• Chủ thể: trạng thái tâm lý, cảm xúc, sức khỏe, vốn hiểu biết, kỹ năng, uy tín.</a:t>
            </a:r>
          </a:p>
          <a:p>
            <a:r>
              <a:t>• Thông điệp: rõ hay mơ hồ, cấu trúc hợp lý hay lộn xộn, hợp người nghe hay không.</a:t>
            </a:r>
          </a:p>
          <a:p>
            <a:r>
              <a:t>• Kênh và nhiễu: chọn kênh sai (việc hệ trọng lại nhắn tin), đường truyền kém, môi trường ồn ào.</a:t>
            </a:r>
          </a:p>
          <a:p>
            <a:r>
              <a:t>• Bối cảnh văn hóa – xã hội: chuẩn mực, tôn giáo, vùng miền, thứ bậc — bình thường nơi này có thể thất lễ nơi khác.</a:t>
            </a:r>
          </a:p>
          <a:p>
            <a:r>
              <a:t>• Quan hệ và định kiến: ấn tượng cũ, tin đồn, khoảng cách quyền lực làm méo cách diễn giải.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Relationship Id="rId5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Relationship Id="rId4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Relationship Id="rId4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Relationship Id="rId4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Relationship Id="rId4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C756A"/>
          </a:solidFill>
          <a:ln/>
        </p:spPr>
        <p:txBody>
          <a:bodyPr/>
          <a:p/>
        </p:txBody>
      </p:sp>
      <p:pic>
        <p:nvPicPr>
          <p:cNvPr id="3" name="Image 0" descr="/home/user/comdraft/assets/img/dau-huong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8549640" y="1417320"/>
            <a:ext cx="3200400" cy="3200400"/>
          </a:xfrm>
          <a:prstGeom prst="rect">
            <a:avLst/>
          </a:prstGeom>
        </p:spPr>
      </p:pic>
      <p:pic>
        <p:nvPicPr>
          <p:cNvPr id="4" name="Image 1" descr="/home/user/comdraft/assets/img/lockup-huo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11480"/>
            <a:ext cx="2834640" cy="11887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22960" y="2011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5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1800" dirty="0"/>
          </a:p>
        </p:txBody>
      </p:sp>
      <p:sp>
        <p:nvSpPr>
          <p:cNvPr id="6" name="Shape 2"/>
          <p:cNvSpPr/>
          <p:nvPr/>
        </p:nvSpPr>
        <p:spPr>
          <a:xfrm>
            <a:off x="822960" y="2487168"/>
            <a:ext cx="1371600" cy="41148"/>
          </a:xfrm>
          <a:prstGeom prst="rect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7" name="Text 3"/>
          <p:cNvSpPr/>
          <p:nvPr/>
        </p:nvSpPr>
        <p:spPr>
          <a:xfrm>
            <a:off x="822960" y="2697480"/>
            <a:ext cx="7589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overview of communication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business</a:t>
            </a:r>
            <a:endParaRPr lang="en-US" sz="3800" dirty="0"/>
          </a:p>
        </p:txBody>
      </p:sp>
      <p:sp>
        <p:nvSpPr>
          <p:cNvPr id="8" name="Text 4"/>
          <p:cNvSpPr/>
          <p:nvPr/>
        </p:nvSpPr>
        <p:spPr>
          <a:xfrm>
            <a:off x="822960" y="443484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 of every professional skill: understand communication before drilling technique.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822960" y="534924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Thuy Huong, Lecturer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EC1103 – Communication and Document Drafting Skills (2:1)  •  Class 261b, Semester 1, 2026 – 2027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Do Thuy Huong, 2026 — Prepared for in-person teaching. Please credit the source.</a:t>
            </a:r>
            <a:endParaRPr lang="en-US" sz="900" dirty="0"/>
          </a:p>
        </p:txBody>
      </p:sp>
      <p:pic>
        <p:nvPicPr>
          <p:cNvPr id="11" name="Picture 10" descr="co-huong-do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1080" y="1051560"/>
            <a:ext cx="3279624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Do Thuy Huong, Lecturer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MAP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will work together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920240"/>
            <a:ext cx="11201400" cy="1048512"/>
          </a:xfrm>
          <a:prstGeom prst="roundRect">
            <a:avLst>
              <a:gd name="adj" fmla="val 7849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22376" y="1975104"/>
            <a:ext cx="10762488" cy="938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— 10 sessions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 &amp; Sun mornings  •  5 chapters  •  room C0105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502920" y="3133344"/>
            <a:ext cx="11201400" cy="1048512"/>
          </a:xfrm>
          <a:prstGeom prst="roundRect">
            <a:avLst>
              <a:gd name="adj" fmla="val 7849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22376" y="3188208"/>
            <a:ext cx="10762488" cy="938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— 3 sessions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 / Sun afternoons  •  room A0105, Economics Simulation Lab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502920" y="4346448"/>
            <a:ext cx="11201400" cy="1048512"/>
          </a:xfrm>
          <a:prstGeom prst="roundRect">
            <a:avLst>
              <a:gd name="adj" fmla="val 7849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22376" y="4401312"/>
            <a:ext cx="10762488" cy="938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— 3 components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 •  Coursework  •  Final examination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Do Thuy Huong, Lecturer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this chapter, students can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61848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02920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51560" y="1545336"/>
            <a:ext cx="10652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 —  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business communication is, what marks it out, and the process model behind it.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02920" y="257860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02920" y="2578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51560" y="2505456"/>
            <a:ext cx="10652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 —  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means and forms of communication, and the strengths and weaknesses of each.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02920" y="353872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502920" y="3538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51560" y="3465576"/>
            <a:ext cx="10652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 —  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factors that shape how well communication works in a real situation.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02920" y="449884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02920" y="4498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51560" y="4425696"/>
            <a:ext cx="10652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 —  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principles of communication to a specific business situation.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Do Thuy Huong, Lecturer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will go through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61848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02920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51560" y="1545336"/>
            <a:ext cx="106527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 —  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business communication is, and what marks it out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02920" y="2523744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02920" y="2523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51560" y="2450592"/>
            <a:ext cx="106527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 —  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means of communication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02920" y="3429000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502920" y="3429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51560" y="3355848"/>
            <a:ext cx="106527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  —  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forms of communication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02920" y="4334256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02920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51560" y="4261104"/>
            <a:ext cx="106527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  —  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factors that shape the communication process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02920" y="5239512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502920" y="5239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051560" y="5166360"/>
            <a:ext cx="106527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 —  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principles of communication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03120"/>
            <a:ext cx="12191695" cy="2743200"/>
          </a:xfrm>
          <a:prstGeom prst="rect">
            <a:avLst/>
          </a:prstGeom>
          <a:solidFill>
            <a:srgbClr val="FD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C7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377440"/>
            <a:ext cx="9692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DC756A"/>
                </a:solidFill>
                <a:latin typeface="Calibri"/>
              </a:rPr>
              <a:t>SECTIONS 1.1 – 1.2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78892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AC4D33"/>
                </a:solidFill>
                <a:latin typeface="Cambria"/>
              </a:rPr>
              <a:t>The nature and means of communication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4224528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i="1">
                <a:solidFill>
                  <a:srgbClr val="8A7A76"/>
                </a:solidFill>
                <a:latin typeface="Calibri"/>
              </a:rPr>
              <a:t>Understand the nature first: what communication is, what stages it passes through, by what means.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772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A7A76"/>
                </a:solidFill>
                <a:latin typeface="Calibri"/>
              </a:rPr>
              <a:t>Je m'appelle Huong  •  Do Thuy Huong, Lecturer  •  EC1103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419088"/>
            <a:ext cx="1920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A7A76"/>
                </a:solidFill>
                <a:latin typeface="Calibri"/>
              </a:rPr>
              <a:t>Chapter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Do Thuy Huong, Lecturer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Communication, and communication in business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920240"/>
            <a:ext cx="11201400" cy="1048512"/>
          </a:xfrm>
          <a:prstGeom prst="roundRect">
            <a:avLst>
              <a:gd name="adj" fmla="val 7849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22376" y="1975104"/>
            <a:ext cx="10762488" cy="938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communication?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Exchanging information to reach a purpose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502920" y="3133344"/>
            <a:ext cx="11201400" cy="1048512"/>
          </a:xfrm>
          <a:prstGeom prst="roundRect">
            <a:avLst>
              <a:gd name="adj" fmla="val 7849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22376" y="3188208"/>
            <a:ext cx="10762488" cy="938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in business?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Tied to a work goal, and legally binding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502920" y="4346448"/>
            <a:ext cx="11201400" cy="1048512"/>
          </a:xfrm>
          <a:prstGeom prst="roundRect">
            <a:avLst>
              <a:gd name="adj" fmla="val 7849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22376" y="4401312"/>
            <a:ext cx="10762488" cy="938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learn it?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Employers rank it among the top requirements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Do Thuy Huong, Lecturer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marks out business communication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828800"/>
            <a:ext cx="5509260" cy="1737360"/>
          </a:xfrm>
          <a:prstGeom prst="roundRect">
            <a:avLst>
              <a:gd name="adj" fmla="val 4737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22376" y="1901952"/>
            <a:ext cx="5070348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purposeful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meeting serves a work objective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195060" y="1828800"/>
            <a:ext cx="5509260" cy="1737360"/>
          </a:xfrm>
          <a:prstGeom prst="roundRect">
            <a:avLst>
              <a:gd name="adj" fmla="val 4737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6414516" y="1901952"/>
            <a:ext cx="5070348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kinds of counterpart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comes with its own norms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02920" y="3749040"/>
            <a:ext cx="5509260" cy="1737360"/>
          </a:xfrm>
          <a:prstGeom prst="roundRect">
            <a:avLst>
              <a:gd name="adj" fmla="val 4737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22376" y="3822192"/>
            <a:ext cx="5070348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Binding on interests and in law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say can create an obligation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195060" y="3749040"/>
            <a:ext cx="5509260" cy="1737360"/>
          </a:xfrm>
          <a:prstGeom prst="roundRect">
            <a:avLst>
              <a:gd name="adj" fmla="val 4737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6414516" y="3822192"/>
            <a:ext cx="5070348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science and art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rules, but they need judgement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Do Thuy Huong, Lecturer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communication process model</a:t>
            </a:r>
            <a:endParaRPr lang="en-US" sz="2700" dirty="0"/>
          </a:p>
        </p:txBody>
      </p:sp>
      <p:pic>
        <p:nvPicPr>
          <p:cNvPr id="9" name="Picture 8" descr="c1-mo-hinh-giao-tiep-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939" y="1988404"/>
            <a:ext cx="10421815" cy="369500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5756563"/>
            <a:ext cx="11109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i="1">
                <a:solidFill>
                  <a:srgbClr val="8A7A76"/>
                </a:solidFill>
                <a:latin typeface="Calibri"/>
              </a:rPr>
              <a:t>Communication runs both ways — to fix one that failed, trace it back stage by stage.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Do Thuy Huong, Lecturer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Means of communication: language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920240"/>
            <a:ext cx="11201400" cy="1048512"/>
          </a:xfrm>
          <a:prstGeom prst="roundRect">
            <a:avLst>
              <a:gd name="adj" fmla="val 7849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22376" y="1975104"/>
            <a:ext cx="10762488" cy="938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Spoken language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and expressive — but spoken words blow away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502920" y="3133344"/>
            <a:ext cx="11201400" cy="1048512"/>
          </a:xfrm>
          <a:prstGeom prst="roundRect">
            <a:avLst>
              <a:gd name="adj" fmla="val 7849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22376" y="3188208"/>
            <a:ext cx="10762488" cy="938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language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 and on the record — the ground for Chapter 5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502920" y="4346448"/>
            <a:ext cx="11201400" cy="1048512"/>
          </a:xfrm>
          <a:prstGeom prst="roundRect">
            <a:avLst>
              <a:gd name="adj" fmla="val 7849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22376" y="4401312"/>
            <a:ext cx="10762488" cy="938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your words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 •  courteous  •  positive  •  brief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Do Thuy Huong, Lecturer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Means of communication: non-verbal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600200"/>
            <a:ext cx="5509260" cy="1280160"/>
          </a:xfrm>
          <a:prstGeom prst="roundRect">
            <a:avLst>
              <a:gd name="adj" fmla="val 6429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22376" y="1673352"/>
            <a:ext cx="507034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Eyes and face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strongest expressive channel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6195060" y="1600200"/>
            <a:ext cx="5509260" cy="1280160"/>
          </a:xfrm>
          <a:prstGeom prst="roundRect">
            <a:avLst>
              <a:gd name="adj" fmla="val 6429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6414516" y="1673352"/>
            <a:ext cx="507034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 and posture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Upright and open earns goodwill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502920" y="3063240"/>
            <a:ext cx="5509260" cy="1280160"/>
          </a:xfrm>
          <a:prstGeom prst="roundRect">
            <a:avLst>
              <a:gd name="adj" fmla="val 6429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22376" y="3136392"/>
            <a:ext cx="507034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Intimate · personal · social · public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6195060" y="3063240"/>
            <a:ext cx="5509260" cy="1280160"/>
          </a:xfrm>
          <a:prstGeom prst="roundRect">
            <a:avLst>
              <a:gd name="adj" fmla="val 6429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6414516" y="3136392"/>
            <a:ext cx="507034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Dress, voice, punctuality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on time is itself a message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777240" y="461772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C75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7%</a:t>
            </a:r>
            <a:endParaRPr lang="en-US" sz="4400" dirty="0"/>
          </a:p>
        </p:txBody>
      </p:sp>
      <p:sp>
        <p:nvSpPr>
          <p:cNvPr id="18" name="Text 15"/>
          <p:cNvSpPr/>
          <p:nvPr/>
        </p:nvSpPr>
        <p:spPr>
          <a:xfrm>
            <a:off x="777240" y="54864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754880" y="461772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C75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38%</a:t>
            </a:r>
            <a:endParaRPr lang="en-US" sz="4400" dirty="0"/>
          </a:p>
        </p:txBody>
      </p:sp>
      <p:sp>
        <p:nvSpPr>
          <p:cNvPr id="20" name="Text 17"/>
          <p:cNvSpPr/>
          <p:nvPr/>
        </p:nvSpPr>
        <p:spPr>
          <a:xfrm>
            <a:off x="4754880" y="54864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 OF VOICE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732520" y="461772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55%</a:t>
            </a:r>
            <a:endParaRPr lang="en-US" sz="4400" dirty="0"/>
          </a:p>
        </p:txBody>
      </p:sp>
      <p:sp>
        <p:nvSpPr>
          <p:cNvPr id="22" name="Text 19"/>
          <p:cNvSpPr/>
          <p:nvPr/>
        </p:nvSpPr>
        <p:spPr>
          <a:xfrm>
            <a:off x="8732520" y="54864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02920" y="5943600"/>
            <a:ext cx="11201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Mehrabian — for emotional messages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DC756A"/>
                </a:solidFill>
                <a:latin typeface="Calibri"/>
              </a:rPr>
              <a:t>THE NUMBER TO REMEMBER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3A2B28"/>
                </a:solidFill>
                <a:latin typeface="Cambria"/>
              </a:rPr>
              <a:t>How does an emotional message travel?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783080"/>
            <a:ext cx="3575304" cy="3429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FBCE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 bIns="182880"/>
          <a:lstStyle/>
          <a:p>
            <a:pPr algn="ctr"/>
            <a:r>
              <a:rPr sz="5800" b="1">
                <a:solidFill>
                  <a:srgbClr val="DC756A"/>
                </a:solidFill>
                <a:latin typeface="Cambria"/>
              </a:rPr>
              <a:t>7%</a:t>
            </a:r>
          </a:p>
          <a:p>
            <a:pPr algn="ctr"/>
            <a:r>
              <a:rPr sz="1400" b="1">
                <a:solidFill>
                  <a:srgbClr val="AC4D33"/>
                </a:solidFill>
                <a:latin typeface="Calibri"/>
              </a:rPr>
              <a:t>WORDS</a:t>
            </a:r>
          </a:p>
          <a:p>
            <a:pPr algn="ctr">
              <a:spcBef>
                <a:spcPts val="1200"/>
              </a:spcBef>
            </a:pPr>
            <a:r>
              <a:rPr sz="1250">
                <a:solidFill>
                  <a:srgbClr val="3A2B28"/>
                </a:solidFill>
                <a:latin typeface="Calibri"/>
              </a:rPr>
              <a:t>The words themselves — the smallest share, though we usually invest the most here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15968" y="1783080"/>
            <a:ext cx="3575304" cy="3429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FBCE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 bIns="182880"/>
          <a:lstStyle/>
          <a:p>
            <a:pPr algn="ctr"/>
            <a:r>
              <a:rPr sz="5800" b="1">
                <a:solidFill>
                  <a:srgbClr val="DC756A"/>
                </a:solidFill>
                <a:latin typeface="Cambria"/>
              </a:rPr>
              <a:t>38%</a:t>
            </a:r>
          </a:p>
          <a:p>
            <a:pPr algn="ctr"/>
            <a:r>
              <a:rPr sz="1400" b="1">
                <a:solidFill>
                  <a:srgbClr val="AC4D33"/>
                </a:solidFill>
                <a:latin typeface="Calibri"/>
              </a:rPr>
              <a:t>TONE OF VOICE</a:t>
            </a:r>
          </a:p>
          <a:p>
            <a:pPr algn="ctr">
              <a:spcBef>
                <a:spcPts val="1200"/>
              </a:spcBef>
            </a:pPr>
            <a:r>
              <a:rPr sz="1250">
                <a:solidFill>
                  <a:srgbClr val="3A2B28"/>
                </a:solidFill>
                <a:latin typeface="Calibri"/>
              </a:rPr>
              <a:t>Volume, pace, intonation, pauses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29016" y="1783080"/>
            <a:ext cx="3575304" cy="3429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FBCE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 bIns="182880"/>
          <a:lstStyle/>
          <a:p>
            <a:pPr algn="ctr"/>
            <a:r>
              <a:rPr sz="5800" b="1">
                <a:solidFill>
                  <a:srgbClr val="DC756A"/>
                </a:solidFill>
                <a:latin typeface="Cambria"/>
              </a:rPr>
              <a:t>55%</a:t>
            </a:r>
          </a:p>
          <a:p>
            <a:pPr algn="ctr"/>
            <a:r>
              <a:rPr sz="1400" b="1">
                <a:solidFill>
                  <a:srgbClr val="AC4D33"/>
                </a:solidFill>
                <a:latin typeface="Calibri"/>
              </a:rPr>
              <a:t>BODY LANGUAGE</a:t>
            </a:r>
          </a:p>
          <a:p>
            <a:pPr algn="ctr">
              <a:spcBef>
                <a:spcPts val="1200"/>
              </a:spcBef>
            </a:pPr>
            <a:r>
              <a:rPr sz="1250">
                <a:solidFill>
                  <a:srgbClr val="3A2B28"/>
                </a:solidFill>
                <a:latin typeface="Calibri"/>
              </a:rPr>
              <a:t>Eyes, face, gesture, posture, distance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440680"/>
            <a:ext cx="11201400" cy="685800"/>
          </a:xfrm>
          <a:prstGeom prst="roundRect">
            <a:avLst>
              <a:gd name="adj" fmla="val 12000"/>
            </a:avLst>
          </a:prstGeom>
          <a:solidFill>
            <a:srgbClr val="FDF1EF"/>
          </a:solidFill>
          <a:ln w="12700">
            <a:solidFill>
              <a:srgbClr val="FBCE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/>
          <a:lstStyle/>
          <a:p>
            <a:pPr algn="ctr"/>
            <a:r>
              <a:rPr sz="1300">
                <a:solidFill>
                  <a:srgbClr val="3A2B28"/>
                </a:solidFill>
                <a:latin typeface="Calibri"/>
              </a:rPr>
              <a:t>Albert Mehrabian's study — it applies to EMOTIONAL messages only, not to every situation.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7772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A7A76"/>
                </a:solidFill>
                <a:latin typeface="Calibri"/>
              </a:rPr>
              <a:t>Je m'appelle Huong  •  Do Thuy Huong, Lecturer  •  EC1103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19088"/>
            <a:ext cx="1920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A7A76"/>
                </a:solidFill>
                <a:latin typeface="Calibri"/>
              </a:rPr>
              <a:t>Chapter 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Do Thuy Huong, Lecturer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forms of communication</a:t>
            </a:r>
            <a:endParaRPr lang="en-US" sz="2700" dirty="0"/>
          </a:p>
        </p:txBody>
      </p:sp>
      <p:pic>
        <p:nvPicPr>
          <p:cNvPr id="9" name="Picture 8" descr="c1-hinh-thuc-giao-tiep-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137" y="1745568"/>
            <a:ext cx="10511419" cy="418067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5999399"/>
            <a:ext cx="11109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i="1">
                <a:solidFill>
                  <a:srgbClr val="8A7A76"/>
                </a:solidFill>
                <a:latin typeface="Calibri"/>
              </a:rPr>
              <a:t>These four pairs are not exclusive — any exchange sits somewhere on all four axes at once.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03120"/>
            <a:ext cx="12191695" cy="2743200"/>
          </a:xfrm>
          <a:prstGeom prst="rect">
            <a:avLst/>
          </a:prstGeom>
          <a:solidFill>
            <a:srgbClr val="FD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C7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377440"/>
            <a:ext cx="9692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DC756A"/>
                </a:solidFill>
                <a:latin typeface="Calibri"/>
              </a:rPr>
              <a:t>SECTIONS 1.4 – 1.5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78892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AC4D33"/>
                </a:solidFill>
                <a:latin typeface="Cambria"/>
              </a:rPr>
              <a:t>Influencing factors, and principles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4224528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i="1">
                <a:solidFill>
                  <a:srgbClr val="8A7A76"/>
                </a:solidFill>
                <a:latin typeface="Calibri"/>
              </a:rPr>
              <a:t>What breaks an exchange, and the five principles that keep it from breaking.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772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A7A76"/>
                </a:solidFill>
                <a:latin typeface="Calibri"/>
              </a:rPr>
              <a:t>Je m'appelle Huong  •  Do Thuy Huong, Lecturer  •  EC1103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419088"/>
            <a:ext cx="1920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A7A76"/>
                </a:solidFill>
                <a:latin typeface="Calibri"/>
              </a:rPr>
              <a:t>Chapter 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Do Thuy Huong, Lecturer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Factors that shape the communication process</a:t>
            </a:r>
            <a:endParaRPr lang="en-US" sz="2700" dirty="0"/>
          </a:p>
        </p:txBody>
      </p:sp>
      <p:pic>
        <p:nvPicPr>
          <p:cNvPr id="9" name="Picture 8" descr="c1-yeu-to-anh-huong-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901" y="2342007"/>
            <a:ext cx="10243892" cy="298780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5402961"/>
            <a:ext cx="11109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i="1">
                <a:solidFill>
                  <a:srgbClr val="8A7A76"/>
                </a:solidFill>
                <a:latin typeface="Calibri"/>
              </a:rPr>
              <a:t>Fix the factor that actually broke — don't blame it all on “poor wording”.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Do Thuy Huong, Lecturer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Principles of business communication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84708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02920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51560" y="1773936"/>
            <a:ext cx="10652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  —  </a:t>
            </a:r>
            <a:pPr indent="0" marL="0">
              <a:buNone/>
            </a:pPr>
            <a:r>
              <a:rPr lang="en-US" sz="16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person, their time, their interests, their differences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502920" y="2688336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02920" y="2688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51560" y="2615184"/>
            <a:ext cx="10652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Goodwill and cooperation  —  </a:t>
            </a:r>
            <a:pPr indent="0" marL="0">
              <a:buNone/>
            </a:pPr>
            <a:r>
              <a:rPr lang="en-US" sz="16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the argument, lose the customer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502920" y="3529584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502920" y="3529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51560" y="3456432"/>
            <a:ext cx="10652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first  —  </a:t>
            </a:r>
            <a:pPr indent="0" marL="0">
              <a:buNone/>
            </a:pPr>
            <a:r>
              <a:rPr lang="en-US" sz="16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correctly, then speak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502920" y="4370832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02920" y="4370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51560" y="4297680"/>
            <a:ext cx="10652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the context  —  </a:t>
            </a:r>
            <a:pPr indent="0" marL="0">
              <a:buNone/>
            </a:pPr>
            <a:r>
              <a:rPr lang="en-US" sz="16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role, right moment, right channel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502920" y="5212080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502920" y="5212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051560" y="5138928"/>
            <a:ext cx="10652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your word  —  </a:t>
            </a:r>
            <a:pPr indent="0" marL="0">
              <a:buNone/>
            </a:pPr>
            <a:r>
              <a:rPr lang="en-US" sz="16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promise made is a promise kept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Do Thuy Huong, Lecturer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WORK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Case: a first meeting that failed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417320"/>
            <a:ext cx="11201400" cy="2103120"/>
          </a:xfrm>
          <a:prstGeom prst="roundRect">
            <a:avLst>
              <a:gd name="adj" fmla="val 4348"/>
            </a:avLst>
          </a:prstGeom>
          <a:solidFill>
            <a:srgbClr val="FBEDE0"/>
          </a:solidFill>
          <a:ln w="15875">
            <a:solidFill>
              <a:srgbClr val="C9A22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49808" y="1508760"/>
            <a:ext cx="10698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65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(groups of 4–5, 15 minutes)</a:t>
            </a:r>
            <a:endParaRPr lang="en-US" sz="1500" dirty="0"/>
          </a:p>
          <a:p>
            <a:pPr indent="0" marL="0">
              <a:buNone/>
            </a:pPr>
            <a:r>
              <a:rPr lang="en-US" sz="1350" i="1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Salesperson A meets a client for the first time: arrives 10 minutes late because of traffic but sends no warning; wears a T-shirt because “it's the weekend”; sits down and immediately pitches the product for 20 minutes straight; the phone rings twice and A takes both calls. At the end the client says “let me look at it and get back to you”, and never does.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02920" y="3749040"/>
            <a:ext cx="11201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GROUP'S TASK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02920" y="417880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02920" y="4178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51560" y="4105656"/>
            <a:ext cx="10652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every communication mistake A made, and place each one at a stage of the process model.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02920" y="486460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502920" y="4864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51560" y="4791456"/>
            <a:ext cx="10652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principle from section 1.5 does each mistake break?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02920" y="555040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02920" y="5550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51560" y="5477256"/>
            <a:ext cx="10652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five-step “standard script” for a first client meeting and present it to the class (3 minutes).</a:t>
            </a:r>
            <a:endParaRPr lang="en-US" sz="1400" dirty="0"/>
          </a:p>
        </p:txBody>
      </p:sp>
      <p:pic>
        <p:nvPicPr>
          <p:cNvPr id="21" name="Picture 20" descr="co-huong-tr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78440" y="384048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Do Thuy Huong, Lecturer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things to remember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920240"/>
            <a:ext cx="11201400" cy="1048512"/>
          </a:xfrm>
          <a:prstGeom prst="roundRect">
            <a:avLst>
              <a:gd name="adj" fmla="val 7849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22376" y="1975104"/>
            <a:ext cx="10762488" cy="938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has a purpose, and it has rules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idle conversation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502920" y="3133344"/>
            <a:ext cx="11201400" cy="1048512"/>
          </a:xfrm>
          <a:prstGeom prst="roundRect">
            <a:avLst>
              <a:gd name="adj" fmla="val 7849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22376" y="3188208"/>
            <a:ext cx="10762488" cy="938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Whichever stage broke, go back to that stage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stages, plus noise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502920" y="4346448"/>
            <a:ext cx="11201400" cy="1048512"/>
          </a:xfrm>
          <a:prstGeom prst="roundRect">
            <a:avLst>
              <a:gd name="adj" fmla="val 7849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22376" y="4401312"/>
            <a:ext cx="10762488" cy="938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non-verbal carries more than we think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speaks first, and it speaks louder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Do Thuy Huong, Lecturer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PREPARATION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questions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57276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02920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51560" y="1499616"/>
            <a:ext cx="10652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the parts of the communication process model using a real example of your own.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02920" y="239572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02920" y="2395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51560" y="2322576"/>
            <a:ext cx="10652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strengths and weaknesses of spoken and written communication in business.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02920" y="321868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50292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51560" y="3145536"/>
            <a:ext cx="10652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business communication called “both a science and an art”?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02920" y="404164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02920" y="4041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51560" y="3968496"/>
            <a:ext cx="10652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and illustrate the five principles of business communication.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02920" y="5074920"/>
            <a:ext cx="11201400" cy="1143000"/>
          </a:xfrm>
          <a:prstGeom prst="roundRect">
            <a:avLst>
              <a:gd name="adj" fmla="val 7200"/>
            </a:avLst>
          </a:prstGeom>
          <a:solidFill>
            <a:srgbClr val="FBF3E2"/>
          </a:solidFill>
          <a:ln w="12700">
            <a:solidFill>
              <a:srgbClr val="C9A227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777240" y="5120640"/>
            <a:ext cx="10698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65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 FOR THE NEXT SESSION:  </a:t>
            </a:r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– Professional communication skills. Each group prepares a 3-minute talk on a topic of its choice, to be delivered in class.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Do Thuy Huong, Lecturer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materials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463040"/>
            <a:ext cx="11201400" cy="1322832"/>
          </a:xfrm>
          <a:prstGeom prst="roundRect">
            <a:avLst>
              <a:gd name="adj" fmla="val 6221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22376" y="1517904"/>
            <a:ext cx="10762488" cy="1213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textbook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Nam Khanh Giao (2023), Business Communication, Finance Publishing House.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02920" y="2950464"/>
            <a:ext cx="11201400" cy="1322832"/>
          </a:xfrm>
          <a:prstGeom prst="roundRect">
            <a:avLst>
              <a:gd name="adj" fmla="val 6221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22376" y="3005328"/>
            <a:ext cx="10762488" cy="1213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reading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 Tri Dung (2012), Communication and Negotiation Skills in Business, Labour – Social Publishing House.  •  Decree 30/2020/ND-CP on records management (used in Chapter 5 and the lab sessions).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02920" y="4437888"/>
            <a:ext cx="11201400" cy="1322832"/>
          </a:xfrm>
          <a:prstGeom prst="roundRect">
            <a:avLst>
              <a:gd name="adj" fmla="val 6221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22376" y="4492752"/>
            <a:ext cx="10762488" cy="1213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Lecturer's own materials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Slides, cases and exercises written by Do Thuy Huong; posted to the class group after each session.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Je m’appelle Huong — Lecturer and Researcher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Đỗ Thùy Hương</dc:creator>
  <cp:lastModifiedBy>Đỗ Thùy Hương</cp:lastModifiedBy>
  <cp:revision>1</cp:revision>
  <dcterms:created xsi:type="dcterms:W3CDTF">2026-08-23T05:42:53Z</dcterms:created>
  <dcterms:modified xsi:type="dcterms:W3CDTF">2026-08-23T05:42:53Z</dcterms:modified>
</cp:coreProperties>
</file>