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24"/>
    <p:sldId id="259" r:id="rId5"/>
    <p:sldId id="272" r:id="rId23"/>
    <p:sldId id="260" r:id="rId6"/>
    <p:sldId id="274" r:id="rId25"/>
    <p:sldId id="261" r:id="rId7"/>
    <p:sldId id="262" r:id="rId8"/>
    <p:sldId id="263" r:id="rId9"/>
    <p:sldId id="275" r:id="rId26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6.xml"/><Relationship Id="rId24" Type="http://schemas.openxmlformats.org/officeDocument/2006/relationships/slide" Target="slides/slide4.xml"/><Relationship Id="rId25" Type="http://schemas.openxmlformats.org/officeDocument/2006/relationships/slide" Target="slides/slide8.xml"/><Relationship Id="rId2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(2 minutes)</a:t>
            </a:r>
          </a:p>
          <a:p>
            <a:r>
              <a:t>• One sentence back to the previous chapter: the five-stage model and the five principles.</a:t>
            </a:r>
          </a:p>
          <a:p>
            <a:r>
              <a:t>• Go in with a question: "Have you ever judged someone within ten seconds of meeting them?"</a:t>
            </a:r>
          </a:p>
          <a:p>
            <a:r>
              <a:t>• Land it: this chapter is four skills you will use every working day of your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(1 minute)</a:t>
            </a:r>
          </a:p>
          <a:p>
            <a:r>
              <a:t>• Skim. Press the point: this chapter is more PRACTICE than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MAP (1 minute)</a:t>
            </a:r>
          </a:p>
          <a:p>
            <a:r>
              <a:t>• Four skills, roughly 15 minutes each including the hands-on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4×20 RULE (4 minutes)</a:t>
            </a:r>
          </a:p>
          <a:p>
            <a:r>
              <a:t>• Ask before you teach: "How long do you think it takes someone to form an impression of you?"</a:t>
            </a:r>
          </a:p>
          <a:p>
            <a:r>
              <a:t>• Walk the four twenties, one short example each.</a:t>
            </a:r>
          </a:p>
          <a:p>
            <a:r>
              <a:t>• DEMONSTRATE: walk into the room twice — once head down and hurried, once head up, shoulders open, smiling. Ask the class what changed.</a:t>
            </a:r>
          </a:p>
          <a:p>
            <a:r>
              <a:t>• LAND IT: a first impression is PREPARED, not lucky.</a:t>
            </a:r>
          </a:p>
          <a:p/>
          <a:p>
            <a:r>
              <a:t>THE FULL VERSION (moved off the slide)</a:t>
            </a:r>
          </a:p>
          <a:p>
            <a:r>
              <a:t>• The first few seconds: the brain forms a judgement almost instantly from appearance, bearing and greeting — and a first impression is very hard to reverse later.</a:t>
            </a:r>
          </a:p>
          <a:p>
            <a:r>
              <a:t>• The 4×20 rule in full: the first 20 seconds • the first 20 steps • the 20 cm of your face (eyes, smile) • the first 20 words — prepare all four properly.</a:t>
            </a:r>
          </a:p>
          <a:p>
            <a:r>
              <a:t>• Three pillars: dress that fits the setting AND the position; a bearing that is confident and friendly; a greeting and introduction that are clear and correctly 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ETIQUETTE (4 minutes) — HANDS-ON NOW</a:t>
            </a:r>
          </a:p>
          <a:p>
            <a:r>
              <a:t>• Get the whole class on their feet, turn to the person beside them and PRACTISE THE HANDSHAKE: stand up, meet their eyes, firm grip, 2–3 seconds.</a:t>
            </a:r>
          </a:p>
          <a:p>
            <a:r>
              <a:t>• Correct on the spot: the limp handshake, the crushing handshake, looking elsewhere.</a:t>
            </a:r>
          </a:p>
          <a:p>
            <a:r>
              <a:t>• Business cards: demonstrate giving and receiving with both hands, READ IT before putting it away — press the point: pocketing it straight away is rude.</a:t>
            </a:r>
          </a:p>
          <a:p>
            <a:r>
              <a:t>• A way to remember the order of introductions: introduce the LESS senior person TO the more senior one.</a:t>
            </a:r>
          </a:p>
          <a:p/>
          <a:p>
            <a:r>
              <a:t>THE FULL VERSION (moved off the slide)</a:t>
            </a:r>
          </a:p>
          <a:p>
            <a:r>
              <a:t>• Greeting: the younger greets the elder, staff greet their superiors first; state your name, title and unit clearly.</a:t>
            </a:r>
          </a:p>
          <a:p>
            <a:r>
              <a:t>• Handshake: the more senior person, or the woman, offers a hand first; not too loose, too hard, or too long.</a:t>
            </a:r>
          </a:p>
          <a:p>
            <a:r>
              <a:t>• Business cards: don't stuff it into your trouser pocket — this is where students slip most often.</a:t>
            </a:r>
          </a:p>
          <a:p>
            <a:r>
              <a:t>• Shared spaces: lifts, meeting rooms, open-plan desks — no loud private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PREPARING A PRESENTATION (3 minutes)</a:t>
            </a:r>
          </a:p>
          <a:p>
            <a:r>
              <a:t>• Press step 1: ANALYSE YOUR AUDIENCE — most students skip it.</a:t>
            </a:r>
          </a:p>
          <a:p>
            <a:r>
              <a:t>• The slide rule: FEW WORDS, MORE PICTURES. Point at the slide on screen as the example.</a:t>
            </a:r>
          </a:p>
          <a:p>
            <a:r>
              <a:t>• Remind them: the end-of-term group presentation is marked against exactly these five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STRUCTURE (3 minutes)</a:t>
            </a:r>
          </a:p>
          <a:p>
            <a:r>
              <a:t>• The 10–15 / 70–80 / 10–15% split.</a:t>
            </a:r>
          </a:p>
          <a:p>
            <a:r>
              <a:t>• Press: AT MOST 3 MAIN POINTS. Any more and the audience remembers none of them.</a:t>
            </a:r>
          </a:p>
          <a:p>
            <a:r>
              <a:t>• Open with a question, a number or a story — have the class try one opening line for a topic of their choice.</a:t>
            </a:r>
          </a:p>
          <a:p/>
          <a:p>
            <a:r>
              <a:t>THE FULL VERSION (moved off the slide)</a:t>
            </a:r>
          </a:p>
          <a:p>
            <a:r>
              <a:t>• Opening 10–15%: a question that intrigues, a striking number, or a short story; introduce yourself, then tell the audience where the talk is going.</a:t>
            </a:r>
          </a:p>
          <a:p>
            <a:r>
              <a:t>• Body 70–80%: THREE main points at most; each with a clear bridge into the next.</a:t>
            </a:r>
          </a:p>
          <a:p>
            <a:r>
              <a:t>• Conclusion 10–15%: leave ONE thing behind; have your question-and-answer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DELIVERY (3 minutes)</a:t>
            </a:r>
          </a:p>
          <a:p>
            <a:r>
              <a:t>• Three concrete things: stand on both feet, open your shoulders, move your eyes around the whole room in turn.</a:t>
            </a:r>
          </a:p>
          <a:p>
            <a:r>
              <a:t>• The pause: STOP FOR 1–2 SECONDS before an important point — demonstrate it on the spot so the class feels it.</a:t>
            </a:r>
          </a:p>
          <a:p>
            <a:r>
              <a:t>• Nerves: say honestly that everyone gets nervous; the answer is preparing thoroughly, arriving early, breathing deeply, and focusing on the MESSAGE rather than on yourself.</a:t>
            </a:r>
          </a:p>
          <a:p>
            <a:r>
              <a:t>• Hard questions: hear it out → thank them → answer briefly; if you aren't sure, PROMISE AN ANSWER LATER — never invent one.</a:t>
            </a:r>
          </a:p>
          <a:p/>
          <a:p>
            <a:r>
              <a:t>THE FULL VERSION (moved off the slide)</a:t>
            </a:r>
          </a:p>
          <a:p>
            <a:r>
              <a:t>• Body language: move with purpose; hands out of pockets, stop fidgeting with the pen.</a:t>
            </a:r>
          </a:p>
          <a:p>
            <a:r>
              <a:t>• Voice: vary both pace and pitch — silence is the seasoning of a talk.</a:t>
            </a:r>
          </a:p>
          <a:p>
            <a:r>
              <a:t>• Nerves: being nervous is NORMAL; arrive early and get used to the room; focus on the message instead of on yourself.</a:t>
            </a:r>
          </a:p>
          <a:p>
            <a:r>
              <a:t>• Questions: if you aren't sure, promise an answer later — honesty beats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5 LEVELS OF LISTENING (3 minutes)</a:t>
            </a:r>
          </a:p>
          <a:p>
            <a:r>
              <a:t>• Climb the ladder from the bottom up.</a:t>
            </a:r>
          </a:p>
          <a:p>
            <a:r>
              <a:t>• ASK THE CLASS STRAIGHT OUT: "For the last 30 minutes, which level have you been on?" — they usually laugh, which loosens the room.</a:t>
            </a:r>
          </a:p>
          <a:p>
            <a:r>
              <a:t>• Press level 5, EMPATHIC LISTENING: hearing the feeling and the need behind the words.</a:t>
            </a:r>
          </a:p>
          <a:p>
            <a:r>
              <a:t>• The paraphrase: "If I've understood you correctly, you mean…" — have the class practise saying it.</a:t>
            </a:r>
          </a:p>
          <a:p/>
          <a:p>
            <a:r>
              <a:t>THE FULL VERSION (moved off the slide)</a:t>
            </a:r>
          </a:p>
          <a:p>
            <a:r>
              <a:t>• Active listening in full: give the speaker your whole attention • don't interrupt, don't rush to judge • note the main points • respond with your eyes and a nod • paraphrase to confirm: “If I've understood you correctly, you mean…”.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ASKING QUESTIONS (3 minutes)</a:t>
            </a:r>
          </a:p>
          <a:p>
            <a:r>
              <a:t>• Separate CLOSED questions (pinning down facts) from OPEN ones (uncovering needs).</a:t>
            </a:r>
          </a:p>
          <a:p>
            <a:r>
              <a:t>• Press: good selling is good ASKING, not good TALKING.</a:t>
            </a:r>
          </a:p>
          <a:p>
            <a:r>
              <a:t>• Mistakes to avoid: firing several questions at once; leading the witness; asking and then talking on without waiting.</a:t>
            </a:r>
          </a:p>
          <a:p>
            <a:r>
              <a:t>• THE GOLDEN RULE: ask, then BE QUIET and wait for the answer.</a:t>
            </a:r>
          </a:p>
          <a:p/>
          <a:p>
            <a:r>
              <a:t>THE FULL VERSION (moved off the slide)</a:t>
            </a:r>
          </a:p>
          <a:p>
            <a:r>
              <a:t>• A closed question, for example: “Have you received the quotation?”</a:t>
            </a:r>
          </a:p>
          <a:p>
            <a:r>
              <a:t>• An open question invites the other person to talk.</a:t>
            </a:r>
          </a:p>
          <a:p>
            <a:r>
              <a:t>• Probing and digging: “Specifically…?”, “Could you give me an example?”</a:t>
            </a:r>
          </a:p>
          <a:p>
            <a:r>
              <a:t>• Watch out for: pressing, leading questions; and don't answer your own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TELEPHONE — MAKING THE CALL (3 minutes)</a:t>
            </a:r>
          </a:p>
          <a:p>
            <a:r>
              <a:t>• Four steps; press step 1, PREPARE FIRST: your purpose, your points, pen and paper, the right moment.</a:t>
            </a:r>
          </a:p>
          <a:p>
            <a:r>
              <a:t>• Model the standard opening: "Good morning, this is… calling from…. Is now a convenient moment to talk for about five minutes?"</a:t>
            </a:r>
          </a:p>
          <a:p>
            <a:r>
              <a:t>• Closing: SUMMARISE the time, the place and what happens next before you hang up.</a:t>
            </a:r>
          </a:p>
          <a:p/>
          <a:p>
            <a:r>
              <a:t>THE FULL VERSION (moved off the slide)</a:t>
            </a:r>
          </a:p>
          <a:p>
            <a:r>
              <a:t>• Preparation: avoid calling too early, too late, or over the lunch break.</a:t>
            </a:r>
          </a:p>
          <a:p>
            <a:r>
              <a:t>• A model opening: “Good morning, this is… from…. Do you have five minutes?”</a:t>
            </a:r>
          </a:p>
          <a:p>
            <a:r>
              <a:t>• The body: speak clearly; read back the agreement — time, place, what each side will do.</a:t>
            </a:r>
          </a:p>
          <a:p>
            <a:r>
              <a:t>• Closing: let the more senior person, or the customer, hang up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TELEPHONE — TAKING THE CALL (3 minutes)</a:t>
            </a:r>
          </a:p>
          <a:p>
            <a:r>
              <a:t>• Pick up within three rings; greet the caller and NAME YOUR ORGANISATION.</a:t>
            </a:r>
          </a:p>
          <a:p>
            <a:r>
              <a:t>• A trick: SMILE while you speak — the caller hears it in your voice.</a:t>
            </a:r>
          </a:p>
          <a:p>
            <a:r>
              <a:t>• A message needs four things: who called – about what – their number – when you will get back to them.</a:t>
            </a:r>
          </a:p>
          <a:p>
            <a:r>
              <a:t>• Office culture: don't take personal calls while you have a visitor or are in a meeting.</a:t>
            </a:r>
          </a:p>
          <a:p/>
          <a:p>
            <a:r>
              <a:t>THE FULL VERSION (moved off the slide)</a:t>
            </a:r>
          </a:p>
          <a:p>
            <a:r>
              <a:t>• A bright voice — the caller “hears” your smile; write it down and READ IT BACK.</a:t>
            </a:r>
          </a:p>
          <a:p>
            <a:r>
              <a:t>• A message must be passed on in full and in time.</a:t>
            </a:r>
          </a:p>
          <a:p>
            <a:r>
              <a:t>• Work messages on Zalo or by text hold to the same standards as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PRACTICAL ACTIVITY (15 minutes)</a:t>
            </a:r>
          </a:p>
          <a:p>
            <a:r>
              <a:t>• Pairs; each pair draws a situation.</a:t>
            </a:r>
          </a:p>
          <a:p>
            <a:r>
              <a:t>• 5 minutes to prepare, 2 minutes to perform in front of the class, then the class comments against the criteria just taught.</a:t>
            </a:r>
          </a:p>
          <a:p>
            <a:r>
              <a:t>• Watch and note 2–3 common mistakes to land at the end of the session.</a:t>
            </a:r>
          </a:p>
          <a:p>
            <a:r>
              <a:t>• Praise good work by name; give the criticism to the room as a whole, never naming who fell short.</a:t>
            </a:r>
          </a:p>
          <a:p/>
          <a:p>
            <a:r>
              <a:t>THE FULL VERSION (moved off the slide)</a:t>
            </a:r>
          </a:p>
          <a:p>
            <a:r>
              <a:t>• Situation (a): a first call to a prospective customer, asking for a meeting to present the product.</a:t>
            </a:r>
          </a:p>
          <a:p>
            <a:r>
              <a:t>• Situation (b): a call handling a late delivery for an unhappy customer.</a:t>
            </a:r>
          </a:p>
          <a:p>
            <a:r>
              <a:t>• Role play: one plays the employee, one the customer.</a:t>
            </a:r>
          </a:p>
          <a:p>
            <a:r>
              <a:t>• Presentation: the topic prepared at home; the class comments on body language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SUMMARY (2 minutes)</a:t>
            </a:r>
          </a:p>
          <a:p>
            <a:r>
              <a:t>• Recap the 4×20 rule and the 5 levels of listening — have a student say them back.</a:t>
            </a:r>
          </a:p>
          <a:p>
            <a:r>
              <a:t>• Set the work: the 40 multiple-choice questions for Chapter 2; prepare a topic for the group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REVISION (1 minute) — students work through this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READING (1 minute) — remind them to read the section on internal communication before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4×20 RULE (2 minutes)</a:t>
            </a:r>
          </a:p>
          <a:p>
            <a:r>
              <a:t>• This slide is for students to PHOTOGRAPH.</a:t>
            </a:r>
          </a:p>
          <a:p>
            <a:r>
              <a:t>• Read each number, one one-sentence example each.</a:t>
            </a:r>
          </a:p>
          <a:p>
            <a:r>
              <a:t>• Ask: "Of these four gates, which are you most and least confident at?"''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CHANGE (30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CHANGE (30 seconds) — remind them the end-of-term group presentation is marked against this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CHANGE (30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communication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skills you will use every working day: making an impression, presenting, listening, and the telephone.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Thuy Huong, Lecturer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Communication and Document Drafting Skills (2:1)  •  Class 261b, Semester 1,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 Thuy Huong, 2026 — Prepared for in-person teaching. Please credit the source.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chapter, students can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first impression, and observe workplace etiquette correctly.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deliver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talk, and deliver it confidently to an audience.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and effective questioning in work conversations.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by telephone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professional standards, both making and answering calls.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go through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impressions and etiquette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skills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and questioning skills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skills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AC4D33"/>
                </a:solidFill>
                <a:latin typeface="Cambria"/>
              </a:rPr>
              <a:t>First impressions and etiquette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The first twenty seconds settle most of how someone will see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impression — you only get one</a:t>
            </a:r>
            <a:endParaRPr lang="en-US" sz="2700" dirty="0"/>
          </a:p>
        </p:txBody>
      </p:sp>
      <p:pic>
        <p:nvPicPr>
          <p:cNvPr id="9" name="Picture 8" descr="c2-quy-tac-4x20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2034462"/>
            <a:ext cx="11247120" cy="3602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756A"/>
                </a:solidFill>
                <a:latin typeface="Calibri"/>
              </a:rPr>
              <a:t>THE NUMBER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3A2B28"/>
                </a:solidFill>
                <a:latin typeface="Cambria"/>
              </a:rPr>
              <a:t>The 4 × 20 rule — four gates a first impression passes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62204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20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SECONDS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The other person forms an overall judgement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2706" y="1783080"/>
            <a:ext cx="262204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20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PACES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Your walk and posture are read from a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783080"/>
            <a:ext cx="262204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20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CENTIMETRES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The eyes and the smile on your 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2278" y="1783080"/>
            <a:ext cx="262204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5800" b="1">
                <a:solidFill>
                  <a:srgbClr val="DC756A"/>
                </a:solidFill>
                <a:latin typeface="Cambria"/>
              </a:rPr>
              <a:t>20</a:t>
            </a:r>
          </a:p>
          <a:p>
            <a:pPr algn="ctr"/>
            <a:r>
              <a:rPr sz="1400" b="1">
                <a:solidFill>
                  <a:srgbClr val="AC4D33"/>
                </a:solidFill>
                <a:latin typeface="Calibri"/>
              </a:rPr>
              <a:t>WORDS</a:t>
            </a:r>
          </a:p>
          <a:p>
            <a:pPr algn="ctr">
              <a:spcBef>
                <a:spcPts val="1200"/>
              </a:spcBef>
            </a:pPr>
            <a:r>
              <a:rPr sz="1250">
                <a:solidFill>
                  <a:srgbClr val="3A2B28"/>
                </a:solidFill>
                <a:latin typeface="Calibri"/>
              </a:rPr>
              <a:t>Your greeting and first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FDF1EF"/>
          </a:solidFill>
          <a:ln w="12700">
            <a:solidFill>
              <a:srgbClr val="FBC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>
                <a:solidFill>
                  <a:srgbClr val="3A2B28"/>
                </a:solidFill>
                <a:latin typeface="Calibri"/>
              </a:rPr>
              <a:t>A first impression forms almost instantly and is very hard to reverse — it must be PREPARED, not left to luck.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etiquette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and introducing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junior greets first; introduce the less senior to the more senior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handshake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up, meet the eyes, firm grip for 2–3 seconds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and receiving a card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hands, text facing them; read it before putting it away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spaces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quiet, give way, knock before entering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Presentation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From preparation to delivery: how to make the audience remember your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Presenting: five steps of preparation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AUDIENCE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5146" y="160020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856586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OBJECTIVE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7371" y="160020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18811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CONTENT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89597" y="1600200"/>
            <a:ext cx="2152498" cy="868680"/>
          </a:xfrm>
          <a:prstGeom prst="chevron">
            <a:avLst/>
          </a:prstGeom>
          <a:solidFill>
            <a:srgbClr val="DC756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1037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SLIDES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551822" y="1600200"/>
            <a:ext cx="2152498" cy="868680"/>
          </a:xfrm>
          <a:prstGeom prst="chevron">
            <a:avLst/>
          </a:prstGeom>
          <a:solidFill>
            <a:srgbClr val="AC4D3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43262" y="1600200"/>
            <a:ext cx="2015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they, what do they care about, what do they expect?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765146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talk, what should they know / believe / do?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7371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 main points, with evidence and examples.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89597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words, more pictures; slides support the speaker, they don't replace them.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551822" y="2606040"/>
            <a:ext cx="2152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out loud, time it, prepare for the hard questions.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521208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one minute of talk takes about an hour of preparation on a new topic — rehearsal is the thing an audience “sees” most clearly.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 of a talk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(10–15%) — win their attention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curious question, a number, a short story — then give them the map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(70–80%) — three main points at most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point: claim → evidence → example; put the strongest first or last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(10–15%) — leave them with one thing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the three points, press the message, ask for a specific action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Delivering with confidence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firm, shoulders open, eyes moving round the room; hands natural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and clear, vary the pace; pause 1–2 seconds before a key point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past the nerves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well • arrive early • breathe deeply • think about the message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questions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it out, thank them, answer briefly; unsure — promise an answer later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SECTIONS 2.3 –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AC4D33"/>
                </a:solidFill>
                <a:latin typeface="Cambria"/>
              </a:rPr>
              <a:t>Listening, questioning, and the telephone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The two least-taught skills, and the two that decide most of daily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Do Thuy Huong, Lecturer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Chapter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Hearing is not listening: five levels</a:t>
            </a:r>
            <a:endParaRPr lang="en-US" sz="2700" dirty="0"/>
          </a:p>
        </p:txBody>
      </p:sp>
      <p:pic>
        <p:nvPicPr>
          <p:cNvPr id="9" name="Picture 8" descr="c2-5-muc-lang-nghe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1787325"/>
            <a:ext cx="11247120" cy="40971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Questioning skills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question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or a single fact — to confirm and to settle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• How • What — to uncover what they need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question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“Specifically…?” — to sharpen a vague answer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at a time; ask, then wait in silence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telephone: making a professional call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dial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content, pen and paper; pick a sensible hour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328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597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correctly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greet, give your name and organisation, ask for five minutes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930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198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brief, check understanding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the point; read back the time, the place, the action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531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3799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politely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them, say goodbye; let the client hang up first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calls, and phone manners at work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within ~3 rings; greet and give your name; write the message down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person is away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who called – about what – contact number – when you'll reply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 at work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in meetings; no personal calls while with a client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Practising two skills in class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TASK (groups of 4–5, 25 minutes to prepare and perform)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lot: (a) call to arrange a meeting with a prospect, or (b) call to handle a late delivery.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TASK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a 3-minute call; the class marks it against the checklist in 2.4.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group gives a 3-minute talk; the class comments on opening – body – close.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names three things it would do differently next time.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impression is prepared, not lucky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Dress, bearing, greeting, etiquette — every one of them can be rehearsed.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1810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7296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talk starts with the audience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→ objective → three points → rehearsal; talk to the room, not to the slide.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7316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82803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and questioning are the best “selling” skills there are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need first, present second; the telephone is a company's face in sound.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PREPARATION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4×20 rule and how to apply it in a job interview.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detailed structure for a 5-minute talk introducing a product of your choice.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five levels of listening; give a work example of empathetic listening.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script of a call arranging a client meeting, following the four standard steps.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THE NEXT SESSION:  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– Communication in specific situations. Each group brings a real awkward workplace situation (kept anonymous) for discussion.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Do Thuy Huong, Lecturer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materials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Nam Khanh Giao (2023), Business Communication, Finance Publishing House.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Tri Dung (2012), Communication and Negotiation Skills in Business, Labour – Social Publishing House.  •  Decree 30/2020/ND-CP on records management (used in Chapter 5 and the lab sessions).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Lecturer's own materials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cases and exercises written by Do Thuy Huong; posted to the class group after each session.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2026-08-23T10:31:56Z</dcterms:created>
  <dcterms:modified xsi:type="dcterms:W3CDTF">2026-08-23T10:31:56Z</dcterms:modified>
</cp:coreProperties>
</file>