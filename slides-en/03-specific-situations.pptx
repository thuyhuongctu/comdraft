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1" r:id="rId22"/>
    <p:sldId id="259" r:id="rId5"/>
    <p:sldId id="260" r:id="rId6"/>
    <p:sldId id="272" r:id="rId23"/>
    <p:sldId id="261" r:id="rId7"/>
    <p:sldId id="262" r:id="rId8"/>
    <p:sldId id="263" r:id="rId9"/>
    <p:sldId id="273" r:id="rId24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4.xml"/><Relationship Id="rId23" Type="http://schemas.openxmlformats.org/officeDocument/2006/relationships/slide" Target="slides/slide7.xml"/><Relationship Id="rId24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OBJECTIVES (1 minute) — press the point: this chapter has more real situations in it than any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MAP (1 minute) — four settings: inside the organisation, outside it, the dinner table, across cultures.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WITH YOUR SUPERIORS (4 minutes)</a:t>
            </a:r>
          </a:p>
          <a:p>
            <a:r>
              <a:t>• Three situations: taking on a task – reporting – disagreeing.</a:t>
            </a:r>
          </a:p>
          <a:p>
            <a:r>
              <a:t>• Press the technique of CONFIRMING IN WRITING after being given a task — it heads off "but that's not what I understood".</a:t>
            </a:r>
          </a:p>
          <a:p>
            <a:r>
              <a:t>• The golden rule for reporting: THE RESULT FIRST, the explanation after. Your manager is busy; don't narrate the process.</a:t>
            </a:r>
          </a:p>
          <a:p>
            <a:r>
              <a:t>• BAD NEWS EARLY, with an option attached — press it: hiding bad news is the worst mistake of all.</a:t>
            </a:r>
          </a:p>
          <a:p>
            <a:r>
              <a:t>• Disagreeing: pick a private moment, argue from DATA and the COMMON INTEREST, and respect the final decision.</a:t>
            </a:r>
          </a:p>
          <a:p/>
          <a:p>
            <a:r>
              <a:t>THE FULL VERSION (moved off the slide)</a:t>
            </a:r>
          </a:p>
          <a:p>
            <a:r>
              <a:t>• Taking on a task: ask until you are clear on the REQUIREMENT, the DEADLINE and the RESOURCES — miss one of the three and the work comes out wrong.</a:t>
            </a:r>
          </a:p>
          <a:p>
            <a:r>
              <a:t>• Reporting: result first, explanation after. Bad news EARLY and with an option attached; never buried.</a:t>
            </a:r>
          </a:p>
          <a:p>
            <a:r>
              <a:t>• Disagreeing: pick a private moment; argue from data and the common interest; once you have said it, respect the final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WITH YOUR STAFF AND COLLEAGUES (3 minutes)</a:t>
            </a:r>
          </a:p>
          <a:p>
            <a:r>
              <a:t>• Delegate three things clearly: THE OBJECTIVE – THE DEADLINE – THE STANDARD.</a:t>
            </a:r>
          </a:p>
          <a:p>
            <a:r>
              <a:t>• The rule: PRAISE IN PUBLIC, CRITICISE IN PRIVATE. Write it large on the board.</a:t>
            </a:r>
          </a:p>
          <a:p>
            <a:r>
              <a:t>• Criticism aims at the BEHAVIOUR, not the PERSON: "This report was two days late", not "You're irresponsible".</a:t>
            </a:r>
          </a:p>
          <a:p>
            <a:r>
              <a:t>• With colleagues: argue about the work, never attack the person; keep out of factions.</a:t>
            </a:r>
          </a:p>
          <a:p/>
          <a:p>
            <a:r>
              <a:t>THE FULL VERSION (moved off the slide)</a:t>
            </a:r>
          </a:p>
          <a:p>
            <a:r>
              <a:t>• Delegate with TRUST and RESOURCES; check progress proportionately, don't micromanage.</a:t>
            </a:r>
          </a:p>
          <a:p>
            <a:r>
              <a:t>• Praise in public, promptly, specifically. Criticise in private, with a way to put it right.</a:t>
            </a:r>
          </a:p>
          <a:p>
            <a:r>
              <a:t>• Colleagues: no factions, no talking behind backs.</a:t>
            </a:r>
          </a:p>
          <a:p>
            <a:r>
              <a:t>• Meetings: an agenda sent in advance, short contributions, and minutes at the end naming who owns each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WITH CUSTOMERS (3 minutes)</a:t>
            </a:r>
          </a:p>
          <a:p>
            <a:r>
              <a:t>• The stance is SERVICE — neither begging nor granting favours.</a:t>
            </a:r>
          </a:p>
          <a:p>
            <a:r>
              <a:t>• Every point of contact either BUILDS or BREAKS trust.</a:t>
            </a:r>
          </a:p>
          <a:p>
            <a:r>
              <a:t>• Four things never to do — press the first: ARGUING TO WIN with a customer. Win the point and lose the customer and you have lost.</a:t>
            </a:r>
          </a:p>
          <a:p>
            <a:r>
              <a:t>BRIDGE: "So what do you do when a customer is angry?"''</a:t>
            </a:r>
          </a:p>
          <a:p/>
          <a:p>
            <a:r>
              <a:t>THE FULL VERSION (moved off the slide)</a:t>
            </a:r>
          </a:p>
          <a:p>
            <a:r>
              <a:t>• Every point of contact — the greeting, the advice, the delivery, the after-sales — builds or breaks trust.</a:t>
            </a:r>
          </a:p>
          <a:p>
            <a:r>
              <a:t>• The golden rules: greet warmly, use the customer's NAME where you can; tell the truth about the product; keep your promises on timing.</a:t>
            </a:r>
          </a:p>
          <a:p>
            <a:r>
              <a:t>• Never: promise beyond what you can do; blame a colleague or "the process"; abandon the customer once the sale is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LAST PROCEDURE (5 minutes) — THE MOST IMPORTANT THING IN THE CHAPTER</a:t>
            </a:r>
          </a:p>
          <a:p>
            <a:r>
              <a:t>• Write the four letters L-A-S-T on the board.</a:t>
            </a:r>
          </a:p>
          <a:p>
            <a:r>
              <a:t>• L: listen to the WHOLE thing, no interrupting, no defending. Press it: don't rush to explain while the customer is still angry.</a:t>
            </a:r>
          </a:p>
          <a:p>
            <a:r>
              <a:t>• A: apologise for the EXPERIENCE — even before you know whose fault it was. Students argue about this one, so explain it carefully: apologising ≠ admitting fault.</a:t>
            </a:r>
          </a:p>
          <a:p>
            <a:r>
              <a:t>• S: a SPECIFIC option, with a CLEAR deadline. Beyond your authority, hand it to the right person — don't pass the parcel.</a:t>
            </a:r>
          </a:p>
          <a:p>
            <a:r>
              <a:t>• T: thank them and FOLLOW IT THROUGH TO THE END.</a:t>
            </a:r>
          </a:p>
          <a:p>
            <a:r>
              <a:t>• The closing figure: a customer whose complaint is handled well is usually MORE LOYAL than one who never had a problem.</a:t>
            </a:r>
          </a:p>
          <a:p>
            <a:r>
              <a:t>• Have the class practise one short case at once: an order that arrived three days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AT THE TABLE (4 minutes) — STUDENTS LOVE THIS PART</a:t>
            </a:r>
          </a:p>
          <a:p>
            <a:r>
              <a:t>• Before: confirm on time, arrive on time, dress for the occasion, WAIT FOR THE HOST TO SEAT YOU.</a:t>
            </a:r>
          </a:p>
          <a:p>
            <a:r>
              <a:t>• During: the host starts first; cutlery is used FROM THE OUTSIDE IN; don't talk with your mouth full.</a:t>
            </a:r>
          </a:p>
          <a:p>
            <a:r>
              <a:t>• Toasts: the more junior person HOLDS THEIR GLASS LOWER when clinking. Demonstrate it with a water glass.</a:t>
            </a:r>
          </a:p>
          <a:p>
            <a:r>
              <a:t>• PRESS THIS: respect anyone who doesn't drink, and NEVER PUSH THEM. Teach students how to decline politely: "I'm driving, could I have water instead?"</a:t>
            </a:r>
          </a:p>
          <a:p>
            <a:r>
              <a:t>• Topics to raise and to avoid — press: no politics, no religion, no income, no private life.</a:t>
            </a:r>
          </a:p>
          <a:p/>
          <a:p>
            <a:r>
              <a:t>THE FULL VERSION (moved off the slide)</a:t>
            </a:r>
          </a:p>
          <a:p>
            <a:r>
              <a:t>• Before: dress for the kind of occasion; where you sit signals rank, so wait for the host to place you.</a:t>
            </a:r>
          </a:p>
          <a:p>
            <a:r>
              <a:t>• During: don't talk while chewing, don't tap your chopsticks, don't keep turning the dishes towards yourself.</a:t>
            </a:r>
          </a:p>
          <a:p>
            <a:r>
              <a:t>• Toasts: keep them short and pitched at the right person; respect anyone who doesn't drink.</a:t>
            </a:r>
          </a:p>
          <a:p>
            <a:r>
              <a:t>• Conversation: business only when the host opens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ACROSS CULTURES (3 minutes)</a:t>
            </a:r>
          </a:p>
          <a:p>
            <a:r>
              <a:t>• Four differences: how things are said, hierarchy, time, gesture and taboo.</a:t>
            </a:r>
          </a:p>
          <a:p>
            <a:r>
              <a:t>• The best example: "We will consider it" in Japanese business culture is usually A POLITE NO.</a:t>
            </a:r>
          </a:p>
          <a:p>
            <a:r>
              <a:t>• Ask the class: has anyone worked or interned with people from another country — tell us one difference you 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ADAPTING (2 minutes)</a:t>
            </a:r>
          </a:p>
          <a:p>
            <a:r>
              <a:t>• Five principles — press "DON'T READ OTHERS BY YOUR OWN NORMS".</a:t>
            </a:r>
          </a:p>
          <a:p>
            <a:r>
              <a:t>• The practical trick: speak slowly and clearly, and CONFIRM IN WRITING after a multinational meeting.</a:t>
            </a:r>
          </a:p>
          <a:p/>
          <a:p>
            <a:r>
              <a:t>THE FULL VERSION (moved off the slide)</a:t>
            </a:r>
          </a:p>
          <a:p>
            <a:r>
              <a:t>• Read up before any meeting that matters; don't wait until you are at the table.</a:t>
            </a:r>
          </a:p>
          <a:p>
            <a:r>
              <a:t>• Watch, then match — imitation is the fastest way to learn.</a:t>
            </a:r>
          </a:p>
          <a:p>
            <a:r>
              <a:t>• Ask politely instead of judging.</a:t>
            </a:r>
          </a:p>
          <a:p>
            <a:r>
              <a:t>• Across languages: speak slowly and clearly, avoid idiom; summarise the agreement by email afterwards.</a:t>
            </a:r>
          </a:p>
          <a:p>
            <a:r>
              <a:t>• Willingness to learn is recognised in every culture.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GROUP WORK (15 minutes)</a:t>
            </a:r>
          </a:p>
          <a:p>
            <a:r>
              <a:t>• Two situations; split the class in half, each half takes one and then presents.</a:t>
            </a:r>
          </a:p>
          <a:p>
            <a:r>
              <a:t>• The customer case: require all four LAST steps, spoken as actual lines of dialogue.</a:t>
            </a:r>
          </a:p>
          <a:p>
            <a:r>
              <a:t>• The dinner case: require the ACTUAL WORDS of the refusal, not a general description.</a:t>
            </a:r>
          </a:p>
          <a:p>
            <a:r>
              <a:t>• Land it yourself: the principles are the same, the words have to fit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SUMMARY (2 minutes)</a:t>
            </a:r>
          </a:p>
          <a:p>
            <a:r>
              <a:t>• Call on a student to recite the four LAST steps.</a:t>
            </a:r>
          </a:p>
          <a:p>
            <a:r>
              <a:t>• Set the work: the 40 multiple-choice questions for Chapter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REVISION (1 minute) — at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READING (1 minute) — read the negotiation section before the next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CHANGE (30 seconds).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PARTNERS – GOVERNMENT – THE PRESS (3 minutes)</a:t>
            </a:r>
          </a:p>
          <a:p>
            <a:r>
              <a:t>• Partners: the LONG relationship matters more than the short advantage.</a:t>
            </a:r>
          </a:p>
          <a:p>
            <a:r>
              <a:t>• Government bodies: the right procedure, the right authority, PAPERWORK IN THE CORRECT FORMAT — this leads into Chapter 5.</a:t>
            </a:r>
          </a:p>
          <a:p>
            <a:r>
              <a:t>• The press: ONLY AN AUTHORISED PERSON speaks. Staff never answer journalists on their own.</a:t>
            </a:r>
          </a:p>
          <a:p>
            <a:r>
              <a:t>• A crisis: respond FAST, own the part that is genuinely yours.</a:t>
            </a:r>
          </a:p>
          <a:p/>
          <a:p>
            <a:r>
              <a:t>THE FULL VERSION (moved off the slide)</a:t>
            </a:r>
          </a:p>
          <a:p>
            <a:r>
              <a:t>• Partners: the long relationship matters more than the short advantage — this is the ground for Chapter 4.</a:t>
            </a:r>
          </a:p>
          <a:p>
            <a:r>
              <a:t>• Government bodies: files and documents in the correct format (Chapter 5); a serious manner, on time; absolutely no “short cuts” outside the rules.</a:t>
            </a:r>
          </a:p>
          <a:p>
            <a:r>
              <a:t>• The press: consistent, truthful information; in a crisis, own the part that is genuinely yours and don't dodge.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CHANGE (30 seconds) — this is the part students enjoy most; keep it light but keep the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 in specific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situations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set of skills, four sets of rules: inside the organisation, with customers, at the table, across cultures.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Thuy Huong, Lecturer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Communication and Document Drafting Skills (2:1)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Do Thuy Huong, 2026 — Prepared for in-person teaching. Please credit the source.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chapter, students can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Behave appropriately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superiors, subordinates and colleagues inside the organisation.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professionally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customers, partners, government bodies and the press; and handle a customer complaint.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perform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etiquette of the business table correctly.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cultural difference when working across cultures.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go through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inside the organisation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with customers, partners, government bodies and the press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at the table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across cultures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Communication inside the organisation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With superiors, subordinates and colleagues — each relationship has its own conduct.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Communicating with your superior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on a task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– note – ask until it's clear; confirm by email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first, explanation second; bad news early, with a plan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disagree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moment, right place, on the data; respect the final call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subordinates and colleagues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Delegating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goal – deadline – standard; hand over the resources too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Praise and criticism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Praise in public • criticise in private, at the behaviour not the person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colleagues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Argue about the work, not the person; keep out of factions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Meetings that work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sent ahead • a clear conclusion • who does what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3.2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Communication outside the organisation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Customers, partners, government bodies, the press — four groups, four sets of rules.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Communicating with customers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mindset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of contact either builds trust or breaks it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golden rules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the need before you pitch • tell the truth • keep your promises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do this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Argue to win • promise beyond your means • vanish after the sale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Handling a customer complaint — the LAST procedure</a:t>
            </a:r>
            <a:endParaRPr lang="en-US" sz="2700" dirty="0"/>
          </a:p>
        </p:txBody>
      </p:sp>
      <p:pic>
        <p:nvPicPr>
          <p:cNvPr id="9" name="Picture 8" descr="c3-quy-trinh-last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939147"/>
            <a:ext cx="11247120" cy="3793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partners, government bodies and the press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partners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word, be transparent; the long relationship beats the short gain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bodies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procedure, right authority, documents in correct format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and media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authorised spokesperson; in a crisis, answer fast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SECTIONS 3.3 – 3.4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The table, and working across cultures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Where business carries on even though nobody mentions business.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 at the table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meal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RSVP on time • arrive on time • wait for the host to seat you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meal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starts first; work your cutlery from the outside in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Toasts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junior holds their glass lower; never press someone who isn't drinking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talk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Do: food, sport, travel • Don't: politics, religion, income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Communicating across cultures: spotting the differences</a:t>
            </a:r>
            <a:endParaRPr lang="en-US" sz="2700" dirty="0"/>
          </a:p>
        </p:txBody>
      </p:sp>
      <p:pic>
        <p:nvPicPr>
          <p:cNvPr id="9" name="Picture 8" descr="c3-ba-truc-van-hoa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47" y="1640598"/>
            <a:ext cx="10544400" cy="43906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10436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Neither pole is more correct — the work is knowing where you stand on the axis.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Principles for adapting across cultures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up first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 greet, and what they consider taboo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and adjust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 greet, hand over a card, keep their distance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read it by your own norms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“strange” behaviour may be perfectly ordinary to them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slowly and clearly, confirm in writing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slang; summarise the agreement by email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humble and willing to learn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apologise when you trip over a taboo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WORK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hard cases — solved in class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(groups of 4–5, 20 minutes, draw one of two)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A: a customer comes to the counter shouting because the product has failed for the second time this month, with other customers watching. Case B: the company is receiving a Japanese delegation for the first time — your group must prepare the reception plan and a dinner.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TASK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A: write the handling script following the four LAST steps and role-play it (staff – customer – manager).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B: list what must be done and what must never be done (greeting, cards, seating, gifts, topics of conversation).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cross-reviews: what met the chapter's standards, what needs adjusting?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remember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outside starts with sound inside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work, reporting, responding upwards; delegating, praising and correcting downwards — all of it can be learned.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complaint is an opportunity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LAST: Listen – Apologise – Solve – Thank; don't win the argument and lose the customer.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cultures: understand first, judge never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up – observe – adapt; confirm agreements in writing to get past the language barrier.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PREPARATION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questions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to report bad news to a superior, using a concrete example.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LAST procedure to a complaint situation of your choice.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five things to do and five to avoid when dining with a business partner.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one East–West cultural difference and how to adapt to it at work.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PREPARING FOR THE NEXT SESSION: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 – Negotiation in business. Each group recalls its most recent haggle (buying a bike, renting a room…): what made it work, or not?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Nam Khanh Giao (2023), Business Communication,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reading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Tri Dung (2012), Communication and Negotiation Skills in Business, Labour – Social Publishing House.  •  Decree 30/2020/ND-CP on records management (used in Chapter 5 and the lab sessions).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cases and exercises written by Do Thuy Huong; posted to the class group after each session.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2026-08-23T05:42:54Z</dcterms:created>
  <dcterms:modified xsi:type="dcterms:W3CDTF">2026-08-23T05:42:54Z</dcterms:modified>
</cp:coreProperties>
</file>