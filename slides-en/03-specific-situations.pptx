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22"/>
    <p:sldId id="259" r:id="rId5"/>
    <p:sldId id="260" r:id="rId6"/>
    <p:sldId id="272" r:id="rId23"/>
    <p:sldId id="261" r:id="rId7"/>
    <p:sldId id="262" r:id="rId8"/>
    <p:sldId id="263" r:id="rId9"/>
    <p:sldId id="273" r:id="rId24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4.xml"/><Relationship Id="rId23" Type="http://schemas.openxmlformats.org/officeDocument/2006/relationships/slide" Target="slides/slide7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(1 phút) — nhấn: chương này nhiều tình huống thực tế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LỘ TRÌNH (1 phút) — 4 bối cảnh: nội bộ, bên ngoài, bàn tiệc, đa văn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CẤP TRÊN (4 phút)</a:t>
            </a:r>
          </a:p>
          <a:p>
            <a:r>
              <a:t>• Ba tình huống: nhận việc – báo cáo – có ý kiến khác.</a:t>
            </a:r>
          </a:p>
          <a:p>
            <a:r>
              <a:t>• Nhấn kỹ thuật XÁC NHẬN LẠI BẰNG VĂN BẢN sau khi nhận việc — tránh "sếp bảo thế này, em hiểu thế kia".</a:t>
            </a:r>
          </a:p>
          <a:p>
            <a:r>
              <a:t>• Nguyên tắc vàng khi báo cáo: KẾT QUẢ TRƯỚC, diễn giải sau. Sếp bận, đừng kể lể quá trình.</a:t>
            </a:r>
          </a:p>
          <a:p>
            <a:r>
              <a:t>• BÁO TIN XẤU SỚM kèm phương án — nhấn mạnh: giấu tin xấu là lỗi nặng nhất.</a:t>
            </a:r>
          </a:p>
          <a:p>
            <a:r>
              <a:t>• Có ý kiến khác: chọn lúc riêng tư, dựa trên DỮ LIỆU và LỢI ÍCH CHUNG, và tôn trọng quyết định cuối.</a:t>
            </a:r>
          </a:p>
          <a:p/>
          <a:p>
            <a:r>
              <a:t>NÓI ĐỦ Ý (phần đã rút khỏi slide)</a:t>
            </a:r>
          </a:p>
          <a:p>
            <a:r>
              <a:t>• Nhận nhiệm vụ: hỏi lại cho rõ YÊU CẦU, THỜI HẠN, NGUỒN LỰC — ba thứ này thiếu một là làm sai.</a:t>
            </a:r>
          </a:p>
          <a:p>
            <a:r>
              <a:t>• Báo cáo: kết quả trước, diễn giải sau. Tin xấu báo SỚM và kèm phương án, đừng che giấu.</a:t>
            </a:r>
          </a:p>
          <a:p>
            <a:r>
              <a:t>• Ý kiến khác: chọn lúc riêng tư; nói trên cơ sở dữ liệu và lợi ích chung; nói xong thì tôn trọng quyết định cuối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CẤP DƯỚI VÀ ĐỒNG NGHIỆP (3 phút)</a:t>
            </a:r>
          </a:p>
          <a:p>
            <a:r>
              <a:t>• Giao việc rõ 3 thứ: MỤC TIÊU – THỜI HẠN – TIÊU CHUẨN.</a:t>
            </a:r>
          </a:p>
          <a:p>
            <a:r>
              <a:t>• Quy tắc: KHEN CÔNG KHAI, PHÊ BÌNH RIÊNG TƯ. Viết to lên bảng.</a:t>
            </a:r>
          </a:p>
          <a:p>
            <a:r>
              <a:t>• Phê bình nhắm vào HÀNH VI, không nhắm vào CON NGƯỜI: "Báo cáo này nộp trễ 2 ngày" chứ không phải "Em vô trách nhiệm".</a:t>
            </a:r>
          </a:p>
          <a:p>
            <a:r>
              <a:t>• Với đồng nghiệp: tranh luận về công việc, không công kích cá nhân; tránh bè phái.</a:t>
            </a:r>
          </a:p>
          <a:p/>
          <a:p>
            <a:r>
              <a:t>NÓI ĐỦ Ý (phần đã rút khỏi slide)</a:t>
            </a:r>
          </a:p>
          <a:p>
            <a:r>
              <a:t>• Giao việc kèm NIỀM TIN và NGUỒN LỰC; kiểm tra tiến độ đúng mức, đừng quản lý vụn vặt.</a:t>
            </a:r>
          </a:p>
          <a:p>
            <a:r>
              <a:t>• Khen thì công khai, kịp thời, cụ thể. Phê bình thì riêng tư, kèm hướng khắc phục.</a:t>
            </a:r>
          </a:p>
          <a:p>
            <a:r>
              <a:t>• Đồng nghiệp: tránh bè phái, tránh tán chuyện sau lưng.</a:t>
            </a:r>
          </a:p>
          <a:p>
            <a:r>
              <a:t>• Họp: có chương trình gửi trước, phát biểu ngắn gọn, kết thúc phải có biên bản và người chịu trách nhiệm từng việc.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KHÁCH HÀNG (3 phút)</a:t>
            </a:r>
          </a:p>
          <a:p>
            <a:r>
              <a:t>• Tâm thế PHỤC VỤ, không phải xin xỏ cũng không phải ban ơn.</a:t>
            </a:r>
          </a:p>
          <a:p>
            <a:r>
              <a:t>• Mỗi điểm tiếp xúc XÂY hoặc PHÁ niềm tin.</a:t>
            </a:r>
          </a:p>
          <a:p>
            <a:r>
              <a:t>• Bốn điều tối kỵ — nhấn điều đầu: TRANH CÃI THẮNG THUA với khách. Thắng lý mà mất khách là thua.</a:t>
            </a:r>
          </a:p>
          <a:p>
            <a:r>
              <a:t>CHUYỂN Ý: "Vậy khi khách nổi giận thì làm sao?"''</a:t>
            </a:r>
          </a:p>
          <a:p/>
          <a:p>
            <a:r>
              <a:t>NÓI ĐỦ Ý (phần đã rút khỏi slide)</a:t>
            </a:r>
          </a:p>
          <a:p>
            <a:r>
              <a:t>• Mỗi điểm tiếp xúc — chào đón, tư vấn, giao hàng, hậu mãi — đều xây hoặc phá niềm tin.</a:t>
            </a:r>
          </a:p>
          <a:p>
            <a:r>
              <a:t>• Nguyên tắc vàng: chào niềm nở, gọi TÊN khách khi có thể; nói sự thật về sản phẩm; giữ lời hứa về thời hạn.</a:t>
            </a:r>
          </a:p>
          <a:p>
            <a:r>
              <a:t>• Tối kỵ: hứa quá khả năng; đổ lỗi cho đồng nghiệp hoặc cho quy trình; bỏ mặc khách sau khi bán xong.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 TRÌNH LAST (5 phút) — NỘI DUNG QUAN TRỌNG NHẤT CHƯƠNG</a:t>
            </a:r>
          </a:p>
          <a:p>
            <a:r>
              <a:t>• Viết 4 chữ L-A-S-T lên bảng.</a:t>
            </a:r>
          </a:p>
          <a:p>
            <a:r>
              <a:t>• L: nghe TRỌN VẸN, không ngắt lời, không phòng thủ. Nhấn: đừng vội giải thích khi khách đang giận.</a:t>
            </a:r>
          </a:p>
          <a:p>
            <a:r>
              <a:t>• A: xin lỗi về TRẢI NGHIỆM chưa tốt — kể cả khi chưa rõ lỗi thuộc về ai. Đây là điểm sinh viên hay tranh luận, hãy giải thích kỹ: xin lỗi ≠ nhận lỗi.</a:t>
            </a:r>
          </a:p>
          <a:p>
            <a:r>
              <a:t>• S: phương án CỤ THỂ, thời hạn RÕ. Vượt thẩm quyền thì chuyển đúng người, không đùn đẩy.</a:t>
            </a:r>
          </a:p>
          <a:p>
            <a:r>
              <a:t>• T: cảm ơn và THEO DÕI ĐẾN KHI XONG.</a:t>
            </a:r>
          </a:p>
          <a:p>
            <a:r>
              <a:t>• Số liệu chốt: khách phàn nàn được xử lý tốt thường TRUNG THÀNH HƠN khách chưa từng gặp vấn đề.</a:t>
            </a:r>
          </a:p>
          <a:p>
            <a:r>
              <a:t>• Cho lớp thực hành ngay 1 tình huống ngắn: khách nhận hàng trễ 3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BÀN TIỆC (4 phút) — SINH VIÊN RẤT THÍCH PHẦN NÀY</a:t>
            </a:r>
          </a:p>
          <a:p>
            <a:r>
              <a:t>• Trước tiệc: xác nhận đúng hạn, đến đúng giờ, trang phục theo tính chất, CHỜ CHỦ TIỆC XẾP CHỖ.</a:t>
            </a:r>
          </a:p>
          <a:p>
            <a:r>
              <a:t>• Trong bữa: chủ tiệc bắt đầu trước; dụng cụ dùng TỪ NGOÀI VÀO TRONG; không nói khi đang nhai.</a:t>
            </a:r>
          </a:p>
          <a:p>
            <a:r>
              <a:t>• Chúc rượu: người vị thế thấp hơn NÂNG LY THẤP HƠN khi cụng. Làm mẫu ngay bằng ly nước.</a:t>
            </a:r>
          </a:p>
          <a:p>
            <a:r>
              <a:t>• NHẤN MẠNH: tôn trọng người không dùng rượu bia, TUYỆT ĐỐI KHÔNG ÉP. Dạy sinh viên cách từ chối lịch sự: "Dạ em lái xe, cho em xin ly nước thay ạ."</a:t>
            </a:r>
          </a:p>
          <a:p>
            <a:r>
              <a:t>• Chủ đề nên và không nên nói — nhấn: tránh chính trị, tôn giáo, thu nhập, đời tư.</a:t>
            </a:r>
          </a:p>
          <a:p/>
          <a:p>
            <a:r>
              <a:t>NÓI ĐỦ Ý (phần đã rút khỏi slide)</a:t>
            </a:r>
          </a:p>
          <a:p>
            <a:r>
              <a:t>• Trước tiệc: trang phục theo tính chất tiệc; vị trí ngồi thể hiện thứ bậc nên phải chờ chủ tiệc xếp chỗ.</a:t>
            </a:r>
          </a:p>
          <a:p>
            <a:r>
              <a:t>• Trong bữa: không nói khi đang nhai, không gõ đũa, không xoay đĩa thức ăn về phía mình liên tục.</a:t>
            </a:r>
          </a:p>
          <a:p>
            <a:r>
              <a:t>• Chúc rượu: chúc ngắn gọn, đúng đối tượng; tôn trọng người không dùng rượu bia.</a:t>
            </a:r>
          </a:p>
          <a:p>
            <a:r>
              <a:t>• Chuyện trò: công việc chỉ bàn khi chủ tiệc gợi mở.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ĐA VĂN HÓA (3 phút)</a:t>
            </a:r>
          </a:p>
          <a:p>
            <a:r>
              <a:t>• Bốn khác biệt: cách nói, thứ bậc, thời gian, cử chỉ – kiêng kỵ.</a:t>
            </a:r>
          </a:p>
          <a:p>
            <a:r>
              <a:t>• Ví dụ hay nhất: "Để chúng tôi xem xét" trong văn hóa Nhật thường LÀ LỜI TỪ CHỐI lịch sự.</a:t>
            </a:r>
          </a:p>
          <a:p>
            <a:r>
              <a:t>• Hỏi lớp: bạn nào từng làm việc/thực tập với người nước ngoài, kể một khác biệt đã gặp.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THÍCH ỨNG (2 phút)</a:t>
            </a:r>
          </a:p>
          <a:p>
            <a:r>
              <a:t>• 5 nguyên tắc — nhấn nguyên tắc "KHÔNG SUY DIỄN THEO CHUẨN CỦA MÌNH".</a:t>
            </a:r>
          </a:p>
          <a:p>
            <a:r>
              <a:t>• Mẹo thực dụng: nói chậm, rõ, và XÁC NHẬN LẠI BẰNG VĂN BẢN sau cuộc họp đa quốc gia.</a:t>
            </a:r>
          </a:p>
          <a:p/>
          <a:p>
            <a:r>
              <a:t>NÓI ĐỦ Ý (phần đã rút khỏi slide)</a:t>
            </a:r>
          </a:p>
          <a:p>
            <a:r>
              <a:t>• Tìm hiểu trước mỗi cuộc gặp quan trọng, đừng đợi đến lúc ngồi vào bàn.</a:t>
            </a:r>
          </a:p>
          <a:p>
            <a:r>
              <a:t>• Quan sát rồi ứng xử tương thích — bắt chước là cách học nhanh nhất.</a:t>
            </a:r>
          </a:p>
          <a:p>
            <a:r>
              <a:t>• Hỏi lịch sự thay vì phán xét.</a:t>
            </a:r>
          </a:p>
          <a:p>
            <a:r>
              <a:t>• Khác ngôn ngữ: nói chậm, rõ, tránh thành ngữ; tóm tắt thỏa thuận qua email sau họp.</a:t>
            </a:r>
          </a:p>
          <a:p>
            <a:r>
              <a:t>• Thiện chí học hỏi luôn được ghi nhận ở mọi nền văn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HOẠT ĐỘNG NHÓM (15 phút)</a:t>
            </a:r>
          </a:p>
          <a:p>
            <a:r>
              <a:t>• Hai tình huống, chia lớp làm hai nửa, mỗi nửa xử lý một tình huống rồi trình bày.</a:t>
            </a:r>
          </a:p>
          <a:p>
            <a:r>
              <a:t>• Tình huống khách hàng: yêu cầu áp dụng đủ 4 bước LAST, nói thành lời thoại cụ thể.</a:t>
            </a:r>
          </a:p>
          <a:p>
            <a:r>
              <a:t>• Tình huống bàn tiệc: yêu cầu nói ra CÂU TỪ CHỐI cụ thể, không nói chung chung.</a:t>
            </a:r>
          </a:p>
          <a:p>
            <a:r>
              <a:t>• Cô chốt: nguyên tắc thì giống nhau, lời nói phải phù hợp từng ngữ cảnh.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(2 phút)</a:t>
            </a:r>
          </a:p>
          <a:p>
            <a:r>
              <a:t>• Gọi sinh viên nhắc lại 4 bước LAST.</a:t>
            </a:r>
          </a:p>
          <a:p>
            <a:r>
              <a:t>• Giao việc: 40 câu trắc nghiệm Chương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ÔN TẬP (1 phút) — tự làm ở nhà.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(1 phút) — đọc trước phần đàm phán cho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ĐỐI TÁC – CƠ QUAN – TRUYỀN THÔNG (3 phút)</a:t>
            </a:r>
          </a:p>
          <a:p>
            <a:r>
              <a:t>• Đối tác: quan hệ LÂU DÀI quan trọng hơn lợi thế ngắn hạn.</a:t>
            </a:r>
          </a:p>
          <a:p>
            <a:r>
              <a:t>• Cơ quan nhà nước: đúng thủ tục, đúng thẩm quyền, HỒ SƠ CHUẨN THỂ THỨC — nối sang Chương 5.</a:t>
            </a:r>
          </a:p>
          <a:p>
            <a:r>
              <a:t>• Truyền thông: CHỈ NGƯỜI ĐƯỢC ỦY QUYỀN phát ngôn. Nhân viên tuyệt đối không tự trả lời báo chí.</a:t>
            </a:r>
          </a:p>
          <a:p>
            <a:r>
              <a:t>• Khủng hoảng: phản hồi NHANH, nhận trách nhiệm đúng phần của mình.</a:t>
            </a:r>
          </a:p>
          <a:p/>
          <a:p>
            <a:r>
              <a:t>NÓI ĐỦ Ý (phần đã rút khỏi slide)</a:t>
            </a:r>
          </a:p>
          <a:p>
            <a:r>
              <a:t>• Đối tác: quan hệ lâu dài quan trọng hơn lợi thế ngắn hạn — đây là nền cho Chương 4.</a:t>
            </a:r>
          </a:p>
          <a:p>
            <a:r>
              <a:t>• Cơ quan nhà nước: hồ sơ, văn bản phải chuẩn thể thức (Chương 5); tác phong nghiêm túc, đúng hẹn; tuyệt đối không “đi tắt” trái quy định.</a:t>
            </a:r>
          </a:p>
          <a:p>
            <a:r>
              <a:t>• Truyền thông: thông tin nhất quán, trung thực; khủng hoảng thì nhận trách nhiệm đúng phần của mình, không né tránh.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 — đây là phần sinh viên hào hứng nhất, giữ nhịp vui nhưng vẫn chuẩn mực.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in specific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skills, four sets of rules: inside the organisation, with customers, at the table, across cultures.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Thuy Huong, Lecturer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Communication and Document Drafting Skills (2:1)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 Thuy Huong, 2026 — Prepared for in-person teaching. Please credit the source.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chapter, students can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 appropriately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superiors, subordinates and colleagues inside the organisation.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professionally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customers, partners, government bodies and the press; and handle a customer complaint.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perform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etiquette of the business table correctly.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cultural difference when working across cultures.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go through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inside the organisation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with customers, partners, government bodies and the press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at the table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across cultures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Communication inside the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With superiors, subordinates and colleagues — each relationship has its own conduct.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with your superior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on a task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– note – ask until it's clear; confirm by email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first, explanation second; bad news early, with a plan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disagree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moment, right place, on the data; respect the final call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subordinates and colleagues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goal – deadline – standard; hand over the resources too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and criticism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in public • criticise in private, at the behaviour not the person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colleagues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about the work, not the person; keep out of factions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that work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sent ahead • a clear conclusion • who does what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Communication outside the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Customers, partners, government bodies, the press — four groups, four sets of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with customers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mindset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of contact either builds trust or breaks it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need before you pitch • tell the truth • keep your promises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this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to win • promise beyond your means • vanish after the sale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 customer complaint — the LAST procedure</a:t>
            </a:r>
            <a:endParaRPr lang="en-US" sz="2700" dirty="0"/>
          </a:p>
        </p:txBody>
      </p:sp>
      <p:pic>
        <p:nvPicPr>
          <p:cNvPr id="9" name="Picture 8" descr="c3-quy-trinh-last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1939147"/>
            <a:ext cx="11247120" cy="379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partners, government bodies and the press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word, be transparent; the long relationship beats the short gain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bodies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procedure, right authority, documents in correct format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and media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authorised spokesperson; in a crisis, answer fast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SECTIONS 3.3 –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The table, and working across cultures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Where business carries on even though nobody mentions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at the table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meal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on time • arrive on time • wait for the host to seat you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meal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starts first; work your cutlery from the outside in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junior holds their glass lower; never press someone who isn't drinking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talk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food, sport, travel • Don't: politics, religion, income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across cultures: spotting the differences</a:t>
            </a:r>
            <a:endParaRPr lang="en-US" sz="2700" dirty="0"/>
          </a:p>
        </p:txBody>
      </p:sp>
      <p:pic>
        <p:nvPicPr>
          <p:cNvPr id="9" name="Picture 8" descr="c3-ba-truc-van-hoa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47" y="1640598"/>
            <a:ext cx="10544400" cy="43906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104369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Neither pole is more correct — the work is knowing where you stand on the axis.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for adapting across cultures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up first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greet, and what they consider taboo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146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41448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and adjust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greet, hand over a card, keep their distance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5643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83280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read it by your own norms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“strange” behaviour may be perfectly ordinary to them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9826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325112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slowly and clearly, confirm in writing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slang; summarise the agreement by email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34009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266944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humble and willing to learn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apologise when you trip over a taboo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hard cases — solved in class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(groups of 4–5, 20 minutes, draw one of two)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A: a customer comes to the counter shouting because the product has failed for the second time this month, with other customers watching. Case B: the company is receiving a Japanese delegation for the first time — your group must prepare the reception plan and a dinner.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TASK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A: write the handling script following the four LAST steps and role-play it (staff – customer – manager).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B: list what must be done and what must never be done (greeting, cards, seating, gifts, topics of conversation).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cross-reviews: what met the chapter's standards, what needs adjusting?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outside starts with sound inside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work, reporting, responding upwards; delegating, praising and correcting downwards — all of it can be learned.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1810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7296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complaint is an opportunity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LAST: Listen – Apologise – Solve – Thank; don't win the argument and lose the customer.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7316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82803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cultures: understand first, judge never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up – observe – adapt; confirm agreements in writing to get past the language barrier.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PREPARATION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to report bad news to a superior, using a concrete example.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LAST procedure to a complaint situation of your choice.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five things to do and five to avoid when dining with a business partner.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one East–West cultural difference and how to adapt to it at work.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THE NEXT SESSION:  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– Negotiation in business. Each group recalls its most recent haggle (buying a bike, renting a room…): what made it work, or not?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Nam Khanh Giao (2023), Business Communication,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Tri Dung (2012), Communication and Negotiation Skills in Business, Labour – Social Publishing House.  •  Decree 30/2020/ND-CP on records management (used in Chapter 5 and the lab sessions).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cases and exercises written by Do Thuy Huong; posted to the class group after each session.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2026-08-23T05:42:54Z</dcterms:created>
  <dcterms:modified xsi:type="dcterms:W3CDTF">2026-08-23T05:42:54Z</dcterms:modified>
</cp:coreProperties>
</file>